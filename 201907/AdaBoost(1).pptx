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-30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7938"/>
            <a:ext cx="12192000" cy="6865938"/>
            <a:chOff x="0" y="-8467"/>
            <a:chExt cx="12192000" cy="6866467"/>
          </a:xfrm>
        </p:grpSpPr>
        <p:cxnSp>
          <p:nvCxnSpPr>
            <p:cNvPr id="5" name="Straight Connector 31"/>
            <p:cNvCxnSpPr/>
            <p:nvPr/>
          </p:nvCxnSpPr>
          <p:spPr>
            <a:xfrm>
              <a:off x="9371013" y="-528"/>
              <a:ext cx="1219200" cy="6858528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0"/>
            <p:cNvCxnSpPr/>
            <p:nvPr/>
          </p:nvCxnSpPr>
          <p:spPr>
            <a:xfrm flipH="1">
              <a:off x="7424738" y="3681168"/>
              <a:ext cx="4764087" cy="3176832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/>
            <p:cNvSpPr/>
            <p:nvPr/>
          </p:nvSpPr>
          <p:spPr>
            <a:xfrm>
              <a:off x="9182100" y="-8467"/>
              <a:ext cx="3006725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/>
            <p:cNvSpPr/>
            <p:nvPr/>
          </p:nvSpPr>
          <p:spPr>
            <a:xfrm>
              <a:off x="9602788" y="-8467"/>
              <a:ext cx="2589212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26"/>
            <p:cNvSpPr/>
            <p:nvPr/>
          </p:nvSpPr>
          <p:spPr>
            <a:xfrm>
              <a:off x="8932863" y="3047706"/>
              <a:ext cx="3259137" cy="381029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/>
            <p:cNvSpPr/>
            <p:nvPr/>
          </p:nvSpPr>
          <p:spPr>
            <a:xfrm>
              <a:off x="9334500" y="-8467"/>
              <a:ext cx="2854325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/>
            <p:cNvSpPr/>
            <p:nvPr/>
          </p:nvSpPr>
          <p:spPr>
            <a:xfrm>
              <a:off x="10898188" y="-8467"/>
              <a:ext cx="1290637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/>
            <p:cNvSpPr/>
            <p:nvPr/>
          </p:nvSpPr>
          <p:spPr>
            <a:xfrm>
              <a:off x="10939463" y="-8467"/>
              <a:ext cx="1249362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30"/>
            <p:cNvSpPr/>
            <p:nvPr/>
          </p:nvSpPr>
          <p:spPr>
            <a:xfrm>
              <a:off x="10371138" y="3589086"/>
              <a:ext cx="1817687" cy="326891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8"/>
            <p:cNvSpPr/>
            <p:nvPr/>
          </p:nvSpPr>
          <p:spPr>
            <a:xfrm rot="10800000">
              <a:off x="0" y="-528"/>
              <a:ext cx="842963" cy="5666225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8C26B-5B67-43C6-98D8-A1C170C4D33F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13CEEF-149F-421D-9A69-A5E59AD766B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E07AE-12FD-4474-B526-A800CABDC4FF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035AD4-044F-4A73-92DE-72C8241552C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815D0-E7A4-4722-B875-804A5C9A498E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78F5C5-9DCB-44C0-9DAB-C95C0AD476D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6942EC-D15B-45A5-862F-5CE26E4D7FB5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B0C6D-F0FF-4B13-A7E7-FFA5C9D96E3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084EC-F4BF-47FA-8C19-C0F8A505C087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4BB5BF-FE98-4469-84F9-A91F5AEF29C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D8B01-EE7E-4C53-9C18-917E35FD6B1D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83DCA8-758D-44BA-AE2D-8BBDFCF514B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20762-9E6C-49CF-8999-326549A95662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61EEF0-AEA7-4CFA-A9A6-9BF30A8EBA3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718A2-C346-49D7-9A26-1EB749D7E679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E7345A-98FF-4217-A745-E0BFD93E42F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4D5BB-AE8F-4A93-9ED1-B36EF50F9D04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807EFB-F1B1-4D9F-8164-7889D88BF2E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E60C4-5CE1-4BE7-BAFE-F8291D596E31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7BBD1D-4C5C-432F-BCB9-2E925BFACC2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541338" y="790575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8000" smtClean="0">
                <a:solidFill>
                  <a:srgbClr val="C0E47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</a:p>
        </p:txBody>
      </p:sp>
      <p:sp>
        <p:nvSpPr>
          <p:cNvPr id="6" name="TextBox 21"/>
          <p:cNvSpPr txBox="1">
            <a:spLocks noChangeArrowheads="1"/>
          </p:cNvSpPr>
          <p:nvPr/>
        </p:nvSpPr>
        <p:spPr bwMode="auto">
          <a:xfrm>
            <a:off x="8893175" y="2886075"/>
            <a:ext cx="609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8000" smtClean="0">
                <a:solidFill>
                  <a:srgbClr val="C0E47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endParaRPr lang="en-US" altLang="zh-CN" smtClean="0">
              <a:solidFill>
                <a:srgbClr val="C0E474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CFEFF-6DD5-42D8-A1EC-8FC3B1AC1149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E8650935-7A18-43BB-A368-75B82C79921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546FFC-59CE-4F04-9209-8758D31FD637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697487-074B-4E2A-80DF-1EEA005AFA5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>
            <a:spLocks noChangeArrowheads="1"/>
          </p:cNvSpPr>
          <p:nvPr/>
        </p:nvSpPr>
        <p:spPr bwMode="auto">
          <a:xfrm>
            <a:off x="541338" y="790575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8000" smtClean="0">
                <a:solidFill>
                  <a:srgbClr val="C0E47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</a:p>
        </p:txBody>
      </p:sp>
      <p:sp>
        <p:nvSpPr>
          <p:cNvPr id="6" name="TextBox 24"/>
          <p:cNvSpPr txBox="1">
            <a:spLocks noChangeArrowheads="1"/>
          </p:cNvSpPr>
          <p:nvPr/>
        </p:nvSpPr>
        <p:spPr bwMode="auto">
          <a:xfrm>
            <a:off x="8893175" y="2886075"/>
            <a:ext cx="609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8000" smtClean="0">
                <a:solidFill>
                  <a:srgbClr val="C0E47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D3B86E-41B4-443A-AB58-7D85B6F8BB43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7F1199AB-421A-4271-819D-5F31D22E2FD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250CFA-11AA-4439-A886-FEAE3606FAF3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E59AEBC6-52F4-4004-A7E0-F40C3AECEC0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C2D9B-8308-4CFD-8CCB-2C219ACA40CB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16BB93-4C44-47D5-8D6C-43040B591C4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986330-A40C-4036-865D-7373F5A144EB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20E310-35AA-4432-8E93-9C50B2F6F0B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/>
          <p:cNvGrpSpPr>
            <a:grpSpLocks/>
          </p:cNvGrpSpPr>
          <p:nvPr/>
        </p:nvGrpSpPr>
        <p:grpSpPr bwMode="auto">
          <a:xfrm>
            <a:off x="0" y="-7938"/>
            <a:ext cx="12192000" cy="6865938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3" y="-528"/>
              <a:ext cx="1219200" cy="6858528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4738" y="3681168"/>
              <a:ext cx="4764087" cy="3176832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2100" y="-8467"/>
              <a:ext cx="3006725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2788" y="-8467"/>
              <a:ext cx="2589212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863" y="3047706"/>
              <a:ext cx="3259137" cy="381029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5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188" y="-8467"/>
              <a:ext cx="1290637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9463" y="-8467"/>
              <a:ext cx="1249362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138" y="3589086"/>
              <a:ext cx="1817687" cy="326891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2981"/>
              <a:ext cx="449263" cy="2845019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77863" y="609600"/>
            <a:ext cx="8596312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863" y="2160588"/>
            <a:ext cx="8596312" cy="388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663" y="6042025"/>
            <a:ext cx="91122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E876729-2BC2-4D53-80C7-FACCC5A65749}" type="datetimeFigureOut">
              <a:rPr lang="en-US" altLang="zh-CN"/>
              <a:pPr>
                <a:defRPr/>
              </a:pPr>
              <a:t>8/27/2019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863" y="6042025"/>
            <a:ext cx="629761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9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9963" y="6042025"/>
            <a:ext cx="68421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chemeClr val="accent1"/>
                </a:solidFill>
                <a:ea typeface="宋体" charset="-122"/>
              </a:defRPr>
            </a:lvl1pPr>
          </a:lstStyle>
          <a:p>
            <a:fld id="{BAF928D0-493E-444C-990A-D6320776352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23" r:id="rId11"/>
    <p:sldLayoutId id="2147483718" r:id="rId12"/>
    <p:sldLayoutId id="2147483724" r:id="rId13"/>
    <p:sldLayoutId id="2147483719" r:id="rId14"/>
    <p:sldLayoutId id="2147483720" r:id="rId15"/>
    <p:sldLayoutId id="2147483721" r:id="rId16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副标题 2"/>
          <p:cNvSpPr>
            <a:spLocks noGrp="1"/>
          </p:cNvSpPr>
          <p:nvPr>
            <p:ph type="subTitle" idx="1"/>
          </p:nvPr>
        </p:nvSpPr>
        <p:spPr>
          <a:xfrm>
            <a:off x="3619500" y="1930400"/>
            <a:ext cx="4270375" cy="1096963"/>
          </a:xfrm>
        </p:spPr>
        <p:txBody>
          <a:bodyPr/>
          <a:lstStyle/>
          <a:p>
            <a:pPr eaLnBrk="1" hangingPunct="1"/>
            <a:r>
              <a:rPr lang="en-US" altLang="zh-CN" sz="72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AdaBoost</a:t>
            </a:r>
          </a:p>
          <a:p>
            <a:pPr eaLnBrk="1" hangingPunct="1"/>
            <a:endParaRPr lang="zh-CN" altLang="en-US" sz="7200" b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文本框 3"/>
          <p:cNvSpPr txBox="1">
            <a:spLocks noChangeArrowheads="1"/>
          </p:cNvSpPr>
          <p:nvPr/>
        </p:nvSpPr>
        <p:spPr bwMode="auto">
          <a:xfrm>
            <a:off x="6324600" y="3403600"/>
            <a:ext cx="5054600" cy="76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400"/>
              <a:t>---</a:t>
            </a:r>
            <a:r>
              <a:rPr lang="zh-CN" altLang="en-US" sz="4400"/>
              <a:t>自适应提升算法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本框 4"/>
          <p:cNvSpPr txBox="1">
            <a:spLocks noChangeArrowheads="1"/>
          </p:cNvSpPr>
          <p:nvPr/>
        </p:nvSpPr>
        <p:spPr bwMode="auto">
          <a:xfrm>
            <a:off x="1028700" y="673100"/>
            <a:ext cx="66167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000"/>
              <a:t>1 </a:t>
            </a:r>
            <a:r>
              <a:rPr lang="zh-CN" altLang="en-US" sz="4000"/>
              <a:t>强学习算法和弱学习算法</a:t>
            </a:r>
          </a:p>
        </p:txBody>
      </p:sp>
      <p:sp>
        <p:nvSpPr>
          <p:cNvPr id="6147" name="文本框 5"/>
          <p:cNvSpPr txBox="1">
            <a:spLocks noChangeArrowheads="1"/>
          </p:cNvSpPr>
          <p:nvPr/>
        </p:nvSpPr>
        <p:spPr bwMode="auto">
          <a:xfrm>
            <a:off x="1028700" y="2133600"/>
            <a:ext cx="86487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2800" dirty="0" smtClean="0"/>
              <a:t>1984</a:t>
            </a:r>
            <a:r>
              <a:rPr lang="zh-CN" altLang="en-US" sz="2800" dirty="0" smtClean="0"/>
              <a:t>年</a:t>
            </a:r>
            <a:r>
              <a:rPr lang="en-US" altLang="zh-CN" sz="2800" dirty="0" smtClean="0"/>
              <a:t>Valiant</a:t>
            </a:r>
            <a:r>
              <a:rPr lang="zh-CN" altLang="en-US" sz="2800" dirty="0" smtClean="0"/>
              <a:t>提出的”可能近似正确”</a:t>
            </a:r>
            <a:r>
              <a:rPr lang="en-US" altLang="zh-CN" sz="2800" dirty="0" smtClean="0"/>
              <a:t>-PAC(Probably Approximately Correct)</a:t>
            </a:r>
            <a:r>
              <a:rPr lang="zh-CN" altLang="en-US" sz="2800" dirty="0" smtClean="0"/>
              <a:t>学习模型，在</a:t>
            </a:r>
            <a:r>
              <a:rPr lang="en-US" altLang="zh-CN" sz="2800" dirty="0" smtClean="0"/>
              <a:t>PAC</a:t>
            </a:r>
            <a:r>
              <a:rPr lang="zh-CN" altLang="en-US" sz="2800" dirty="0" smtClean="0"/>
              <a:t>模型中定义了两个概念</a:t>
            </a:r>
            <a:r>
              <a:rPr lang="en-US" altLang="zh-CN" sz="2800" dirty="0" smtClean="0"/>
              <a:t>-</a:t>
            </a:r>
            <a:r>
              <a:rPr lang="zh-CN" altLang="en-US" sz="2800" dirty="0" smtClean="0">
                <a:solidFill>
                  <a:schemeClr val="accent2">
                    <a:lumMod val="75000"/>
                  </a:schemeClr>
                </a:solidFill>
              </a:rPr>
              <a:t>强学习算法</a:t>
            </a:r>
            <a:r>
              <a:rPr lang="zh-CN" altLang="en-US" sz="2800" dirty="0" smtClean="0"/>
              <a:t>和</a:t>
            </a:r>
            <a:r>
              <a:rPr lang="zh-CN" altLang="en-US" sz="2800" dirty="0" smtClean="0">
                <a:solidFill>
                  <a:schemeClr val="accent2">
                    <a:lumMod val="75000"/>
                  </a:schemeClr>
                </a:solidFill>
              </a:rPr>
              <a:t>弱学习算法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文本框 4"/>
          <p:cNvSpPr txBox="1">
            <a:spLocks noChangeArrowheads="1"/>
          </p:cNvSpPr>
          <p:nvPr/>
        </p:nvSpPr>
        <p:spPr bwMode="auto">
          <a:xfrm>
            <a:off x="1028700" y="673100"/>
            <a:ext cx="66167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000"/>
              <a:t>2 Boost</a:t>
            </a:r>
            <a:endParaRPr lang="zh-CN" altLang="en-US" sz="4000"/>
          </a:p>
        </p:txBody>
      </p:sp>
      <p:sp>
        <p:nvSpPr>
          <p:cNvPr id="7171" name="文本框 5"/>
          <p:cNvSpPr txBox="1">
            <a:spLocks noChangeArrowheads="1"/>
          </p:cNvSpPr>
          <p:nvPr/>
        </p:nvSpPr>
        <p:spPr bwMode="auto">
          <a:xfrm>
            <a:off x="1028700" y="2133600"/>
            <a:ext cx="8432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2800" dirty="0" err="1" smtClean="0"/>
              <a:t>Schapire</a:t>
            </a:r>
            <a:r>
              <a:rPr lang="zh-CN" altLang="en-US" sz="2800" dirty="0" smtClean="0"/>
              <a:t>于</a:t>
            </a:r>
            <a:r>
              <a:rPr lang="en-US" altLang="zh-CN" sz="2800" dirty="0" smtClean="0"/>
              <a:t>1990</a:t>
            </a:r>
            <a:r>
              <a:rPr lang="zh-CN" altLang="en-US" sz="2800" dirty="0" smtClean="0"/>
              <a:t>年首次提出观点：任一弱学习算法可以通过加强提升到一个任意正确率的强学习算法，并通过构造一种</a:t>
            </a:r>
            <a:r>
              <a:rPr lang="zh-CN" altLang="en-US" sz="2800" dirty="0" smtClean="0">
                <a:solidFill>
                  <a:schemeClr val="accent2">
                    <a:lumMod val="75000"/>
                  </a:schemeClr>
                </a:solidFill>
              </a:rPr>
              <a:t>多项式级的算法</a:t>
            </a:r>
            <a:r>
              <a:rPr lang="zh-CN" altLang="en-US" sz="2800" dirty="0" smtClean="0"/>
              <a:t>来实现这一加强过程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文本框 4"/>
          <p:cNvSpPr txBox="1">
            <a:spLocks noChangeArrowheads="1"/>
          </p:cNvSpPr>
          <p:nvPr/>
        </p:nvSpPr>
        <p:spPr bwMode="auto">
          <a:xfrm>
            <a:off x="1028700" y="673100"/>
            <a:ext cx="66167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000"/>
              <a:t>2 Boost</a:t>
            </a:r>
            <a:r>
              <a:rPr lang="zh-CN" altLang="en-US" sz="4000"/>
              <a:t>的实现</a:t>
            </a:r>
          </a:p>
        </p:txBody>
      </p:sp>
      <p:sp>
        <p:nvSpPr>
          <p:cNvPr id="8195" name="文本框 5"/>
          <p:cNvSpPr txBox="1">
            <a:spLocks noChangeArrowheads="1"/>
          </p:cNvSpPr>
          <p:nvPr/>
        </p:nvSpPr>
        <p:spPr bwMode="auto">
          <a:xfrm>
            <a:off x="1028700" y="2133600"/>
            <a:ext cx="8648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defRPr/>
            </a:pPr>
            <a:r>
              <a:rPr lang="zh-CN" altLang="en-US" sz="2800" dirty="0" smtClean="0"/>
              <a:t>弱分类器的</a:t>
            </a:r>
            <a:r>
              <a:rPr lang="zh-CN" altLang="en-US" sz="2800" dirty="0" smtClean="0">
                <a:solidFill>
                  <a:schemeClr val="accent2">
                    <a:lumMod val="75000"/>
                  </a:schemeClr>
                </a:solidFill>
              </a:rPr>
              <a:t>多数投票机制</a:t>
            </a:r>
            <a:endParaRPr lang="en-US" altLang="zh-CN" sz="2800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文本框 4"/>
          <p:cNvSpPr txBox="1">
            <a:spLocks noChangeArrowheads="1"/>
          </p:cNvSpPr>
          <p:nvPr/>
        </p:nvSpPr>
        <p:spPr bwMode="auto">
          <a:xfrm>
            <a:off x="1028700" y="673100"/>
            <a:ext cx="66167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000"/>
              <a:t>2 Boost</a:t>
            </a:r>
            <a:r>
              <a:rPr lang="zh-CN" altLang="en-US" sz="4000"/>
              <a:t>的局限性</a:t>
            </a:r>
          </a:p>
        </p:txBody>
      </p:sp>
      <p:sp>
        <p:nvSpPr>
          <p:cNvPr id="9219" name="文本框 5"/>
          <p:cNvSpPr txBox="1">
            <a:spLocks noChangeArrowheads="1"/>
          </p:cNvSpPr>
          <p:nvPr/>
        </p:nvSpPr>
        <p:spPr bwMode="auto">
          <a:xfrm>
            <a:off x="1028700" y="1854200"/>
            <a:ext cx="8648700" cy="224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en-US" altLang="zh-CN" sz="2800"/>
          </a:p>
          <a:p>
            <a:pPr eaLnBrk="1" hangingPunct="1"/>
            <a:r>
              <a:rPr lang="zh-CN" altLang="en-US" sz="2800"/>
              <a:t>如何调整训练集，使得在训练集上训练弱分类器</a:t>
            </a:r>
            <a:r>
              <a:rPr lang="en-US" altLang="zh-CN" sz="2800"/>
              <a:t>?</a:t>
            </a:r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r>
              <a:rPr lang="zh-CN" altLang="en-US" sz="2800"/>
              <a:t>如何将训练得到的各个弱分类器联合起来形成强分类器</a:t>
            </a:r>
            <a:r>
              <a:rPr lang="en-US" altLang="zh-CN" sz="2800"/>
              <a:t>?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文本框 4"/>
          <p:cNvSpPr txBox="1">
            <a:spLocks noChangeArrowheads="1"/>
          </p:cNvSpPr>
          <p:nvPr/>
        </p:nvSpPr>
        <p:spPr bwMode="auto">
          <a:xfrm>
            <a:off x="1028700" y="673100"/>
            <a:ext cx="66167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000"/>
              <a:t>2 AdaBoost</a:t>
            </a:r>
            <a:endParaRPr lang="zh-CN" altLang="en-US" sz="4000"/>
          </a:p>
        </p:txBody>
      </p:sp>
      <p:sp>
        <p:nvSpPr>
          <p:cNvPr id="10243" name="文本框 5"/>
          <p:cNvSpPr txBox="1">
            <a:spLocks noChangeArrowheads="1"/>
          </p:cNvSpPr>
          <p:nvPr/>
        </p:nvSpPr>
        <p:spPr bwMode="auto">
          <a:xfrm>
            <a:off x="1028700" y="2133600"/>
            <a:ext cx="86487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defRPr/>
            </a:pPr>
            <a:r>
              <a:rPr lang="zh-CN" altLang="en-US" sz="2800" dirty="0" smtClean="0"/>
              <a:t>使用加权后选取的训练数据代替随机选取的训练数据，这样将训练的焦点</a:t>
            </a:r>
            <a:r>
              <a:rPr lang="zh-CN" altLang="en-US" sz="2800" dirty="0" smtClean="0">
                <a:solidFill>
                  <a:schemeClr val="accent2">
                    <a:lumMod val="75000"/>
                  </a:schemeClr>
                </a:solidFill>
              </a:rPr>
              <a:t>集中在比较难分的训练数据上</a:t>
            </a:r>
            <a:endParaRPr lang="en-US" altLang="zh-CN" sz="28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eaLnBrk="1" hangingPunct="1">
              <a:defRPr/>
            </a:pPr>
            <a:endParaRPr lang="zh-CN" altLang="en-US" sz="28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将弱分类器联合起来时，使用</a:t>
            </a:r>
            <a:r>
              <a:rPr lang="zh-CN" altLang="en-US" sz="2800" dirty="0" smtClean="0">
                <a:solidFill>
                  <a:schemeClr val="accent2">
                    <a:lumMod val="75000"/>
                  </a:schemeClr>
                </a:solidFill>
              </a:rPr>
              <a:t>加权的投票机制</a:t>
            </a:r>
            <a:r>
              <a:rPr lang="zh-CN" altLang="en-US" sz="2800" dirty="0" smtClean="0"/>
              <a:t>代替平均投票机制。让分类效果好的弱分类器具有较大的权重，而分类效果差的分类器具有较小的权重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框 4"/>
          <p:cNvSpPr txBox="1">
            <a:spLocks noChangeArrowheads="1"/>
          </p:cNvSpPr>
          <p:nvPr/>
        </p:nvSpPr>
        <p:spPr bwMode="auto">
          <a:xfrm>
            <a:off x="1028700" y="673100"/>
            <a:ext cx="66167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000"/>
              <a:t>2 AdaBoost</a:t>
            </a:r>
            <a:endParaRPr lang="zh-CN" altLang="en-US" sz="4000"/>
          </a:p>
        </p:txBody>
      </p:sp>
      <p:pic>
        <p:nvPicPr>
          <p:cNvPr id="11267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8700" y="1497013"/>
            <a:ext cx="9601200" cy="509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框 4"/>
          <p:cNvSpPr txBox="1">
            <a:spLocks noChangeArrowheads="1"/>
          </p:cNvSpPr>
          <p:nvPr/>
        </p:nvSpPr>
        <p:spPr bwMode="auto">
          <a:xfrm>
            <a:off x="1028700" y="673100"/>
            <a:ext cx="66167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000"/>
              <a:t>2 AdaBoost</a:t>
            </a:r>
            <a:endParaRPr lang="zh-CN" altLang="en-US" sz="4000"/>
          </a:p>
        </p:txBody>
      </p:sp>
      <p:pic>
        <p:nvPicPr>
          <p:cNvPr id="12291" name="图片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6600" y="1381125"/>
            <a:ext cx="9626600" cy="535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文本框 4"/>
          <p:cNvSpPr txBox="1">
            <a:spLocks noChangeArrowheads="1"/>
          </p:cNvSpPr>
          <p:nvPr/>
        </p:nvSpPr>
        <p:spPr bwMode="auto">
          <a:xfrm>
            <a:off x="1028700" y="673100"/>
            <a:ext cx="66167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000"/>
              <a:t>2 AdaBoost</a:t>
            </a:r>
            <a:endParaRPr lang="zh-CN" altLang="en-US" sz="4000"/>
          </a:p>
        </p:txBody>
      </p:sp>
      <p:pic>
        <p:nvPicPr>
          <p:cNvPr id="13315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0413" y="1911350"/>
            <a:ext cx="9988550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框 4"/>
          <p:cNvSpPr txBox="1">
            <a:spLocks noChangeArrowheads="1"/>
          </p:cNvSpPr>
          <p:nvPr/>
        </p:nvSpPr>
        <p:spPr bwMode="auto">
          <a:xfrm>
            <a:off x="1028700" y="673100"/>
            <a:ext cx="66167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4000"/>
              <a:t>3 AdaBoost</a:t>
            </a:r>
            <a:r>
              <a:rPr lang="zh-CN" altLang="en-US" sz="4000"/>
              <a:t>的应用</a:t>
            </a:r>
          </a:p>
        </p:txBody>
      </p:sp>
      <p:sp>
        <p:nvSpPr>
          <p:cNvPr id="14339" name="文本框 1"/>
          <p:cNvSpPr txBox="1">
            <a:spLocks noChangeArrowheads="1"/>
          </p:cNvSpPr>
          <p:nvPr/>
        </p:nvSpPr>
        <p:spPr bwMode="auto">
          <a:xfrm>
            <a:off x="1231900" y="1993900"/>
            <a:ext cx="85217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/>
              <a:t>分类</a:t>
            </a:r>
            <a:r>
              <a:rPr lang="en-US" altLang="zh-CN" sz="2800"/>
              <a:t>(</a:t>
            </a:r>
            <a:r>
              <a:rPr lang="zh-CN" altLang="en-US" sz="2800"/>
              <a:t>人脸识别，语音识别</a:t>
            </a:r>
            <a:r>
              <a:rPr lang="en-US" altLang="zh-CN" sz="2800"/>
              <a:t>)</a:t>
            </a:r>
          </a:p>
          <a:p>
            <a:pPr eaLnBrk="1" hangingPunct="1"/>
            <a:r>
              <a:rPr lang="zh-CN" altLang="en-US" sz="2800"/>
              <a:t>非平衡数据分类</a:t>
            </a:r>
            <a:r>
              <a:rPr lang="en-US" altLang="zh-CN" sz="2800"/>
              <a:t>(SMOTEBoost,RUSBoost)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平面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153</TotalTime>
  <Words>228</Words>
  <Application>Microsoft Office PowerPoint</Application>
  <PresentationFormat>自定义</PresentationFormat>
  <Paragraphs>23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Trebuchet MS</vt:lpstr>
      <vt:lpstr>Arial</vt:lpstr>
      <vt:lpstr>Wingdings 3</vt:lpstr>
      <vt:lpstr>等线</vt:lpstr>
      <vt:lpstr>宋体</vt:lpstr>
      <vt:lpstr>Times New Roman</vt:lpstr>
      <vt:lpstr>华文新魏</vt:lpstr>
      <vt:lpstr>平面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samsung</cp:lastModifiedBy>
  <cp:revision>67</cp:revision>
  <dcterms:created xsi:type="dcterms:W3CDTF">2017-09-26T12:03:53Z</dcterms:created>
  <dcterms:modified xsi:type="dcterms:W3CDTF">2019-08-27T07:49:43Z</dcterms:modified>
</cp:coreProperties>
</file>