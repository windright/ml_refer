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18"/>
  </p:notesMasterIdLst>
  <p:sldIdLst>
    <p:sldId id="256" r:id="rId2"/>
    <p:sldId id="1941" r:id="rId3"/>
    <p:sldId id="1942" r:id="rId4"/>
    <p:sldId id="2021" r:id="rId5"/>
    <p:sldId id="1235" r:id="rId6"/>
    <p:sldId id="1943" r:id="rId7"/>
    <p:sldId id="257" r:id="rId8"/>
    <p:sldId id="258" r:id="rId9"/>
    <p:sldId id="2022" r:id="rId10"/>
    <p:sldId id="1944" r:id="rId11"/>
    <p:sldId id="1945" r:id="rId12"/>
    <p:sldId id="1946" r:id="rId13"/>
    <p:sldId id="1947" r:id="rId14"/>
    <p:sldId id="1950" r:id="rId15"/>
    <p:sldId id="1951" r:id="rId16"/>
    <p:sldId id="195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4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BD113-2149-40E8-AB65-B2FFE74340D4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56F22-BE4F-4BB0-9C9E-5E482D48A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73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BF%80%E6%B4%BB%E5%87%BD%E6%95%B0/2520792?fr=aladdin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8253F7F5-4DA9-44F0-8698-51E33B93D7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7D96C9A-6186-43F7-B297-8F83007A03A4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2889BCE-9E3B-44B6-B3E7-7486F6C8444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42913" y="698500"/>
            <a:ext cx="6132512" cy="3451225"/>
          </a:xfrm>
          <a:ln w="12700">
            <a:solidFill>
              <a:schemeClr val="tx1"/>
            </a:solidFill>
          </a:ln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E320A25-357A-4AC2-A065-23041451EE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5038" y="4389438"/>
            <a:ext cx="5140325" cy="41560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ea typeface="宋体" panose="02010600030101010101" pitchFamily="2" charset="-122"/>
              </a:rPr>
              <a:t>借助于标量积和非线性函数映射将</a:t>
            </a:r>
            <a:r>
              <a:rPr lang="en-US" altLang="zh-CN" sz="1200" dirty="0">
                <a:ea typeface="宋体" panose="02010600030101010101" pitchFamily="2" charset="-122"/>
              </a:rPr>
              <a:t>n</a:t>
            </a:r>
            <a:r>
              <a:rPr lang="zh-CN" altLang="en-US" sz="1200" dirty="0">
                <a:ea typeface="宋体" panose="02010600030101010101" pitchFamily="2" charset="-122"/>
              </a:rPr>
              <a:t>维输入向量</a:t>
            </a:r>
            <a:r>
              <a:rPr lang="en-US" altLang="zh-CN" sz="1200" dirty="0">
                <a:ea typeface="宋体" panose="02010600030101010101" pitchFamily="2" charset="-122"/>
              </a:rPr>
              <a:t>x</a:t>
            </a:r>
            <a:r>
              <a:rPr lang="zh-CN" altLang="en-US" sz="1200" dirty="0">
                <a:ea typeface="宋体" panose="02010600030101010101" pitchFamily="2" charset="-122"/>
              </a:rPr>
              <a:t>映射到变量</a:t>
            </a:r>
            <a:r>
              <a:rPr lang="en-US" altLang="zh-CN" sz="1200" dirty="0">
                <a:ea typeface="宋体" panose="02010600030101010101" pitchFamily="2" charset="-122"/>
              </a:rPr>
              <a:t>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hlinkClick r:id="rId3"/>
              </a:rPr>
              <a:t>https://baike.baidu.com/item/%E6%BF%80%E6%B4%BB%E5%87%BD%E6%95%B0/2520792?fr=aladdin</a:t>
            </a:r>
            <a:endParaRPr lang="en-US" altLang="zh-CN" sz="1200" dirty="0"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7578830A-C525-4D31-965D-B5FF7ED9DB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2EC8FEE-CE02-442E-93DF-A0D6F57D1CBC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572B105F-8164-4B57-BD66-185773FA512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403D175-2F1B-4020-A0D8-CCE0A0DB6B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54997C89-07DA-44DD-82C2-A6913728EE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7C89B3C-BBF9-4572-8764-F5508F350AC0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2F563543-6F95-4043-9561-68EDA265F4C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2B66FCD9-1FE3-4F93-B94F-10B83072E6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MK: Note – different notation than used in book.  Will have to standardize notation.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564CD9AE-B1B4-47AF-8E6C-AABA40F6F1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0F55639-7F69-4F03-9F52-8A5FB8131758}" type="slidenum">
              <a:rPr lang="en-US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6</a:t>
            </a:fld>
            <a:endParaRPr lang="en-US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5E785345-7E7A-4EBD-ADC7-8CE27B56D48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2B01301-156E-4D60-8E5A-4ACDEE986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3CE5BA3F-0F73-4F3C-ADF7-F11220C967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A47C618-7DE9-45C3-BF41-ED6CFFEDC84E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10F50450-6AA1-47E1-8C4F-D889BFEEC3F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42913" y="698500"/>
            <a:ext cx="6132512" cy="3451225"/>
          </a:xfrm>
          <a:ln w="12700">
            <a:solidFill>
              <a:schemeClr val="tx1"/>
            </a:solidFill>
          </a:ln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37F3281-9DAB-4EB7-B42C-510367C088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5038" y="4389438"/>
            <a:ext cx="5140325" cy="41560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B9183531-B216-4A8C-A8DA-8382215849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F30B53F-9EDD-4C53-9CDE-54DAFFD40BA8}" type="slidenum">
              <a:rPr lang="en-US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11</a:t>
            </a:fld>
            <a:endParaRPr lang="en-US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579A289C-9A1F-4571-A8C6-4E17E869AF9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42913" y="698500"/>
            <a:ext cx="6132512" cy="3451225"/>
          </a:xfrm>
          <a:ln w="12700">
            <a:solidFill>
              <a:schemeClr val="tx1"/>
            </a:solidFill>
          </a:ln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12A73FB-E4FB-4B40-A1BF-BAB60F06CF0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5038" y="4389438"/>
            <a:ext cx="5140325" cy="41560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08690C24-5954-472C-972D-8DC5B49B6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60F55BA-FE46-4069-85D1-0DFBC0059EAD}" type="slidenum">
              <a:rPr lang="en-US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12</a:t>
            </a:fld>
            <a:endParaRPr lang="en-US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76BB227C-09C4-49AE-AA3F-97208EDBB9B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42913" y="698500"/>
            <a:ext cx="6132512" cy="3451225"/>
          </a:xfrm>
          <a:ln w="12700">
            <a:solidFill>
              <a:schemeClr val="tx1"/>
            </a:solidFill>
          </a:ln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4CE7C46-8E13-4887-8C1C-3026761209A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5038" y="4389438"/>
            <a:ext cx="5140325" cy="41560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310D6630-1A5A-4F05-8326-3A1880B30E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6711BFF-114E-4424-9A21-F8C4165DE53A}" type="slidenum">
              <a:rPr lang="en-US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13</a:t>
            </a:fld>
            <a:endParaRPr lang="en-US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9920AD4B-9026-4DBB-BAEE-0DFA1B521EB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42913" y="698500"/>
            <a:ext cx="6132512" cy="3451225"/>
          </a:xfrm>
          <a:ln w="12700">
            <a:solidFill>
              <a:schemeClr val="tx1"/>
            </a:solidFill>
          </a:ln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6E38F84-59B9-4FD1-8B84-96F5C266C0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5038" y="4389438"/>
            <a:ext cx="5140325" cy="41560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4F3E2379-1547-432B-B89B-E30474898E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B7EA803-2232-425B-BA11-B2BA0FB8268D}" type="slidenum">
              <a:rPr lang="en-US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14</a:t>
            </a:fld>
            <a:endParaRPr lang="en-US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63C51901-A50A-4699-A6F7-4E4CA5D34B6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42913" y="698500"/>
            <a:ext cx="6132512" cy="3451225"/>
          </a:xfrm>
          <a:ln w="12700">
            <a:solidFill>
              <a:schemeClr val="tx1"/>
            </a:solidFill>
          </a:ln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D65CA52-7BFC-4BD8-9B66-3C3A94A6A2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5038" y="4389438"/>
            <a:ext cx="5140325" cy="41560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AD6845DA-4643-49FE-A885-34D8C6A336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CD3577B-0E57-491B-8C75-0585A394D326}" type="slidenum">
              <a:rPr lang="en-US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15</a:t>
            </a:fld>
            <a:endParaRPr lang="en-US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6671BE68-BA3F-485C-8F2A-6692EE6ACAE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42913" y="698500"/>
            <a:ext cx="6132512" cy="3451225"/>
          </a:xfrm>
          <a:ln w="12700">
            <a:solidFill>
              <a:schemeClr val="tx1"/>
            </a:solidFill>
          </a:ln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8AE90A2-B457-490B-8D70-BF8626B7C5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5038" y="4389438"/>
            <a:ext cx="5140325" cy="41560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8655A48D-3822-48D3-89C9-7946D6001C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defTabSz="93186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defTabSz="93186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E961816-803A-4924-84B9-12C78DD1D7E4}" type="slidenum">
              <a:rPr lang="en-US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16</a:t>
            </a:fld>
            <a:endParaRPr lang="en-US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5E7C01B2-AC0D-4D9A-9846-809336A7808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42913" y="698500"/>
            <a:ext cx="6132512" cy="3451225"/>
          </a:xfrm>
          <a:ln w="12700">
            <a:solidFill>
              <a:schemeClr val="tx1"/>
            </a:solidFill>
          </a:ln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B7C8E51-21B6-478A-BE32-7E594538FAC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5038" y="4389438"/>
            <a:ext cx="5140325" cy="41560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00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57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6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138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94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56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10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66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63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76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194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381000"/>
            <a:ext cx="11203517" cy="60960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406400" y="1371600"/>
            <a:ext cx="5537200" cy="51054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46800" y="1371600"/>
            <a:ext cx="5537200" cy="51054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B1487A11-0AEB-424C-AC3A-96D8A68EA0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A820FC-997A-478B-A580-8A11D83C77E3}" type="datetime1">
              <a:rPr lang="en-US" altLang="en-US"/>
              <a:pPr/>
              <a:t>7/25/2019</a:t>
            </a:fld>
            <a:endParaRPr lang="en-US" alt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10868572-90FC-426A-BD12-88C4260D5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Data Mining: Concepts and Techniques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1D93D94E-95E0-4153-B4F2-1AC05928A3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E11288-A76A-4C8B-8184-8EFE990797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59098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82622-DE7F-41CF-B348-A7BEB547B215}" type="datetimeFigureOut">
              <a:rPr lang="zh-CN" altLang="en-US" smtClean="0"/>
              <a:t>2019/7/25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C32EF98-7A8D-409F-BBBA-43029AF8324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01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4.emf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6.emf"/><Relationship Id="rId5" Type="http://schemas.openxmlformats.org/officeDocument/2006/relationships/image" Target="../media/image13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95305-AFF8-497C-9DE5-3B22E593D6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BP</a:t>
            </a:r>
            <a:r>
              <a:rPr lang="zh-CN" altLang="en-US" dirty="0"/>
              <a:t>误差反向传播算法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E49331-9C50-457E-991D-FCF595F5A6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                                                                      神经网络学习算法</a:t>
            </a:r>
          </a:p>
        </p:txBody>
      </p:sp>
    </p:spTree>
    <p:extLst>
      <p:ext uri="{BB962C8B-B14F-4D97-AF65-F5344CB8AC3E}">
        <p14:creationId xmlns:p14="http://schemas.microsoft.com/office/powerpoint/2010/main" val="363133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5" name="Group 7">
            <a:extLst>
              <a:ext uri="{FF2B5EF4-FFF2-40B4-BE49-F238E27FC236}">
                <a16:creationId xmlns:a16="http://schemas.microsoft.com/office/drawing/2014/main" id="{6280EF1D-E3DB-4961-839B-37F5AFBF33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47875" y="4422775"/>
            <a:ext cx="8039100" cy="1619250"/>
            <a:chOff x="1639" y="1552"/>
            <a:chExt cx="5185" cy="1044"/>
          </a:xfrm>
        </p:grpSpPr>
        <p:sp>
          <p:nvSpPr>
            <p:cNvPr id="41986" name="Rectangle 8">
              <a:extLst>
                <a:ext uri="{FF2B5EF4-FFF2-40B4-BE49-F238E27FC236}">
                  <a16:creationId xmlns:a16="http://schemas.microsoft.com/office/drawing/2014/main" id="{46DE20DB-2BA4-4D62-B9FB-DA1271B58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1897"/>
              <a:ext cx="765" cy="400"/>
            </a:xfrm>
            <a:prstGeom prst="rect">
              <a:avLst/>
            </a:prstGeom>
            <a:noFill/>
            <a:ln w="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87" name="Rectangle 9">
              <a:extLst>
                <a:ext uri="{FF2B5EF4-FFF2-40B4-BE49-F238E27FC236}">
                  <a16:creationId xmlns:a16="http://schemas.microsoft.com/office/drawing/2014/main" id="{07F207A0-2FD5-4BFB-ABA1-F6C41F2EC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0" y="1961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细</a:t>
              </a:r>
            </a:p>
          </p:txBody>
        </p:sp>
        <p:sp>
          <p:nvSpPr>
            <p:cNvPr id="41988" name="Rectangle 10">
              <a:extLst>
                <a:ext uri="{FF2B5EF4-FFF2-40B4-BE49-F238E27FC236}">
                  <a16:creationId xmlns:a16="http://schemas.microsoft.com/office/drawing/2014/main" id="{3EA2A662-CA66-4908-8A2E-7ED93550A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" y="1961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胞</a:t>
              </a:r>
            </a:p>
          </p:txBody>
        </p:sp>
        <p:sp>
          <p:nvSpPr>
            <p:cNvPr id="41989" name="Rectangle 11">
              <a:extLst>
                <a:ext uri="{FF2B5EF4-FFF2-40B4-BE49-F238E27FC236}">
                  <a16:creationId xmlns:a16="http://schemas.microsoft.com/office/drawing/2014/main" id="{3D800060-AF3E-4BDA-82A8-28FA0D174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" y="1961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体</a:t>
              </a:r>
            </a:p>
          </p:txBody>
        </p:sp>
        <p:sp>
          <p:nvSpPr>
            <p:cNvPr id="41990" name="Rectangle 12">
              <a:extLst>
                <a:ext uri="{FF2B5EF4-FFF2-40B4-BE49-F238E27FC236}">
                  <a16:creationId xmlns:a16="http://schemas.microsoft.com/office/drawing/2014/main" id="{2F3B8C5E-8933-48EF-8BAC-29F9F5EE8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" y="1598"/>
              <a:ext cx="330" cy="998"/>
            </a:xfrm>
            <a:prstGeom prst="rect">
              <a:avLst/>
            </a:prstGeom>
            <a:noFill/>
            <a:ln w="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1" name="Rectangle 13">
              <a:extLst>
                <a:ext uri="{FF2B5EF4-FFF2-40B4-BE49-F238E27FC236}">
                  <a16:creationId xmlns:a16="http://schemas.microsoft.com/office/drawing/2014/main" id="{195E7D66-AFB7-4B6C-93EB-E59CDD3E1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1" y="1777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突</a:t>
              </a:r>
            </a:p>
          </p:txBody>
        </p:sp>
        <p:sp>
          <p:nvSpPr>
            <p:cNvPr id="41992" name="Rectangle 14">
              <a:extLst>
                <a:ext uri="{FF2B5EF4-FFF2-40B4-BE49-F238E27FC236}">
                  <a16:creationId xmlns:a16="http://schemas.microsoft.com/office/drawing/2014/main" id="{AC351420-51D6-4518-8513-B3BA64FEE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1" y="2085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触</a:t>
              </a:r>
            </a:p>
          </p:txBody>
        </p:sp>
        <p:sp>
          <p:nvSpPr>
            <p:cNvPr id="41993" name="Rectangle 15">
              <a:extLst>
                <a:ext uri="{FF2B5EF4-FFF2-40B4-BE49-F238E27FC236}">
                  <a16:creationId xmlns:a16="http://schemas.microsoft.com/office/drawing/2014/main" id="{24DEB2AF-28F6-4953-A973-BA4AB0526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" y="1897"/>
              <a:ext cx="765" cy="400"/>
            </a:xfrm>
            <a:prstGeom prst="rect">
              <a:avLst/>
            </a:prstGeom>
            <a:noFill/>
            <a:ln w="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4" name="Rectangle 16">
              <a:extLst>
                <a:ext uri="{FF2B5EF4-FFF2-40B4-BE49-F238E27FC236}">
                  <a16:creationId xmlns:a16="http://schemas.microsoft.com/office/drawing/2014/main" id="{C87E58AC-6503-48EE-9D6A-FB77A8059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" y="1961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轴</a:t>
              </a:r>
            </a:p>
          </p:txBody>
        </p:sp>
        <p:sp>
          <p:nvSpPr>
            <p:cNvPr id="41995" name="Rectangle 17">
              <a:extLst>
                <a:ext uri="{FF2B5EF4-FFF2-40B4-BE49-F238E27FC236}">
                  <a16:creationId xmlns:a16="http://schemas.microsoft.com/office/drawing/2014/main" id="{DF65ABE5-B4AA-4674-B076-CC1A95754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1961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突</a:t>
              </a:r>
            </a:p>
          </p:txBody>
        </p:sp>
        <p:sp>
          <p:nvSpPr>
            <p:cNvPr id="41996" name="Rectangle 18">
              <a:extLst>
                <a:ext uri="{FF2B5EF4-FFF2-40B4-BE49-F238E27FC236}">
                  <a16:creationId xmlns:a16="http://schemas.microsoft.com/office/drawing/2014/main" id="{D5BCCF40-9B8C-497C-835F-3B62D9BC3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" y="1598"/>
              <a:ext cx="330" cy="998"/>
            </a:xfrm>
            <a:prstGeom prst="rect">
              <a:avLst/>
            </a:prstGeom>
            <a:noFill/>
            <a:ln w="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7" name="Rectangle 19">
              <a:extLst>
                <a:ext uri="{FF2B5EF4-FFF2-40B4-BE49-F238E27FC236}">
                  <a16:creationId xmlns:a16="http://schemas.microsoft.com/office/drawing/2014/main" id="{6A910D63-BA98-4A99-863B-7A81C978B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1777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树</a:t>
              </a:r>
            </a:p>
          </p:txBody>
        </p:sp>
        <p:sp>
          <p:nvSpPr>
            <p:cNvPr id="41998" name="Rectangle 20">
              <a:extLst>
                <a:ext uri="{FF2B5EF4-FFF2-40B4-BE49-F238E27FC236}">
                  <a16:creationId xmlns:a16="http://schemas.microsoft.com/office/drawing/2014/main" id="{F6A4BC85-593F-4E6B-AD15-97D910BBE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2085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突</a:t>
              </a:r>
            </a:p>
          </p:txBody>
        </p:sp>
        <p:sp>
          <p:nvSpPr>
            <p:cNvPr id="41999" name="Line 21">
              <a:extLst>
                <a:ext uri="{FF2B5EF4-FFF2-40B4-BE49-F238E27FC236}">
                  <a16:creationId xmlns:a16="http://schemas.microsoft.com/office/drawing/2014/main" id="{FE9A887E-9EAC-44C7-8AF5-67AC7D9F7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8" y="1897"/>
              <a:ext cx="441" cy="0"/>
            </a:xfrm>
            <a:prstGeom prst="line">
              <a:avLst/>
            </a:prstGeom>
            <a:noFill/>
            <a:ln w="13">
              <a:solidFill>
                <a:srgbClr val="00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2000" name="Line 23">
              <a:extLst>
                <a:ext uri="{FF2B5EF4-FFF2-40B4-BE49-F238E27FC236}">
                  <a16:creationId xmlns:a16="http://schemas.microsoft.com/office/drawing/2014/main" id="{4F7C5FD8-DDA1-4575-9560-A01DA4B8A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8" y="2292"/>
              <a:ext cx="441" cy="0"/>
            </a:xfrm>
            <a:prstGeom prst="line">
              <a:avLst/>
            </a:prstGeom>
            <a:noFill/>
            <a:ln w="13">
              <a:solidFill>
                <a:srgbClr val="00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2001" name="Line 25">
              <a:extLst>
                <a:ext uri="{FF2B5EF4-FFF2-40B4-BE49-F238E27FC236}">
                  <a16:creationId xmlns:a16="http://schemas.microsoft.com/office/drawing/2014/main" id="{CDA17660-4042-4F33-AAFB-299C04ACB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8" y="2095"/>
              <a:ext cx="325" cy="0"/>
            </a:xfrm>
            <a:prstGeom prst="line">
              <a:avLst/>
            </a:prstGeom>
            <a:noFill/>
            <a:ln w="13">
              <a:solidFill>
                <a:srgbClr val="00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2002" name="Line 27">
              <a:extLst>
                <a:ext uri="{FF2B5EF4-FFF2-40B4-BE49-F238E27FC236}">
                  <a16:creationId xmlns:a16="http://schemas.microsoft.com/office/drawing/2014/main" id="{1050CE14-746C-416F-8292-DCB74DF94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2095"/>
              <a:ext cx="650" cy="0"/>
            </a:xfrm>
            <a:prstGeom prst="line">
              <a:avLst/>
            </a:prstGeom>
            <a:noFill/>
            <a:ln w="13">
              <a:solidFill>
                <a:srgbClr val="00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2003" name="Line 29">
              <a:extLst>
                <a:ext uri="{FF2B5EF4-FFF2-40B4-BE49-F238E27FC236}">
                  <a16:creationId xmlns:a16="http://schemas.microsoft.com/office/drawing/2014/main" id="{6AFD82B0-5342-49A3-942E-15957CB67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7" y="2095"/>
              <a:ext cx="441" cy="0"/>
            </a:xfrm>
            <a:prstGeom prst="line">
              <a:avLst/>
            </a:prstGeom>
            <a:noFill/>
            <a:ln w="13">
              <a:solidFill>
                <a:srgbClr val="00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2004" name="Line 31">
              <a:extLst>
                <a:ext uri="{FF2B5EF4-FFF2-40B4-BE49-F238E27FC236}">
                  <a16:creationId xmlns:a16="http://schemas.microsoft.com/office/drawing/2014/main" id="{8145BD57-A916-4B5A-B9AE-A811AB92EC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7" y="1897"/>
              <a:ext cx="464" cy="0"/>
            </a:xfrm>
            <a:prstGeom prst="line">
              <a:avLst/>
            </a:prstGeom>
            <a:noFill/>
            <a:ln w="13">
              <a:solidFill>
                <a:srgbClr val="00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2005" name="Line 33">
              <a:extLst>
                <a:ext uri="{FF2B5EF4-FFF2-40B4-BE49-F238E27FC236}">
                  <a16:creationId xmlns:a16="http://schemas.microsoft.com/office/drawing/2014/main" id="{A68E154B-789D-4DBD-9B4C-9EF30B7FE8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7" y="2292"/>
              <a:ext cx="464" cy="0"/>
            </a:xfrm>
            <a:prstGeom prst="line">
              <a:avLst/>
            </a:prstGeom>
            <a:noFill/>
            <a:ln w="13">
              <a:solidFill>
                <a:srgbClr val="00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2006" name="Rectangle 51">
              <a:extLst>
                <a:ext uri="{FF2B5EF4-FFF2-40B4-BE49-F238E27FC236}">
                  <a16:creationId xmlns:a16="http://schemas.microsoft.com/office/drawing/2014/main" id="{89B99F2D-8414-4404-9710-D6F95115C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1828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</a:t>
              </a:r>
            </a:p>
          </p:txBody>
        </p:sp>
        <p:sp>
          <p:nvSpPr>
            <p:cNvPr id="42007" name="Rectangle 52">
              <a:extLst>
                <a:ext uri="{FF2B5EF4-FFF2-40B4-BE49-F238E27FC236}">
                  <a16:creationId xmlns:a16="http://schemas.microsoft.com/office/drawing/2014/main" id="{C3BC0B8E-0B6F-4D58-985C-60623637F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2136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入</a:t>
              </a:r>
            </a:p>
          </p:txBody>
        </p:sp>
        <p:sp>
          <p:nvSpPr>
            <p:cNvPr id="42008" name="Rectangle 53">
              <a:extLst>
                <a:ext uri="{FF2B5EF4-FFF2-40B4-BE49-F238E27FC236}">
                  <a16:creationId xmlns:a16="http://schemas.microsoft.com/office/drawing/2014/main" id="{86671C57-1B50-4D05-937D-0E5CFE17B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8" y="1828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</a:t>
              </a:r>
            </a:p>
          </p:txBody>
        </p:sp>
        <p:sp>
          <p:nvSpPr>
            <p:cNvPr id="42009" name="Rectangle 54">
              <a:extLst>
                <a:ext uri="{FF2B5EF4-FFF2-40B4-BE49-F238E27FC236}">
                  <a16:creationId xmlns:a16="http://schemas.microsoft.com/office/drawing/2014/main" id="{704895B2-39A8-465B-9C76-612441440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8" y="2136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出</a:t>
              </a:r>
            </a:p>
          </p:txBody>
        </p:sp>
        <p:sp>
          <p:nvSpPr>
            <p:cNvPr id="42010" name="Rectangle 55">
              <a:extLst>
                <a:ext uri="{FF2B5EF4-FFF2-40B4-BE49-F238E27FC236}">
                  <a16:creationId xmlns:a16="http://schemas.microsoft.com/office/drawing/2014/main" id="{EACEB36A-2640-4A80-A94D-0E3FEBF37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" y="2347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信</a:t>
              </a:r>
            </a:p>
          </p:txBody>
        </p:sp>
        <p:sp>
          <p:nvSpPr>
            <p:cNvPr id="42011" name="Rectangle 56">
              <a:extLst>
                <a:ext uri="{FF2B5EF4-FFF2-40B4-BE49-F238E27FC236}">
                  <a16:creationId xmlns:a16="http://schemas.microsoft.com/office/drawing/2014/main" id="{D1CC592B-BA99-4559-BB33-0A2C41181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7" y="2347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息</a:t>
              </a:r>
            </a:p>
          </p:txBody>
        </p:sp>
        <p:sp>
          <p:nvSpPr>
            <p:cNvPr id="42012" name="Rectangle 57">
              <a:extLst>
                <a:ext uri="{FF2B5EF4-FFF2-40B4-BE49-F238E27FC236}">
                  <a16:creationId xmlns:a16="http://schemas.microsoft.com/office/drawing/2014/main" id="{DBA1EE6F-76B7-42BE-812A-BDCEA2038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2347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处</a:t>
              </a:r>
            </a:p>
          </p:txBody>
        </p:sp>
        <p:sp>
          <p:nvSpPr>
            <p:cNvPr id="42013" name="Rectangle 58">
              <a:extLst>
                <a:ext uri="{FF2B5EF4-FFF2-40B4-BE49-F238E27FC236}">
                  <a16:creationId xmlns:a16="http://schemas.microsoft.com/office/drawing/2014/main" id="{79EC34A2-1DA3-425A-97ED-CA8D60AD5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347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理</a:t>
              </a:r>
            </a:p>
          </p:txBody>
        </p:sp>
        <p:sp>
          <p:nvSpPr>
            <p:cNvPr id="42014" name="Rectangle 59">
              <a:extLst>
                <a:ext uri="{FF2B5EF4-FFF2-40B4-BE49-F238E27FC236}">
                  <a16:creationId xmlns:a16="http://schemas.microsoft.com/office/drawing/2014/main" id="{FD62870A-F505-4D34-A403-EC491F851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4" y="1552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</a:t>
              </a:r>
            </a:p>
          </p:txBody>
        </p:sp>
        <p:sp>
          <p:nvSpPr>
            <p:cNvPr id="42015" name="Rectangle 60">
              <a:extLst>
                <a:ext uri="{FF2B5EF4-FFF2-40B4-BE49-F238E27FC236}">
                  <a16:creationId xmlns:a16="http://schemas.microsoft.com/office/drawing/2014/main" id="{48E38ADF-DB8D-40DA-8015-F0CA760DA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1552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脉</a:t>
              </a:r>
            </a:p>
          </p:txBody>
        </p:sp>
        <p:sp>
          <p:nvSpPr>
            <p:cNvPr id="42016" name="Rectangle 61">
              <a:extLst>
                <a:ext uri="{FF2B5EF4-FFF2-40B4-BE49-F238E27FC236}">
                  <a16:creationId xmlns:a16="http://schemas.microsoft.com/office/drawing/2014/main" id="{4EADF0DC-ADFF-4C11-9D93-906796DC1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552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冲</a:t>
              </a:r>
            </a:p>
          </p:txBody>
        </p:sp>
        <p:sp>
          <p:nvSpPr>
            <p:cNvPr id="42017" name="Rectangle 62">
              <a:extLst>
                <a:ext uri="{FF2B5EF4-FFF2-40B4-BE49-F238E27FC236}">
                  <a16:creationId xmlns:a16="http://schemas.microsoft.com/office/drawing/2014/main" id="{389C94D7-F25C-4CB0-B171-172F53886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" y="1860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形</a:t>
              </a:r>
            </a:p>
          </p:txBody>
        </p:sp>
        <p:sp>
          <p:nvSpPr>
            <p:cNvPr id="42018" name="Rectangle 63">
              <a:extLst>
                <a:ext uri="{FF2B5EF4-FFF2-40B4-BE49-F238E27FC236}">
                  <a16:creationId xmlns:a16="http://schemas.microsoft.com/office/drawing/2014/main" id="{BB1E9061-2E1D-4120-9693-1FE195089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1" y="1860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成</a:t>
              </a:r>
            </a:p>
          </p:txBody>
        </p:sp>
        <p:sp>
          <p:nvSpPr>
            <p:cNvPr id="42019" name="Rectangle 64">
              <a:extLst>
                <a:ext uri="{FF2B5EF4-FFF2-40B4-BE49-F238E27FC236}">
                  <a16:creationId xmlns:a16="http://schemas.microsoft.com/office/drawing/2014/main" id="{25988141-5200-43BE-A1D2-ED863C027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0" y="2347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传</a:t>
              </a:r>
            </a:p>
          </p:txBody>
        </p:sp>
        <p:sp>
          <p:nvSpPr>
            <p:cNvPr id="42020" name="Rectangle 65">
              <a:extLst>
                <a:ext uri="{FF2B5EF4-FFF2-40B4-BE49-F238E27FC236}">
                  <a16:creationId xmlns:a16="http://schemas.microsoft.com/office/drawing/2014/main" id="{F196F35E-28B7-4603-A436-C60E75F2F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347"/>
              <a:ext cx="29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5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</a:t>
              </a:r>
            </a:p>
          </p:txBody>
        </p:sp>
      </p:grpSp>
      <p:pic>
        <p:nvPicPr>
          <p:cNvPr id="42021" name="Picture 4" descr="6">
            <a:extLst>
              <a:ext uri="{FF2B5EF4-FFF2-40B4-BE49-F238E27FC236}">
                <a16:creationId xmlns:a16="http://schemas.microsoft.com/office/drawing/2014/main" id="{7DD7DA02-9129-4F9D-BFE5-D8792FE13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460" y="757311"/>
            <a:ext cx="7756525" cy="338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022" name="TextBox 3">
            <a:extLst>
              <a:ext uri="{FF2B5EF4-FFF2-40B4-BE49-F238E27FC236}">
                <a16:creationId xmlns:a16="http://schemas.microsoft.com/office/drawing/2014/main" id="{5BC7D15A-62AD-4BD8-B9BA-7916A0B55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1" y="201614"/>
            <a:ext cx="857726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简单的神经元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098">
            <a:extLst>
              <a:ext uri="{FF2B5EF4-FFF2-40B4-BE49-F238E27FC236}">
                <a16:creationId xmlns:a16="http://schemas.microsoft.com/office/drawing/2014/main" id="{FD83F7DB-AD39-4E1D-AD30-1362C8682C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1954" y="373857"/>
            <a:ext cx="1572683" cy="609600"/>
          </a:xfrm>
        </p:spPr>
        <p:txBody>
          <a:bodyPr vert="horz" lIns="92075" tIns="46038" rIns="92075" bIns="46038" rtlCol="0" anchor="t">
            <a:norm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神经元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43014" name="Group 4100">
            <a:extLst>
              <a:ext uri="{FF2B5EF4-FFF2-40B4-BE49-F238E27FC236}">
                <a16:creationId xmlns:a16="http://schemas.microsoft.com/office/drawing/2014/main" id="{91C0EFF7-CAB1-4BE0-AF94-87CC7DFA162A}"/>
              </a:ext>
            </a:extLst>
          </p:cNvPr>
          <p:cNvGrpSpPr>
            <a:grpSpLocks/>
          </p:cNvGrpSpPr>
          <p:nvPr/>
        </p:nvGrpSpPr>
        <p:grpSpPr bwMode="auto">
          <a:xfrm>
            <a:off x="1558924" y="1330325"/>
            <a:ext cx="7966076" cy="3254375"/>
            <a:chOff x="50" y="1105"/>
            <a:chExt cx="5018" cy="2050"/>
          </a:xfrm>
        </p:grpSpPr>
        <p:grpSp>
          <p:nvGrpSpPr>
            <p:cNvPr id="43015" name="Group 4103">
              <a:extLst>
                <a:ext uri="{FF2B5EF4-FFF2-40B4-BE49-F238E27FC236}">
                  <a16:creationId xmlns:a16="http://schemas.microsoft.com/office/drawing/2014/main" id="{1716DB01-BD13-4DD9-B04C-F8E66DCCE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" y="1135"/>
              <a:ext cx="5018" cy="2020"/>
              <a:chOff x="50" y="1135"/>
              <a:chExt cx="5018" cy="2020"/>
            </a:xfrm>
          </p:grpSpPr>
          <p:sp>
            <p:nvSpPr>
              <p:cNvPr id="43016" name="Line 4106">
                <a:extLst>
                  <a:ext uri="{FF2B5EF4-FFF2-40B4-BE49-F238E27FC236}">
                    <a16:creationId xmlns:a16="http://schemas.microsoft.com/office/drawing/2014/main" id="{9EF7F97C-55AE-4F3D-9384-7F95179AAA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8" y="1895"/>
                <a:ext cx="681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73068" name="Rectangle 4107">
                <a:extLst>
                  <a:ext uri="{FF2B5EF4-FFF2-40B4-BE49-F238E27FC236}">
                    <a16:creationId xmlns:a16="http://schemas.microsoft.com/office/drawing/2014/main" id="{2D0CF978-4B44-4FCE-B377-6C92863AC3DA}"/>
                  </a:ext>
                </a:extLst>
              </p:cNvPr>
              <p:cNvSpPr/>
              <p:nvPr/>
            </p:nvSpPr>
            <p:spPr>
              <a:xfrm>
                <a:off x="3365" y="1653"/>
                <a:ext cx="515" cy="485"/>
              </a:xfrm>
              <a:prstGeom prst="rect">
                <a:avLst/>
              </a:prstGeom>
              <a:solidFill>
                <a:srgbClr val="00FF99"/>
              </a:solidFill>
              <a:ln w="12700" cap="flat" cmpd="sng">
                <a:solidFill>
                  <a:srgbClr val="00FF99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altLang="zh-CN" sz="4400" i="1" noProof="1">
                    <a:latin typeface="MathJax_Math" charset="0"/>
                    <a:ea typeface="宋体" pitchFamily="2" charset="-122"/>
                    <a:cs typeface="+mn-ea"/>
                  </a:rPr>
                  <a:t>f</a:t>
                </a:r>
                <a:endParaRPr lang="en-US" altLang="zh-CN" sz="4400" i="1" noProof="1">
                  <a:latin typeface="MathJax_Math" charset="0"/>
                  <a:ea typeface="宋体" pitchFamily="2" charset="-122"/>
                </a:endParaRPr>
              </a:p>
            </p:txBody>
          </p:sp>
          <p:sp>
            <p:nvSpPr>
              <p:cNvPr id="43018" name="Line 4108">
                <a:extLst>
                  <a:ext uri="{FF2B5EF4-FFF2-40B4-BE49-F238E27FC236}">
                    <a16:creationId xmlns:a16="http://schemas.microsoft.com/office/drawing/2014/main" id="{0FED9D62-BBD6-45AF-80CE-4FF70329C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905"/>
                <a:ext cx="91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3019" name="Rectangle 4109">
                <a:extLst>
                  <a:ext uri="{FF2B5EF4-FFF2-40B4-BE49-F238E27FC236}">
                    <a16:creationId xmlns:a16="http://schemas.microsoft.com/office/drawing/2014/main" id="{B2BD57AB-0E53-4BCF-8791-530080AEE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" y="2786"/>
                <a:ext cx="505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zh-CN" altLang="en-US" sz="1600" dirty="0">
                    <a:ea typeface="宋体" panose="02010600030101010101" pitchFamily="2" charset="-122"/>
                  </a:rPr>
                  <a:t>加权和</a:t>
                </a:r>
                <a:endParaRPr lang="en-US" altLang="zh-CN" sz="16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3020" name="Rectangle 4110">
                <a:extLst>
                  <a:ext uri="{FF2B5EF4-FFF2-40B4-BE49-F238E27FC236}">
                    <a16:creationId xmlns:a16="http://schemas.microsoft.com/office/drawing/2014/main" id="{A538986D-72C4-49B2-9D7A-0D2C4C8BE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" y="2786"/>
                <a:ext cx="1151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zh-CN" altLang="en-US" sz="1600" dirty="0">
                    <a:ea typeface="宋体" panose="02010600030101010101" pitchFamily="2" charset="-122"/>
                  </a:rPr>
                  <a:t>输入</a:t>
                </a:r>
                <a:endParaRPr lang="en-US" altLang="zh-CN" sz="1600" dirty="0">
                  <a:ea typeface="宋体" panose="02010600030101010101" pitchFamily="2" charset="-122"/>
                </a:endParaRPr>
              </a:p>
              <a:p>
                <a:pPr algn="ctr" eaLnBrk="0" hangingPunct="0"/>
                <a:r>
                  <a:rPr lang="zh-CN" altLang="en-US" sz="1600" dirty="0">
                    <a:ea typeface="宋体" panose="02010600030101010101" pitchFamily="2" charset="-122"/>
                  </a:rPr>
                  <a:t>（上一层的输出）</a:t>
                </a:r>
                <a:endParaRPr lang="en-US" altLang="zh-CN" sz="1600" b="1" dirty="0">
                  <a:latin typeface="MathJax_Math" charset="0"/>
                  <a:ea typeface="HYGungSo-Bold" pitchFamily="18" charset="-127"/>
                </a:endParaRPr>
              </a:p>
            </p:txBody>
          </p:sp>
          <p:sp>
            <p:nvSpPr>
              <p:cNvPr id="43021" name="Rectangle 4111">
                <a:extLst>
                  <a:ext uri="{FF2B5EF4-FFF2-40B4-BE49-F238E27FC236}">
                    <a16:creationId xmlns:a16="http://schemas.microsoft.com/office/drawing/2014/main" id="{4790A4D1-A57F-4B59-8E2A-B9AB0A346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0" y="1442"/>
                <a:ext cx="59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输出</a:t>
                </a:r>
                <a:r>
                  <a:rPr lang="en-US" altLang="zh-CN" sz="2400" b="1" i="1" dirty="0">
                    <a:latin typeface="MathJax_Math" charset="0"/>
                    <a:ea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43022" name="Rectangle 4112">
                <a:extLst>
                  <a:ext uri="{FF2B5EF4-FFF2-40B4-BE49-F238E27FC236}">
                    <a16:creationId xmlns:a16="http://schemas.microsoft.com/office/drawing/2014/main" id="{91843C38-6534-4718-A64A-97C1215A1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6" y="2786"/>
                <a:ext cx="634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zh-CN" altLang="en-US" sz="1600" dirty="0">
                    <a:ea typeface="宋体" panose="02010600030101010101" pitchFamily="2" charset="-122"/>
                  </a:rPr>
                  <a:t>激活函数</a:t>
                </a:r>
                <a:endParaRPr lang="en-US" altLang="zh-CN" sz="16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3023" name="Line 4114">
                <a:extLst>
                  <a:ext uri="{FF2B5EF4-FFF2-40B4-BE49-F238E27FC236}">
                    <a16:creationId xmlns:a16="http://schemas.microsoft.com/office/drawing/2014/main" id="{45C8984A-8EB5-49B0-B2DC-EB21B0571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5" y="1350"/>
                <a:ext cx="0" cy="56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3024" name="Rectangle 4115">
                <a:extLst>
                  <a:ext uri="{FF2B5EF4-FFF2-40B4-BE49-F238E27FC236}">
                    <a16:creationId xmlns:a16="http://schemas.microsoft.com/office/drawing/2014/main" id="{4C7C42B1-EAC8-480D-A070-FCB9317B1B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5" y="2786"/>
                <a:ext cx="376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zh-CN" altLang="en-US" sz="1600" dirty="0">
                    <a:ea typeface="宋体" panose="02010600030101010101" pitchFamily="2" charset="-122"/>
                  </a:rPr>
                  <a:t>权重</a:t>
                </a:r>
                <a:endParaRPr lang="en-US" altLang="zh-CN" sz="1600" b="1" dirty="0">
                  <a:latin typeface="MathJax_Math" charset="0"/>
                  <a:ea typeface="HYGungSo-Bold" pitchFamily="18" charset="-127"/>
                </a:endParaRPr>
              </a:p>
            </p:txBody>
          </p:sp>
          <p:sp>
            <p:nvSpPr>
              <p:cNvPr id="43025" name="Freeform 4116">
                <a:extLst>
                  <a:ext uri="{FF2B5EF4-FFF2-40B4-BE49-F238E27FC236}">
                    <a16:creationId xmlns:a16="http://schemas.microsoft.com/office/drawing/2014/main" id="{8EC76F8B-2F01-4140-91A9-CFEA02C85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" y="1271"/>
                <a:ext cx="568" cy="1220"/>
              </a:xfrm>
              <a:custGeom>
                <a:avLst/>
                <a:gdLst>
                  <a:gd name="T0" fmla="*/ 0 w 568"/>
                  <a:gd name="T1" fmla="*/ 0 h 1220"/>
                  <a:gd name="T2" fmla="*/ 0 w 568"/>
                  <a:gd name="T3" fmla="*/ 1219 h 1220"/>
                  <a:gd name="T4" fmla="*/ 254 w 568"/>
                  <a:gd name="T5" fmla="*/ 1219 h 1220"/>
                  <a:gd name="T6" fmla="*/ 567 w 568"/>
                  <a:gd name="T7" fmla="*/ 632 h 1220"/>
                  <a:gd name="T8" fmla="*/ 254 w 568"/>
                  <a:gd name="T9" fmla="*/ 14 h 1220"/>
                  <a:gd name="T10" fmla="*/ 0 w 568"/>
                  <a:gd name="T11" fmla="*/ 0 h 1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8" h="1220">
                    <a:moveTo>
                      <a:pt x="0" y="0"/>
                    </a:moveTo>
                    <a:lnTo>
                      <a:pt x="0" y="1219"/>
                    </a:lnTo>
                    <a:lnTo>
                      <a:pt x="254" y="1219"/>
                    </a:lnTo>
                    <a:lnTo>
                      <a:pt x="567" y="632"/>
                    </a:lnTo>
                    <a:lnTo>
                      <a:pt x="254" y="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CC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3026" name="Rectangle 4117">
                <a:extLst>
                  <a:ext uri="{FF2B5EF4-FFF2-40B4-BE49-F238E27FC236}">
                    <a16:creationId xmlns:a16="http://schemas.microsoft.com/office/drawing/2014/main" id="{337574D5-6404-43F0-B5DA-01F071A9C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5" y="1667"/>
                <a:ext cx="117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endParaRPr lang="en-US" altLang="zh-CN" sz="3600">
                  <a:latin typeface="MathJax_Math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27" name="Rectangle 4119">
                <a:extLst>
                  <a:ext uri="{FF2B5EF4-FFF2-40B4-BE49-F238E27FC236}">
                    <a16:creationId xmlns:a16="http://schemas.microsoft.com/office/drawing/2014/main" id="{AEA978CF-F60C-43D1-A624-142C236E3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7" y="1163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altLang="zh-CN" sz="2400" i="1">
                    <a:latin typeface="MathJax_Math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2400" i="1" baseline="-25000">
                    <a:latin typeface="MathJax_Math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3028" name="Line 4120">
                <a:extLst>
                  <a:ext uri="{FF2B5EF4-FFF2-40B4-BE49-F238E27FC236}">
                    <a16:creationId xmlns:a16="http://schemas.microsoft.com/office/drawing/2014/main" id="{3DDEFE4F-0B00-42D7-AECA-A8318DD44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4" y="1406"/>
                <a:ext cx="122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3029" name="Rectangle 4122">
                <a:extLst>
                  <a:ext uri="{FF2B5EF4-FFF2-40B4-BE49-F238E27FC236}">
                    <a16:creationId xmlns:a16="http://schemas.microsoft.com/office/drawing/2014/main" id="{D03C304C-CFBA-4EB8-885E-2C5DCCCB9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1519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altLang="zh-CN" sz="2400" i="1">
                    <a:latin typeface="MathJax_Math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2400" i="1" baseline="-25000">
                    <a:latin typeface="MathJax_Math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43030" name="Line 4123">
                <a:extLst>
                  <a:ext uri="{FF2B5EF4-FFF2-40B4-BE49-F238E27FC236}">
                    <a16:creationId xmlns:a16="http://schemas.microsoft.com/office/drawing/2014/main" id="{7E619CE3-2DD5-4AF6-A0A6-8BF3EDBC1D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5" y="1762"/>
                <a:ext cx="122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3031" name="Rectangle 4125">
                <a:extLst>
                  <a:ext uri="{FF2B5EF4-FFF2-40B4-BE49-F238E27FC236}">
                    <a16:creationId xmlns:a16="http://schemas.microsoft.com/office/drawing/2014/main" id="{9B455B7F-C675-4B85-A5B2-F89112321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9" y="2103"/>
                <a:ext cx="32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altLang="zh-CN" sz="2400" i="1">
                    <a:latin typeface="MathJax_Math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2400" i="1" baseline="-25000">
                    <a:latin typeface="MathJax_Math" charset="0"/>
                    <a:ea typeface="宋体" panose="02010600030101010101" pitchFamily="2" charset="-122"/>
                  </a:rPr>
                  <a:t>n</a:t>
                </a:r>
              </a:p>
            </p:txBody>
          </p:sp>
          <p:sp>
            <p:nvSpPr>
              <p:cNvPr id="43032" name="Line 4126">
                <a:extLst>
                  <a:ext uri="{FF2B5EF4-FFF2-40B4-BE49-F238E27FC236}">
                    <a16:creationId xmlns:a16="http://schemas.microsoft.com/office/drawing/2014/main" id="{757BFB88-C293-49A3-839D-443381F268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4" y="2346"/>
                <a:ext cx="122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73088" name="Rectangle 4127">
                <a:extLst>
                  <a:ext uri="{FF2B5EF4-FFF2-40B4-BE49-F238E27FC236}">
                    <a16:creationId xmlns:a16="http://schemas.microsoft.com/office/drawing/2014/main" id="{028A3BC5-FF86-475F-A8D7-2ACD83A7FF80}"/>
                  </a:ext>
                </a:extLst>
              </p:cNvPr>
              <p:cNvSpPr/>
              <p:nvPr/>
            </p:nvSpPr>
            <p:spPr>
              <a:xfrm>
                <a:off x="505" y="1255"/>
                <a:ext cx="264" cy="279"/>
              </a:xfrm>
              <a:prstGeom prst="rect">
                <a:avLst/>
              </a:prstGeom>
              <a:noFill/>
              <a:ln w="15875">
                <a:solidFill>
                  <a:srgbClr val="121328"/>
                </a:solidFill>
                <a:miter/>
              </a:ln>
              <a:effectLst>
                <a:outerShdw blurRad="508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107950" tIns="36195" rIns="71755" bIns="36195">
                <a:spAutoFit/>
              </a:bodyPr>
              <a:lstStyle/>
              <a:p>
                <a:pPr algn="ctr" eaLnBrk="0" hangingPunct="0"/>
                <a:r>
                  <a:rPr lang="en-US" altLang="zh-CN" sz="2400" i="1" noProof="1">
                    <a:latin typeface="MathJax_Math" charset="0"/>
                    <a:ea typeface="宋体" pitchFamily="2" charset="-122"/>
                    <a:cs typeface="+mn-ea"/>
                  </a:rPr>
                  <a:t>x</a:t>
                </a:r>
                <a:r>
                  <a:rPr lang="en-US" altLang="zh-CN" sz="2400" i="1" baseline="-25000" noProof="1">
                    <a:latin typeface="MathJax_Math" charset="0"/>
                    <a:ea typeface="宋体" pitchFamily="2" charset="-122"/>
                    <a:cs typeface="+mn-ea"/>
                  </a:rPr>
                  <a:t>0</a:t>
                </a:r>
                <a:endParaRPr lang="en-US" altLang="zh-CN" sz="2400" i="1" baseline="-25000" noProof="1">
                  <a:latin typeface="MathJax_Math" charset="0"/>
                  <a:ea typeface="宋体" pitchFamily="2" charset="-122"/>
                </a:endParaRPr>
              </a:p>
            </p:txBody>
          </p:sp>
          <p:sp>
            <p:nvSpPr>
              <p:cNvPr id="173089" name="Rectangle 4128">
                <a:extLst>
                  <a:ext uri="{FF2B5EF4-FFF2-40B4-BE49-F238E27FC236}">
                    <a16:creationId xmlns:a16="http://schemas.microsoft.com/office/drawing/2014/main" id="{1BB6CE45-4280-47C6-A420-1592BDB86A62}"/>
                  </a:ext>
                </a:extLst>
              </p:cNvPr>
              <p:cNvSpPr/>
              <p:nvPr/>
            </p:nvSpPr>
            <p:spPr>
              <a:xfrm>
                <a:off x="505" y="1630"/>
                <a:ext cx="264" cy="279"/>
              </a:xfrm>
              <a:prstGeom prst="rect">
                <a:avLst/>
              </a:prstGeom>
              <a:noFill/>
              <a:ln w="9525">
                <a:solidFill>
                  <a:srgbClr val="121328"/>
                </a:solidFill>
                <a:miter/>
              </a:ln>
              <a:effectLst>
                <a:outerShdw blurRad="508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107950" tIns="36195" rIns="71755" bIns="36195">
                <a:spAutoFit/>
              </a:bodyPr>
              <a:lstStyle/>
              <a:p>
                <a:pPr algn="ctr" eaLnBrk="0" hangingPunct="0"/>
                <a:r>
                  <a:rPr lang="en-US" altLang="zh-CN" sz="2400" i="1" noProof="1">
                    <a:latin typeface="MathJax_Math" charset="0"/>
                    <a:ea typeface="宋体" pitchFamily="2" charset="-122"/>
                    <a:cs typeface="+mn-ea"/>
                  </a:rPr>
                  <a:t>x</a:t>
                </a:r>
                <a:r>
                  <a:rPr lang="en-US" altLang="zh-CN" sz="2400" i="1" baseline="-25000" noProof="1">
                    <a:latin typeface="MathJax_Math" charset="0"/>
                    <a:ea typeface="宋体" pitchFamily="2" charset="-122"/>
                    <a:cs typeface="+mn-ea"/>
                  </a:rPr>
                  <a:t>1</a:t>
                </a:r>
                <a:endParaRPr lang="en-US" altLang="zh-CN" sz="2400" i="1" baseline="-25000" noProof="1">
                  <a:latin typeface="MathJax_Math" charset="0"/>
                  <a:ea typeface="宋体" pitchFamily="2" charset="-122"/>
                </a:endParaRPr>
              </a:p>
            </p:txBody>
          </p:sp>
          <p:sp>
            <p:nvSpPr>
              <p:cNvPr id="173090" name="Rectangle 4129">
                <a:extLst>
                  <a:ext uri="{FF2B5EF4-FFF2-40B4-BE49-F238E27FC236}">
                    <a16:creationId xmlns:a16="http://schemas.microsoft.com/office/drawing/2014/main" id="{295A6A24-A3D5-4B9A-A405-0A4B41964498}"/>
                  </a:ext>
                </a:extLst>
              </p:cNvPr>
              <p:cNvSpPr/>
              <p:nvPr/>
            </p:nvSpPr>
            <p:spPr>
              <a:xfrm>
                <a:off x="502" y="2187"/>
                <a:ext cx="265" cy="279"/>
              </a:xfrm>
              <a:prstGeom prst="rect">
                <a:avLst/>
              </a:prstGeom>
              <a:noFill/>
              <a:ln w="9525">
                <a:solidFill>
                  <a:srgbClr val="121328"/>
                </a:solidFill>
                <a:miter/>
              </a:ln>
              <a:effectLst>
                <a:outerShdw blurRad="508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107950" tIns="36195" rIns="71755" bIns="36195">
                <a:spAutoFit/>
              </a:bodyPr>
              <a:lstStyle/>
              <a:p>
                <a:pPr algn="ctr" eaLnBrk="0" hangingPunct="0"/>
                <a:r>
                  <a:rPr lang="en-US" altLang="zh-CN" sz="2400" i="1" noProof="1">
                    <a:latin typeface="MathJax_Math" charset="0"/>
                    <a:ea typeface="宋体" pitchFamily="2" charset="-122"/>
                    <a:cs typeface="+mn-ea"/>
                  </a:rPr>
                  <a:t>x</a:t>
                </a:r>
                <a:r>
                  <a:rPr lang="en-US" altLang="zh-CN" sz="2400" i="1" baseline="-25000" noProof="1">
                    <a:latin typeface="MathJax_Math" charset="0"/>
                    <a:ea typeface="宋体" pitchFamily="2" charset="-122"/>
                    <a:cs typeface="+mn-ea"/>
                  </a:rPr>
                  <a:t>n</a:t>
                </a:r>
                <a:endParaRPr lang="en-US" altLang="zh-CN" sz="2400" i="1" baseline="-25000" noProof="1">
                  <a:latin typeface="MathJax_Math" charset="0"/>
                  <a:ea typeface="宋体" pitchFamily="2" charset="-122"/>
                </a:endParaRPr>
              </a:p>
            </p:txBody>
          </p:sp>
          <p:sp>
            <p:nvSpPr>
              <p:cNvPr id="5" name="Rectangle 4128">
                <a:extLst>
                  <a:ext uri="{FF2B5EF4-FFF2-40B4-BE49-F238E27FC236}">
                    <a16:creationId xmlns:a16="http://schemas.microsoft.com/office/drawing/2014/main" id="{B5B60CC9-4274-4875-8E35-A7F4F84CD547}"/>
                  </a:ext>
                </a:extLst>
              </p:cNvPr>
              <p:cNvSpPr/>
              <p:nvPr/>
            </p:nvSpPr>
            <p:spPr>
              <a:xfrm>
                <a:off x="572" y="2016"/>
                <a:ext cx="269" cy="143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>
                <a:outerShdw blurRad="508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eaVert" wrap="none" lIns="107950" tIns="36195" rIns="71755" bIns="36195">
                <a:spAutoFit/>
              </a:bodyPr>
              <a:lstStyle/>
              <a:p>
                <a:pPr algn="ctr" eaLnBrk="0" hangingPunct="0"/>
                <a:r>
                  <a:rPr lang="en-US" altLang="zh-CN" sz="2400" i="1" baseline="-25000" noProof="1">
                    <a:latin typeface="MathJax_Math" charset="0"/>
                    <a:ea typeface="宋体" pitchFamily="2" charset="-122"/>
                    <a:cs typeface="+mn-ea"/>
                  </a:rPr>
                  <a:t>...</a:t>
                </a:r>
                <a:endParaRPr lang="en-US" altLang="zh-CN" sz="2400" i="1" baseline="-25000" noProof="1">
                  <a:latin typeface="MathJax_Math" charset="0"/>
                  <a:ea typeface="宋体" pitchFamily="2" charset="-122"/>
                </a:endParaRPr>
              </a:p>
            </p:txBody>
          </p:sp>
          <p:sp>
            <p:nvSpPr>
              <p:cNvPr id="6" name="Rectangle 4128">
                <a:extLst>
                  <a:ext uri="{FF2B5EF4-FFF2-40B4-BE49-F238E27FC236}">
                    <a16:creationId xmlns:a16="http://schemas.microsoft.com/office/drawing/2014/main" id="{17132F0F-DDAF-4A36-A0A6-D2977DC9A8E1}"/>
                  </a:ext>
                </a:extLst>
              </p:cNvPr>
              <p:cNvSpPr/>
              <p:nvPr/>
            </p:nvSpPr>
            <p:spPr>
              <a:xfrm>
                <a:off x="1349" y="1922"/>
                <a:ext cx="269" cy="143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>
                <a:outerShdw blurRad="508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eaVert" wrap="none" lIns="107950" tIns="36195" rIns="71755" bIns="36195">
                <a:spAutoFit/>
              </a:bodyPr>
              <a:lstStyle/>
              <a:p>
                <a:pPr algn="ctr" eaLnBrk="0" hangingPunct="0"/>
                <a:r>
                  <a:rPr lang="en-US" altLang="zh-CN" sz="2400" i="1" baseline="-25000" noProof="1">
                    <a:latin typeface="MathJax_Math" charset="0"/>
                    <a:ea typeface="宋体" pitchFamily="2" charset="-122"/>
                    <a:cs typeface="+mn-ea"/>
                  </a:rPr>
                  <a:t>...</a:t>
                </a:r>
                <a:endParaRPr lang="en-US" altLang="zh-CN" sz="2400" i="1" baseline="-25000" noProof="1">
                  <a:latin typeface="MathJax_Math" charset="0"/>
                  <a:ea typeface="宋体" pitchFamily="2" charset="-122"/>
                </a:endParaRPr>
              </a:p>
            </p:txBody>
          </p:sp>
          <p:sp>
            <p:nvSpPr>
              <p:cNvPr id="43038" name="Oval 4113">
                <a:extLst>
                  <a:ext uri="{FF2B5EF4-FFF2-40B4-BE49-F238E27FC236}">
                    <a16:creationId xmlns:a16="http://schemas.microsoft.com/office/drawing/2014/main" id="{219B49E9-E1E1-4502-ADB0-18548F730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5" y="1135"/>
                <a:ext cx="401" cy="402"/>
              </a:xfrm>
              <a:prstGeom prst="ellipse">
                <a:avLst/>
              </a:prstGeom>
              <a:solidFill>
                <a:srgbClr val="00FFCC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3039" name="Rectangle 4101">
              <a:extLst>
                <a:ext uri="{FF2B5EF4-FFF2-40B4-BE49-F238E27FC236}">
                  <a16:creationId xmlns:a16="http://schemas.microsoft.com/office/drawing/2014/main" id="{FC0E7294-C187-4A06-9ABD-10DBA80A9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1105"/>
              <a:ext cx="31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zh-CN" altLang="en-US" sz="3600">
                  <a:latin typeface="MathJax_Math" charset="0"/>
                  <a:ea typeface="宋体" panose="02010600030101010101" pitchFamily="2" charset="-122"/>
                  <a:sym typeface="Arial" panose="020B0604020202020204" pitchFamily="34" charset="0"/>
                </a:rPr>
                <a:t>θ</a:t>
              </a:r>
              <a:r>
                <a:rPr lang="zh-CN" altLang="zh-CN" sz="3600" baseline="-25000">
                  <a:latin typeface="MathJax_Math" charset="0"/>
                  <a:ea typeface="宋体" panose="02010600030101010101" pitchFamily="2" charset="-122"/>
                  <a:sym typeface="Arial" panose="020B0604020202020204" pitchFamily="34" charset="0"/>
                </a:rPr>
                <a:t>j</a:t>
              </a:r>
              <a:endParaRPr lang="en-US" altLang="zh-CN" sz="3600" i="1" baseline="-25000">
                <a:latin typeface="MathJax_Math" charset="0"/>
                <a:ea typeface="宋体" panose="02010600030101010101" pitchFamily="2" charset="-122"/>
              </a:endParaRPr>
            </a:p>
          </p:txBody>
        </p:sp>
      </p:grpSp>
      <p:sp>
        <p:nvSpPr>
          <p:cNvPr id="43040" name="Rectangle 4130">
            <a:extLst>
              <a:ext uri="{FF2B5EF4-FFF2-40B4-BE49-F238E27FC236}">
                <a16:creationId xmlns:a16="http://schemas.microsoft.com/office/drawing/2014/main" id="{F311EA78-6026-4B75-B05F-2CA1927A1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575" y="3281363"/>
            <a:ext cx="838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3041" name="Line 4131">
            <a:extLst>
              <a:ext uri="{FF2B5EF4-FFF2-40B4-BE49-F238E27FC236}">
                <a16:creationId xmlns:a16="http://schemas.microsoft.com/office/drawing/2014/main" id="{6C3A0858-4ADA-4C58-A911-3513D9157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9575" y="3890963"/>
            <a:ext cx="3810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3042" name="Line 4132">
            <a:extLst>
              <a:ext uri="{FF2B5EF4-FFF2-40B4-BE49-F238E27FC236}">
                <a16:creationId xmlns:a16="http://schemas.microsoft.com/office/drawing/2014/main" id="{8E8AD2A4-7C88-414A-ABF3-26CC519E59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281363"/>
            <a:ext cx="0" cy="6096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3043" name="Line 4133">
            <a:extLst>
              <a:ext uri="{FF2B5EF4-FFF2-40B4-BE49-F238E27FC236}">
                <a16:creationId xmlns:a16="http://schemas.microsoft.com/office/drawing/2014/main" id="{C9F5B142-217C-4154-99CA-6BDB45DEC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0575" y="3281363"/>
            <a:ext cx="3810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3044" name="文本框 3">
            <a:extLst>
              <a:ext uri="{FF2B5EF4-FFF2-40B4-BE49-F238E27FC236}">
                <a16:creationId xmlns:a16="http://schemas.microsoft.com/office/drawing/2014/main" id="{F7FD0724-A207-4F2A-BEC0-EEFD6585E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1" y="2222500"/>
            <a:ext cx="4540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>
                <a:latin typeface="Symbol" panose="05050102010706020507" pitchFamily="18" charset="2"/>
                <a:ea typeface="宋体" panose="02010600030101010101" pitchFamily="2" charset="-122"/>
              </a:rPr>
              <a:t>S</a:t>
            </a:r>
          </a:p>
        </p:txBody>
      </p:sp>
      <p:pic>
        <p:nvPicPr>
          <p:cNvPr id="43045" name="图片 7" descr="equation">
            <a:extLst>
              <a:ext uri="{FF2B5EF4-FFF2-40B4-BE49-F238E27FC236}">
                <a16:creationId xmlns:a16="http://schemas.microsoft.com/office/drawing/2014/main" id="{15E4AC57-B8C6-490F-A86C-A1DABF735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837" y="2629694"/>
            <a:ext cx="2932113" cy="162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7E85D22-201E-43AA-9D66-FC4F05DE0D90}"/>
              </a:ext>
            </a:extLst>
          </p:cNvPr>
          <p:cNvSpPr txBox="1"/>
          <p:nvPr/>
        </p:nvSpPr>
        <p:spPr>
          <a:xfrm>
            <a:off x="5941432" y="101656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偏倚</a:t>
            </a: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F59FECC5-B03B-4C8D-9C80-781A0E28B932}"/>
              </a:ext>
            </a:extLst>
          </p:cNvPr>
          <p:cNvCxnSpPr>
            <a:stCxn id="43021" idx="3"/>
            <a:endCxn id="43045" idx="0"/>
          </p:cNvCxnSpPr>
          <p:nvPr/>
        </p:nvCxnSpPr>
        <p:spPr>
          <a:xfrm flipH="1">
            <a:off x="9182894" y="2096295"/>
            <a:ext cx="342106" cy="533399"/>
          </a:xfrm>
          <a:prstGeom prst="bentConnector4">
            <a:avLst>
              <a:gd name="adj1" fmla="val -66821"/>
              <a:gd name="adj2" fmla="val 716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FE3A5F3C-1152-462C-96CD-9F5F574F90E6}"/>
              </a:ext>
            </a:extLst>
          </p:cNvPr>
          <p:cNvSpPr/>
          <p:nvPr/>
        </p:nvSpPr>
        <p:spPr>
          <a:xfrm>
            <a:off x="1134267" y="5053012"/>
            <a:ext cx="10257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激活函数（</a:t>
            </a:r>
            <a:r>
              <a:rPr lang="en-US" altLang="zh-CN" dirty="0"/>
              <a:t>Activation Function</a:t>
            </a:r>
            <a:r>
              <a:rPr lang="zh-CN" altLang="en-US" dirty="0"/>
              <a:t>），就是在人工神经网络的神经元上运行的函数，负责将神经元的输入映射到输出端。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084C63-F065-459F-AC53-C86ADAFFE7EC}"/>
              </a:ext>
            </a:extLst>
          </p:cNvPr>
          <p:cNvSpPr txBox="1"/>
          <p:nvPr/>
        </p:nvSpPr>
        <p:spPr>
          <a:xfrm>
            <a:off x="10478181" y="3281363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Sigmoid</a:t>
            </a:r>
            <a:r>
              <a:rPr lang="zh-CN" altLang="en-US" dirty="0"/>
              <a:t>函数</a:t>
            </a:r>
          </a:p>
          <a:p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691521-8AA5-4694-A737-17C7BE824EF4}"/>
              </a:ext>
            </a:extLst>
          </p:cNvPr>
          <p:cNvSpPr/>
          <p:nvPr/>
        </p:nvSpPr>
        <p:spPr>
          <a:xfrm>
            <a:off x="10842921" y="3743028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Tanh</a:t>
            </a:r>
            <a:r>
              <a:rPr lang="zh-CN" altLang="en-US" dirty="0"/>
              <a:t>函数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0A13E9-5D54-483E-911F-C7244452A2BA}"/>
              </a:ext>
            </a:extLst>
          </p:cNvPr>
          <p:cNvSpPr txBox="1"/>
          <p:nvPr/>
        </p:nvSpPr>
        <p:spPr>
          <a:xfrm>
            <a:off x="3665537" y="67073"/>
            <a:ext cx="7864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神经元接收到来自</a:t>
            </a:r>
            <a:r>
              <a:rPr lang="en-US" altLang="zh-CN" dirty="0"/>
              <a:t>n</a:t>
            </a:r>
            <a:r>
              <a:rPr lang="zh-CN" altLang="en-US" dirty="0"/>
              <a:t>个其他神经元传递过来的输入信号，这些输入信号通过带权重连接进行传递，神经元接收到的总输入值将与神经元的阈值进行比较（大于阈值激活），然后通过“激活函数”处理以产生神经元的输出。</a:t>
            </a: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9982CBE-B058-44DB-B514-D48D0D6D9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神经网络：感知器（两层神经元）与多层网络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45059" name="图片 2">
            <a:extLst>
              <a:ext uri="{FF2B5EF4-FFF2-40B4-BE49-F238E27FC236}">
                <a16:creationId xmlns:a16="http://schemas.microsoft.com/office/drawing/2014/main" id="{7D26C55A-D82B-4038-9A37-466ED95E4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2090739"/>
            <a:ext cx="28575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图片 3">
            <a:extLst>
              <a:ext uri="{FF2B5EF4-FFF2-40B4-BE49-F238E27FC236}">
                <a16:creationId xmlns:a16="http://schemas.microsoft.com/office/drawing/2014/main" id="{10BFA601-3C13-49C8-A416-6EE283A6B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0" y="2254250"/>
            <a:ext cx="5151438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5BB6F1F5-6426-4DB8-9A6C-A32F77EA8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1625" y="127000"/>
            <a:ext cx="8724900" cy="508474"/>
          </a:xfrm>
        </p:spPr>
        <p:txBody>
          <a:bodyPr vert="horz" lIns="92075" tIns="46038" rIns="92075" bIns="46038" rtlCol="0" anchor="t">
            <a:spAutoFit/>
          </a:bodyPr>
          <a:lstStyle/>
          <a:p>
            <a:r>
              <a:rPr lang="zh-CN" altLang="en-US" sz="3000" dirty="0">
                <a:ea typeface="宋体" panose="02010600030101010101" pitchFamily="2" charset="-122"/>
              </a:rPr>
              <a:t>多层前馈神经网络</a:t>
            </a:r>
            <a:endParaRPr lang="en-US" altLang="zh-CN" sz="3000" dirty="0">
              <a:ea typeface="宋体" panose="02010600030101010101" pitchFamily="2" charset="-122"/>
            </a:endParaRPr>
          </a:p>
        </p:txBody>
      </p:sp>
      <p:grpSp>
        <p:nvGrpSpPr>
          <p:cNvPr id="47106" name="Group 3">
            <a:extLst>
              <a:ext uri="{FF2B5EF4-FFF2-40B4-BE49-F238E27FC236}">
                <a16:creationId xmlns:a16="http://schemas.microsoft.com/office/drawing/2014/main" id="{E54E7C89-F94F-422C-B75C-85F6E9A3610D}"/>
              </a:ext>
            </a:extLst>
          </p:cNvPr>
          <p:cNvGrpSpPr>
            <a:grpSpLocks/>
          </p:cNvGrpSpPr>
          <p:nvPr/>
        </p:nvGrpSpPr>
        <p:grpSpPr bwMode="auto">
          <a:xfrm>
            <a:off x="3800475" y="1223963"/>
            <a:ext cx="3409950" cy="4940300"/>
            <a:chOff x="1536" y="1061"/>
            <a:chExt cx="2148" cy="3112"/>
          </a:xfrm>
        </p:grpSpPr>
        <p:sp>
          <p:nvSpPr>
            <p:cNvPr id="47107" name="Oval 4">
              <a:extLst>
                <a:ext uri="{FF2B5EF4-FFF2-40B4-BE49-F238E27FC236}">
                  <a16:creationId xmlns:a16="http://schemas.microsoft.com/office/drawing/2014/main" id="{5B9E5769-938E-415C-9A8E-6B6865516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" y="1625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08" name="Oval 5">
              <a:extLst>
                <a:ext uri="{FF2B5EF4-FFF2-40B4-BE49-F238E27FC236}">
                  <a16:creationId xmlns:a16="http://schemas.microsoft.com/office/drawing/2014/main" id="{12FC4D72-5026-495B-B6AC-8D6A832C2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" y="1642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09" name="Oval 6">
              <a:extLst>
                <a:ext uri="{FF2B5EF4-FFF2-40B4-BE49-F238E27FC236}">
                  <a16:creationId xmlns:a16="http://schemas.microsoft.com/office/drawing/2014/main" id="{313728ED-3AB0-4C2A-85E4-AAA28D7C4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" y="1642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10" name="Oval 7">
              <a:extLst>
                <a:ext uri="{FF2B5EF4-FFF2-40B4-BE49-F238E27FC236}">
                  <a16:creationId xmlns:a16="http://schemas.microsoft.com/office/drawing/2014/main" id="{4CE08A82-7651-4915-8E42-F701C8522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" y="2432"/>
              <a:ext cx="339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11" name="Oval 8">
              <a:extLst>
                <a:ext uri="{FF2B5EF4-FFF2-40B4-BE49-F238E27FC236}">
                  <a16:creationId xmlns:a16="http://schemas.microsoft.com/office/drawing/2014/main" id="{EDC73FB0-C0BB-4902-8061-056788E49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4" y="2432"/>
              <a:ext cx="340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12" name="Oval 9">
              <a:extLst>
                <a:ext uri="{FF2B5EF4-FFF2-40B4-BE49-F238E27FC236}">
                  <a16:creationId xmlns:a16="http://schemas.microsoft.com/office/drawing/2014/main" id="{275DAAC0-1A15-438B-B0D1-011167E43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48"/>
              <a:ext cx="340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13" name="Oval 10">
              <a:extLst>
                <a:ext uri="{FF2B5EF4-FFF2-40B4-BE49-F238E27FC236}">
                  <a16:creationId xmlns:a16="http://schemas.microsoft.com/office/drawing/2014/main" id="{1A49F48F-5469-4511-90E7-2FB81B14C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" y="3288"/>
              <a:ext cx="339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14" name="Oval 11">
              <a:extLst>
                <a:ext uri="{FF2B5EF4-FFF2-40B4-BE49-F238E27FC236}">
                  <a16:creationId xmlns:a16="http://schemas.microsoft.com/office/drawing/2014/main" id="{B011E745-8F7D-444A-8356-C2BD66EBF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" y="3269"/>
              <a:ext cx="339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15" name="Line 12">
              <a:extLst>
                <a:ext uri="{FF2B5EF4-FFF2-40B4-BE49-F238E27FC236}">
                  <a16:creationId xmlns:a16="http://schemas.microsoft.com/office/drawing/2014/main" id="{B5F1802C-B97A-4C6A-AC51-1BB88CA11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68" y="2781"/>
              <a:ext cx="320" cy="5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16" name="Line 13">
              <a:extLst>
                <a:ext uri="{FF2B5EF4-FFF2-40B4-BE49-F238E27FC236}">
                  <a16:creationId xmlns:a16="http://schemas.microsoft.com/office/drawing/2014/main" id="{FF44873B-55C1-4417-8393-EA128A8BA7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7" y="2732"/>
              <a:ext cx="303" cy="5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17" name="Line 14">
              <a:extLst>
                <a:ext uri="{FF2B5EF4-FFF2-40B4-BE49-F238E27FC236}">
                  <a16:creationId xmlns:a16="http://schemas.microsoft.com/office/drawing/2014/main" id="{3685C155-84F6-4C6A-A728-9CC51EF81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2715"/>
              <a:ext cx="1022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18" name="Line 15">
              <a:extLst>
                <a:ext uri="{FF2B5EF4-FFF2-40B4-BE49-F238E27FC236}">
                  <a16:creationId xmlns:a16="http://schemas.microsoft.com/office/drawing/2014/main" id="{AB339637-B457-4093-A20F-24C8127ADA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75" y="2714"/>
              <a:ext cx="1020" cy="5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19" name="Line 16">
              <a:extLst>
                <a:ext uri="{FF2B5EF4-FFF2-40B4-BE49-F238E27FC236}">
                  <a16:creationId xmlns:a16="http://schemas.microsoft.com/office/drawing/2014/main" id="{16152D47-8434-4D3F-9111-069FFF9E3D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35" y="2765"/>
              <a:ext cx="322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20" name="Line 17">
              <a:extLst>
                <a:ext uri="{FF2B5EF4-FFF2-40B4-BE49-F238E27FC236}">
                  <a16:creationId xmlns:a16="http://schemas.microsoft.com/office/drawing/2014/main" id="{37AB7565-B60F-4810-BF03-88BE36B8E6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9" y="2799"/>
              <a:ext cx="287" cy="4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21" name="Line 18">
              <a:extLst>
                <a:ext uri="{FF2B5EF4-FFF2-40B4-BE49-F238E27FC236}">
                  <a16:creationId xmlns:a16="http://schemas.microsoft.com/office/drawing/2014/main" id="{68512304-745F-4372-B6EC-5E29C41452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6" y="1943"/>
              <a:ext cx="268" cy="5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22" name="Line 19">
              <a:extLst>
                <a:ext uri="{FF2B5EF4-FFF2-40B4-BE49-F238E27FC236}">
                  <a16:creationId xmlns:a16="http://schemas.microsoft.com/office/drawing/2014/main" id="{BE663942-7B74-439E-A43D-C09B340FA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7" y="1940"/>
              <a:ext cx="787" cy="5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23" name="Line 20">
              <a:extLst>
                <a:ext uri="{FF2B5EF4-FFF2-40B4-BE49-F238E27FC236}">
                  <a16:creationId xmlns:a16="http://schemas.microsoft.com/office/drawing/2014/main" id="{8141366F-3C83-4F70-A24B-F1F19C7D2A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8" y="1959"/>
              <a:ext cx="1380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24" name="Line 21">
              <a:extLst>
                <a:ext uri="{FF2B5EF4-FFF2-40B4-BE49-F238E27FC236}">
                  <a16:creationId xmlns:a16="http://schemas.microsoft.com/office/drawing/2014/main" id="{76E148BD-D15F-40BE-B6DA-165F84FBF2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17" y="1905"/>
              <a:ext cx="1342" cy="5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25" name="Line 22">
              <a:extLst>
                <a:ext uri="{FF2B5EF4-FFF2-40B4-BE49-F238E27FC236}">
                  <a16:creationId xmlns:a16="http://schemas.microsoft.com/office/drawing/2014/main" id="{F0061877-21D0-44A7-9739-F4F8F78B5D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41" y="1940"/>
              <a:ext cx="197" cy="5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26" name="Line 23">
              <a:extLst>
                <a:ext uri="{FF2B5EF4-FFF2-40B4-BE49-F238E27FC236}">
                  <a16:creationId xmlns:a16="http://schemas.microsoft.com/office/drawing/2014/main" id="{4A235C82-B639-49F4-A75C-97FE97F77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79" y="1990"/>
              <a:ext cx="734" cy="4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27" name="Line 24">
              <a:extLst>
                <a:ext uri="{FF2B5EF4-FFF2-40B4-BE49-F238E27FC236}">
                  <a16:creationId xmlns:a16="http://schemas.microsoft.com/office/drawing/2014/main" id="{8639CEB2-9C12-4B59-83D2-818826EA71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5" y="1960"/>
              <a:ext cx="537" cy="4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28" name="Line 25">
              <a:extLst>
                <a:ext uri="{FF2B5EF4-FFF2-40B4-BE49-F238E27FC236}">
                  <a16:creationId xmlns:a16="http://schemas.microsoft.com/office/drawing/2014/main" id="{10835B8A-CF31-404B-A6EC-8378624507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0" y="1977"/>
              <a:ext cx="0" cy="4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29" name="Line 26">
              <a:extLst>
                <a:ext uri="{FF2B5EF4-FFF2-40B4-BE49-F238E27FC236}">
                  <a16:creationId xmlns:a16="http://schemas.microsoft.com/office/drawing/2014/main" id="{6F44E99B-2351-4A64-97F0-74B6A73BF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011"/>
              <a:ext cx="501" cy="4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30" name="Line 27">
              <a:extLst>
                <a:ext uri="{FF2B5EF4-FFF2-40B4-BE49-F238E27FC236}">
                  <a16:creationId xmlns:a16="http://schemas.microsoft.com/office/drawing/2014/main" id="{ACD1AFA6-5CFF-4F84-A6B2-91CE4BFEE4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7" y="3604"/>
              <a:ext cx="0" cy="5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31" name="Line 28">
              <a:extLst>
                <a:ext uri="{FF2B5EF4-FFF2-40B4-BE49-F238E27FC236}">
                  <a16:creationId xmlns:a16="http://schemas.microsoft.com/office/drawing/2014/main" id="{178D8B84-F46D-44B9-86C5-967BE54BD2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3" y="3581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32" name="Line 29">
              <a:extLst>
                <a:ext uri="{FF2B5EF4-FFF2-40B4-BE49-F238E27FC236}">
                  <a16:creationId xmlns:a16="http://schemas.microsoft.com/office/drawing/2014/main" id="{5E6A1B78-6EEB-4C34-BCB9-DBBDA94ABE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93" y="1061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33" name="Line 30">
              <a:extLst>
                <a:ext uri="{FF2B5EF4-FFF2-40B4-BE49-F238E27FC236}">
                  <a16:creationId xmlns:a16="http://schemas.microsoft.com/office/drawing/2014/main" id="{72B24F63-9F77-438C-B758-59F8082EE8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1" y="1072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7134" name="Line 31">
              <a:extLst>
                <a:ext uri="{FF2B5EF4-FFF2-40B4-BE49-F238E27FC236}">
                  <a16:creationId xmlns:a16="http://schemas.microsoft.com/office/drawing/2014/main" id="{96BE4039-C589-4950-9E7A-D1FC285768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5" y="1072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47135" name="Rectangle 32">
            <a:extLst>
              <a:ext uri="{FF2B5EF4-FFF2-40B4-BE49-F238E27FC236}">
                <a16:creationId xmlns:a16="http://schemas.microsoft.com/office/drawing/2014/main" id="{62BCBE44-3FD2-46ED-B163-8F5C62634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210" y="2200275"/>
            <a:ext cx="95539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zh-CN" altLang="en-US" sz="2000" b="1" dirty="0">
                <a:ea typeface="宋体" panose="02010600030101010101" pitchFamily="2" charset="-122"/>
              </a:rPr>
              <a:t>输出层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47136" name="Rectangle 33">
            <a:extLst>
              <a:ext uri="{FF2B5EF4-FFF2-40B4-BE49-F238E27FC236}">
                <a16:creationId xmlns:a16="http://schemas.microsoft.com/office/drawing/2014/main" id="{D55DD4D1-B725-468D-A16E-CBB2DA2CC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131" y="4819650"/>
            <a:ext cx="960199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zh-CN" altLang="en-US" sz="2000" b="1" dirty="0">
                <a:ea typeface="宋体" panose="02010600030101010101" pitchFamily="2" charset="-122"/>
              </a:rPr>
              <a:t>输入层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47137" name="Rectangle 34">
            <a:extLst>
              <a:ext uri="{FF2B5EF4-FFF2-40B4-BE49-F238E27FC236}">
                <a16:creationId xmlns:a16="http://schemas.microsoft.com/office/drawing/2014/main" id="{53FC3223-0CFB-4CD3-9E63-AA590E264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3739" y="3508375"/>
            <a:ext cx="96019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zh-CN" altLang="en-US" sz="2000" b="1" dirty="0">
                <a:ea typeface="宋体" panose="02010600030101010101" pitchFamily="2" charset="-122"/>
              </a:rPr>
              <a:t>隐含层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7138" name="Rectangle 35">
            <a:extLst>
              <a:ext uri="{FF2B5EF4-FFF2-40B4-BE49-F238E27FC236}">
                <a16:creationId xmlns:a16="http://schemas.microsoft.com/office/drawing/2014/main" id="{4B4C250B-EDEA-4DFD-8528-0B74AB46E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602" y="1285875"/>
            <a:ext cx="1218283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zh-CN" altLang="en-US" sz="2000" b="1" dirty="0">
                <a:ea typeface="宋体" panose="02010600030101010101" pitchFamily="2" charset="-122"/>
              </a:rPr>
              <a:t>输出向量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7139" name="Rectangle 36">
            <a:extLst>
              <a:ext uri="{FF2B5EF4-FFF2-40B4-BE49-F238E27FC236}">
                <a16:creationId xmlns:a16="http://schemas.microsoft.com/office/drawing/2014/main" id="{F7265BB7-B72B-4AE2-8345-4650623BA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796" y="5762625"/>
            <a:ext cx="147316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zh-CN" altLang="en-US" sz="2000" b="1" dirty="0">
                <a:ea typeface="宋体" panose="02010600030101010101" pitchFamily="2" charset="-122"/>
              </a:rPr>
              <a:t>输入向量</a:t>
            </a:r>
            <a:r>
              <a:rPr lang="en-US" altLang="zh-CN" sz="2000" b="1" dirty="0">
                <a:ea typeface="宋体" panose="02010600030101010101" pitchFamily="2" charset="-122"/>
              </a:rPr>
              <a:t>: </a:t>
            </a:r>
            <a:r>
              <a:rPr lang="en-US" altLang="zh-CN" sz="2000" b="1" i="1" dirty="0">
                <a:latin typeface="MathJax_Math" charset="0"/>
                <a:ea typeface="宋体" panose="02010600030101010101" pitchFamily="2" charset="-122"/>
              </a:rPr>
              <a:t>X</a:t>
            </a:r>
            <a:endParaRPr lang="en-US" altLang="zh-CN" sz="2000" b="1" i="1" baseline="-25000" dirty="0">
              <a:latin typeface="MathJax_Math" charset="0"/>
              <a:ea typeface="宋体" panose="02010600030101010101" pitchFamily="2" charset="-122"/>
            </a:endParaRPr>
          </a:p>
        </p:txBody>
      </p:sp>
      <p:sp>
        <p:nvSpPr>
          <p:cNvPr id="47140" name="Rectangle 37">
            <a:extLst>
              <a:ext uri="{FF2B5EF4-FFF2-40B4-BE49-F238E27FC236}">
                <a16:creationId xmlns:a16="http://schemas.microsoft.com/office/drawing/2014/main" id="{ECE023E3-832E-465D-90DF-67334D61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2290" y="3940176"/>
            <a:ext cx="506549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endParaRPr lang="en-US" altLang="zh-CN" sz="2400" i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41" name="Freeform 38">
            <a:extLst>
              <a:ext uri="{FF2B5EF4-FFF2-40B4-BE49-F238E27FC236}">
                <a16:creationId xmlns:a16="http://schemas.microsoft.com/office/drawing/2014/main" id="{993E00CC-4897-4D58-8ACA-5CE9E2C0C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4" y="4227514"/>
            <a:ext cx="611187" cy="160337"/>
          </a:xfrm>
          <a:custGeom>
            <a:avLst/>
            <a:gdLst>
              <a:gd name="T0" fmla="*/ 384 w 385"/>
              <a:gd name="T1" fmla="*/ 0 h 101"/>
              <a:gd name="T2" fmla="*/ 313 w 385"/>
              <a:gd name="T3" fmla="*/ 5 h 101"/>
              <a:gd name="T4" fmla="*/ 254 w 385"/>
              <a:gd name="T5" fmla="*/ 15 h 101"/>
              <a:gd name="T6" fmla="*/ 230 w 385"/>
              <a:gd name="T7" fmla="*/ 25 h 101"/>
              <a:gd name="T8" fmla="*/ 213 w 385"/>
              <a:gd name="T9" fmla="*/ 30 h 101"/>
              <a:gd name="T10" fmla="*/ 201 w 385"/>
              <a:gd name="T11" fmla="*/ 40 h 101"/>
              <a:gd name="T12" fmla="*/ 195 w 385"/>
              <a:gd name="T13" fmla="*/ 50 h 101"/>
              <a:gd name="T14" fmla="*/ 189 w 385"/>
              <a:gd name="T15" fmla="*/ 60 h 101"/>
              <a:gd name="T16" fmla="*/ 177 w 385"/>
              <a:gd name="T17" fmla="*/ 70 h 101"/>
              <a:gd name="T18" fmla="*/ 160 w 385"/>
              <a:gd name="T19" fmla="*/ 75 h 101"/>
              <a:gd name="T20" fmla="*/ 136 w 385"/>
              <a:gd name="T21" fmla="*/ 85 h 101"/>
              <a:gd name="T22" fmla="*/ 71 w 385"/>
              <a:gd name="T23" fmla="*/ 95 h 101"/>
              <a:gd name="T24" fmla="*/ 0 w 385"/>
              <a:gd name="T25" fmla="*/ 100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5" h="101">
                <a:moveTo>
                  <a:pt x="384" y="0"/>
                </a:moveTo>
                <a:lnTo>
                  <a:pt x="313" y="5"/>
                </a:lnTo>
                <a:lnTo>
                  <a:pt x="254" y="15"/>
                </a:lnTo>
                <a:lnTo>
                  <a:pt x="230" y="25"/>
                </a:lnTo>
                <a:lnTo>
                  <a:pt x="213" y="30"/>
                </a:lnTo>
                <a:lnTo>
                  <a:pt x="201" y="40"/>
                </a:lnTo>
                <a:lnTo>
                  <a:pt x="195" y="50"/>
                </a:lnTo>
                <a:lnTo>
                  <a:pt x="189" y="60"/>
                </a:lnTo>
                <a:lnTo>
                  <a:pt x="177" y="70"/>
                </a:lnTo>
                <a:lnTo>
                  <a:pt x="160" y="75"/>
                </a:lnTo>
                <a:lnTo>
                  <a:pt x="136" y="85"/>
                </a:lnTo>
                <a:lnTo>
                  <a:pt x="71" y="95"/>
                </a:lnTo>
                <a:lnTo>
                  <a:pt x="0" y="10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77DAA0-5AC7-44EC-91DA-BE2212F82894}"/>
              </a:ext>
            </a:extLst>
          </p:cNvPr>
          <p:cNvSpPr txBox="1"/>
          <p:nvPr/>
        </p:nvSpPr>
        <p:spPr>
          <a:xfrm>
            <a:off x="7100888" y="214648"/>
            <a:ext cx="3279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每层神经元与下一层神经元全连接，神经元之间不存在同层连接，也不存在跨层连接。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74216ED4-0AD6-4D4C-9773-303D22B96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25" y="441325"/>
            <a:ext cx="8794750" cy="508474"/>
          </a:xfrm>
        </p:spPr>
        <p:txBody>
          <a:bodyPr vert="horz" lIns="92075" tIns="46038" rIns="92075" bIns="46038" rtlCol="0" anchor="t">
            <a:spAutoFit/>
          </a:bodyPr>
          <a:lstStyle/>
          <a:p>
            <a:r>
              <a:rPr lang="zh-CN" altLang="en-US" sz="3000" dirty="0">
                <a:ea typeface="宋体" panose="02010600030101010101" pitchFamily="2" charset="-122"/>
              </a:rPr>
              <a:t>多层前馈神经网络</a:t>
            </a:r>
            <a:endParaRPr lang="en-US" altLang="zh-CN" sz="3000" dirty="0">
              <a:ea typeface="宋体" panose="02010600030101010101" pitchFamily="2" charset="-122"/>
            </a:endParaRPr>
          </a:p>
        </p:txBody>
      </p:sp>
      <p:pic>
        <p:nvPicPr>
          <p:cNvPr id="49157" name="图片 1">
            <a:extLst>
              <a:ext uri="{FF2B5EF4-FFF2-40B4-BE49-F238E27FC236}">
                <a16:creationId xmlns:a16="http://schemas.microsoft.com/office/drawing/2014/main" id="{4ECC51F7-463F-4658-AD42-4823A92E0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3136" r="5394" b="2396"/>
          <a:stretch>
            <a:fillRect/>
          </a:stretch>
        </p:blipFill>
        <p:spPr bwMode="auto">
          <a:xfrm>
            <a:off x="3068639" y="1495425"/>
            <a:ext cx="605472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877D9C6C-9876-4723-AEF2-6A406E137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" t="1219" b="1842"/>
          <a:stretch>
            <a:fillRect/>
          </a:stretch>
        </p:blipFill>
        <p:spPr>
          <a:xfrm>
            <a:off x="1487487" y="1173162"/>
            <a:ext cx="8372475" cy="264477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2105A82-CFF4-4A99-9A99-CC0B9520DBC2}"/>
              </a:ext>
            </a:extLst>
          </p:cNvPr>
          <p:cNvSpPr txBox="1"/>
          <p:nvPr/>
        </p:nvSpPr>
        <p:spPr>
          <a:xfrm>
            <a:off x="1387475" y="390526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80744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3">
            <a:extLst>
              <a:ext uri="{FF2B5EF4-FFF2-40B4-BE49-F238E27FC236}">
                <a16:creationId xmlns:a16="http://schemas.microsoft.com/office/drawing/2014/main" id="{85583510-DBCC-42E5-B77B-C6CAAF6C1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" t="752" r="3467" b="1195"/>
          <a:stretch>
            <a:fillRect/>
          </a:stretch>
        </p:blipFill>
        <p:spPr>
          <a:xfrm>
            <a:off x="598488" y="57150"/>
            <a:ext cx="7947025" cy="670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3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5AA3A6-001D-4588-936F-D33A7243D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883694" y="-526256"/>
            <a:ext cx="6858000" cy="791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66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>
            <a:extLst>
              <a:ext uri="{FF2B5EF4-FFF2-40B4-BE49-F238E27FC236}">
                <a16:creationId xmlns:a16="http://schemas.microsoft.com/office/drawing/2014/main" id="{4E2C543F-1C70-4F19-98A0-3B4B6CCFD7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2588" y="1062037"/>
            <a:ext cx="7924800" cy="609600"/>
          </a:xfrm>
        </p:spPr>
        <p:txBody>
          <a:bodyPr vert="horz" lIns="92075" tIns="46038" rIns="92075" bIns="46038" rtlCol="0" anchor="t">
            <a:normAutofit/>
          </a:bodyPr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后向传播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102BB1E3-0530-4A42-9FDD-9011D5ADCE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6850" y="1938338"/>
            <a:ext cx="8534400" cy="5181600"/>
          </a:xfrm>
        </p:spPr>
        <p:txBody>
          <a:bodyPr vert="horz" lIns="92075" tIns="46038" rIns="92075" bIns="46038" rtlCol="0" anchor="t"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ea typeface="宋体" panose="02010600030101010101" pitchFamily="2" charset="-122"/>
              </a:rPr>
              <a:t>初始化权重和偏倚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网络中权重初始化为小的随机数</a:t>
            </a:r>
            <a:r>
              <a:rPr lang="en-US" altLang="zh-CN" sz="2000" dirty="0">
                <a:ea typeface="宋体" panose="02010600030101010101" pitchFamily="2" charset="-122"/>
              </a:rPr>
              <a:t> (e.g., </a:t>
            </a:r>
            <a:r>
              <a:rPr lang="zh-CN" altLang="en-US" sz="2000" dirty="0">
                <a:ea typeface="宋体" panose="02010600030101010101" pitchFamily="2" charset="-122"/>
              </a:rPr>
              <a:t>范围从</a:t>
            </a:r>
            <a:r>
              <a:rPr lang="en-US" altLang="zh-CN" sz="2000" dirty="0">
                <a:ea typeface="宋体" panose="02010600030101010101" pitchFamily="2" charset="-122"/>
              </a:rPr>
              <a:t> −1.0 </a:t>
            </a:r>
            <a:r>
              <a:rPr lang="zh-CN" altLang="en-US" sz="2000" dirty="0"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ea typeface="宋体" panose="02010600030101010101" pitchFamily="2" charset="-122"/>
              </a:rPr>
              <a:t> 1.0, </a:t>
            </a:r>
            <a:r>
              <a:rPr lang="zh-CN" altLang="en-US" sz="2000" dirty="0">
                <a:ea typeface="宋体" panose="02010600030101010101" pitchFamily="2" charset="-122"/>
              </a:rPr>
              <a:t>或</a:t>
            </a:r>
            <a:r>
              <a:rPr lang="en-US" altLang="zh-CN" sz="2000" dirty="0">
                <a:ea typeface="宋体" panose="02010600030101010101" pitchFamily="2" charset="-122"/>
              </a:rPr>
              <a:t> −0.5 </a:t>
            </a:r>
            <a:r>
              <a:rPr lang="zh-CN" altLang="en-US" sz="2000" dirty="0"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ea typeface="宋体" panose="02010600030101010101" pitchFamily="2" charset="-122"/>
              </a:rPr>
              <a:t> 0.5). </a:t>
            </a:r>
          </a:p>
          <a:p>
            <a:pPr lvl="1"/>
            <a:r>
              <a:rPr lang="zh-CN" altLang="en-US" sz="2000" dirty="0">
                <a:ea typeface="宋体" panose="02010600030101010101" pitchFamily="2" charset="-122"/>
              </a:rPr>
              <a:t>每个单元都有一个与之相关的偏倚量，它也被初始化为小的随机数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向前传播输入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sz="2000" dirty="0">
                <a:ea typeface="宋体" panose="02010600030101010101" pitchFamily="2" charset="-122"/>
              </a:rPr>
              <a:t>训练元组被馈送到网络的输入层，输入通过输入单元，不发生变化</a:t>
            </a:r>
          </a:p>
          <a:p>
            <a:pPr lvl="1"/>
            <a:r>
              <a:rPr lang="zh-CN" altLang="en-US" sz="2000" dirty="0">
                <a:ea typeface="宋体" panose="02010600030101010101" pitchFamily="2" charset="-122"/>
              </a:rPr>
              <a:t>计算隐藏层和输出层中每个单元的净输入和输出：作为其输入的线性组合</a:t>
            </a:r>
          </a:p>
          <a:p>
            <a:pPr lvl="1"/>
            <a:r>
              <a:rPr lang="zh-CN" altLang="en-US" sz="2000" dirty="0">
                <a:ea typeface="宋体" panose="02010600030101010101" pitchFamily="2" charset="-122"/>
              </a:rPr>
              <a:t>隐藏层和输出层中的每个单元获取其净输入，然后对其应用激活函数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5" name="内容占位符 1">
            <a:extLst>
              <a:ext uri="{FF2B5EF4-FFF2-40B4-BE49-F238E27FC236}">
                <a16:creationId xmlns:a16="http://schemas.microsoft.com/office/drawing/2014/main" id="{D8BEFDC2-CBC2-4893-80AD-F02C30F9F3E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" t="3923" b="1509"/>
          <a:stretch>
            <a:fillRect/>
          </a:stretch>
        </p:blipFill>
        <p:spPr>
          <a:xfrm>
            <a:off x="6811963" y="2908301"/>
            <a:ext cx="5329238" cy="3200400"/>
          </a:xfrm>
        </p:spPr>
      </p:pic>
      <p:sp>
        <p:nvSpPr>
          <p:cNvPr id="61446" name="Rectangle 3">
            <a:extLst>
              <a:ext uri="{FF2B5EF4-FFF2-40B4-BE49-F238E27FC236}">
                <a16:creationId xmlns:a16="http://schemas.microsoft.com/office/drawing/2014/main" id="{F1EFB970-F71A-4FBB-8404-A1C6DD048A3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5858" y="1804988"/>
            <a:ext cx="7920037" cy="5105400"/>
          </a:xfrm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50000"/>
              </a:lnSpc>
              <a:spcBef>
                <a:spcPts val="25"/>
              </a:spcBef>
            </a:pPr>
            <a:r>
              <a:rPr lang="zh-CN" altLang="en-US" sz="2200" dirty="0">
                <a:ea typeface="宋体" panose="02010600030101010101" pitchFamily="2" charset="-122"/>
              </a:rPr>
              <a:t>向前传播输入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596900" lvl="1">
              <a:lnSpc>
                <a:spcPct val="150000"/>
              </a:lnSpc>
              <a:spcBef>
                <a:spcPts val="25"/>
              </a:spcBef>
            </a:pPr>
            <a:r>
              <a:rPr lang="zh-CN" altLang="en-US" sz="2200" dirty="0">
                <a:ea typeface="宋体" panose="02010600030101010101" pitchFamily="2" charset="-122"/>
              </a:rPr>
              <a:t>对于一个输入单元</a:t>
            </a:r>
            <a:r>
              <a:rPr lang="en-US" altLang="zh-CN" sz="2200" dirty="0">
                <a:latin typeface="MathJax_Math" charset="0"/>
                <a:ea typeface="宋体" panose="02010600030101010101" pitchFamily="2" charset="-122"/>
              </a:rPr>
              <a:t>j</a:t>
            </a:r>
            <a:r>
              <a:rPr lang="en-US" altLang="zh-CN" sz="2200" dirty="0">
                <a:ea typeface="宋体" panose="02010600030101010101" pitchFamily="2" charset="-122"/>
              </a:rPr>
              <a:t>, </a:t>
            </a:r>
            <a:r>
              <a:rPr lang="zh-CN" altLang="en-US" sz="2200" dirty="0">
                <a:ea typeface="宋体" panose="02010600030101010101" pitchFamily="2" charset="-122"/>
              </a:rPr>
              <a:t>它的输出</a:t>
            </a:r>
            <a:r>
              <a:rPr lang="en-US" altLang="zh-CN" sz="2200" dirty="0" err="1">
                <a:latin typeface="MathJax_Math" charset="0"/>
                <a:ea typeface="宋体" panose="02010600030101010101" pitchFamily="2" charset="-122"/>
              </a:rPr>
              <a:t>O</a:t>
            </a:r>
            <a:r>
              <a:rPr lang="en-US" altLang="zh-CN" sz="2200" baseline="-25000" dirty="0" err="1">
                <a:latin typeface="MathJax_Math" charset="0"/>
                <a:ea typeface="宋体" panose="02010600030101010101" pitchFamily="2" charset="-122"/>
              </a:rPr>
              <a:t>j</a:t>
            </a:r>
            <a:r>
              <a:rPr lang="en-US" altLang="zh-CN" sz="2200" dirty="0">
                <a:latin typeface="MathJax_Math" charset="0"/>
                <a:ea typeface="宋体" panose="02010600030101010101" pitchFamily="2" charset="-122"/>
              </a:rPr>
              <a:t> </a:t>
            </a:r>
            <a:r>
              <a:rPr lang="zh-CN" altLang="en-US" sz="2200" dirty="0">
                <a:ea typeface="宋体" panose="02010600030101010101" pitchFamily="2" charset="-122"/>
              </a:rPr>
              <a:t>是它的输入</a:t>
            </a:r>
            <a:r>
              <a:rPr lang="en-US" altLang="zh-CN" sz="2200" dirty="0" err="1">
                <a:latin typeface="MathJax_Math" charset="0"/>
                <a:ea typeface="宋体" panose="02010600030101010101" pitchFamily="2" charset="-122"/>
              </a:rPr>
              <a:t>I</a:t>
            </a:r>
            <a:r>
              <a:rPr lang="en-US" altLang="zh-CN" sz="2200" baseline="-25000" dirty="0" err="1">
                <a:latin typeface="MathJax_Math" charset="0"/>
                <a:ea typeface="宋体" panose="02010600030101010101" pitchFamily="2" charset="-122"/>
              </a:rPr>
              <a:t>j</a:t>
            </a:r>
            <a:endParaRPr lang="en-US" altLang="zh-CN" sz="2200" baseline="-25000" dirty="0">
              <a:latin typeface="MathJax_Math" charset="0"/>
              <a:ea typeface="宋体" panose="02010600030101010101" pitchFamily="2" charset="-122"/>
            </a:endParaRPr>
          </a:p>
          <a:p>
            <a:pPr marL="596900" lvl="1">
              <a:lnSpc>
                <a:spcPct val="150000"/>
              </a:lnSpc>
              <a:spcBef>
                <a:spcPts val="25"/>
              </a:spcBef>
            </a:pPr>
            <a:r>
              <a:rPr lang="zh-CN" altLang="en-US" sz="2200" dirty="0">
                <a:ea typeface="宋体" panose="02010600030101010101" pitchFamily="2" charset="-122"/>
              </a:rPr>
              <a:t>对于一个在隐含层或输出层的单元</a:t>
            </a:r>
            <a:r>
              <a:rPr lang="en-US" altLang="zh-CN" sz="2200" dirty="0">
                <a:latin typeface="MathJax_Math" charset="0"/>
                <a:ea typeface="宋体" panose="02010600030101010101" pitchFamily="2" charset="-122"/>
              </a:rPr>
              <a:t>j,</a:t>
            </a:r>
            <a:r>
              <a:rPr lang="zh-CN" altLang="en-US" sz="2200" dirty="0">
                <a:ea typeface="宋体" panose="02010600030101010101" pitchFamily="2" charset="-122"/>
              </a:rPr>
              <a:t>它的净输入是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596900" lvl="1">
              <a:lnSpc>
                <a:spcPct val="150000"/>
              </a:lnSpc>
              <a:spcBef>
                <a:spcPts val="25"/>
              </a:spcBef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marL="596900" lvl="1">
              <a:lnSpc>
                <a:spcPct val="150000"/>
              </a:lnSpc>
              <a:spcBef>
                <a:spcPts val="25"/>
              </a:spcBef>
            </a:pPr>
            <a:r>
              <a:rPr lang="zh-CN" altLang="en-US" sz="2200" dirty="0">
                <a:ea typeface="宋体" panose="02010600030101010101" pitchFamily="2" charset="-122"/>
              </a:rPr>
              <a:t>单元</a:t>
            </a:r>
            <a:r>
              <a:rPr lang="en-US" altLang="zh-CN" sz="2200" dirty="0">
                <a:latin typeface="MathJax_Math" charset="0"/>
                <a:ea typeface="宋体" panose="02010600030101010101" pitchFamily="2" charset="-122"/>
              </a:rPr>
              <a:t>j</a:t>
            </a:r>
            <a:r>
              <a:rPr lang="zh-CN" altLang="en-US" sz="2200" dirty="0">
                <a:latin typeface="MathJax_Math" charset="0"/>
                <a:ea typeface="宋体" panose="02010600030101010101" pitchFamily="2" charset="-122"/>
              </a:rPr>
              <a:t>的输出是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596900" lvl="1"/>
            <a:endParaRPr lang="en-US" altLang="zh-CN" sz="2200" dirty="0">
              <a:ea typeface="宋体" panose="02010600030101010101" pitchFamily="2" charset="-122"/>
            </a:endParaRPr>
          </a:p>
        </p:txBody>
      </p:sp>
      <p:graphicFrame>
        <p:nvGraphicFramePr>
          <p:cNvPr id="61447" name="对象 189447">
            <a:extLst>
              <a:ext uri="{FF2B5EF4-FFF2-40B4-BE49-F238E27FC236}">
                <a16:creationId xmlns:a16="http://schemas.microsoft.com/office/drawing/2014/main" id="{88C716E7-98CF-48D5-8DB2-2E03C21B46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2692403"/>
              </p:ext>
            </p:extLst>
          </p:nvPr>
        </p:nvGraphicFramePr>
        <p:xfrm>
          <a:off x="2565400" y="3457575"/>
          <a:ext cx="16002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r:id="rId5" imgW="1092517" imgH="343217" progId="Equation.3">
                  <p:embed/>
                </p:oleObj>
              </mc:Choice>
              <mc:Fallback>
                <p:oleObj r:id="rId5" imgW="1092517" imgH="343217" progId="Equation.3">
                  <p:embed/>
                  <p:pic>
                    <p:nvPicPr>
                      <p:cNvPr id="61447" name="对象 189447">
                        <a:extLst>
                          <a:ext uri="{FF2B5EF4-FFF2-40B4-BE49-F238E27FC236}">
                            <a16:creationId xmlns:a16="http://schemas.microsoft.com/office/drawing/2014/main" id="{88C716E7-98CF-48D5-8DB2-2E03C21B46F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457575"/>
                        <a:ext cx="16002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对象 189448">
            <a:extLst>
              <a:ext uri="{FF2B5EF4-FFF2-40B4-BE49-F238E27FC236}">
                <a16:creationId xmlns:a16="http://schemas.microsoft.com/office/drawing/2014/main" id="{44F3022B-9D71-4D7C-9222-97251B89E0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2525384"/>
              </p:ext>
            </p:extLst>
          </p:nvPr>
        </p:nvGraphicFramePr>
        <p:xfrm>
          <a:off x="2482850" y="4448175"/>
          <a:ext cx="20701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r:id="rId7" imgW="1486217" imgH="876617" progId="Equation.3">
                  <p:embed/>
                </p:oleObj>
              </mc:Choice>
              <mc:Fallback>
                <p:oleObj r:id="rId7" imgW="1486217" imgH="876617" progId="Equation.3">
                  <p:embed/>
                  <p:pic>
                    <p:nvPicPr>
                      <p:cNvPr id="61448" name="对象 189448">
                        <a:extLst>
                          <a:ext uri="{FF2B5EF4-FFF2-40B4-BE49-F238E27FC236}">
                            <a16:creationId xmlns:a16="http://schemas.microsoft.com/office/drawing/2014/main" id="{44F3022B-9D71-4D7C-9222-97251B89E0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4448175"/>
                        <a:ext cx="2070100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3">
            <a:extLst>
              <a:ext uri="{FF2B5EF4-FFF2-40B4-BE49-F238E27FC236}">
                <a16:creationId xmlns:a16="http://schemas.microsoft.com/office/drawing/2014/main" id="{053D4F33-2B12-479B-AA90-3B5DA532620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62087" y="1493838"/>
            <a:ext cx="8369300" cy="5105400"/>
          </a:xfrm>
          <a:ln>
            <a:miter/>
          </a:ln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10000"/>
              </a:lnSpc>
              <a:spcBef>
                <a:spcPts val="25"/>
              </a:spcBef>
              <a:buFont typeface="Wingdings" charset="2"/>
              <a:buChar char="n"/>
            </a:pPr>
            <a:r>
              <a:rPr lang="zh-CN" altLang="en-US" noProof="1">
                <a:ea typeface="宋体" pitchFamily="2" charset="-122"/>
              </a:rPr>
              <a:t>后向传播误差</a:t>
            </a:r>
          </a:p>
          <a:p>
            <a:pPr marL="597535" lvl="1">
              <a:lnSpc>
                <a:spcPct val="110000"/>
              </a:lnSpc>
              <a:spcBef>
                <a:spcPts val="0"/>
              </a:spcBef>
              <a:buFont typeface="Wingdings" charset="2"/>
              <a:buChar char="n"/>
            </a:pPr>
            <a:r>
              <a:rPr lang="zh-CN" altLang="en-US" sz="2000" noProof="1">
                <a:ea typeface="宋体" pitchFamily="2" charset="-122"/>
              </a:rPr>
              <a:t>通过更新权重和偏倚来反向传播误差，以反映网络预测的误差</a:t>
            </a:r>
          </a:p>
          <a:p>
            <a:pPr marL="597535" lvl="1">
              <a:lnSpc>
                <a:spcPct val="110000"/>
              </a:lnSpc>
              <a:spcBef>
                <a:spcPts val="0"/>
              </a:spcBef>
              <a:buFont typeface="Wingdings" charset="2"/>
              <a:buChar char="n"/>
            </a:pPr>
            <a:r>
              <a:rPr lang="zh-CN" altLang="en-US" sz="2000" noProof="1">
                <a:ea typeface="宋体" pitchFamily="2" charset="-122"/>
              </a:rPr>
              <a:t>对于输出层的单元</a:t>
            </a:r>
            <a:r>
              <a:rPr lang="zh-CN" altLang="en-US" sz="2000" noProof="1">
                <a:latin typeface="MathJax_Math" charset="0"/>
                <a:ea typeface="宋体" pitchFamily="2" charset="-122"/>
              </a:rPr>
              <a:t>j</a:t>
            </a:r>
            <a:r>
              <a:rPr lang="zh-CN" altLang="en-US" sz="2000" noProof="1">
                <a:ea typeface="宋体" pitchFamily="2" charset="-122"/>
              </a:rPr>
              <a:t>, 误差</a:t>
            </a:r>
            <a:r>
              <a:rPr lang="zh-CN" altLang="en-US" sz="2000" noProof="1">
                <a:latin typeface="MathJax_Math" charset="0"/>
                <a:ea typeface="宋体" pitchFamily="2" charset="-122"/>
              </a:rPr>
              <a:t>Err</a:t>
            </a:r>
            <a:r>
              <a:rPr lang="zh-CN" altLang="en-US" sz="2000" baseline="-25000" noProof="1">
                <a:latin typeface="MathJax_Math" charset="0"/>
                <a:ea typeface="宋体" pitchFamily="2" charset="-122"/>
              </a:rPr>
              <a:t>j</a:t>
            </a:r>
            <a:r>
              <a:rPr lang="zh-CN" altLang="en-US" sz="2000" noProof="1">
                <a:ea typeface="宋体" pitchFamily="2" charset="-122"/>
              </a:rPr>
              <a:t> 计算为</a:t>
            </a:r>
          </a:p>
          <a:p>
            <a:pPr marL="597535" lvl="1">
              <a:lnSpc>
                <a:spcPct val="150000"/>
              </a:lnSpc>
              <a:spcBef>
                <a:spcPts val="0"/>
              </a:spcBef>
              <a:buFont typeface="Wingdings" charset="2"/>
              <a:buChar char="n"/>
            </a:pPr>
            <a:endParaRPr lang="zh-CN" altLang="en-US" sz="2000" noProof="1">
              <a:ea typeface="宋体" pitchFamily="2" charset="-122"/>
            </a:endParaRPr>
          </a:p>
          <a:p>
            <a:pPr marL="597535" lvl="1">
              <a:lnSpc>
                <a:spcPct val="110000"/>
              </a:lnSpc>
              <a:spcBef>
                <a:spcPts val="0"/>
              </a:spcBef>
              <a:buFont typeface="Wingdings" charset="2"/>
              <a:buChar char="n"/>
            </a:pPr>
            <a:r>
              <a:rPr lang="zh-CN" altLang="en-US" sz="2000" noProof="1">
                <a:ea typeface="宋体" pitchFamily="2" charset="-122"/>
              </a:rPr>
              <a:t>对于隐含层的单元j, 误差为:</a:t>
            </a:r>
          </a:p>
          <a:p>
            <a:pPr marL="597535" lvl="1">
              <a:lnSpc>
                <a:spcPct val="150000"/>
              </a:lnSpc>
              <a:spcBef>
                <a:spcPts val="0"/>
              </a:spcBef>
              <a:buFont typeface="Wingdings" charset="2"/>
              <a:buChar char="n"/>
            </a:pPr>
            <a:endParaRPr lang="zh-CN" altLang="en-US" sz="2000" noProof="1">
              <a:ea typeface="宋体" pitchFamily="2" charset="-122"/>
            </a:endParaRPr>
          </a:p>
          <a:p>
            <a:pPr marL="597535" lvl="1">
              <a:lnSpc>
                <a:spcPct val="150000"/>
              </a:lnSpc>
              <a:spcBef>
                <a:spcPts val="0"/>
              </a:spcBef>
              <a:buFont typeface="Wingdings" charset="2"/>
              <a:buChar char="n"/>
            </a:pPr>
            <a:r>
              <a:rPr lang="zh-CN" altLang="en-US" sz="2000" noProof="1">
                <a:ea typeface="宋体" pitchFamily="2" charset="-122"/>
              </a:rPr>
              <a:t>权重更新为</a:t>
            </a:r>
          </a:p>
          <a:p>
            <a:pPr marL="597535" lvl="1">
              <a:lnSpc>
                <a:spcPct val="110000"/>
              </a:lnSpc>
              <a:spcBef>
                <a:spcPts val="0"/>
              </a:spcBef>
              <a:buFont typeface="Wingdings" charset="2"/>
              <a:buChar char="n"/>
            </a:pPr>
            <a:endParaRPr lang="zh-CN" altLang="en-US" sz="2000" noProof="1">
              <a:ea typeface="宋体" pitchFamily="2" charset="-122"/>
            </a:endParaRPr>
          </a:p>
          <a:p>
            <a:pPr marL="597535" lvl="1">
              <a:lnSpc>
                <a:spcPct val="160000"/>
              </a:lnSpc>
              <a:spcBef>
                <a:spcPts val="0"/>
              </a:spcBef>
              <a:buFont typeface="Wingdings" charset="2"/>
              <a:buChar char="n"/>
            </a:pPr>
            <a:endParaRPr lang="en-US" altLang="zh-CN" sz="2000" noProof="1">
              <a:ea typeface="宋体" pitchFamily="2" charset="-122"/>
            </a:endParaRPr>
          </a:p>
          <a:p>
            <a:pPr marL="597535" lvl="1">
              <a:lnSpc>
                <a:spcPct val="160000"/>
              </a:lnSpc>
              <a:spcBef>
                <a:spcPts val="0"/>
              </a:spcBef>
              <a:buFont typeface="Wingdings" charset="2"/>
              <a:buChar char="n"/>
            </a:pPr>
            <a:r>
              <a:rPr lang="zh-CN" altLang="en-US" sz="2000" noProof="1">
                <a:ea typeface="宋体" pitchFamily="2" charset="-122"/>
              </a:rPr>
              <a:t>偏倚更新为</a:t>
            </a:r>
          </a:p>
          <a:p>
            <a:pPr lvl="1" eaLnBrk="1" hangingPunct="1">
              <a:lnSpc>
                <a:spcPct val="120000"/>
              </a:lnSpc>
              <a:buFont typeface="Wingdings" charset="2"/>
              <a:buChar char="n"/>
            </a:pPr>
            <a:endParaRPr lang="zh-CN" altLang="en-US" sz="2000" noProof="1">
              <a:ea typeface="宋体" pitchFamily="2" charset="-122"/>
            </a:endParaRPr>
          </a:p>
        </p:txBody>
      </p:sp>
      <p:graphicFrame>
        <p:nvGraphicFramePr>
          <p:cNvPr id="63494" name="对象 191494">
            <a:extLst>
              <a:ext uri="{FF2B5EF4-FFF2-40B4-BE49-F238E27FC236}">
                <a16:creationId xmlns:a16="http://schemas.microsoft.com/office/drawing/2014/main" id="{B761D1E9-D460-421D-8EC9-C2D2EB4DAE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7080911"/>
              </p:ext>
            </p:extLst>
          </p:nvPr>
        </p:nvGraphicFramePr>
        <p:xfrm>
          <a:off x="2881312" y="2513014"/>
          <a:ext cx="26019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r:id="rId4" imgW="1675990" imgH="241512" progId="Equation.3">
                  <p:embed/>
                </p:oleObj>
              </mc:Choice>
              <mc:Fallback>
                <p:oleObj r:id="rId4" imgW="1675990" imgH="241512" progId="Equation.3">
                  <p:embed/>
                  <p:pic>
                    <p:nvPicPr>
                      <p:cNvPr id="63494" name="对象 191494">
                        <a:extLst>
                          <a:ext uri="{FF2B5EF4-FFF2-40B4-BE49-F238E27FC236}">
                            <a16:creationId xmlns:a16="http://schemas.microsoft.com/office/drawing/2014/main" id="{B761D1E9-D460-421D-8EC9-C2D2EB4DAE5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2" y="2513014"/>
                        <a:ext cx="26019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5" name="对象 191495">
            <a:extLst>
              <a:ext uri="{FF2B5EF4-FFF2-40B4-BE49-F238E27FC236}">
                <a16:creationId xmlns:a16="http://schemas.microsoft.com/office/drawing/2014/main" id="{3D4B5C40-DD78-40D5-8274-DA7F64CB84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8836500"/>
              </p:ext>
            </p:extLst>
          </p:nvPr>
        </p:nvGraphicFramePr>
        <p:xfrm>
          <a:off x="2816225" y="3313907"/>
          <a:ext cx="2667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r:id="rId6" imgW="1714073" imgH="343068" progId="Equation.3">
                  <p:embed/>
                </p:oleObj>
              </mc:Choice>
              <mc:Fallback>
                <p:oleObj r:id="rId6" imgW="1714073" imgH="343068" progId="Equation.3">
                  <p:embed/>
                  <p:pic>
                    <p:nvPicPr>
                      <p:cNvPr id="63495" name="对象 191495">
                        <a:extLst>
                          <a:ext uri="{FF2B5EF4-FFF2-40B4-BE49-F238E27FC236}">
                            <a16:creationId xmlns:a16="http://schemas.microsoft.com/office/drawing/2014/main" id="{3D4B5C40-DD78-40D5-8274-DA7F64CB843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3313907"/>
                        <a:ext cx="2667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对象 191496">
            <a:extLst>
              <a:ext uri="{FF2B5EF4-FFF2-40B4-BE49-F238E27FC236}">
                <a16:creationId xmlns:a16="http://schemas.microsoft.com/office/drawing/2014/main" id="{E3E73D15-7476-4C71-9CF0-35EC95DDEE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9171085"/>
              </p:ext>
            </p:extLst>
          </p:nvPr>
        </p:nvGraphicFramePr>
        <p:xfrm>
          <a:off x="2881312" y="4154488"/>
          <a:ext cx="2036762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r:id="rId8" imgW="1122300" imgH="497559" progId="Equation.3">
                  <p:embed/>
                </p:oleObj>
              </mc:Choice>
              <mc:Fallback>
                <p:oleObj r:id="rId8" imgW="1122300" imgH="497559" progId="Equation.3">
                  <p:embed/>
                  <p:pic>
                    <p:nvPicPr>
                      <p:cNvPr id="63496" name="对象 191496">
                        <a:extLst>
                          <a:ext uri="{FF2B5EF4-FFF2-40B4-BE49-F238E27FC236}">
                            <a16:creationId xmlns:a16="http://schemas.microsoft.com/office/drawing/2014/main" id="{E3E73D15-7476-4C71-9CF0-35EC95DDEE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2" y="4154488"/>
                        <a:ext cx="2036762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7" name="对象 191497">
            <a:extLst>
              <a:ext uri="{FF2B5EF4-FFF2-40B4-BE49-F238E27FC236}">
                <a16:creationId xmlns:a16="http://schemas.microsoft.com/office/drawing/2014/main" id="{FBAE849C-F20D-435D-AA66-3684521931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0808498"/>
              </p:ext>
            </p:extLst>
          </p:nvPr>
        </p:nvGraphicFramePr>
        <p:xfrm>
          <a:off x="2816225" y="5407025"/>
          <a:ext cx="15462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r:id="rId10" imgW="880053" imgH="497559" progId="Equation.3">
                  <p:embed/>
                </p:oleObj>
              </mc:Choice>
              <mc:Fallback>
                <p:oleObj r:id="rId10" imgW="880053" imgH="497559" progId="Equation.3">
                  <p:embed/>
                  <p:pic>
                    <p:nvPicPr>
                      <p:cNvPr id="63497" name="对象 191497">
                        <a:extLst>
                          <a:ext uri="{FF2B5EF4-FFF2-40B4-BE49-F238E27FC236}">
                            <a16:creationId xmlns:a16="http://schemas.microsoft.com/office/drawing/2014/main" id="{FBAE849C-F20D-435D-AA66-3684521931F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5407025"/>
                        <a:ext cx="154622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498" name="图片 1">
            <a:extLst>
              <a:ext uri="{FF2B5EF4-FFF2-40B4-BE49-F238E27FC236}">
                <a16:creationId xmlns:a16="http://schemas.microsoft.com/office/drawing/2014/main" id="{9CE589AA-06AE-4922-8994-65F1FB131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3136" r="5396" b="2396"/>
          <a:stretch>
            <a:fillRect/>
          </a:stretch>
        </p:blipFill>
        <p:spPr bwMode="auto">
          <a:xfrm>
            <a:off x="6943725" y="2632076"/>
            <a:ext cx="4135438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Rectangle 3">
            <a:extLst>
              <a:ext uri="{FF2B5EF4-FFF2-40B4-BE49-F238E27FC236}">
                <a16:creationId xmlns:a16="http://schemas.microsoft.com/office/drawing/2014/main" id="{F5716254-4AD2-4B68-85D4-B14D1AB34F0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176338" y="1376363"/>
            <a:ext cx="8369300" cy="5105400"/>
          </a:xfrm>
        </p:spPr>
        <p:txBody>
          <a:bodyPr vert="horz" lIns="92075" tIns="46038" rIns="92075" bIns="46038" rtlCol="0">
            <a:normAutofit/>
          </a:bodyPr>
          <a:lstStyle/>
          <a:p>
            <a:r>
              <a:rPr lang="zh-CN" altLang="en-US" sz="2400" dirty="0">
                <a:ea typeface="宋体" panose="02010600030101010101" pitchFamily="2" charset="-122"/>
              </a:rPr>
              <a:t>终止条件：训练停止，如果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宋体" panose="02010600030101010101" pitchFamily="2" charset="-122"/>
              </a:rPr>
              <a:t>前一周期所有</a:t>
            </a:r>
            <a:r>
              <a:rPr lang="zh-CN" altLang="en-US" sz="2400" dirty="0"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zh-CN" altLang="en-US" sz="2400" dirty="0">
                <a:latin typeface="MathJax_Math" charset="0"/>
                <a:ea typeface="宋体" panose="02010600030101010101" pitchFamily="2" charset="-122"/>
              </a:rPr>
              <a:t>w</a:t>
            </a:r>
            <a:r>
              <a:rPr lang="zh-CN" altLang="en-US" sz="2400" baseline="-25000" dirty="0">
                <a:latin typeface="MathJax_Math" charset="0"/>
                <a:ea typeface="宋体" panose="02010600030101010101" pitchFamily="2" charset="-122"/>
              </a:rPr>
              <a:t>ij</a:t>
            </a:r>
            <a:r>
              <a:rPr lang="zh-CN" altLang="en-US" sz="2400" dirty="0">
                <a:ea typeface="宋体" panose="02010600030101010101" pitchFamily="2" charset="-122"/>
              </a:rPr>
              <a:t>都太小，小于某个特定的阈值，或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宋体" panose="02010600030101010101" pitchFamily="2" charset="-122"/>
              </a:rPr>
              <a:t>前一周期误分类的元组百分比小于某个阈值，或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宋体" panose="02010600030101010101" pitchFamily="2" charset="-122"/>
              </a:rPr>
              <a:t>超过预先指定的周期数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414F9D33-BCAD-4478-AC7A-F691FC58D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2075" tIns="46038" rIns="92075" bIns="46038" rtlCol="0" anchor="t">
            <a:normAutofit/>
          </a:bodyPr>
          <a:lstStyle/>
          <a:p>
            <a:pPr algn="l" eaLnBrk="1" hangingPunct="1"/>
            <a:r>
              <a:rPr lang="zh-CN" altLang="en-US" dirty="0">
                <a:ea typeface="宋体" panose="02010600030101010101" pitchFamily="2" charset="-122"/>
              </a:rPr>
              <a:t>例子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93571433-ADF7-400E-BF7F-19866EFCF77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339352" y="1822450"/>
            <a:ext cx="9715500" cy="510540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下列神经网络中，设学习率为</a:t>
            </a:r>
            <a:r>
              <a:rPr lang="en-US" altLang="zh-CN" sz="2400" dirty="0">
                <a:ea typeface="宋体" panose="02010600030101010101" pitchFamily="2" charset="-122"/>
              </a:rPr>
              <a:t>0.9</a:t>
            </a:r>
            <a:r>
              <a:rPr lang="zh-CN" altLang="en-US" sz="2400" dirty="0">
                <a:ea typeface="宋体" panose="02010600030101010101" pitchFamily="2" charset="-122"/>
              </a:rPr>
              <a:t>。初始权重和偏倚值在表中给定, 第一组训练元组 </a:t>
            </a:r>
            <a:r>
              <a:rPr lang="zh-CN" altLang="en-US" sz="2400" dirty="0">
                <a:latin typeface="MathJax_Math" charset="0"/>
                <a:ea typeface="宋体" panose="02010600030101010101" pitchFamily="2" charset="-122"/>
              </a:rPr>
              <a:t>X = (1, 0, 1)</a:t>
            </a:r>
            <a:r>
              <a:rPr lang="zh-CN" altLang="en-US" sz="2400" dirty="0">
                <a:ea typeface="宋体" panose="02010600030101010101" pitchFamily="2" charset="-122"/>
              </a:rPr>
              <a:t>, 其类标签为 1.</a:t>
            </a:r>
          </a:p>
        </p:txBody>
      </p:sp>
      <p:pic>
        <p:nvPicPr>
          <p:cNvPr id="67590" name="内容占位符 1">
            <a:extLst>
              <a:ext uri="{FF2B5EF4-FFF2-40B4-BE49-F238E27FC236}">
                <a16:creationId xmlns:a16="http://schemas.microsoft.com/office/drawing/2014/main" id="{966BCBE0-53AB-4C15-A793-1B6464C81F6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3" t="2563" r="3677" b="1280"/>
          <a:stretch>
            <a:fillRect/>
          </a:stretch>
        </p:blipFill>
        <p:spPr>
          <a:xfrm>
            <a:off x="1997075" y="3216276"/>
            <a:ext cx="4826000" cy="3159125"/>
          </a:xfr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8D40B6-9F78-4181-9C4B-B0612341C7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993536"/>
              </p:ext>
            </p:extLst>
          </p:nvPr>
        </p:nvGraphicFramePr>
        <p:xfrm>
          <a:off x="7092950" y="3263900"/>
          <a:ext cx="3248026" cy="3063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>
                          <a:solidFill>
                            <a:schemeClr val="tx1"/>
                          </a:solidFill>
                          <a:latin typeface="MathJax_Math" charset="0"/>
                        </a:rPr>
                        <a:t>w</a:t>
                      </a:r>
                      <a:r>
                        <a:rPr lang="x-none" sz="2200" b="1" baseline="-25000">
                          <a:solidFill>
                            <a:schemeClr val="tx1"/>
                          </a:solidFill>
                          <a:latin typeface="MathJax_Math" charset="0"/>
                        </a:rPr>
                        <a:t>14</a:t>
                      </a:r>
                    </a:p>
                  </a:txBody>
                  <a:tcPr marL="91458" marR="91458" marT="45729" marB="45729"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marL="91458" marR="91458" marT="45729" marB="45729"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>
                          <a:solidFill>
                            <a:schemeClr val="tx1"/>
                          </a:solidFill>
                          <a:latin typeface="MathJax_Math" charset="0"/>
                        </a:rPr>
                        <a:t>w</a:t>
                      </a:r>
                      <a:r>
                        <a:rPr lang="x-none" sz="2200" b="1" baseline="-25000">
                          <a:solidFill>
                            <a:schemeClr val="tx1"/>
                          </a:solidFill>
                          <a:latin typeface="MathJax_Math" charset="0"/>
                        </a:rPr>
                        <a:t>15</a:t>
                      </a:r>
                    </a:p>
                  </a:txBody>
                  <a:tcPr marL="91458" marR="91458" marT="45729" marB="45729"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>
                          <a:solidFill>
                            <a:schemeClr val="tx1"/>
                          </a:solidFill>
                        </a:rPr>
                        <a:t>-0.3</a:t>
                      </a:r>
                    </a:p>
                  </a:txBody>
                  <a:tcPr marL="91458" marR="91458" marT="45729" marB="45729"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 dirty="0">
                          <a:latin typeface="MathJax_Math" charset="0"/>
                        </a:rPr>
                        <a:t>w</a:t>
                      </a:r>
                      <a:r>
                        <a:rPr lang="x-none" sz="2200" b="1" baseline="-25000" dirty="0">
                          <a:latin typeface="MathJax_Math" charset="0"/>
                        </a:rPr>
                        <a:t>24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/>
                        <a:t>0.4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>
                          <a:latin typeface="MathJax_Math" charset="0"/>
                        </a:rPr>
                        <a:t>w</a:t>
                      </a:r>
                      <a:r>
                        <a:rPr lang="x-none" sz="2200" b="1" baseline="-25000">
                          <a:latin typeface="MathJax_Math" charset="0"/>
                        </a:rPr>
                        <a:t>25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/>
                        <a:t>0.1</a:t>
                      </a:r>
                    </a:p>
                  </a:txBody>
                  <a:tcPr marL="91458" marR="91458"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>
                          <a:latin typeface="MathJax_Math" charset="0"/>
                        </a:rPr>
                        <a:t>w</a:t>
                      </a:r>
                      <a:r>
                        <a:rPr lang="x-none" sz="2200" b="1" baseline="-25000">
                          <a:latin typeface="MathJax_Math" charset="0"/>
                        </a:rPr>
                        <a:t>34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/>
                        <a:t>-0.5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>
                          <a:latin typeface="MathJax_Math" charset="0"/>
                        </a:rPr>
                        <a:t>w</a:t>
                      </a:r>
                      <a:r>
                        <a:rPr lang="x-none" sz="2200" b="1" baseline="-25000">
                          <a:latin typeface="MathJax_Math" charset="0"/>
                        </a:rPr>
                        <a:t>35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/>
                        <a:t>0.2</a:t>
                      </a:r>
                    </a:p>
                  </a:txBody>
                  <a:tcPr marL="91458" marR="91458"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>
                          <a:latin typeface="MathJax_Math" charset="0"/>
                        </a:rPr>
                        <a:t>w</a:t>
                      </a:r>
                      <a:r>
                        <a:rPr lang="x-none" sz="2200" b="1" baseline="-25000">
                          <a:latin typeface="MathJax_Math" charset="0"/>
                        </a:rPr>
                        <a:t>46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/>
                        <a:t>-0.3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>
                          <a:latin typeface="MathJax_Math" charset="0"/>
                        </a:rPr>
                        <a:t>w</a:t>
                      </a:r>
                      <a:r>
                        <a:rPr lang="x-none" sz="2200" b="1" baseline="-25000">
                          <a:latin typeface="MathJax_Math" charset="0"/>
                        </a:rPr>
                        <a:t>56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/>
                        <a:t>-0.2</a:t>
                      </a:r>
                    </a:p>
                  </a:txBody>
                  <a:tcPr marL="91458" marR="91458" marT="45729" marB="4572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 b="1">
                          <a:latin typeface="MathJax_Math" charset="0"/>
                          <a:cs typeface="Arial" charset="0"/>
                        </a:rPr>
                        <a:t>θ</a:t>
                      </a:r>
                      <a:r>
                        <a:rPr lang="x-none" sz="2200" b="1" baseline="-25000">
                          <a:latin typeface="MathJax_Math" charset="0"/>
                          <a:cs typeface="Arial" charset="0"/>
                        </a:rPr>
                        <a:t>4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/>
                        <a:t>-0.4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 b="1">
                          <a:latin typeface="MathJax_Math" charset="0"/>
                          <a:cs typeface="Arial" charset="0"/>
                        </a:rPr>
                        <a:t>θ</a:t>
                      </a:r>
                      <a:r>
                        <a:rPr lang="x-none" sz="2200" b="1" baseline="-25000">
                          <a:latin typeface="MathJax_Math" charset="0"/>
                          <a:cs typeface="Arial" charset="0"/>
                        </a:rPr>
                        <a:t>5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/>
                        <a:t>0.2</a:t>
                      </a:r>
                    </a:p>
                  </a:txBody>
                  <a:tcPr marL="91458" marR="91458" marT="45729" marB="4572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 b="1">
                          <a:latin typeface="MathJax_Math" charset="0"/>
                          <a:cs typeface="Arial" charset="0"/>
                        </a:rPr>
                        <a:t>θ</a:t>
                      </a:r>
                      <a:r>
                        <a:rPr lang="x-none" sz="2200" b="1" baseline="-25000">
                          <a:latin typeface="MathJax_Math" charset="0"/>
                          <a:cs typeface="Arial" charset="0"/>
                        </a:rPr>
                        <a:t>6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200" b="1"/>
                        <a:t>0.1</a:t>
                      </a: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2200" b="1">
                        <a:latin typeface="MathJax_Math" charset="0"/>
                      </a:endParaRPr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2200" b="1" dirty="0"/>
                    </a:p>
                  </a:txBody>
                  <a:tcPr marL="91458" marR="91458" marT="45729" marB="4572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>
            <a:extLst>
              <a:ext uri="{FF2B5EF4-FFF2-40B4-BE49-F238E27FC236}">
                <a16:creationId xmlns:a16="http://schemas.microsoft.com/office/drawing/2014/main" id="{31DEF05F-624C-42A4-80E1-F26FE2AB43D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685925" y="838200"/>
            <a:ext cx="8445500" cy="510540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净输入和输出计算</a:t>
            </a:r>
          </a:p>
          <a:p>
            <a:pPr eaLnBrk="1" hangingPunct="1">
              <a:lnSpc>
                <a:spcPct val="120000"/>
              </a:lnSpc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每个节点误差计算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8164769-28B4-4AB4-97AD-E77847C779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1268650"/>
              </p:ext>
            </p:extLst>
          </p:nvPr>
        </p:nvGraphicFramePr>
        <p:xfrm>
          <a:off x="2060575" y="1492250"/>
          <a:ext cx="7859713" cy="2008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9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4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Tahoma" pitchFamily="34" charset="0"/>
                        </a:rPr>
                        <a:t>Unit </a:t>
                      </a:r>
                      <a:r>
                        <a:rPr lang="x-none" sz="2000">
                          <a:latin typeface="MathJax_Math" charset="0"/>
                        </a:rPr>
                        <a:t>j</a:t>
                      </a:r>
                    </a:p>
                  </a:txBody>
                  <a:tcPr marL="91436" marR="91436" marT="46283" marB="462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/>
                        <a:t>Net input, </a:t>
                      </a:r>
                      <a:r>
                        <a:rPr lang="x-none" sz="2000">
                          <a:latin typeface="MathJax_Math" charset="0"/>
                        </a:rPr>
                        <a:t>I</a:t>
                      </a:r>
                      <a:r>
                        <a:rPr lang="x-none" sz="2000" baseline="-25000">
                          <a:latin typeface="MathJax_Math" charset="0"/>
                        </a:rPr>
                        <a:t>j</a:t>
                      </a:r>
                    </a:p>
                  </a:txBody>
                  <a:tcPr marL="91436" marR="91436" marT="46283" marB="462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Tahoma" pitchFamily="34" charset="0"/>
                        </a:rPr>
                        <a:t>Output, </a:t>
                      </a:r>
                      <a:r>
                        <a:rPr lang="x-none" sz="2000">
                          <a:latin typeface="MathJax_Math" charset="0"/>
                        </a:rPr>
                        <a:t>O</a:t>
                      </a:r>
                      <a:r>
                        <a:rPr lang="x-none" sz="2000" baseline="-25000">
                          <a:latin typeface="MathJax_Math" charset="0"/>
                        </a:rPr>
                        <a:t>j</a:t>
                      </a:r>
                    </a:p>
                  </a:txBody>
                  <a:tcPr marL="91436" marR="91436" marT="46283" marB="4628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MathJax_Math" charset="0"/>
                        </a:rPr>
                        <a:t>4</a:t>
                      </a:r>
                    </a:p>
                  </a:txBody>
                  <a:tcPr marL="91436" marR="91436" marT="46283" marB="462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/>
                        <a:t>0.2+0-0.5-0.4=-0.7</a:t>
                      </a:r>
                    </a:p>
                  </a:txBody>
                  <a:tcPr marL="91436" marR="91436" marT="46283" marB="462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 dirty="0">
                          <a:latin typeface="Tahoma" pitchFamily="34" charset="0"/>
                        </a:rPr>
                        <a:t>1/(1+e</a:t>
                      </a:r>
                      <a:r>
                        <a:rPr lang="x-none" sz="2000" baseline="30000" dirty="0">
                          <a:latin typeface="Tahoma" pitchFamily="34" charset="0"/>
                        </a:rPr>
                        <a:t>0.7</a:t>
                      </a:r>
                      <a:r>
                        <a:rPr lang="x-none" sz="2000" dirty="0">
                          <a:latin typeface="Tahoma" pitchFamily="34" charset="0"/>
                        </a:rPr>
                        <a:t>)=0.332</a:t>
                      </a:r>
                    </a:p>
                  </a:txBody>
                  <a:tcPr marL="91436" marR="91436" marT="46283" marB="4628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MathJax_Math" charset="0"/>
                        </a:rPr>
                        <a:t>5</a:t>
                      </a:r>
                    </a:p>
                  </a:txBody>
                  <a:tcPr marL="91436" marR="91436" marT="46283" marB="462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/>
                        <a:t>-0.3+0+0.2+0.2=0.1</a:t>
                      </a:r>
                    </a:p>
                  </a:txBody>
                  <a:tcPr marL="91436" marR="91436" marT="46283" marB="462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Tahoma" pitchFamily="34" charset="0"/>
                        </a:rPr>
                        <a:t>1/(1+e</a:t>
                      </a:r>
                      <a:r>
                        <a:rPr lang="x-none" sz="2000" baseline="30000">
                          <a:latin typeface="Tahoma" pitchFamily="34" charset="0"/>
                        </a:rPr>
                        <a:t>-0.1</a:t>
                      </a:r>
                      <a:r>
                        <a:rPr lang="x-none" sz="2000">
                          <a:latin typeface="Tahoma" pitchFamily="34" charset="0"/>
                        </a:rPr>
                        <a:t>)=0.525</a:t>
                      </a:r>
                    </a:p>
                  </a:txBody>
                  <a:tcPr marL="91436" marR="91436" marT="46283" marB="4628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MathJax_Math" charset="0"/>
                        </a:rPr>
                        <a:t>6</a:t>
                      </a:r>
                    </a:p>
                  </a:txBody>
                  <a:tcPr marL="91436" marR="91436" marT="46283" marB="462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 dirty="0"/>
                        <a:t>(-0.3)(0.332)-(0.2)(0.525)</a:t>
                      </a:r>
                    </a:p>
                    <a:p>
                      <a:pPr>
                        <a:buNone/>
                      </a:pPr>
                      <a:r>
                        <a:rPr lang="x-none" sz="2000" dirty="0"/>
                        <a:t>+0.1  =-0.105</a:t>
                      </a:r>
                    </a:p>
                  </a:txBody>
                  <a:tcPr marL="91436" marR="91436" marT="46283" marB="462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 dirty="0">
                          <a:latin typeface="Tahoma" pitchFamily="34" charset="0"/>
                        </a:rPr>
                        <a:t>1/(1+e</a:t>
                      </a:r>
                      <a:r>
                        <a:rPr lang="x-none" sz="2000" baseline="30000" dirty="0">
                          <a:latin typeface="Tahoma" pitchFamily="34" charset="0"/>
                        </a:rPr>
                        <a:t>0.105</a:t>
                      </a:r>
                      <a:r>
                        <a:rPr lang="x-none" sz="2000" dirty="0">
                          <a:latin typeface="Tahoma" pitchFamily="34" charset="0"/>
                        </a:rPr>
                        <a:t>)=0.474</a:t>
                      </a:r>
                    </a:p>
                  </a:txBody>
                  <a:tcPr marL="91436" marR="91436" marT="46283" marB="4628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967ED110-4B87-49F4-A938-5D0725B9FA7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92606847"/>
              </p:ext>
            </p:extLst>
          </p:nvPr>
        </p:nvGraphicFramePr>
        <p:xfrm>
          <a:off x="2134394" y="4232276"/>
          <a:ext cx="7818437" cy="174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Tahoma" pitchFamily="34" charset="0"/>
                        </a:rPr>
                        <a:t>Unit </a:t>
                      </a:r>
                      <a:r>
                        <a:rPr lang="x-none" sz="2000">
                          <a:latin typeface="MathJax_Math" charset="0"/>
                        </a:rPr>
                        <a:t>j</a:t>
                      </a:r>
                    </a:p>
                  </a:txBody>
                  <a:tcPr marL="91436" marR="91436" marT="45795" marB="4579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MathJax_Math" charset="0"/>
                        </a:rPr>
                        <a:t>Err</a:t>
                      </a:r>
                      <a:r>
                        <a:rPr lang="x-none" sz="2000" baseline="-25000">
                          <a:latin typeface="MathJax_Math" charset="0"/>
                        </a:rPr>
                        <a:t>j</a:t>
                      </a:r>
                    </a:p>
                  </a:txBody>
                  <a:tcPr marL="91436" marR="91436" marT="45795" marB="457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MathJax_Math" charset="0"/>
                        </a:rPr>
                        <a:t>6</a:t>
                      </a:r>
                    </a:p>
                  </a:txBody>
                  <a:tcPr marL="91436" marR="91436" marT="45795" marB="4579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/>
                        <a:t>(0.474)(1 − 0.474)(1 − 0.474) = 0.1311</a:t>
                      </a:r>
                    </a:p>
                  </a:txBody>
                  <a:tcPr marL="91436" marR="91436" marT="45795" marB="457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MathJax_Math" charset="0"/>
                        </a:rPr>
                        <a:t>5</a:t>
                      </a:r>
                    </a:p>
                  </a:txBody>
                  <a:tcPr marL="91436" marR="91436" marT="45795" marB="4579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/>
                        <a:t>(0.525)(1 − 0.525)(0.1311)(−0.2) = −0.0065</a:t>
                      </a:r>
                    </a:p>
                  </a:txBody>
                  <a:tcPr marL="91436" marR="91436" marT="45795" marB="457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>
                          <a:latin typeface="MathJax_Math" charset="0"/>
                        </a:rPr>
                        <a:t>4</a:t>
                      </a:r>
                    </a:p>
                  </a:txBody>
                  <a:tcPr marL="91436" marR="91436" marT="45795" marB="4579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2000" dirty="0"/>
                        <a:t>(0.332)(1 − 0.332)(0.1311)(−0.3) = −0.0087</a:t>
                      </a:r>
                    </a:p>
                  </a:txBody>
                  <a:tcPr marL="91436" marR="91436" marT="45795" marB="4579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38A5810C-36F7-4981-800D-165D8FF0B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36725" y="603250"/>
            <a:ext cx="8699500" cy="609600"/>
          </a:xfrm>
        </p:spPr>
        <p:txBody>
          <a:bodyPr vert="horz" lIns="92075" tIns="46038" rIns="92075" bIns="46038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ea typeface="宋体" panose="02010600030101010101" pitchFamily="2" charset="-122"/>
                <a:sym typeface="Arial" panose="020B0604020202020204" pitchFamily="34" charset="0"/>
              </a:rPr>
              <a:t>权重和偏倚的更新计算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1A0A9E29-DA55-4E5A-B1F5-EF2F423611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33183851"/>
              </p:ext>
            </p:extLst>
          </p:nvPr>
        </p:nvGraphicFramePr>
        <p:xfrm>
          <a:off x="1930402" y="1212850"/>
          <a:ext cx="7818437" cy="5137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9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Tahoma" pitchFamily="34" charset="0"/>
                        </a:rPr>
                        <a:t>weight/bias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Tahoma" pitchFamily="34" charset="0"/>
                        </a:rPr>
                        <a:t>New value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 dirty="0">
                          <a:latin typeface="MathJax_Math" charset="0"/>
                        </a:rPr>
                        <a:t>w</a:t>
                      </a:r>
                      <a:r>
                        <a:rPr lang="x-none" sz="1800" baseline="-25000" dirty="0">
                          <a:latin typeface="MathJax_Math" charset="0"/>
                        </a:rPr>
                        <a:t>46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/>
                        <a:t>−0.3 + (0.9)(0.1311)(0.332) = −0.261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MathJax_Math" charset="0"/>
                        </a:rPr>
                        <a:t>w</a:t>
                      </a:r>
                      <a:r>
                        <a:rPr lang="x-none" sz="1800" baseline="-25000">
                          <a:latin typeface="MathJax_Math" charset="0"/>
                        </a:rPr>
                        <a:t>56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/>
                        <a:t>−0.2 + (0.9)(0.1311)(0.525) = −0.138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MathJax_Math" charset="0"/>
                        </a:rPr>
                        <a:t>w</a:t>
                      </a:r>
                      <a:r>
                        <a:rPr lang="x-none" sz="1800" baseline="-25000">
                          <a:latin typeface="MathJax_Math" charset="0"/>
                        </a:rPr>
                        <a:t>14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/>
                        <a:t>0.2 + (0.9)(−0.0087)(1) = 0.192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MathJax_Math" charset="0"/>
                        </a:rPr>
                        <a:t>w</a:t>
                      </a:r>
                      <a:r>
                        <a:rPr lang="x-none" sz="1800" baseline="-25000">
                          <a:latin typeface="MathJax_Math" charset="0"/>
                        </a:rPr>
                        <a:t>15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/>
                        <a:t>−0.3 + (0.9)(−0.0065)(1) = −0.306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MathJax_Math" charset="0"/>
                        </a:rPr>
                        <a:t>w</a:t>
                      </a:r>
                      <a:r>
                        <a:rPr lang="x-none" sz="1800" baseline="-25000">
                          <a:latin typeface="MathJax_Math" charset="0"/>
                        </a:rPr>
                        <a:t>24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/>
                        <a:t>0.4 + (0.9)(−0.0087)(0) = 0.4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MathJax_Math" charset="0"/>
                        </a:rPr>
                        <a:t>w</a:t>
                      </a:r>
                      <a:r>
                        <a:rPr lang="x-none" sz="1800" baseline="-25000">
                          <a:latin typeface="MathJax_Math" charset="0"/>
                        </a:rPr>
                        <a:t>25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/>
                        <a:t>0.1 + (0.9)(−0.0065)(0) = 0.1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MathJax_Math" charset="0"/>
                        </a:rPr>
                        <a:t>w</a:t>
                      </a:r>
                      <a:r>
                        <a:rPr lang="x-none" sz="1800" baseline="-25000">
                          <a:latin typeface="MathJax_Math" charset="0"/>
                        </a:rPr>
                        <a:t>34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/>
                        <a:t>−0.5 + (0.9)(−0.0087)(1) = −0.508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MathJax_Math" charset="0"/>
                        </a:rPr>
                        <a:t>w</a:t>
                      </a:r>
                      <a:r>
                        <a:rPr lang="x-none" sz="1800" baseline="-25000">
                          <a:latin typeface="MathJax_Math" charset="0"/>
                        </a:rPr>
                        <a:t>35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/>
                        <a:t>0.2 + (0.9)(−0.0065)(1) = 0.194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MathJax_Math" charset="0"/>
                          <a:cs typeface="Arial" charset="0"/>
                        </a:rPr>
                        <a:t>θ</a:t>
                      </a:r>
                      <a:r>
                        <a:rPr lang="x-none" sz="1800" baseline="-25000">
                          <a:latin typeface="MathJax_Math" charset="0"/>
                          <a:cs typeface="Arial" charset="0"/>
                        </a:rPr>
                        <a:t>6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/>
                        <a:t>0.1 + (0.9)(0.1311) = 0.218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MathJax_Math" charset="0"/>
                          <a:cs typeface="Arial" charset="0"/>
                        </a:rPr>
                        <a:t>θ</a:t>
                      </a:r>
                      <a:r>
                        <a:rPr lang="x-none" sz="1800" baseline="-25000">
                          <a:latin typeface="MathJax_Math" charset="0"/>
                          <a:cs typeface="Arial" charset="0"/>
                        </a:rPr>
                        <a:t>5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/>
                        <a:t>0.2 + (0.9)(−0.0065) = 0.194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>
                          <a:latin typeface="MathJax_Math" charset="0"/>
                          <a:cs typeface="Arial" charset="0"/>
                        </a:rPr>
                        <a:t>θ</a:t>
                      </a:r>
                      <a:r>
                        <a:rPr lang="x-none" sz="1800" baseline="-25000">
                          <a:latin typeface="MathJax_Math" charset="0"/>
                          <a:cs typeface="Arial" charset="0"/>
                        </a:rPr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x-none" sz="1800" dirty="0"/>
                        <a:t>−0.4 + (0.9)(−0.0087) = −0.408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83</TotalTime>
  <Words>841</Words>
  <Application>Microsoft Office PowerPoint</Application>
  <PresentationFormat>宽屏</PresentationFormat>
  <Paragraphs>178</Paragraphs>
  <Slides>16</Slides>
  <Notes>11</Notes>
  <HiddenSlides>5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MathJax_Math</vt:lpstr>
      <vt:lpstr>等线</vt:lpstr>
      <vt:lpstr>黑体</vt:lpstr>
      <vt:lpstr>Arial</vt:lpstr>
      <vt:lpstr>Gill Sans MT</vt:lpstr>
      <vt:lpstr>Symbol</vt:lpstr>
      <vt:lpstr>Tahoma</vt:lpstr>
      <vt:lpstr>Times New Roman</vt:lpstr>
      <vt:lpstr>Wingdings</vt:lpstr>
      <vt:lpstr>画廊</vt:lpstr>
      <vt:lpstr>Equation.3</vt:lpstr>
      <vt:lpstr>BP误差反向传播算法</vt:lpstr>
      <vt:lpstr>PowerPoint 演示文稿</vt:lpstr>
      <vt:lpstr>神经元</vt:lpstr>
      <vt:lpstr>神经网络：感知器（两层神经元）与多层网络</vt:lpstr>
      <vt:lpstr>多层前馈神经网络</vt:lpstr>
      <vt:lpstr>多层前馈神经网络</vt:lpstr>
      <vt:lpstr>PowerPoint 演示文稿</vt:lpstr>
      <vt:lpstr>PowerPoint 演示文稿</vt:lpstr>
      <vt:lpstr>PowerPoint 演示文稿</vt:lpstr>
      <vt:lpstr>后向传播</vt:lpstr>
      <vt:lpstr>PowerPoint 演示文稿</vt:lpstr>
      <vt:lpstr>PowerPoint 演示文稿</vt:lpstr>
      <vt:lpstr>PowerPoint 演示文稿</vt:lpstr>
      <vt:lpstr>例子</vt:lpstr>
      <vt:lpstr>PowerPoint 演示文稿</vt:lpstr>
      <vt:lpstr>权重和偏倚的更新计算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BP后向传播算法</dc:title>
  <dc:creator>JX L</dc:creator>
  <cp:lastModifiedBy>JX L</cp:lastModifiedBy>
  <cp:revision>25</cp:revision>
  <dcterms:created xsi:type="dcterms:W3CDTF">2019-07-23T11:09:37Z</dcterms:created>
  <dcterms:modified xsi:type="dcterms:W3CDTF">2019-07-25T09:31:04Z</dcterms:modified>
</cp:coreProperties>
</file>