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31FC2-63FD-4FDD-BA01-8734E7ED0C30}" type="datetimeFigureOut">
              <a:rPr lang="zh-CN" altLang="en-US" smtClean="0"/>
              <a:t>2019/7/22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D8934-AA35-40DB-9303-14AC5A15B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86200" y="5791200"/>
            <a:ext cx="16002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95400" y="2286000"/>
            <a:ext cx="6553200" cy="2133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6000" dirty="0" smtClean="0">
                <a:sym typeface="+mn-ea"/>
              </a:rPr>
              <a:t>Naïve </a:t>
            </a:r>
            <a:r>
              <a:rPr lang="en-US" sz="6000" dirty="0" smtClean="0">
                <a:sym typeface="+mn-ea"/>
              </a:rPr>
              <a:t>Bayes</a:t>
            </a:r>
            <a:endParaRPr lang="en-US" altLang="zh-CN" sz="6000" i="0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5464314"/>
            <a:ext cx="6064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000" dirty="0" smtClean="0"/>
          </a:p>
          <a:p>
            <a:pPr algn="ctr"/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5300" b="1" dirty="0" smtClean="0"/>
              <a:t>简介</a:t>
            </a:r>
            <a:r>
              <a:rPr lang="zh-CN" altLang="en-US" sz="3600" b="1" dirty="0"/>
              <a:t/>
            </a:r>
            <a:br>
              <a:rPr lang="zh-CN" altLang="en-US" sz="3600" b="1" dirty="0"/>
            </a:br>
            <a:r>
              <a:rPr lang="zh-CN" altLang="en-US" sz="3600" b="1" dirty="0" smtClean="0"/>
              <a:t>         </a:t>
            </a:r>
            <a:r>
              <a:rPr lang="en-US" altLang="zh-CN" sz="3600" dirty="0" err="1" smtClean="0"/>
              <a:t>NaïveBayes</a:t>
            </a:r>
            <a:r>
              <a:rPr lang="zh-CN" altLang="en-US" sz="3600" dirty="0"/>
              <a:t>算法，又叫</a:t>
            </a:r>
            <a:r>
              <a:rPr lang="zh-CN" altLang="en-US" sz="3600" b="1" dirty="0"/>
              <a:t>朴素贝叶斯算法，朴素：特征条件独立；贝叶斯：基于贝叶斯定理</a:t>
            </a:r>
            <a:r>
              <a:rPr lang="zh-CN" altLang="en-US" sz="3600" dirty="0" smtClean="0"/>
              <a:t>。</a:t>
            </a:r>
            <a:r>
              <a:rPr lang="en-US" altLang="zh-CN" sz="3600" dirty="0" smtClean="0"/>
              <a:t/>
            </a:r>
            <a:br>
              <a:rPr lang="en-US" altLang="zh-CN" sz="3600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     </a:t>
            </a:r>
            <a:r>
              <a:rPr lang="zh-CN" altLang="en-US" sz="3600" dirty="0" smtClean="0"/>
              <a:t>属于</a:t>
            </a:r>
            <a:r>
              <a:rPr lang="zh-CN" altLang="en-US" sz="3600" dirty="0"/>
              <a:t>监督学习的生成模型，实现简单，没有迭代，并有坚实的数学理论（即贝叶斯定理）作为支撑。在大量样本下会有较好的表现，不适用于输入向量的特征条件有关联的场景。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dirty="0" smtClean="0"/>
              <a:t>贝叶斯定理：</a:t>
            </a:r>
            <a:r>
              <a:rPr lang="en-US" altLang="zh-CN" sz="4000" dirty="0" smtClean="0"/>
              <a:t> </a:t>
            </a:r>
            <a:br>
              <a:rPr lang="en-US" altLang="zh-CN" sz="4000" dirty="0" smtClean="0"/>
            </a:br>
            <a:r>
              <a:rPr lang="en-US" altLang="zh-CN" sz="4000" dirty="0"/>
              <a:t/>
            </a:r>
            <a:br>
              <a:rPr lang="en-US" altLang="zh-CN" sz="4000" dirty="0"/>
            </a:b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r>
              <a:rPr lang="en-US" altLang="zh-CN" sz="4000" dirty="0"/>
              <a:t> </a:t>
            </a:r>
            <a:r>
              <a:rPr lang="en-US" altLang="zh-CN" sz="4000" dirty="0" smtClean="0"/>
              <a:t>       </a:t>
            </a:r>
            <a:r>
              <a:rPr lang="en-US" sz="4000" dirty="0" smtClean="0"/>
              <a:t>P(A|B) = P(B|A) P(A) / P(B)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200" b="1" dirty="0"/>
              <a:t>基本思想</a:t>
            </a:r>
            <a:br>
              <a:rPr lang="zh-CN" altLang="en-US" sz="3200" b="1" dirty="0"/>
            </a:br>
            <a:r>
              <a:rPr lang="en-US" altLang="zh-CN" sz="3200" b="1" dirty="0"/>
              <a:t>(1)</a:t>
            </a:r>
            <a:r>
              <a:rPr lang="zh-CN" altLang="en-US" sz="3200" b="1" dirty="0"/>
              <a:t>病人分类的例子</a:t>
            </a:r>
            <a:br>
              <a:rPr lang="zh-CN" altLang="en-US" sz="3200" b="1" dirty="0"/>
            </a:br>
            <a:r>
              <a:rPr lang="zh-CN" altLang="en-US" sz="3200" dirty="0"/>
              <a:t>某个医院早上收了六个门诊病人，如下表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zh-CN" altLang="en-US" sz="3200" dirty="0"/>
              <a:t>症状　　职业　　　疾病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en-US" altLang="zh-CN" sz="3200" dirty="0"/>
              <a:t>——————————————————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打喷嚏　护士　　　感冒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打喷嚏　农夫　　　过敏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头痛　　建筑工人　脑震荡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头痛　　建筑工人　感冒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打喷嚏　教师　　　感冒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/>
              <a:t>头痛　　教师　　　脑震荡</a:t>
            </a:r>
            <a:br>
              <a:rPr lang="zh-CN" altLang="en-US" sz="3200" dirty="0"/>
            </a:b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 smtClean="0"/>
              <a:t>        现在来</a:t>
            </a:r>
            <a:r>
              <a:rPr lang="zh-CN" altLang="en-US" sz="3200" dirty="0"/>
              <a:t>了第七个病人，是一个打喷嚏的建筑工人。请问他患上感冒的概率有多大？ </a:t>
            </a:r>
            <a:r>
              <a:rPr lang="zh-CN" altLang="en-US" sz="3200" dirty="0" smtClean="0"/>
              <a:t/>
            </a:r>
            <a:br>
              <a:rPr lang="zh-CN" altLang="en-US" sz="3200" dirty="0" smtClean="0"/>
            </a:br>
            <a:r>
              <a:rPr lang="zh-CN" altLang="en-US" sz="3200" dirty="0" smtClean="0"/>
              <a:t>       根据</a:t>
            </a:r>
            <a:r>
              <a:rPr lang="zh-CN" altLang="en-US" sz="3200" b="1" dirty="0"/>
              <a:t>贝叶斯定理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</a:t>
            </a:r>
            <a:r>
              <a:rPr lang="en-US" sz="3200" dirty="0" smtClean="0"/>
              <a:t>P(A|B</a:t>
            </a:r>
            <a:r>
              <a:rPr lang="en-US" sz="3200" dirty="0"/>
              <a:t>) = P(B|A) P(A) / P(B</a:t>
            </a:r>
            <a:r>
              <a:rPr lang="en-US" sz="3200" dirty="0" smtClean="0"/>
              <a:t>)</a:t>
            </a:r>
            <a:br>
              <a:rPr lang="en-US" sz="3200" dirty="0" smtClean="0"/>
            </a:br>
            <a:r>
              <a:rPr lang="en-US" altLang="zh-CN" sz="3200" dirty="0"/>
              <a:t>P(</a:t>
            </a:r>
            <a:r>
              <a:rPr lang="zh-CN" altLang="en-US" sz="3200" dirty="0"/>
              <a:t>感冒</a:t>
            </a:r>
            <a:r>
              <a:rPr lang="en-US" altLang="zh-CN" sz="3200" dirty="0"/>
              <a:t>|</a:t>
            </a:r>
            <a:r>
              <a:rPr lang="zh-CN" altLang="en-US" sz="3200" dirty="0"/>
              <a:t>打喷嚏</a:t>
            </a:r>
            <a:r>
              <a:rPr lang="en-US" altLang="zh-CN" sz="3200" dirty="0"/>
              <a:t>x</a:t>
            </a:r>
            <a:r>
              <a:rPr lang="zh-CN" altLang="en-US" sz="3200" dirty="0"/>
              <a:t>建筑工人</a:t>
            </a:r>
            <a:r>
              <a:rPr lang="en-US" altLang="zh-CN" sz="3200" dirty="0"/>
              <a:t>) 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 smtClean="0"/>
              <a:t>= </a:t>
            </a:r>
            <a:r>
              <a:rPr lang="en-US" altLang="zh-CN" sz="3200" dirty="0"/>
              <a:t>P(</a:t>
            </a:r>
            <a:r>
              <a:rPr lang="zh-CN" altLang="en-US" sz="3200" dirty="0"/>
              <a:t>打喷嚏</a:t>
            </a:r>
            <a:r>
              <a:rPr lang="en-US" altLang="zh-CN" sz="3200" dirty="0"/>
              <a:t>x</a:t>
            </a:r>
            <a:r>
              <a:rPr lang="zh-CN" altLang="en-US" sz="3200" dirty="0"/>
              <a:t>建筑工人</a:t>
            </a:r>
            <a:r>
              <a:rPr lang="en-US" altLang="zh-CN" sz="3200" dirty="0"/>
              <a:t>|</a:t>
            </a:r>
            <a:r>
              <a:rPr lang="zh-CN" altLang="en-US" sz="3200" dirty="0"/>
              <a:t>感冒</a:t>
            </a:r>
            <a:r>
              <a:rPr lang="en-US" altLang="zh-CN" sz="3200" dirty="0"/>
              <a:t>) x P(</a:t>
            </a:r>
            <a:r>
              <a:rPr lang="zh-CN" altLang="en-US" sz="3200" dirty="0"/>
              <a:t>感冒</a:t>
            </a:r>
            <a:r>
              <a:rPr lang="en-US" altLang="zh-CN" sz="3200" dirty="0"/>
              <a:t>) / P(</a:t>
            </a:r>
            <a:r>
              <a:rPr lang="zh-CN" altLang="en-US" sz="3200" dirty="0"/>
              <a:t>打喷嚏</a:t>
            </a:r>
            <a:r>
              <a:rPr lang="en-US" altLang="zh-CN" sz="3200" dirty="0"/>
              <a:t>x</a:t>
            </a:r>
            <a:r>
              <a:rPr lang="zh-CN" altLang="en-US" sz="3200" dirty="0"/>
              <a:t>建筑工人</a:t>
            </a:r>
            <a:r>
              <a:rPr lang="en-US" altLang="zh-CN" sz="3200" dirty="0" smtClean="0"/>
              <a:t>)</a:t>
            </a:r>
            <a:br>
              <a:rPr lang="en-US" altLang="zh-CN" sz="3200" dirty="0" smtClean="0"/>
            </a:br>
            <a:r>
              <a:rPr lang="en-US" sz="3200" dirty="0"/>
              <a:t>= P(</a:t>
            </a:r>
            <a:r>
              <a:rPr lang="zh-CN" altLang="en-US" sz="3200" dirty="0"/>
              <a:t>打喷嚏</a:t>
            </a:r>
            <a:r>
              <a:rPr lang="en-US" altLang="zh-CN" sz="3200" dirty="0"/>
              <a:t>|</a:t>
            </a:r>
            <a:r>
              <a:rPr lang="zh-CN" altLang="en-US" sz="3200" dirty="0"/>
              <a:t>感冒</a:t>
            </a:r>
            <a:r>
              <a:rPr lang="en-US" altLang="zh-CN" sz="3200" dirty="0"/>
              <a:t>) </a:t>
            </a:r>
            <a:r>
              <a:rPr lang="en-US" sz="3200" dirty="0"/>
              <a:t>x P(</a:t>
            </a:r>
            <a:r>
              <a:rPr lang="zh-CN" altLang="en-US" sz="3200" dirty="0"/>
              <a:t>建筑工人</a:t>
            </a:r>
            <a:r>
              <a:rPr lang="en-US" altLang="zh-CN" sz="3200" dirty="0"/>
              <a:t>|</a:t>
            </a:r>
            <a:r>
              <a:rPr lang="zh-CN" altLang="en-US" sz="3200" dirty="0"/>
              <a:t>感冒</a:t>
            </a:r>
            <a:r>
              <a:rPr lang="en-US" altLang="zh-CN" sz="3200" dirty="0"/>
              <a:t>) </a:t>
            </a:r>
            <a:r>
              <a:rPr lang="en-US" sz="3200" dirty="0"/>
              <a:t>x P(</a:t>
            </a:r>
            <a:r>
              <a:rPr lang="zh-CN" altLang="en-US" sz="3200" dirty="0"/>
              <a:t>感冒</a:t>
            </a:r>
            <a:r>
              <a:rPr lang="en-US" altLang="zh-CN" sz="3200" dirty="0"/>
              <a:t>) / </a:t>
            </a:r>
            <a:r>
              <a:rPr lang="en-US" sz="3200" dirty="0"/>
              <a:t>P(</a:t>
            </a:r>
            <a:r>
              <a:rPr lang="zh-CN" altLang="en-US" sz="3200" dirty="0"/>
              <a:t>打喷嚏</a:t>
            </a:r>
            <a:r>
              <a:rPr lang="en-US" altLang="zh-CN" sz="3200" dirty="0"/>
              <a:t>) </a:t>
            </a:r>
            <a:r>
              <a:rPr lang="en-US" sz="3200" dirty="0"/>
              <a:t>x P(</a:t>
            </a:r>
            <a:r>
              <a:rPr lang="zh-CN" altLang="en-US" sz="3200" dirty="0"/>
              <a:t>建筑工人</a:t>
            </a:r>
            <a:r>
              <a:rPr lang="en-US" altLang="zh-CN" sz="3200" dirty="0" smtClean="0"/>
              <a:t>)  </a:t>
            </a:r>
            <a:r>
              <a:rPr lang="zh-CN" altLang="en-US" sz="3200" dirty="0" smtClean="0"/>
              <a:t>？（</a:t>
            </a:r>
            <a:r>
              <a:rPr lang="zh-CN" altLang="en-US" sz="2000" dirty="0" smtClean="0"/>
              <a:t>特征条件独立）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 smtClean="0"/>
              <a:t>P(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|</a:t>
            </a:r>
            <a:r>
              <a:rPr lang="zh-CN" altLang="en-US" sz="3200" dirty="0" smtClean="0"/>
              <a:t>打喷嚏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建筑工人</a:t>
            </a:r>
            <a:r>
              <a:rPr lang="en-US" altLang="zh-CN" sz="3200" dirty="0" smtClean="0"/>
              <a:t>) </a:t>
            </a:r>
            <a:br>
              <a:rPr lang="en-US" altLang="zh-CN" sz="3200" dirty="0" smtClean="0"/>
            </a:br>
            <a:r>
              <a:rPr lang="en-US" altLang="zh-CN" sz="3200" dirty="0" smtClean="0"/>
              <a:t>= P(</a:t>
            </a:r>
            <a:r>
              <a:rPr lang="zh-CN" altLang="en-US" sz="3200" dirty="0" smtClean="0"/>
              <a:t>打喷嚏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建筑工人</a:t>
            </a:r>
            <a:r>
              <a:rPr lang="en-US" altLang="zh-CN" sz="3200" dirty="0" smtClean="0"/>
              <a:t>|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) x P(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) / P(</a:t>
            </a:r>
            <a:r>
              <a:rPr lang="zh-CN" altLang="en-US" sz="3200" dirty="0" smtClean="0"/>
              <a:t>打喷嚏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建筑工人</a:t>
            </a:r>
            <a:r>
              <a:rPr lang="en-US" altLang="zh-CN" sz="3200" dirty="0" smtClean="0"/>
              <a:t>)</a:t>
            </a:r>
            <a:br>
              <a:rPr lang="en-US" altLang="zh-CN" sz="3200" dirty="0" smtClean="0"/>
            </a:br>
            <a:r>
              <a:rPr lang="en-US" sz="3200" dirty="0" smtClean="0"/>
              <a:t>= P(</a:t>
            </a:r>
            <a:r>
              <a:rPr lang="zh-CN" altLang="en-US" sz="3200" dirty="0" smtClean="0"/>
              <a:t>打喷嚏</a:t>
            </a:r>
            <a:r>
              <a:rPr lang="en-US" altLang="zh-CN" sz="3200" dirty="0" smtClean="0"/>
              <a:t>|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) </a:t>
            </a:r>
            <a:r>
              <a:rPr lang="en-US" sz="3200" dirty="0" smtClean="0"/>
              <a:t>x P(</a:t>
            </a:r>
            <a:r>
              <a:rPr lang="zh-CN" altLang="en-US" sz="3200" dirty="0" smtClean="0"/>
              <a:t>建筑工人</a:t>
            </a:r>
            <a:r>
              <a:rPr lang="en-US" altLang="zh-CN" sz="3200" dirty="0" smtClean="0"/>
              <a:t>|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) </a:t>
            </a:r>
            <a:r>
              <a:rPr lang="en-US" sz="3200" dirty="0" smtClean="0"/>
              <a:t>x P(</a:t>
            </a:r>
            <a:r>
              <a:rPr lang="zh-CN" altLang="en-US" sz="3200" dirty="0" smtClean="0"/>
              <a:t>感冒</a:t>
            </a:r>
            <a:r>
              <a:rPr lang="en-US" altLang="zh-CN" sz="3200" dirty="0" smtClean="0"/>
              <a:t>) / </a:t>
            </a:r>
            <a:r>
              <a:rPr lang="en-US" sz="3200" dirty="0" smtClean="0"/>
              <a:t>P(</a:t>
            </a:r>
            <a:r>
              <a:rPr lang="zh-CN" altLang="en-US" sz="3200" dirty="0" smtClean="0"/>
              <a:t>打喷嚏</a:t>
            </a:r>
            <a:r>
              <a:rPr lang="en-US" altLang="zh-CN" sz="3200" dirty="0" smtClean="0"/>
              <a:t>) </a:t>
            </a:r>
            <a:r>
              <a:rPr lang="en-US" sz="3200" dirty="0" smtClean="0"/>
              <a:t>x P(</a:t>
            </a:r>
            <a:r>
              <a:rPr lang="zh-CN" altLang="en-US" sz="3200" dirty="0" smtClean="0"/>
              <a:t>建筑工人</a:t>
            </a:r>
            <a:r>
              <a:rPr lang="en-US" altLang="zh-CN" sz="3200" dirty="0" smtClean="0"/>
              <a:t>)  </a:t>
            </a:r>
            <a:r>
              <a:rPr lang="zh-CN" altLang="en-US" sz="3200" dirty="0" smtClean="0"/>
              <a:t>？（</a:t>
            </a:r>
            <a:r>
              <a:rPr lang="zh-CN" altLang="en-US" sz="2000" dirty="0" smtClean="0"/>
              <a:t>特征条件独立）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sz="3200" dirty="0" smtClean="0"/>
              <a:t> </a:t>
            </a:r>
            <a:r>
              <a:rPr lang="en-US" sz="3200" dirty="0"/>
              <a:t>= 0.66 x 0.33 x 0.5 / 0.5 x </a:t>
            </a:r>
            <a:r>
              <a:rPr lang="en-US" sz="3200" dirty="0" smtClean="0"/>
              <a:t>0.33</a:t>
            </a:r>
            <a:br>
              <a:rPr lang="en-US" sz="3200" dirty="0" smtClean="0"/>
            </a:b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smtClean="0"/>
              <a:t>0.66</a:t>
            </a:r>
            <a:br>
              <a:rPr lang="en-US" sz="3200" dirty="0" smtClean="0"/>
            </a:br>
            <a:r>
              <a:rPr lang="zh-CN" altLang="en-US" sz="3200" dirty="0"/>
              <a:t>因此，这个打喷嚏的建筑工人，有</a:t>
            </a:r>
            <a:r>
              <a:rPr lang="en-US" altLang="zh-CN" sz="3200" dirty="0"/>
              <a:t>66%</a:t>
            </a:r>
            <a:r>
              <a:rPr lang="zh-CN" altLang="en-US" sz="3200" dirty="0"/>
              <a:t>的概率是得了感冒。同理，可以计算这个病人患上过敏或脑震荡的概率。比较这几个概率，就可以知道他最可能得什么病。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贝叶斯分类器的基本方法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</a:t>
            </a:r>
            <a:r>
              <a:rPr lang="zh-CN" altLang="en-US" sz="3200" b="1" dirty="0" smtClean="0"/>
              <a:t>在</a:t>
            </a:r>
            <a:r>
              <a:rPr lang="zh-CN" altLang="en-US" sz="3200" b="1" dirty="0"/>
              <a:t>统计资料的基础上，依据某些特征，计算各个类别的概率，从而实现分类。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200" dirty="0" smtClean="0"/>
              <a:t>(2)</a:t>
            </a:r>
            <a:r>
              <a:rPr lang="zh-CN" altLang="en-US" sz="3200" dirty="0" smtClean="0"/>
              <a:t>朴素贝叶斯分类器的公式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</a:t>
            </a:r>
            <a:r>
              <a:rPr lang="zh-CN" altLang="en-US" sz="3200" dirty="0" smtClean="0"/>
              <a:t>假设某个体有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项特征（</a:t>
            </a:r>
            <a:r>
              <a:rPr lang="en-US" altLang="zh-CN" sz="3200" dirty="0" smtClean="0"/>
              <a:t>Feature</a:t>
            </a:r>
            <a:r>
              <a:rPr lang="zh-CN" altLang="en-US" sz="3200" dirty="0" smtClean="0"/>
              <a:t>），分别为</a:t>
            </a:r>
            <a:r>
              <a:rPr lang="en-US" altLang="zh-CN" sz="3200" dirty="0" smtClean="0"/>
              <a:t>F1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F2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…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Fn</a:t>
            </a:r>
            <a:r>
              <a:rPr lang="zh-CN" altLang="en-US" sz="3200" dirty="0" smtClean="0"/>
              <a:t>。现有</a:t>
            </a:r>
            <a:r>
              <a:rPr lang="en-US" altLang="zh-CN" sz="3200" dirty="0" smtClean="0"/>
              <a:t>m</a:t>
            </a:r>
            <a:r>
              <a:rPr lang="zh-CN" altLang="en-US" sz="3200" dirty="0" smtClean="0"/>
              <a:t>个类别（</a:t>
            </a:r>
            <a:r>
              <a:rPr lang="en-US" altLang="zh-CN" sz="3200" dirty="0" smtClean="0"/>
              <a:t>Category</a:t>
            </a:r>
            <a:r>
              <a:rPr lang="zh-CN" altLang="en-US" sz="3200" dirty="0" smtClean="0"/>
              <a:t>），分别为</a:t>
            </a:r>
            <a:r>
              <a:rPr lang="en-US" altLang="zh-CN" sz="3200" dirty="0" smtClean="0"/>
              <a:t>C1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C2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…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Cm</a:t>
            </a:r>
            <a:r>
              <a:rPr lang="zh-CN" altLang="en-US" sz="3200" dirty="0" smtClean="0"/>
              <a:t>。贝叶斯分类器就是计算出概率最大的那个分类，也就是求下面这个算式的最大值：            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zh-CN" altLang="en-US" sz="3200" dirty="0" smtClean="0"/>
              <a:t>  </a:t>
            </a:r>
            <a:r>
              <a:rPr lang="en-US" altLang="zh-CN" sz="3200" dirty="0" smtClean="0"/>
              <a:t>P(C|F1F2...Fn) </a:t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</a:t>
            </a:r>
            <a:r>
              <a:rPr lang="en-US" altLang="zh-CN" sz="3200" dirty="0" smtClean="0"/>
              <a:t>=</a:t>
            </a:r>
            <a:r>
              <a:rPr lang="en-US" altLang="zh-CN" sz="3200" dirty="0" smtClean="0"/>
              <a:t>P(F1F2...</a:t>
            </a:r>
            <a:r>
              <a:rPr lang="en-US" altLang="zh-CN" sz="3200" dirty="0" err="1" smtClean="0"/>
              <a:t>Fn|C</a:t>
            </a:r>
            <a:r>
              <a:rPr lang="en-US" altLang="zh-CN" sz="3200" dirty="0" smtClean="0"/>
              <a:t>)P(C) / P(F1F2...Fn)</a:t>
            </a:r>
            <a:br>
              <a:rPr lang="en-US" altLang="zh-CN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</a:t>
            </a:r>
            <a:r>
              <a:rPr lang="zh-CN" altLang="en-US" sz="3200" dirty="0" smtClean="0"/>
              <a:t>也就是</a:t>
            </a:r>
            <a:r>
              <a:rPr lang="en-US" sz="3200" dirty="0" smtClean="0"/>
              <a:t>P(F1F2</a:t>
            </a:r>
            <a:r>
              <a:rPr lang="en-US" sz="3200" dirty="0"/>
              <a:t>...</a:t>
            </a:r>
            <a:r>
              <a:rPr lang="en-US" sz="3200" dirty="0" err="1"/>
              <a:t>Fn|C</a:t>
            </a:r>
            <a:r>
              <a:rPr lang="en-US" sz="3200" dirty="0"/>
              <a:t>)P(C</a:t>
            </a:r>
            <a:r>
              <a:rPr lang="en-US" sz="3200" dirty="0" smtClean="0"/>
              <a:t>)</a:t>
            </a:r>
            <a:br>
              <a:rPr lang="en-US" sz="3200" dirty="0" smtClean="0"/>
            </a:br>
            <a:r>
              <a:rPr lang="en-US" sz="3200" dirty="0" smtClean="0"/>
              <a:t>       </a:t>
            </a:r>
            <a:r>
              <a:rPr lang="zh-CN" altLang="en-US" sz="3200" dirty="0" smtClean="0"/>
              <a:t>也就是</a:t>
            </a:r>
            <a:r>
              <a:rPr lang="en-US" sz="3200" dirty="0" smtClean="0"/>
              <a:t> </a:t>
            </a:r>
            <a:r>
              <a:rPr lang="en-US" sz="3200" dirty="0"/>
              <a:t>P(F1|C)P(F2|C) ... P(</a:t>
            </a:r>
            <a:r>
              <a:rPr lang="en-US" sz="3200" dirty="0" err="1"/>
              <a:t>Fn|C</a:t>
            </a:r>
            <a:r>
              <a:rPr lang="en-US" sz="3200" dirty="0"/>
              <a:t>)P(C)</a:t>
            </a:r>
            <a:r>
              <a:rPr lang="en-US" sz="3200" dirty="0" smtClean="0"/>
              <a:t> </a:t>
            </a:r>
            <a:br>
              <a:rPr lang="en-US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                                                  </a:t>
            </a:r>
            <a:r>
              <a:rPr lang="zh-CN" altLang="en-US" sz="3100" dirty="0" smtClean="0"/>
              <a:t>（特征条件独立）</a:t>
            </a:r>
            <a:r>
              <a:rPr lang="en-US" altLang="zh-CN" sz="3100" dirty="0" smtClean="0"/>
              <a:t/>
            </a:r>
            <a:br>
              <a:rPr lang="en-US" altLang="zh-CN" sz="3100" dirty="0" smtClean="0"/>
            </a:br>
            <a:r>
              <a:rPr lang="zh-CN" altLang="en-US" sz="2800" dirty="0"/>
              <a:t> </a:t>
            </a:r>
            <a:r>
              <a:rPr lang="zh-CN" altLang="en-US" sz="2800" dirty="0" smtClean="0"/>
              <a:t>        </a:t>
            </a:r>
            <a:r>
              <a:rPr lang="zh-CN" altLang="en-US" sz="2800" b="1" dirty="0" smtClean="0"/>
              <a:t>由此</a:t>
            </a:r>
            <a:r>
              <a:rPr lang="zh-CN" altLang="en-US" sz="2800" b="1" dirty="0"/>
              <a:t>就可以计算出每个类别对应的概率，从而找出最大概率的那个类</a:t>
            </a:r>
            <a:r>
              <a:rPr lang="zh-CN" altLang="en-US" sz="2800" dirty="0"/>
              <a:t>。</a:t>
            </a:r>
            <a:endParaRPr lang="zh-CN" altLang="en-US" sz="3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1000100" y="1357298"/>
            <a:ext cx="750099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200" dirty="0" smtClean="0"/>
          </a:p>
          <a:p>
            <a:r>
              <a:rPr lang="zh-CN" altLang="en-US" sz="3200" dirty="0" smtClean="0"/>
              <a:t>说明：</a:t>
            </a:r>
            <a:endParaRPr lang="en-US" altLang="zh-CN" sz="3200" dirty="0" smtClean="0"/>
          </a:p>
          <a:p>
            <a:r>
              <a:rPr lang="en-US" altLang="zh-CN" sz="3200" dirty="0"/>
              <a:t> </a:t>
            </a:r>
            <a:r>
              <a:rPr lang="en-US" altLang="zh-CN" sz="3200" dirty="0" smtClean="0"/>
              <a:t>       </a:t>
            </a:r>
            <a:r>
              <a:rPr lang="zh-CN" altLang="en-US" sz="3200" dirty="0" smtClean="0"/>
              <a:t>“所有</a:t>
            </a:r>
            <a:r>
              <a:rPr lang="zh-CN" altLang="en-US" sz="3200" dirty="0"/>
              <a:t>特征彼此</a:t>
            </a:r>
            <a:r>
              <a:rPr lang="zh-CN" altLang="en-US" sz="3200" dirty="0" smtClean="0"/>
              <a:t>独立”这个</a:t>
            </a:r>
            <a:r>
              <a:rPr lang="zh-CN" altLang="en-US" sz="3200" dirty="0"/>
              <a:t>假设，在现实中不太</a:t>
            </a:r>
            <a:r>
              <a:rPr lang="zh-CN" altLang="en-US" sz="3200" dirty="0" smtClean="0"/>
              <a:t>可能总成立</a:t>
            </a:r>
            <a:r>
              <a:rPr lang="zh-CN" altLang="en-US" sz="3200" dirty="0"/>
              <a:t>，但是它可以大大简化计算，而且有研究表明对分类结果的准确性影响不大。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 smtClean="0"/>
              <a:t>      (</a:t>
            </a:r>
            <a:r>
              <a:rPr lang="en-US" sz="3200" b="1" dirty="0"/>
              <a:t>3)</a:t>
            </a:r>
            <a:r>
              <a:rPr lang="en-US" sz="3200" b="1" dirty="0" err="1"/>
              <a:t>拉普拉斯平滑（Laplace</a:t>
            </a:r>
            <a:r>
              <a:rPr lang="en-US" sz="3200" b="1" dirty="0"/>
              <a:t> smoothing</a:t>
            </a:r>
            <a:r>
              <a:rPr lang="en-US" sz="3200" b="1" dirty="0" smtClean="0"/>
              <a:t>）</a:t>
            </a:r>
            <a:br>
              <a:rPr lang="en-US" sz="3200" b="1" dirty="0" smtClean="0"/>
            </a:br>
            <a:r>
              <a:rPr lang="en-US" sz="3200" b="1" dirty="0" smtClean="0"/>
              <a:t>      </a:t>
            </a:r>
            <a:r>
              <a:rPr lang="zh-CN" altLang="en-US" sz="2800" dirty="0" smtClean="0"/>
              <a:t>当</a:t>
            </a:r>
            <a:r>
              <a:rPr lang="zh-CN" altLang="en-US" sz="2800" dirty="0"/>
              <a:t>某个分量在总样本某个分类中（观察样本库</a:t>
            </a:r>
            <a:r>
              <a:rPr lang="en-US" altLang="zh-CN" sz="2800" dirty="0"/>
              <a:t>/</a:t>
            </a:r>
            <a:r>
              <a:rPr lang="zh-CN" altLang="en-US" sz="2800" dirty="0"/>
              <a:t>训练集）从没出现过，会导致整个实例的计算结果为</a:t>
            </a:r>
            <a:r>
              <a:rPr lang="en-US" altLang="zh-CN" sz="2800" dirty="0"/>
              <a:t>0</a:t>
            </a:r>
            <a:r>
              <a:rPr lang="zh-CN" altLang="en-US" sz="2800" dirty="0"/>
              <a:t>。为了解决这个问题，使用拉普拉斯平滑</a:t>
            </a:r>
            <a:r>
              <a:rPr lang="en-US" altLang="zh-CN" sz="2800" dirty="0"/>
              <a:t>/</a:t>
            </a:r>
            <a:r>
              <a:rPr lang="zh-CN" altLang="en-US" sz="2800" dirty="0"/>
              <a:t>加</a:t>
            </a:r>
            <a:r>
              <a:rPr lang="en-US" altLang="zh-CN" sz="2800" dirty="0"/>
              <a:t>1</a:t>
            </a:r>
            <a:r>
              <a:rPr lang="zh-CN" altLang="en-US" sz="2800" dirty="0"/>
              <a:t>平滑进行处理。 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zh-CN" altLang="en-US" sz="3200" dirty="0" smtClean="0"/>
              <a:t>思想：就是</a:t>
            </a:r>
            <a:r>
              <a:rPr lang="zh-CN" altLang="en-US" sz="3200" dirty="0"/>
              <a:t>对先验概率的分子（划分的计数）加</a:t>
            </a:r>
            <a:r>
              <a:rPr lang="en-US" altLang="zh-CN" sz="3200" dirty="0"/>
              <a:t>1</a:t>
            </a:r>
            <a:r>
              <a:rPr lang="zh-CN" altLang="en-US" sz="3200" dirty="0"/>
              <a:t>，分母加上类别数；对条件概率分子加</a:t>
            </a:r>
            <a:r>
              <a:rPr lang="en-US" altLang="zh-CN" sz="3200" dirty="0"/>
              <a:t>1</a:t>
            </a:r>
            <a:r>
              <a:rPr lang="zh-CN" altLang="en-US" sz="3200" dirty="0"/>
              <a:t>，分母加上对应特征的可能取值数量。这样在解决零概率问题的同时，也保证了概率和依然为</a:t>
            </a:r>
            <a:r>
              <a:rPr lang="en-US" altLang="zh-CN" sz="3200" dirty="0"/>
              <a:t>1</a:t>
            </a:r>
            <a:r>
              <a:rPr lang="zh-CN" altLang="en-US" sz="3200" dirty="0"/>
              <a:t>。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 err="1" smtClean="0"/>
              <a:t>eg</a:t>
            </a:r>
            <a:r>
              <a:rPr lang="zh-CN" altLang="en-US" sz="3200" dirty="0" smtClean="0"/>
              <a:t>：假设在文本分类中，有</a:t>
            </a:r>
            <a:r>
              <a:rPr lang="en-US" altLang="zh-CN" sz="3200" dirty="0" smtClean="0"/>
              <a:t>3</a:t>
            </a:r>
            <a:r>
              <a:rPr lang="zh-CN" altLang="en-US" sz="3200" dirty="0" smtClean="0"/>
              <a:t>个类，</a:t>
            </a:r>
            <a:r>
              <a:rPr lang="en-US" altLang="zh-CN" sz="3200" dirty="0" smtClean="0"/>
              <a:t>C1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C2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C3</a:t>
            </a:r>
            <a:r>
              <a:rPr lang="zh-CN" altLang="en-US" sz="3200" dirty="0" smtClean="0"/>
              <a:t>，在指定的训练样本中，某个词语</a:t>
            </a:r>
            <a:r>
              <a:rPr lang="en-US" altLang="zh-CN" sz="3200" dirty="0" smtClean="0"/>
              <a:t>F1</a:t>
            </a:r>
            <a:r>
              <a:rPr lang="zh-CN" altLang="en-US" sz="3200" dirty="0" smtClean="0"/>
              <a:t>，在各个类中观测计数分别为</a:t>
            </a:r>
            <a:r>
              <a:rPr lang="en-US" altLang="zh-CN" sz="3200" dirty="0" smtClean="0"/>
              <a:t>=0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990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10</a:t>
            </a:r>
            <a:r>
              <a:rPr lang="zh-CN" altLang="en-US" sz="3200" dirty="0" smtClean="0"/>
              <a:t>，即概率为</a:t>
            </a:r>
            <a:r>
              <a:rPr lang="en-US" altLang="zh-CN" sz="3200" dirty="0" smtClean="0"/>
              <a:t>P(F1/C1)=0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P(F1/C2)=0.99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P(F1/C3)=0.01</a:t>
            </a:r>
            <a:r>
              <a:rPr lang="zh-CN" altLang="en-US" sz="3200" dirty="0" smtClean="0"/>
              <a:t>。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</a:t>
            </a:r>
            <a:r>
              <a:rPr lang="zh-CN" altLang="en-US" sz="3200" dirty="0" smtClean="0"/>
              <a:t>对这三个量使用拉普拉斯平滑的计算方法如下： 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 1/1003 = 0.001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 91/1003=0.988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/>
              <a:t> </a:t>
            </a:r>
            <a:r>
              <a:rPr lang="en-US" altLang="zh-CN" sz="3200" dirty="0" smtClean="0"/>
              <a:t>        11/1003=0.011</a:t>
            </a:r>
            <a:r>
              <a:rPr lang="zh-CN" altLang="en-US" sz="3200" dirty="0" smtClean="0"/>
              <a:t>。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500042"/>
            <a:ext cx="7772400" cy="5815052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/>
              <a:t>实际应用场景</a:t>
            </a:r>
            <a:br>
              <a:rPr lang="zh-CN" altLang="en-US" sz="3200" b="1" dirty="0"/>
            </a:br>
            <a:r>
              <a:rPr lang="zh-CN" altLang="en-US" sz="3200" b="1" dirty="0" smtClean="0"/>
              <a:t>          </a:t>
            </a:r>
            <a:r>
              <a:rPr lang="zh-CN" altLang="en-US" sz="3200" dirty="0" smtClean="0"/>
              <a:t>文本</a:t>
            </a:r>
            <a:r>
              <a:rPr lang="zh-CN" altLang="en-US" sz="3200" dirty="0"/>
              <a:t>分类</a:t>
            </a:r>
            <a:br>
              <a:rPr lang="zh-CN" altLang="en-US" sz="3200" dirty="0"/>
            </a:br>
            <a:r>
              <a:rPr lang="zh-CN" altLang="en-US" sz="3200" dirty="0" smtClean="0"/>
              <a:t>          垃圾</a:t>
            </a:r>
            <a:r>
              <a:rPr lang="zh-CN" altLang="en-US" sz="3200" dirty="0"/>
              <a:t>邮件过滤</a:t>
            </a:r>
            <a:br>
              <a:rPr lang="zh-CN" altLang="en-US" sz="3200" dirty="0"/>
            </a:br>
            <a:r>
              <a:rPr lang="zh-CN" altLang="en-US" sz="3200" dirty="0" smtClean="0"/>
              <a:t>          病人</a:t>
            </a:r>
            <a:r>
              <a:rPr lang="zh-CN" altLang="en-US" sz="3200" dirty="0"/>
              <a:t>分类</a:t>
            </a:r>
            <a:br>
              <a:rPr lang="zh-CN" altLang="en-US" sz="3200" dirty="0"/>
            </a:br>
            <a:r>
              <a:rPr lang="zh-CN" altLang="en-US" sz="3200" dirty="0" smtClean="0"/>
              <a:t>          拼写检查</a:t>
            </a:r>
            <a:r>
              <a:rPr lang="zh-CN" altLang="en-US" sz="3200" dirty="0"/>
              <a:t/>
            </a:r>
            <a:br>
              <a:rPr lang="zh-CN" altLang="en-US" sz="3200" dirty="0"/>
            </a:b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412C5C-C73A-4010-A543-514F6E608F9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Picture 2" descr="http://4.bp.blogspot.com/-VBx4r_I3-0o/UVl5cCcGKOI/AAAAAAAADCs/nj5mMcBDNzE/s1600/brea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83310"/>
            <a:ext cx="2381719" cy="22700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167</Words>
  <Application>Microsoft Office PowerPoint</Application>
  <PresentationFormat>全屏显示(4:3)</PresentationFormat>
  <Paragraphs>15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Naïve Bayes</vt:lpstr>
      <vt:lpstr>简介          NaïveBayes算法，又叫朴素贝叶斯算法，朴素：特征条件独立；贝叶斯：基于贝叶斯定理。          属于监督学习的生成模型，实现简单，没有迭代，并有坚实的数学理论（即贝叶斯定理）作为支撑。在大量样本下会有较好的表现，不适用于输入向量的特征条件有关联的场景。 </vt:lpstr>
      <vt:lpstr>贝叶斯定理：            P(A|B) = P(B|A) P(A) / P(B)</vt:lpstr>
      <vt:lpstr>基本思想 (1)病人分类的例子 某个医院早上收了六个门诊病人，如下表： 症状　　职业　　　疾病  ——————————————————  打喷嚏　护士　　　感冒  打喷嚏　农夫　　　过敏  头痛　　建筑工人　脑震荡  头痛　　建筑工人　感冒  打喷嚏　教师　　　感冒  头痛　　教师　　　脑震荡 </vt:lpstr>
      <vt:lpstr>        现在来了第七个病人，是一个打喷嚏的建筑工人。请问他患上感冒的概率有多大？         根据贝叶斯定理：         P(A|B) = P(B|A) P(A) / P(B) P(感冒|打喷嚏x建筑工人)  = P(打喷嚏x建筑工人|感冒) x P(感冒) / P(打喷嚏x建筑工人) = P(打喷嚏|感冒) x P(建筑工人|感冒) x P(感冒) / P(打喷嚏) x P(建筑工人)  ？（特征条件独立）</vt:lpstr>
      <vt:lpstr>P(感冒|打喷嚏x建筑工人)  = P(打喷嚏x建筑工人|感冒) x P(感冒) / P(打喷嚏x建筑工人) = P(打喷嚏|感冒) x P(建筑工人|感冒) x P(感冒) / P(打喷嚏) x P(建筑工人)  ？（特征条件独立）  = 0.66 x 0.33 x 0.5 / 0.5 x 0.33  = 0.66 因此，这个打喷嚏的建筑工人，有66%的概率是得了感冒。同理，可以计算这个病人患上过敏或脑震荡的概率。比较这几个概率，就可以知道他最可能得什么病。</vt:lpstr>
      <vt:lpstr>贝叶斯分类器的基本方法：         在统计资料的基础上，依据某些特征，计算各个类别的概率，从而实现分类。</vt:lpstr>
      <vt:lpstr>(2)朴素贝叶斯分类器的公式         假设某个体有n项特征（Feature），分别为F1、F2、…、Fn。现有m个类别（Category），分别为C1、C2、…、Cm。贝叶斯分类器就是计算出概率最大的那个分类，也就是求下面这个算式的最大值：               P(C|F1F2...Fn)         =P(F1F2...Fn|C)P(C) / P(F1F2...Fn)        也就是P(F1F2...Fn|C)P(C)        也就是 P(F1|C)P(F2|C) ... P(Fn|C)P(C)                                                           （特征条件独立）          由此就可以计算出每个类别对应的概率，从而找出最大概率的那个类。</vt:lpstr>
      <vt:lpstr>幻灯片 9</vt:lpstr>
      <vt:lpstr>      (3)拉普拉斯平滑（Laplace smoothing）       当某个分量在总样本某个分类中（观察样本库/训练集）从没出现过，会导致整个实例的计算结果为0。为了解决这个问题，使用拉普拉斯平滑/加1平滑进行处理。  思想：就是对先验概率的分子（划分的计数）加1，分母加上类别数；对条件概率分子加1，分母加上对应特征的可能取值数量。这样在解决零概率问题的同时，也保证了概率和依然为1。    </vt:lpstr>
      <vt:lpstr>eg：假设在文本分类中，有3个类，C1、C2、C3，在指定的训练样本中，某个词语F1，在各个类中观测计数分别为=0，990，10，即概率为P(F1/C1)=0，P(F1/C2)=0.99，P(F1/C3)=0.01。         对这三个量使用拉普拉斯平滑的计算方法如下：           1/1003 = 0.001，          91/1003=0.988，          11/1003=0.011。 </vt:lpstr>
      <vt:lpstr>实际应用场景           文本分类           垃圾邮件过滤           病人分类           拼写检查 </vt:lpstr>
      <vt:lpstr>幻灯片 13</vt:lpstr>
    </vt:vector>
  </TitlesOfParts>
  <Company>Sky123.Org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</dc:title>
  <dc:creator>Windows 用户</dc:creator>
  <cp:lastModifiedBy>Windows 用户</cp:lastModifiedBy>
  <cp:revision>8</cp:revision>
  <dcterms:created xsi:type="dcterms:W3CDTF">2019-07-22T13:36:19Z</dcterms:created>
  <dcterms:modified xsi:type="dcterms:W3CDTF">2019-07-22T15:33:18Z</dcterms:modified>
</cp:coreProperties>
</file>