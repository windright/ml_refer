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35"/>
  </p:notesMasterIdLst>
  <p:sldIdLst>
    <p:sldId id="256" r:id="rId2"/>
    <p:sldId id="289" r:id="rId3"/>
    <p:sldId id="307" r:id="rId4"/>
    <p:sldId id="318" r:id="rId5"/>
    <p:sldId id="291" r:id="rId6"/>
    <p:sldId id="314" r:id="rId7"/>
    <p:sldId id="292" r:id="rId8"/>
    <p:sldId id="293" r:id="rId9"/>
    <p:sldId id="294" r:id="rId10"/>
    <p:sldId id="295" r:id="rId11"/>
    <p:sldId id="275" r:id="rId12"/>
    <p:sldId id="299" r:id="rId13"/>
    <p:sldId id="281" r:id="rId14"/>
    <p:sldId id="296" r:id="rId15"/>
    <p:sldId id="308" r:id="rId16"/>
    <p:sldId id="277" r:id="rId17"/>
    <p:sldId id="300" r:id="rId18"/>
    <p:sldId id="310" r:id="rId19"/>
    <p:sldId id="311" r:id="rId20"/>
    <p:sldId id="278" r:id="rId21"/>
    <p:sldId id="279" r:id="rId22"/>
    <p:sldId id="315" r:id="rId23"/>
    <p:sldId id="316" r:id="rId24"/>
    <p:sldId id="317" r:id="rId25"/>
    <p:sldId id="282" r:id="rId26"/>
    <p:sldId id="283" r:id="rId27"/>
    <p:sldId id="284" r:id="rId28"/>
    <p:sldId id="302" r:id="rId29"/>
    <p:sldId id="303" r:id="rId30"/>
    <p:sldId id="304" r:id="rId31"/>
    <p:sldId id="305" r:id="rId32"/>
    <p:sldId id="298" r:id="rId33"/>
    <p:sldId id="297" r:id="rId3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58" autoAdjust="0"/>
    <p:restoredTop sz="87975" autoAdjust="0"/>
  </p:normalViewPr>
  <p:slideViewPr>
    <p:cSldViewPr>
      <p:cViewPr varScale="1">
        <p:scale>
          <a:sx n="61" d="100"/>
          <a:sy n="61" d="100"/>
        </p:scale>
        <p:origin x="-150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59395" name="Rectangle 3">
            <a:extLst>
              <a:ext uri="{FF2B5EF4-FFF2-40B4-BE49-F238E27FC236}"/>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6868"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9397" name="Rectangle 5">
            <a:extLst>
              <a:ext uri="{FF2B5EF4-FFF2-40B4-BE49-F238E27FC236}"/>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9398" name="Rectangle 6">
            <a:extLst>
              <a:ext uri="{FF2B5EF4-FFF2-40B4-BE49-F238E27FC236}"/>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59399" name="Rectangle 7">
            <a:extLst>
              <a:ext uri="{FF2B5EF4-FFF2-40B4-BE49-F238E27FC236}"/>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21A35811-645E-4AA1-82FE-B4DB53B6698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0E40ED57-3B2B-4920-9248-F9FCC6F80EA6}" type="slidenum">
              <a:rPr lang="en-US" altLang="zh-CN"/>
              <a:pPr/>
              <a:t>3</a:t>
            </a:fld>
            <a:endParaRPr lang="en-US" altLang="zh-CN"/>
          </a:p>
        </p:txBody>
      </p:sp>
      <p:sp>
        <p:nvSpPr>
          <p:cNvPr id="37891" name="Rectangle 2"/>
          <p:cNvSpPr>
            <a:spLocks noRo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81350F8A-FC68-4EE1-9215-A8A5C44CE6D7}" type="slidenum">
              <a:rPr lang="en-US" altLang="zh-CN"/>
              <a:pPr/>
              <a:t>5</a:t>
            </a:fld>
            <a:endParaRPr lang="en-US" altLang="zh-CN"/>
          </a:p>
        </p:txBody>
      </p:sp>
      <p:sp>
        <p:nvSpPr>
          <p:cNvPr id="38915" name="Rectangle 2"/>
          <p:cNvSpPr>
            <a:spLocks noRo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zh-CN" altLang="en-US" smtClean="0"/>
              <a:t>基于内容的相关性，简单地说是指，比如某篇文档出现了多次“体育新闻”，就比只出现一次“体育新闻”的文档与</a:t>
            </a:r>
            <a:r>
              <a:rPr lang="en-US" altLang="zh-CN" smtClean="0"/>
              <a:t>query</a:t>
            </a:r>
            <a:r>
              <a:rPr lang="zh-CN" altLang="en-US" smtClean="0"/>
              <a:t>的相关性高，目前的相关性排序，已经不再是简单地基于词匹配，还会根据</a:t>
            </a:r>
            <a:r>
              <a:rPr lang="en-US" altLang="zh-CN" smtClean="0"/>
              <a:t>topic</a:t>
            </a:r>
            <a:r>
              <a:rPr lang="zh-CN" altLang="en-US" smtClean="0"/>
              <a:t>，比如大量出现“足球”、“乒乓球”等词语的文档同样相当于大量出现了“体育”</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08970A45-9E35-46CA-9701-9335D0EC99F3}" type="slidenum">
              <a:rPr lang="en-US" altLang="zh-CN"/>
              <a:pPr/>
              <a:t>7</a:t>
            </a:fld>
            <a:endParaRPr lang="en-US" altLang="zh-CN"/>
          </a:p>
        </p:txBody>
      </p:sp>
      <p:sp>
        <p:nvSpPr>
          <p:cNvPr id="39939" name="Rectangle 2"/>
          <p:cNvSpPr>
            <a:spLocks noRo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B7EAF0F5-45BF-464E-B43F-15AE9B2D80C1}" type="slidenum">
              <a:rPr lang="en-US" altLang="zh-CN"/>
              <a:pPr/>
              <a:t>8</a:t>
            </a:fld>
            <a:endParaRPr lang="en-US" altLang="zh-CN"/>
          </a:p>
        </p:txBody>
      </p:sp>
      <p:sp>
        <p:nvSpPr>
          <p:cNvPr id="40963" name="Rectangle 2"/>
          <p:cNvSpPr>
            <a:spLocks noRo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r>
              <a:rPr lang="zh-CN" altLang="en-US" smtClean="0"/>
              <a:t>因此，除了基于相关性的排序外，还有一种基于重要性的排序，也被引入了搜索引擎中</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95D7F216-6079-4666-8411-74212A6413EA}" type="slidenum">
              <a:rPr lang="en-US" altLang="zh-CN"/>
              <a:pPr/>
              <a:t>9</a:t>
            </a:fld>
            <a:endParaRPr lang="en-US" altLang="zh-CN"/>
          </a:p>
        </p:txBody>
      </p:sp>
      <p:sp>
        <p:nvSpPr>
          <p:cNvPr id="41987" name="Rectangle 2"/>
          <p:cNvSpPr>
            <a:spLocks noRo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r>
              <a:rPr lang="zh-CN" altLang="en-US" smtClean="0"/>
              <a:t>网页</a:t>
            </a:r>
            <a:r>
              <a:rPr lang="en-US" altLang="zh-CN" smtClean="0"/>
              <a:t>A</a:t>
            </a:r>
            <a:r>
              <a:rPr lang="zh-CN" altLang="en-US" smtClean="0"/>
              <a:t>的重要性，应该等于所有链向</a:t>
            </a:r>
            <a:r>
              <a:rPr lang="en-US" altLang="zh-CN" smtClean="0"/>
              <a:t>A</a:t>
            </a:r>
            <a:r>
              <a:rPr lang="zh-CN" altLang="en-US" smtClean="0"/>
              <a:t>的网页的重要性除以该网页的链接数之后再求和</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A440A8EE-4F9D-4B4C-B9CD-D584FE7A8DAD}" type="slidenum">
              <a:rPr lang="en-US" altLang="zh-CN"/>
              <a:pPr/>
              <a:t>10</a:t>
            </a:fld>
            <a:endParaRPr lang="en-US" altLang="zh-CN"/>
          </a:p>
        </p:txBody>
      </p:sp>
      <p:sp>
        <p:nvSpPr>
          <p:cNvPr id="43011" name="Rectangle 2"/>
          <p:cNvSpPr>
            <a:spLocks noRo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r>
              <a:rPr lang="zh-CN" altLang="en-US" smtClean="0"/>
              <a:t>一个更加形象的图</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357FDB55-6271-4E98-B105-28541F3790D2}" type="slidenum">
              <a:rPr lang="en-US" altLang="zh-CN"/>
              <a:pPr/>
              <a:t>12</a:t>
            </a:fld>
            <a:endParaRPr lang="en-US" altLang="zh-CN"/>
          </a:p>
        </p:txBody>
      </p:sp>
      <p:sp>
        <p:nvSpPr>
          <p:cNvPr id="44035" name="Rectangle 2"/>
          <p:cNvSpPr>
            <a:spLocks noRo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r>
              <a:rPr lang="zh-CN" altLang="en-US" smtClean="0"/>
              <a:t>基于以上的一些朴素的想法，</a:t>
            </a:r>
            <a:r>
              <a:rPr lang="en-US" altLang="zh-CN" smtClean="0"/>
              <a:t>Google</a:t>
            </a:r>
            <a:r>
              <a:rPr lang="zh-CN" altLang="en-US" smtClean="0"/>
              <a:t>的创始人</a:t>
            </a:r>
            <a:r>
              <a:rPr lang="en-US" altLang="zh-CN" smtClean="0"/>
              <a:t>Page</a:t>
            </a:r>
            <a:r>
              <a:rPr lang="zh-CN" altLang="en-US" smtClean="0"/>
              <a:t>提出了</a:t>
            </a:r>
            <a:r>
              <a:rPr lang="en-US" altLang="zh-CN" smtClean="0"/>
              <a:t>PageRank</a:t>
            </a:r>
            <a:r>
              <a:rPr lang="zh-CN" altLang="en-US" smtClean="0"/>
              <a:t>，并应用在</a:t>
            </a:r>
            <a:r>
              <a:rPr lang="en-US" altLang="zh-CN" smtClean="0"/>
              <a:t>Google</a:t>
            </a:r>
            <a:r>
              <a:rPr lang="zh-CN" altLang="en-US" smtClean="0"/>
              <a:t>搜索引擎的检索结果排序上，作为早期</a:t>
            </a:r>
            <a:r>
              <a:rPr lang="en-US" altLang="zh-CN" smtClean="0"/>
              <a:t>Google</a:t>
            </a:r>
            <a:r>
              <a:rPr lang="zh-CN" altLang="en-US" smtClean="0"/>
              <a:t>的核心技术之一</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0BC37F4E-8D36-4F7F-A337-6E00890724D3}" type="slidenum">
              <a:rPr lang="en-US" altLang="zh-CN"/>
              <a:pPr/>
              <a:t>32</a:t>
            </a:fld>
            <a:endParaRPr lang="en-US" altLang="zh-CN"/>
          </a:p>
        </p:txBody>
      </p:sp>
      <p:sp>
        <p:nvSpPr>
          <p:cNvPr id="45059" name="Rectangle 2"/>
          <p:cNvSpPr>
            <a:spLocks noRo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zh-CN" altLang="en-US" smtClean="0"/>
              <a:t>关于引用分析的研究要比链接分析早得多</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a:extLst>
                <a:ext uri="{FF2B5EF4-FFF2-40B4-BE49-F238E27FC236}"/>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6" name="Rectangle 4">
              <a:extLst>
                <a:ext uri="{FF2B5EF4-FFF2-40B4-BE49-F238E27FC236}"/>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a:extLst>
                  <a:ext uri="{FF2B5EF4-FFF2-40B4-BE49-F238E27FC236}"/>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9" name="Rectangle 7">
                <a:extLst>
                  <a:ext uri="{FF2B5EF4-FFF2-40B4-BE49-F238E27FC236}"/>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 name="Rectangle 8">
                <a:extLst>
                  <a:ext uri="{FF2B5EF4-FFF2-40B4-BE49-F238E27FC236}"/>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1" name="Rectangle 9">
                <a:extLst>
                  <a:ext uri="{FF2B5EF4-FFF2-40B4-BE49-F238E27FC236}"/>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2" name="Rectangle 10">
                <a:extLst>
                  <a:ext uri="{FF2B5EF4-FFF2-40B4-BE49-F238E27FC236}"/>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3" name="Rectangle 11">
                <a:extLst>
                  <a:ext uri="{FF2B5EF4-FFF2-40B4-BE49-F238E27FC236}"/>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4" name="Rectangle 12">
                <a:extLst>
                  <a:ext uri="{FF2B5EF4-FFF2-40B4-BE49-F238E27FC236}"/>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5" name="Rectangle 13">
                <a:extLst>
                  <a:ext uri="{FF2B5EF4-FFF2-40B4-BE49-F238E27FC236}"/>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6" name="Rectangle 14">
                <a:extLst>
                  <a:ext uri="{FF2B5EF4-FFF2-40B4-BE49-F238E27FC236}"/>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7" name="Rectangle 15">
                <a:extLst>
                  <a:ext uri="{FF2B5EF4-FFF2-40B4-BE49-F238E27FC236}"/>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grpSp>
      <p:sp>
        <p:nvSpPr>
          <p:cNvPr id="2459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2459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8" name="Rectangle 16">
            <a:extLst>
              <a:ext uri="{FF2B5EF4-FFF2-40B4-BE49-F238E27FC236}"/>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a:extLst>
              <a:ext uri="{FF2B5EF4-FFF2-40B4-BE49-F238E27FC236}"/>
            </a:extLst>
          </p:cNvPr>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a:extLst>
              <a:ext uri="{FF2B5EF4-FFF2-40B4-BE49-F238E27FC236}"/>
            </a:extLst>
          </p:cNvPr>
          <p:cNvSpPr>
            <a:spLocks noGrp="1" noChangeArrowheads="1"/>
          </p:cNvSpPr>
          <p:nvPr>
            <p:ph type="sldNum" sz="quarter" idx="12"/>
          </p:nvPr>
        </p:nvSpPr>
        <p:spPr/>
        <p:txBody>
          <a:bodyPr/>
          <a:lstStyle>
            <a:lvl1pPr>
              <a:defRPr smtClean="0"/>
            </a:lvl1pPr>
          </a:lstStyle>
          <a:p>
            <a:pPr>
              <a:defRPr/>
            </a:pPr>
            <a:fld id="{E931B4E1-57CB-4B1E-86E4-E8BD633FA842}"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3B4D8B46-7A9E-4B73-BECA-77166B6C6A74}" type="slidenum">
              <a:rPr lang="en-US" altLang="zh-CN"/>
              <a:pPr>
                <a:defRPr/>
              </a:pPr>
              <a:t>‹#›</a:t>
            </a:fld>
            <a:endParaRPr lang="en-US" altLang="zh-CN"/>
          </a:p>
        </p:txBody>
      </p:sp>
      <p:sp>
        <p:nvSpPr>
          <p:cNvPr id="6"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6D7CEF4A-0E68-42E5-8A7A-BCB1E2E27E5E}" type="slidenum">
              <a:rPr lang="en-US" altLang="zh-CN"/>
              <a:pPr>
                <a:defRPr/>
              </a:pPr>
              <a:t>‹#›</a:t>
            </a:fld>
            <a:endParaRPr lang="en-US" altLang="zh-CN"/>
          </a:p>
        </p:txBody>
      </p:sp>
      <p:sp>
        <p:nvSpPr>
          <p:cNvPr id="6"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77B92D5E-6E79-4E42-BC97-CD23BF68AF0B}" type="slidenum">
              <a:rPr lang="en-US" altLang="zh-CN"/>
              <a:pPr>
                <a:defRPr/>
              </a:pPr>
              <a:t>‹#›</a:t>
            </a:fld>
            <a:endParaRPr lang="en-US" altLang="zh-CN"/>
          </a:p>
        </p:txBody>
      </p:sp>
      <p:sp>
        <p:nvSpPr>
          <p:cNvPr id="7"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4BFC8BD4-8054-4E9D-ADB5-2D24C8B30C1F}" type="slidenum">
              <a:rPr lang="en-US" altLang="zh-CN"/>
              <a:pPr>
                <a:defRPr/>
              </a:pPr>
              <a:t>‹#›</a:t>
            </a:fld>
            <a:endParaRPr lang="en-US" altLang="zh-CN"/>
          </a:p>
        </p:txBody>
      </p:sp>
      <p:sp>
        <p:nvSpPr>
          <p:cNvPr id="9"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9F1A2856-0FA9-486C-B42E-E84AE09308B4}" type="slidenum">
              <a:rPr lang="en-US" altLang="zh-CN"/>
              <a:pPr>
                <a:defRPr/>
              </a:pPr>
              <a:t>‹#›</a:t>
            </a:fld>
            <a:endParaRPr lang="en-US" altLang="zh-CN"/>
          </a:p>
        </p:txBody>
      </p:sp>
      <p:sp>
        <p:nvSpPr>
          <p:cNvPr id="5"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A348801C-B97E-42B0-A226-2EE293F0B6E3}" type="slidenum">
              <a:rPr lang="en-US" altLang="zh-CN"/>
              <a:pPr>
                <a:defRPr/>
              </a:pPr>
              <a:t>‹#›</a:t>
            </a:fld>
            <a:endParaRPr lang="en-US" altLang="zh-CN"/>
          </a:p>
        </p:txBody>
      </p:sp>
      <p:sp>
        <p:nvSpPr>
          <p:cNvPr id="4"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F052D99F-A251-4B75-BB89-59C01CB4A2D6}" type="slidenum">
              <a:rPr lang="en-US" altLang="zh-CN"/>
              <a:pPr>
                <a:defRPr/>
              </a:pPr>
              <a:t>‹#›</a:t>
            </a:fld>
            <a:endParaRPr lang="en-US" altLang="zh-CN"/>
          </a:p>
        </p:txBody>
      </p:sp>
      <p:sp>
        <p:nvSpPr>
          <p:cNvPr id="7"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6BDFEFC4-2874-449C-A5A8-FBA3DAC17574}" type="slidenum">
              <a:rPr lang="en-US" altLang="zh-CN"/>
              <a:pPr>
                <a:defRPr/>
              </a:pPr>
              <a:t>‹#›</a:t>
            </a:fld>
            <a:endParaRPr lang="en-US" altLang="zh-CN"/>
          </a:p>
        </p:txBody>
      </p:sp>
      <p:sp>
        <p:nvSpPr>
          <p:cNvPr id="7"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01437DB9-F185-4005-ABCB-39519043B139}" type="slidenum">
              <a:rPr lang="en-US" altLang="zh-CN"/>
              <a:pPr>
                <a:defRPr/>
              </a:pPr>
              <a:t>‹#›</a:t>
            </a:fld>
            <a:endParaRPr lang="en-US" altLang="zh-CN"/>
          </a:p>
        </p:txBody>
      </p:sp>
      <p:sp>
        <p:nvSpPr>
          <p:cNvPr id="6"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19B0C335-AF6F-44BE-B3BA-4C93099145B5}" type="slidenum">
              <a:rPr lang="en-US" altLang="zh-CN"/>
              <a:pPr>
                <a:defRPr/>
              </a:pPr>
              <a:t>‹#›</a:t>
            </a:fld>
            <a:endParaRPr lang="en-US" altLang="zh-CN"/>
          </a:p>
        </p:txBody>
      </p:sp>
      <p:sp>
        <p:nvSpPr>
          <p:cNvPr id="6"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3555" name="Rectangle 3">
            <a:extLst>
              <a:ext uri="{FF2B5EF4-FFF2-40B4-BE49-F238E27FC236}"/>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Black" pitchFamily="34" charset="0"/>
              </a:defRPr>
            </a:lvl1pPr>
          </a:lstStyle>
          <a:p>
            <a:pPr>
              <a:defRPr/>
            </a:pPr>
            <a:fld id="{833DFB80-9576-4068-ABC5-9EB89D362BFC}"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a:extLst>
                <a:ext uri="{FF2B5EF4-FFF2-40B4-BE49-F238E27FC236}"/>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3" name="Rectangle 6">
              <a:extLst>
                <a:ext uri="{FF2B5EF4-FFF2-40B4-BE49-F238E27FC236}"/>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34" name="Rectangle 7">
              <a:extLst>
                <a:ext uri="{FF2B5EF4-FFF2-40B4-BE49-F238E27FC236}"/>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5" name="Rectangle 8">
              <a:extLst>
                <a:ext uri="{FF2B5EF4-FFF2-40B4-BE49-F238E27FC236}"/>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6" name="Rectangle 9">
              <a:extLst>
                <a:ext uri="{FF2B5EF4-FFF2-40B4-BE49-F238E27FC236}"/>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sp>
          <p:nvSpPr>
            <p:cNvPr id="1037" name="Rectangle 10">
              <a:extLst>
                <a:ext uri="{FF2B5EF4-FFF2-40B4-BE49-F238E27FC236}"/>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8" name="Rectangle 11">
              <a:extLst>
                <a:ext uri="{FF2B5EF4-FFF2-40B4-BE49-F238E27FC236}"/>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39" name="Rectangle 12">
              <a:extLst>
                <a:ext uri="{FF2B5EF4-FFF2-40B4-BE49-F238E27FC236}"/>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sp>
          <p:nvSpPr>
            <p:cNvPr id="1040" name="Rectangle 13">
              <a:extLst>
                <a:ext uri="{FF2B5EF4-FFF2-40B4-BE49-F238E27FC236}"/>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3568" name="Rectangle 16">
            <a:extLst>
              <a:ext uri="{FF2B5EF4-FFF2-40B4-BE49-F238E27FC236}"/>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786"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toolbar.google.com/"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http://upload.wikimedia.org/math/f/4/b/f4b39677280bf4c935165bda5de86ef1.png" TargetMode="Externa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zh-CN" smtClean="0"/>
              <a:t>PageRank</a:t>
            </a:r>
            <a:r>
              <a:rPr lang="zh-CN" altLang="en-US" smtClean="0"/>
              <a:t>算法介绍</a:t>
            </a:r>
          </a:p>
        </p:txBody>
      </p:sp>
      <p:sp>
        <p:nvSpPr>
          <p:cNvPr id="3075" name="Rectangle 3"/>
          <p:cNvSpPr>
            <a:spLocks noGrp="1" noChangeArrowheads="1"/>
          </p:cNvSpPr>
          <p:nvPr>
            <p:ph type="subTitle" idx="1"/>
          </p:nvPr>
        </p:nvSpPr>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smtClean="0"/>
              <a:t>目录</a:t>
            </a:r>
          </a:p>
        </p:txBody>
      </p:sp>
      <p:sp>
        <p:nvSpPr>
          <p:cNvPr id="4099" name="Rectangle 3"/>
          <p:cNvSpPr>
            <a:spLocks noGrp="1" noChangeArrowheads="1"/>
          </p:cNvSpPr>
          <p:nvPr>
            <p:ph type="body" idx="1"/>
          </p:nvPr>
        </p:nvSpPr>
        <p:spPr>
          <a:xfrm>
            <a:off x="457200" y="2005013"/>
            <a:ext cx="8229600" cy="3862387"/>
          </a:xfrm>
        </p:spPr>
        <p:txBody>
          <a:bodyPr/>
          <a:lstStyle/>
          <a:p>
            <a:pPr eaLnBrk="1" hangingPunct="1"/>
            <a:r>
              <a:rPr lang="en-US" altLang="zh-CN" smtClean="0"/>
              <a:t>Google</a:t>
            </a:r>
            <a:r>
              <a:rPr lang="zh-CN" altLang="en-US" smtClean="0"/>
              <a:t>的网页排序</a:t>
            </a:r>
          </a:p>
          <a:p>
            <a:pPr eaLnBrk="1" hangingPunct="1"/>
            <a:r>
              <a:rPr lang="en-US" altLang="zh-CN" smtClean="0"/>
              <a:t>PageRank</a:t>
            </a:r>
            <a:r>
              <a:rPr lang="zh-CN" altLang="en-US" smtClean="0"/>
              <a:t>算法求解</a:t>
            </a:r>
          </a:p>
          <a:p>
            <a:pPr eaLnBrk="1" hangingPunct="1"/>
            <a:r>
              <a:rPr lang="en-US" altLang="zh-CN" smtClean="0"/>
              <a:t>PageRank</a:t>
            </a:r>
            <a:r>
              <a:rPr lang="zh-CN" altLang="en-US" smtClean="0"/>
              <a:t>算法的应用</a:t>
            </a:r>
          </a:p>
          <a:p>
            <a:pPr eaLnBrk="1" hangingPunct="1"/>
            <a:r>
              <a:rPr lang="zh-CN" altLang="en-US" smtClean="0"/>
              <a:t>小结</a:t>
            </a:r>
            <a:endParaRPr lang="zh-CN" altLang="en-US" smtClean="0">
              <a:solidFill>
                <a:srgbClr val="FF3300"/>
              </a:solidFill>
            </a:endParaRPr>
          </a:p>
          <a:p>
            <a:pPr eaLnBrk="1" hangingPunct="1"/>
            <a:endParaRPr lang="zh-CN" altLang="en-US" smtClean="0"/>
          </a:p>
          <a:p>
            <a:pPr eaLnBrk="1" hangingPunct="1"/>
            <a:endParaRPr lang="zh-CN" altLang="en-US" smtClean="0"/>
          </a:p>
          <a:p>
            <a:pPr eaLnBrk="1" hangingPunct="1"/>
            <a:endParaRPr lang="en-US" altLang="zh-CN" smtClean="0"/>
          </a:p>
        </p:txBody>
      </p:sp>
    </p:spTree>
  </p:cSld>
  <p:clrMapOvr>
    <a:masterClrMapping/>
  </p:clrMapOvr>
  <p:transition advTm="17687"/>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5123" name="Rectangle 3"/>
          <p:cNvSpPr>
            <a:spLocks noGrp="1" noChangeArrowheads="1"/>
          </p:cNvSpPr>
          <p:nvPr>
            <p:ph type="body" idx="1"/>
          </p:nvPr>
        </p:nvSpPr>
        <p:spPr>
          <a:xfrm>
            <a:off x="395288" y="1600200"/>
            <a:ext cx="8569325" cy="4530725"/>
          </a:xfrm>
        </p:spPr>
        <p:txBody>
          <a:bodyPr/>
          <a:lstStyle/>
          <a:p>
            <a:pPr eaLnBrk="1" hangingPunct="1"/>
            <a:r>
              <a:rPr lang="zh-CN" altLang="en-US" smtClean="0"/>
              <a:t>在</a:t>
            </a:r>
            <a:r>
              <a:rPr lang="en-US" altLang="zh-CN" smtClean="0"/>
              <a:t>Google</a:t>
            </a:r>
            <a:r>
              <a:rPr lang="zh-CN" altLang="en-US" smtClean="0"/>
              <a:t>中搜索“体育新闻”</a:t>
            </a:r>
          </a:p>
          <a:p>
            <a:pPr eaLnBrk="1" hangingPunct="1"/>
            <a:endParaRPr lang="zh-CN" altLang="en-US" smtClean="0"/>
          </a:p>
          <a:p>
            <a:pPr lvl="1" eaLnBrk="1" hangingPunct="1"/>
            <a:endParaRPr lang="en-US" altLang="zh-CN" smtClean="0"/>
          </a:p>
        </p:txBody>
      </p:sp>
      <p:pic>
        <p:nvPicPr>
          <p:cNvPr id="5124" name="Picture 4"/>
          <p:cNvPicPr>
            <a:picLocks noChangeAspect="1" noChangeArrowheads="1"/>
          </p:cNvPicPr>
          <p:nvPr/>
        </p:nvPicPr>
        <p:blipFill>
          <a:blip r:embed="rId3" cstate="print"/>
          <a:srcRect/>
          <a:stretch>
            <a:fillRect/>
          </a:stretch>
        </p:blipFill>
        <p:spPr bwMode="auto">
          <a:xfrm>
            <a:off x="1692275" y="2133600"/>
            <a:ext cx="5705475" cy="3970338"/>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1"/>
          <p:cNvSpPr>
            <a:spLocks noChangeArrowheads="1"/>
          </p:cNvSpPr>
          <p:nvPr/>
        </p:nvSpPr>
        <p:spPr bwMode="auto">
          <a:xfrm>
            <a:off x="971550" y="908050"/>
            <a:ext cx="7777163" cy="3540125"/>
          </a:xfrm>
          <a:prstGeom prst="rect">
            <a:avLst/>
          </a:prstGeom>
          <a:noFill/>
          <a:ln w="9525">
            <a:noFill/>
            <a:miter lim="800000"/>
            <a:headEnd/>
            <a:tailEnd/>
          </a:ln>
        </p:spPr>
        <p:txBody>
          <a:bodyPr>
            <a:spAutoFit/>
          </a:bodyPr>
          <a:lstStyle/>
          <a:p>
            <a:pPr eaLnBrk="1" hangingPunct="1"/>
            <a:r>
              <a:rPr lang="zh-CN" altLang="en-US" sz="3200"/>
              <a:t>基于内容的相关性，简单地说是指，比如某篇文档出现了多次“体育新闻”，就比只出现一次“体育新闻”的文档与</a:t>
            </a:r>
            <a:r>
              <a:rPr lang="en-US" altLang="zh-CN" sz="3200"/>
              <a:t>query</a:t>
            </a:r>
            <a:r>
              <a:rPr lang="zh-CN" altLang="en-US" sz="3200"/>
              <a:t>的相关性高，目前的相关性排序，已经不再是简单地基于词匹配，还会根据</a:t>
            </a:r>
            <a:r>
              <a:rPr lang="en-US" altLang="zh-CN" sz="3200"/>
              <a:t>topic</a:t>
            </a:r>
            <a:r>
              <a:rPr lang="zh-CN" altLang="en-US" sz="3200"/>
              <a:t>，比如大量出现“足球”、“乒乓球”等词语的文档同样相当于大量出现了“体育”</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7171" name="Rectangle 3"/>
          <p:cNvSpPr>
            <a:spLocks noGrp="1" noChangeArrowheads="1"/>
          </p:cNvSpPr>
          <p:nvPr>
            <p:ph type="body" idx="1"/>
          </p:nvPr>
        </p:nvSpPr>
        <p:spPr/>
        <p:txBody>
          <a:bodyPr/>
          <a:lstStyle/>
          <a:p>
            <a:pPr eaLnBrk="1" hangingPunct="1"/>
            <a:r>
              <a:rPr lang="zh-CN" altLang="en-US" smtClean="0"/>
              <a:t>在</a:t>
            </a:r>
            <a:r>
              <a:rPr lang="en-US" altLang="zh-CN" smtClean="0"/>
              <a:t>Google</a:t>
            </a:r>
            <a:r>
              <a:rPr lang="zh-CN" altLang="en-US" smtClean="0"/>
              <a:t>中搜索“</a:t>
            </a:r>
            <a:r>
              <a:rPr lang="zh-CN" altLang="en-US" smtClean="0">
                <a:solidFill>
                  <a:srgbClr val="FF0000"/>
                </a:solidFill>
              </a:rPr>
              <a:t>体育新闻</a:t>
            </a:r>
            <a:r>
              <a:rPr lang="zh-CN" altLang="en-US" smtClean="0"/>
              <a:t>”</a:t>
            </a:r>
          </a:p>
          <a:p>
            <a:pPr lvl="1" eaLnBrk="1" hangingPunct="1"/>
            <a:r>
              <a:rPr lang="zh-CN" altLang="en-US" smtClean="0"/>
              <a:t>搜索引擎工作的简要过程如下</a:t>
            </a:r>
          </a:p>
          <a:p>
            <a:pPr lvl="2" eaLnBrk="1" hangingPunct="1"/>
            <a:r>
              <a:rPr lang="zh-CN" altLang="en-US" smtClean="0"/>
              <a:t>针对查询词“体育新闻”进行分词</a:t>
            </a:r>
            <a:r>
              <a:rPr lang="en-US" altLang="zh-CN" smtClean="0"/>
              <a:t>——》“</a:t>
            </a:r>
            <a:r>
              <a:rPr lang="zh-CN" altLang="en-US" smtClean="0">
                <a:solidFill>
                  <a:srgbClr val="FF0000"/>
                </a:solidFill>
              </a:rPr>
              <a:t>体育</a:t>
            </a:r>
            <a:r>
              <a:rPr lang="zh-CN" altLang="en-US" smtClean="0"/>
              <a:t>”、“</a:t>
            </a:r>
            <a:r>
              <a:rPr lang="zh-CN" altLang="en-US" smtClean="0">
                <a:solidFill>
                  <a:srgbClr val="FF0000"/>
                </a:solidFill>
              </a:rPr>
              <a:t>新闻</a:t>
            </a:r>
            <a:r>
              <a:rPr lang="zh-CN" altLang="en-US" smtClean="0"/>
              <a:t>”</a:t>
            </a:r>
          </a:p>
          <a:p>
            <a:pPr lvl="2" eaLnBrk="1" hangingPunct="1"/>
            <a:r>
              <a:rPr lang="zh-CN" altLang="en-US" smtClean="0"/>
              <a:t>根据建立的倒排索引，将同时包含“</a:t>
            </a:r>
            <a:r>
              <a:rPr lang="zh-CN" altLang="en-US" smtClean="0">
                <a:solidFill>
                  <a:srgbClr val="FF0000"/>
                </a:solidFill>
              </a:rPr>
              <a:t>体育</a:t>
            </a:r>
            <a:r>
              <a:rPr lang="zh-CN" altLang="en-US" smtClean="0"/>
              <a:t>”和“</a:t>
            </a:r>
            <a:r>
              <a:rPr lang="zh-CN" altLang="en-US" smtClean="0">
                <a:solidFill>
                  <a:srgbClr val="FF0000"/>
                </a:solidFill>
              </a:rPr>
              <a:t>新闻</a:t>
            </a:r>
            <a:r>
              <a:rPr lang="zh-CN" altLang="en-US" smtClean="0"/>
              <a:t>”的文档返回，并根据</a:t>
            </a:r>
            <a:r>
              <a:rPr lang="zh-CN" altLang="en-US" smtClean="0">
                <a:solidFill>
                  <a:srgbClr val="FF3300"/>
                </a:solidFill>
              </a:rPr>
              <a:t>相关性</a:t>
            </a:r>
            <a:r>
              <a:rPr lang="zh-CN" altLang="en-US" smtClean="0"/>
              <a:t>进行排序</a:t>
            </a:r>
          </a:p>
          <a:p>
            <a:pPr lvl="3" eaLnBrk="1" hangingPunct="1"/>
            <a:r>
              <a:rPr lang="zh-CN" altLang="en-US" smtClean="0"/>
              <a:t>这里的相关性主要是基于</a:t>
            </a:r>
            <a:r>
              <a:rPr lang="zh-CN" altLang="en-US" smtClean="0">
                <a:solidFill>
                  <a:srgbClr val="FF0000"/>
                </a:solidFill>
              </a:rPr>
              <a:t>内容的相关性</a:t>
            </a:r>
          </a:p>
          <a:p>
            <a:pPr lvl="3" eaLnBrk="1" hangingPunct="1"/>
            <a:r>
              <a:rPr lang="zh-CN" altLang="en-US" smtClean="0"/>
              <a:t>但是会有一些</a:t>
            </a:r>
            <a:r>
              <a:rPr lang="zh-CN" altLang="en-US" smtClean="0">
                <a:solidFill>
                  <a:srgbClr val="FF0000"/>
                </a:solidFill>
              </a:rPr>
              <a:t>垃圾网页</a:t>
            </a:r>
            <a:r>
              <a:rPr lang="zh-CN" altLang="en-US" smtClean="0"/>
              <a:t>，虽然也包含大量的查询词，但却并非满足用户需要的文档，如下图，一个网页中虽然出现了四次“体育新闻”但却不是用户所需要的</a:t>
            </a:r>
          </a:p>
          <a:p>
            <a:pPr lvl="3" eaLnBrk="1" hangingPunct="1"/>
            <a:r>
              <a:rPr lang="zh-CN" altLang="en-US" smtClean="0"/>
              <a:t>因此，页面</a:t>
            </a:r>
            <a:r>
              <a:rPr lang="zh-CN" altLang="en-US" smtClean="0">
                <a:solidFill>
                  <a:srgbClr val="FF0000"/>
                </a:solidFill>
              </a:rPr>
              <a:t>本身的重要性</a:t>
            </a:r>
            <a:r>
              <a:rPr lang="zh-CN" altLang="en-US" smtClean="0"/>
              <a:t>在网页排序中也起着很重要的作用</a:t>
            </a:r>
          </a:p>
          <a:p>
            <a:pPr lvl="1" eaLnBrk="1" hangingPunct="1"/>
            <a:endParaRPr lang="zh-CN" altLang="en-US" smtClean="0"/>
          </a:p>
          <a:p>
            <a:pPr eaLnBrk="1" hangingPunct="1"/>
            <a:endParaRPr lang="zh-CN" altLang="en-US" smtClean="0"/>
          </a:p>
          <a:p>
            <a:pPr eaLnBrk="1" hangingPunct="1"/>
            <a:endParaRPr lang="en-US" altLang="zh-CN" smtClean="0"/>
          </a:p>
        </p:txBody>
      </p:sp>
      <p:sp>
        <p:nvSpPr>
          <p:cNvPr id="7172" name="Oval 4"/>
          <p:cNvSpPr>
            <a:spLocks noChangeArrowheads="1"/>
          </p:cNvSpPr>
          <p:nvPr/>
        </p:nvSpPr>
        <p:spPr bwMode="auto">
          <a:xfrm>
            <a:off x="5940425" y="908050"/>
            <a:ext cx="2376488" cy="1008063"/>
          </a:xfrm>
          <a:prstGeom prst="ellipse">
            <a:avLst/>
          </a:prstGeom>
          <a:solidFill>
            <a:schemeClr val="accent1"/>
          </a:solidFill>
          <a:ln w="9525" algn="ctr">
            <a:solidFill>
              <a:schemeClr val="tx1"/>
            </a:solidFill>
            <a:round/>
            <a:headEnd/>
            <a:tailEnd/>
          </a:ln>
        </p:spPr>
        <p:txBody>
          <a:bodyPr wrap="none" anchor="ctr"/>
          <a:lstStyle/>
          <a:p>
            <a:pPr algn="ctr" eaLnBrk="1" hangingPunct="1"/>
            <a:r>
              <a:rPr lang="zh-CN" altLang="en-US"/>
              <a:t>查询词和文档的相关性</a:t>
            </a:r>
          </a:p>
        </p:txBody>
      </p:sp>
      <p:sp>
        <p:nvSpPr>
          <p:cNvPr id="7173" name="Line 5"/>
          <p:cNvSpPr>
            <a:spLocks noChangeShapeType="1"/>
          </p:cNvSpPr>
          <p:nvPr/>
        </p:nvSpPr>
        <p:spPr bwMode="auto">
          <a:xfrm flipV="1">
            <a:off x="2643188" y="1928813"/>
            <a:ext cx="2663825" cy="1512887"/>
          </a:xfrm>
          <a:prstGeom prst="line">
            <a:avLst/>
          </a:prstGeom>
          <a:noFill/>
          <a:ln w="9525">
            <a:solidFill>
              <a:schemeClr val="tx1"/>
            </a:solidFill>
            <a:round/>
            <a:headEnd/>
            <a:tailEnd type="triangle"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395288" y="765175"/>
            <a:ext cx="5905500" cy="1822450"/>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cstate="print"/>
          <a:srcRect/>
          <a:stretch>
            <a:fillRect/>
          </a:stretch>
        </p:blipFill>
        <p:spPr bwMode="auto">
          <a:xfrm>
            <a:off x="415925" y="2852738"/>
            <a:ext cx="2495550" cy="3267075"/>
          </a:xfrm>
          <a:prstGeom prst="rect">
            <a:avLst/>
          </a:prstGeom>
          <a:noFill/>
          <a:ln w="9525">
            <a:noFill/>
            <a:miter lim="800000"/>
            <a:headEnd/>
            <a:tailEnd/>
          </a:ln>
          <a:effectLst/>
        </p:spPr>
      </p:pic>
      <p:pic>
        <p:nvPicPr>
          <p:cNvPr id="8196" name="Picture 4"/>
          <p:cNvPicPr>
            <a:picLocks noChangeAspect="1" noChangeArrowheads="1"/>
          </p:cNvPicPr>
          <p:nvPr/>
        </p:nvPicPr>
        <p:blipFill>
          <a:blip r:embed="rId4" cstate="print"/>
          <a:srcRect/>
          <a:stretch>
            <a:fillRect/>
          </a:stretch>
        </p:blipFill>
        <p:spPr bwMode="auto">
          <a:xfrm>
            <a:off x="5435600" y="2681288"/>
            <a:ext cx="2324100" cy="3609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9219" name="Rectangle 3"/>
          <p:cNvSpPr>
            <a:spLocks noGrp="1" noChangeArrowheads="1"/>
          </p:cNvSpPr>
          <p:nvPr>
            <p:ph type="body" idx="1"/>
          </p:nvPr>
        </p:nvSpPr>
        <p:spPr/>
        <p:txBody>
          <a:bodyPr/>
          <a:lstStyle/>
          <a:p>
            <a:pPr eaLnBrk="1" hangingPunct="1"/>
            <a:r>
              <a:rPr lang="zh-CN" altLang="en-US" smtClean="0"/>
              <a:t>在</a:t>
            </a:r>
            <a:r>
              <a:rPr lang="en-US" altLang="zh-CN" smtClean="0"/>
              <a:t>Google</a:t>
            </a:r>
            <a:r>
              <a:rPr lang="zh-CN" altLang="en-US" smtClean="0"/>
              <a:t>中搜索“体育新闻”</a:t>
            </a:r>
          </a:p>
          <a:p>
            <a:pPr lvl="1" eaLnBrk="1" hangingPunct="1"/>
            <a:endParaRPr lang="zh-CN" altLang="en-US" smtClean="0"/>
          </a:p>
          <a:p>
            <a:pPr lvl="1" eaLnBrk="1" hangingPunct="1"/>
            <a:endParaRPr lang="zh-CN" altLang="en-US" smtClean="0"/>
          </a:p>
          <a:p>
            <a:pPr lvl="1" eaLnBrk="1" hangingPunct="1"/>
            <a:endParaRPr lang="zh-CN" altLang="en-US" smtClean="0"/>
          </a:p>
          <a:p>
            <a:pPr eaLnBrk="1" hangingPunct="1"/>
            <a:endParaRPr lang="zh-CN" altLang="en-US" smtClean="0"/>
          </a:p>
          <a:p>
            <a:pPr eaLnBrk="1" hangingPunct="1"/>
            <a:endParaRPr lang="en-US" altLang="zh-CN" smtClean="0"/>
          </a:p>
        </p:txBody>
      </p:sp>
      <p:pic>
        <p:nvPicPr>
          <p:cNvPr id="9220" name="Picture 4"/>
          <p:cNvPicPr>
            <a:picLocks noChangeAspect="1" noChangeArrowheads="1"/>
          </p:cNvPicPr>
          <p:nvPr/>
        </p:nvPicPr>
        <p:blipFill>
          <a:blip r:embed="rId3" cstate="print"/>
          <a:srcRect/>
          <a:stretch>
            <a:fillRect/>
          </a:stretch>
        </p:blipFill>
        <p:spPr bwMode="auto">
          <a:xfrm>
            <a:off x="2124075" y="2565400"/>
            <a:ext cx="5473700" cy="3878263"/>
          </a:xfrm>
          <a:prstGeom prst="rect">
            <a:avLst/>
          </a:prstGeom>
          <a:noFill/>
          <a:ln w="9525" algn="ctr">
            <a:noFill/>
            <a:miter lim="800000"/>
            <a:headEnd/>
            <a:tailEnd/>
          </a:ln>
        </p:spPr>
      </p:pic>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10243" name="Rectangle 3"/>
          <p:cNvSpPr>
            <a:spLocks noGrp="1" noChangeArrowheads="1"/>
          </p:cNvSpPr>
          <p:nvPr>
            <p:ph type="body" idx="1"/>
          </p:nvPr>
        </p:nvSpPr>
        <p:spPr>
          <a:xfrm>
            <a:off x="468313" y="1412875"/>
            <a:ext cx="8229600" cy="3862388"/>
          </a:xfrm>
        </p:spPr>
        <p:txBody>
          <a:bodyPr/>
          <a:lstStyle/>
          <a:p>
            <a:pPr eaLnBrk="1" hangingPunct="1"/>
            <a:r>
              <a:rPr lang="zh-CN" altLang="en-US" smtClean="0"/>
              <a:t>如何度量网页本身的重要性呢？</a:t>
            </a:r>
          </a:p>
          <a:p>
            <a:pPr lvl="1" eaLnBrk="1" hangingPunct="1"/>
            <a:r>
              <a:rPr lang="zh-CN" altLang="en-US" smtClean="0"/>
              <a:t>互联网上的每一篇</a:t>
            </a:r>
            <a:r>
              <a:rPr lang="en-US" altLang="zh-CN" smtClean="0"/>
              <a:t>html</a:t>
            </a:r>
            <a:r>
              <a:rPr lang="zh-CN" altLang="en-US" smtClean="0"/>
              <a:t>文档除了</a:t>
            </a:r>
            <a:r>
              <a:rPr lang="zh-CN" altLang="en-US" smtClean="0">
                <a:solidFill>
                  <a:srgbClr val="FF0000"/>
                </a:solidFill>
              </a:rPr>
              <a:t>包含文本、图片、视频等信息外</a:t>
            </a:r>
            <a:r>
              <a:rPr lang="zh-CN" altLang="en-US" smtClean="0"/>
              <a:t>，还包含了大量的</a:t>
            </a:r>
            <a:r>
              <a:rPr lang="zh-CN" altLang="en-US" smtClean="0">
                <a:solidFill>
                  <a:srgbClr val="FF0000"/>
                </a:solidFill>
              </a:rPr>
              <a:t>链接关系</a:t>
            </a:r>
            <a:r>
              <a:rPr lang="zh-CN" altLang="en-US" smtClean="0"/>
              <a:t>，利用这些</a:t>
            </a:r>
            <a:r>
              <a:rPr lang="zh-CN" altLang="en-US" smtClean="0">
                <a:solidFill>
                  <a:srgbClr val="FF0000"/>
                </a:solidFill>
              </a:rPr>
              <a:t>链接关系</a:t>
            </a:r>
            <a:r>
              <a:rPr lang="zh-CN" altLang="en-US" smtClean="0"/>
              <a:t>，能够发现某些</a:t>
            </a:r>
            <a:r>
              <a:rPr lang="zh-CN" altLang="en-US" smtClean="0">
                <a:solidFill>
                  <a:srgbClr val="FF0000"/>
                </a:solidFill>
              </a:rPr>
              <a:t>重要的网页</a:t>
            </a:r>
          </a:p>
          <a:p>
            <a:pPr lvl="2" eaLnBrk="1" hangingPunct="1"/>
            <a:endParaRPr lang="zh-CN" altLang="en-US" smtClean="0"/>
          </a:p>
          <a:p>
            <a:pPr lvl="2" eaLnBrk="1" hangingPunct="1"/>
            <a:endParaRPr lang="zh-CN" altLang="en-US" smtClean="0"/>
          </a:p>
          <a:p>
            <a:pPr lvl="2" eaLnBrk="1" hangingPunct="1"/>
            <a:endParaRPr lang="zh-CN" altLang="en-US" smtClean="0"/>
          </a:p>
          <a:p>
            <a:pPr lvl="2" eaLnBrk="1" hangingPunct="1"/>
            <a:r>
              <a:rPr lang="zh-CN" altLang="en-US" smtClean="0"/>
              <a:t>直观地看，某网页</a:t>
            </a:r>
            <a:r>
              <a:rPr lang="en-US" altLang="zh-CN" smtClean="0"/>
              <a:t>A</a:t>
            </a:r>
            <a:r>
              <a:rPr lang="zh-CN" altLang="en-US" smtClean="0"/>
              <a:t>链向网页</a:t>
            </a:r>
            <a:r>
              <a:rPr lang="en-US" altLang="zh-CN" smtClean="0"/>
              <a:t>B</a:t>
            </a:r>
            <a:r>
              <a:rPr lang="zh-CN" altLang="en-US" smtClean="0"/>
              <a:t>，则可以认为网页</a:t>
            </a:r>
            <a:r>
              <a:rPr lang="en-US" altLang="zh-CN" smtClean="0"/>
              <a:t>A</a:t>
            </a:r>
            <a:r>
              <a:rPr lang="zh-CN" altLang="en-US" smtClean="0"/>
              <a:t>觉得网页</a:t>
            </a:r>
            <a:r>
              <a:rPr lang="en-US" altLang="zh-CN" smtClean="0"/>
              <a:t>B</a:t>
            </a:r>
            <a:r>
              <a:rPr lang="zh-CN" altLang="en-US" smtClean="0"/>
              <a:t>有链接价值，是比较重要的网页。</a:t>
            </a:r>
          </a:p>
          <a:p>
            <a:pPr lvl="2" eaLnBrk="1" hangingPunct="1"/>
            <a:r>
              <a:rPr lang="zh-CN" altLang="en-US" smtClean="0"/>
              <a:t>某网页被指向的</a:t>
            </a:r>
            <a:r>
              <a:rPr lang="zh-CN" altLang="en-US" smtClean="0">
                <a:solidFill>
                  <a:srgbClr val="FF0000"/>
                </a:solidFill>
              </a:rPr>
              <a:t>次数越多</a:t>
            </a:r>
            <a:r>
              <a:rPr lang="zh-CN" altLang="en-US" smtClean="0"/>
              <a:t>，则它的</a:t>
            </a:r>
            <a:r>
              <a:rPr lang="zh-CN" altLang="en-US" smtClean="0">
                <a:solidFill>
                  <a:srgbClr val="FF0000"/>
                </a:solidFill>
              </a:rPr>
              <a:t>重要性越高</a:t>
            </a:r>
            <a:r>
              <a:rPr lang="zh-CN" altLang="en-US" smtClean="0"/>
              <a:t>；越是</a:t>
            </a:r>
            <a:r>
              <a:rPr lang="zh-CN" altLang="en-US" smtClean="0">
                <a:solidFill>
                  <a:srgbClr val="FF0000"/>
                </a:solidFill>
              </a:rPr>
              <a:t>重要的网页</a:t>
            </a:r>
            <a:r>
              <a:rPr lang="zh-CN" altLang="en-US" smtClean="0"/>
              <a:t>，</a:t>
            </a:r>
            <a:r>
              <a:rPr lang="zh-CN" altLang="en-US" smtClean="0">
                <a:solidFill>
                  <a:srgbClr val="FF0000"/>
                </a:solidFill>
              </a:rPr>
              <a:t>所链接的网页</a:t>
            </a:r>
            <a:r>
              <a:rPr lang="zh-CN" altLang="en-US" smtClean="0"/>
              <a:t>的</a:t>
            </a:r>
            <a:r>
              <a:rPr lang="zh-CN" altLang="en-US" smtClean="0">
                <a:solidFill>
                  <a:srgbClr val="FF0000"/>
                </a:solidFill>
              </a:rPr>
              <a:t>重要性也越高</a:t>
            </a:r>
            <a:r>
              <a:rPr lang="zh-CN" altLang="en-US" smtClean="0"/>
              <a:t>。</a:t>
            </a:r>
          </a:p>
        </p:txBody>
      </p:sp>
      <p:pic>
        <p:nvPicPr>
          <p:cNvPr id="10244" name="Picture 4"/>
          <p:cNvPicPr>
            <a:picLocks noChangeAspect="1" noChangeArrowheads="1"/>
          </p:cNvPicPr>
          <p:nvPr/>
        </p:nvPicPr>
        <p:blipFill>
          <a:blip r:embed="rId3" cstate="print"/>
          <a:srcRect/>
          <a:stretch>
            <a:fillRect/>
          </a:stretch>
        </p:blipFill>
        <p:spPr bwMode="auto">
          <a:xfrm>
            <a:off x="4284663" y="3452813"/>
            <a:ext cx="1296987" cy="1173162"/>
          </a:xfrm>
          <a:prstGeom prst="rect">
            <a:avLst/>
          </a:prstGeom>
          <a:noFill/>
          <a:ln w="9525" algn="ctr">
            <a:noFill/>
            <a:miter lim="800000"/>
            <a:headEnd/>
            <a:tailEnd/>
          </a:ln>
        </p:spPr>
      </p:pic>
      <p:sp>
        <p:nvSpPr>
          <p:cNvPr id="10245" name="Oval 5"/>
          <p:cNvSpPr>
            <a:spLocks noChangeArrowheads="1"/>
          </p:cNvSpPr>
          <p:nvPr/>
        </p:nvSpPr>
        <p:spPr bwMode="auto">
          <a:xfrm>
            <a:off x="1835150" y="3878263"/>
            <a:ext cx="358775" cy="215900"/>
          </a:xfrm>
          <a:prstGeom prst="ellipse">
            <a:avLst/>
          </a:prstGeom>
          <a:solidFill>
            <a:schemeClr val="accent1"/>
          </a:solidFill>
          <a:ln w="9525" algn="ctr">
            <a:solidFill>
              <a:schemeClr val="tx1"/>
            </a:solidFill>
            <a:round/>
            <a:headEnd/>
            <a:tailEnd/>
          </a:ln>
        </p:spPr>
        <p:txBody>
          <a:bodyPr wrap="none" anchor="ctr"/>
          <a:lstStyle/>
          <a:p>
            <a:pPr algn="ctr" eaLnBrk="1" hangingPunct="1"/>
            <a:r>
              <a:rPr lang="en-US" altLang="zh-CN"/>
              <a:t>A</a:t>
            </a:r>
          </a:p>
        </p:txBody>
      </p:sp>
      <p:sp>
        <p:nvSpPr>
          <p:cNvPr id="10246" name="Oval 6"/>
          <p:cNvSpPr>
            <a:spLocks noChangeArrowheads="1"/>
          </p:cNvSpPr>
          <p:nvPr/>
        </p:nvSpPr>
        <p:spPr bwMode="auto">
          <a:xfrm>
            <a:off x="3013075" y="3865563"/>
            <a:ext cx="358775" cy="241300"/>
          </a:xfrm>
          <a:prstGeom prst="ellipse">
            <a:avLst/>
          </a:prstGeom>
          <a:solidFill>
            <a:schemeClr val="accent1"/>
          </a:solidFill>
          <a:ln w="9525" algn="ctr">
            <a:solidFill>
              <a:schemeClr val="tx1"/>
            </a:solidFill>
            <a:round/>
            <a:headEnd/>
            <a:tailEnd/>
          </a:ln>
        </p:spPr>
        <p:txBody>
          <a:bodyPr wrap="none" anchor="ctr"/>
          <a:lstStyle/>
          <a:p>
            <a:pPr algn="ctr" eaLnBrk="1" hangingPunct="1"/>
            <a:r>
              <a:rPr lang="en-US" altLang="zh-CN"/>
              <a:t>B</a:t>
            </a:r>
          </a:p>
        </p:txBody>
      </p:sp>
      <p:sp>
        <p:nvSpPr>
          <p:cNvPr id="10247" name="Line 7"/>
          <p:cNvSpPr>
            <a:spLocks noChangeShapeType="1"/>
          </p:cNvSpPr>
          <p:nvPr/>
        </p:nvSpPr>
        <p:spPr bwMode="auto">
          <a:xfrm>
            <a:off x="2219325" y="3962400"/>
            <a:ext cx="792163"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0248" name="Oval 8"/>
          <p:cNvSpPr>
            <a:spLocks noChangeArrowheads="1"/>
          </p:cNvSpPr>
          <p:nvPr/>
        </p:nvSpPr>
        <p:spPr bwMode="auto">
          <a:xfrm>
            <a:off x="6443663" y="3429000"/>
            <a:ext cx="2160587" cy="1008063"/>
          </a:xfrm>
          <a:prstGeom prst="ellipse">
            <a:avLst/>
          </a:prstGeom>
          <a:solidFill>
            <a:schemeClr val="accent1"/>
          </a:solidFill>
          <a:ln w="9525" algn="ctr">
            <a:solidFill>
              <a:schemeClr val="tx1"/>
            </a:solidFill>
            <a:round/>
            <a:headEnd/>
            <a:tailEnd/>
          </a:ln>
        </p:spPr>
        <p:txBody>
          <a:bodyPr wrap="none" anchor="ctr"/>
          <a:lstStyle/>
          <a:p>
            <a:pPr algn="ctr" eaLnBrk="1" hangingPunct="1"/>
            <a:r>
              <a:rPr lang="zh-CN" altLang="en-US">
                <a:solidFill>
                  <a:srgbClr val="FF0000"/>
                </a:solidFill>
              </a:rPr>
              <a:t>网页是节点，网页</a:t>
            </a:r>
          </a:p>
          <a:p>
            <a:pPr algn="ctr" eaLnBrk="1" hangingPunct="1"/>
            <a:r>
              <a:rPr lang="zh-CN" altLang="en-US">
                <a:solidFill>
                  <a:srgbClr val="FF0000"/>
                </a:solidFill>
              </a:rPr>
              <a:t>间的链接关系是边</a:t>
            </a:r>
          </a:p>
        </p:txBody>
      </p:sp>
    </p:spTree>
  </p:cSld>
  <p:clrMapOvr>
    <a:masterClrMapping/>
  </p:clrMapOvr>
  <p:transition advTm="17687"/>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11267" name="Rectangle 3"/>
          <p:cNvSpPr>
            <a:spLocks noGrp="1" noChangeArrowheads="1"/>
          </p:cNvSpPr>
          <p:nvPr>
            <p:ph type="body" idx="1"/>
          </p:nvPr>
        </p:nvSpPr>
        <p:spPr/>
        <p:txBody>
          <a:bodyPr/>
          <a:lstStyle/>
          <a:p>
            <a:pPr eaLnBrk="1" hangingPunct="1"/>
            <a:r>
              <a:rPr lang="zh-CN" altLang="en-US" smtClean="0"/>
              <a:t>如何</a:t>
            </a:r>
            <a:r>
              <a:rPr lang="zh-CN" altLang="en-US" smtClean="0">
                <a:solidFill>
                  <a:srgbClr val="FF0000"/>
                </a:solidFill>
              </a:rPr>
              <a:t>度量</a:t>
            </a:r>
            <a:r>
              <a:rPr lang="zh-CN" altLang="en-US" smtClean="0"/>
              <a:t>网页本身的</a:t>
            </a:r>
            <a:r>
              <a:rPr lang="zh-CN" altLang="en-US" smtClean="0">
                <a:solidFill>
                  <a:srgbClr val="FF0000"/>
                </a:solidFill>
              </a:rPr>
              <a:t>重要性</a:t>
            </a:r>
            <a:r>
              <a:rPr lang="zh-CN" altLang="en-US" smtClean="0"/>
              <a:t>呢？</a:t>
            </a:r>
          </a:p>
          <a:p>
            <a:pPr lvl="1" eaLnBrk="1" hangingPunct="1"/>
            <a:r>
              <a:rPr lang="zh-CN" altLang="en-US" smtClean="0"/>
              <a:t>比如，新华网体育在其首页中对新浪体育做了链接，人民网体育同样在其首页中对新浪体育做了链接</a:t>
            </a:r>
          </a:p>
          <a:p>
            <a:pPr eaLnBrk="1" hangingPunct="1"/>
            <a:endParaRPr lang="zh-CN" altLang="en-US" smtClean="0"/>
          </a:p>
          <a:p>
            <a:pPr lvl="1" eaLnBrk="1" hangingPunct="1"/>
            <a:r>
              <a:rPr lang="zh-CN" altLang="en-US" smtClean="0"/>
              <a:t>可见，</a:t>
            </a:r>
            <a:r>
              <a:rPr lang="zh-CN" altLang="en-US" smtClean="0">
                <a:solidFill>
                  <a:srgbClr val="FF0000"/>
                </a:solidFill>
              </a:rPr>
              <a:t>新浪体育</a:t>
            </a:r>
            <a:r>
              <a:rPr lang="zh-CN" altLang="en-US" smtClean="0"/>
              <a:t>被</a:t>
            </a:r>
            <a:r>
              <a:rPr lang="zh-CN" altLang="en-US" smtClean="0">
                <a:solidFill>
                  <a:srgbClr val="FF0000"/>
                </a:solidFill>
              </a:rPr>
              <a:t>链接的次数较多</a:t>
            </a:r>
            <a:r>
              <a:rPr lang="zh-CN" altLang="en-US" smtClean="0"/>
              <a:t>；同时，</a:t>
            </a:r>
            <a:r>
              <a:rPr lang="zh-CN" altLang="en-US" smtClean="0">
                <a:solidFill>
                  <a:srgbClr val="FF0000"/>
                </a:solidFill>
              </a:rPr>
              <a:t>人民网体育和新华网体育</a:t>
            </a:r>
            <a:r>
              <a:rPr lang="zh-CN" altLang="en-US" smtClean="0"/>
              <a:t>也</a:t>
            </a:r>
            <a:r>
              <a:rPr lang="zh-CN" altLang="en-US" smtClean="0">
                <a:solidFill>
                  <a:srgbClr val="FF0000"/>
                </a:solidFill>
              </a:rPr>
              <a:t>都是比较“重要”的网页</a:t>
            </a:r>
            <a:r>
              <a:rPr lang="zh-CN" altLang="en-US" smtClean="0"/>
              <a:t>，因此</a:t>
            </a:r>
            <a:r>
              <a:rPr lang="zh-CN" altLang="en-US" smtClean="0">
                <a:solidFill>
                  <a:srgbClr val="FF0000"/>
                </a:solidFill>
              </a:rPr>
              <a:t>新浪体育也应该是比较“重要”的网页。</a:t>
            </a:r>
          </a:p>
        </p:txBody>
      </p:sp>
      <p:pic>
        <p:nvPicPr>
          <p:cNvPr id="11268" name="Picture 4"/>
          <p:cNvPicPr>
            <a:picLocks noChangeAspect="1" noChangeArrowheads="1"/>
          </p:cNvPicPr>
          <p:nvPr/>
        </p:nvPicPr>
        <p:blipFill>
          <a:blip r:embed="rId3" cstate="print"/>
          <a:srcRect/>
          <a:stretch>
            <a:fillRect/>
          </a:stretch>
        </p:blipFill>
        <p:spPr bwMode="auto">
          <a:xfrm>
            <a:off x="1571625" y="4000500"/>
            <a:ext cx="3240088" cy="573088"/>
          </a:xfrm>
          <a:prstGeom prst="rect">
            <a:avLst/>
          </a:prstGeom>
          <a:noFill/>
          <a:ln w="9525" algn="ctr">
            <a:noFill/>
            <a:miter lim="800000"/>
            <a:headEnd/>
            <a:tailEnd/>
          </a:ln>
        </p:spPr>
      </p:pic>
      <p:pic>
        <p:nvPicPr>
          <p:cNvPr id="11269" name="Picture 5"/>
          <p:cNvPicPr>
            <a:picLocks noChangeAspect="1" noChangeArrowheads="1"/>
          </p:cNvPicPr>
          <p:nvPr/>
        </p:nvPicPr>
        <p:blipFill>
          <a:blip r:embed="rId4" cstate="print"/>
          <a:srcRect/>
          <a:stretch>
            <a:fillRect/>
          </a:stretch>
        </p:blipFill>
        <p:spPr bwMode="auto">
          <a:xfrm>
            <a:off x="5500688" y="3929063"/>
            <a:ext cx="2087562" cy="574675"/>
          </a:xfrm>
          <a:prstGeom prst="rect">
            <a:avLst/>
          </a:prstGeom>
          <a:noFill/>
          <a:ln w="9525" algn="ctr">
            <a:noFill/>
            <a:miter lim="800000"/>
            <a:headEnd/>
            <a:tailEnd/>
          </a:ln>
        </p:spPr>
      </p:pic>
      <p:sp>
        <p:nvSpPr>
          <p:cNvPr id="11270" name="Oval 6"/>
          <p:cNvSpPr>
            <a:spLocks noChangeArrowheads="1"/>
          </p:cNvSpPr>
          <p:nvPr/>
        </p:nvSpPr>
        <p:spPr bwMode="auto">
          <a:xfrm>
            <a:off x="2857500" y="3643313"/>
            <a:ext cx="1655763" cy="431800"/>
          </a:xfrm>
          <a:prstGeom prst="ellipse">
            <a:avLst/>
          </a:prstGeom>
          <a:solidFill>
            <a:schemeClr val="accent1"/>
          </a:solidFill>
          <a:ln w="9525" algn="ctr">
            <a:solidFill>
              <a:schemeClr val="tx1"/>
            </a:solidFill>
            <a:round/>
            <a:headEnd/>
            <a:tailEnd/>
          </a:ln>
        </p:spPr>
        <p:txBody>
          <a:bodyPr wrap="none" anchor="ctr"/>
          <a:lstStyle/>
          <a:p>
            <a:pPr algn="ctr" eaLnBrk="1" hangingPunct="1"/>
            <a:r>
              <a:rPr lang="zh-CN" altLang="en-US"/>
              <a:t>新华网体育</a:t>
            </a:r>
          </a:p>
        </p:txBody>
      </p:sp>
      <p:sp>
        <p:nvSpPr>
          <p:cNvPr id="11271" name="Oval 7"/>
          <p:cNvSpPr>
            <a:spLocks noChangeArrowheads="1"/>
          </p:cNvSpPr>
          <p:nvPr/>
        </p:nvSpPr>
        <p:spPr bwMode="auto">
          <a:xfrm>
            <a:off x="6572250" y="3429000"/>
            <a:ext cx="1728788" cy="431800"/>
          </a:xfrm>
          <a:prstGeom prst="ellipse">
            <a:avLst/>
          </a:prstGeom>
          <a:solidFill>
            <a:schemeClr val="accent1"/>
          </a:solidFill>
          <a:ln w="9525" algn="ctr">
            <a:solidFill>
              <a:schemeClr val="tx1"/>
            </a:solidFill>
            <a:round/>
            <a:headEnd/>
            <a:tailEnd/>
          </a:ln>
        </p:spPr>
        <p:txBody>
          <a:bodyPr wrap="none" anchor="ctr"/>
          <a:lstStyle/>
          <a:p>
            <a:pPr algn="ctr" eaLnBrk="1" hangingPunct="1"/>
            <a:r>
              <a:rPr lang="zh-CN" altLang="en-US"/>
              <a:t>人民网体育</a:t>
            </a:r>
          </a:p>
        </p:txBody>
      </p:sp>
      <p:sp>
        <p:nvSpPr>
          <p:cNvPr id="11272" name="Line 8"/>
          <p:cNvSpPr>
            <a:spLocks noChangeShapeType="1"/>
          </p:cNvSpPr>
          <p:nvPr/>
        </p:nvSpPr>
        <p:spPr bwMode="auto">
          <a:xfrm flipH="1">
            <a:off x="2857500" y="4000500"/>
            <a:ext cx="287338" cy="2159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1273" name="Line 9"/>
          <p:cNvSpPr>
            <a:spLocks noChangeShapeType="1"/>
          </p:cNvSpPr>
          <p:nvPr/>
        </p:nvSpPr>
        <p:spPr bwMode="auto">
          <a:xfrm flipH="1">
            <a:off x="5857875" y="4143375"/>
            <a:ext cx="360363" cy="215900"/>
          </a:xfrm>
          <a:prstGeom prst="line">
            <a:avLst/>
          </a:prstGeom>
          <a:noFill/>
          <a:ln w="9525">
            <a:solidFill>
              <a:schemeClr val="tx1"/>
            </a:solidFill>
            <a:round/>
            <a:headEnd/>
            <a:tailEnd type="triangle"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6156325" y="2733675"/>
            <a:ext cx="2592388" cy="1944688"/>
          </a:xfrm>
          <a:prstGeom prst="rect">
            <a:avLst/>
          </a:prstGeom>
          <a:noFill/>
          <a:ln w="9525" algn="ctr">
            <a:solidFill>
              <a:schemeClr val="tx1"/>
            </a:solidFill>
            <a:miter lim="800000"/>
            <a:headEnd/>
            <a:tailEnd/>
          </a:ln>
        </p:spPr>
        <p:txBody>
          <a:bodyPr wrap="none" anchor="ctr"/>
          <a:lstStyle/>
          <a:p>
            <a:pPr eaLnBrk="1" hangingPunct="1"/>
            <a:endParaRPr lang="zh-CN" altLang="en-US"/>
          </a:p>
        </p:txBody>
      </p:sp>
      <p:sp>
        <p:nvSpPr>
          <p:cNvPr id="12291" name="Rectangle 3"/>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12292" name="Rectangle 4"/>
          <p:cNvSpPr>
            <a:spLocks noGrp="1" noChangeArrowheads="1"/>
          </p:cNvSpPr>
          <p:nvPr>
            <p:ph type="body" idx="1"/>
          </p:nvPr>
        </p:nvSpPr>
        <p:spPr/>
        <p:txBody>
          <a:bodyPr/>
          <a:lstStyle/>
          <a:p>
            <a:pPr eaLnBrk="1" hangingPunct="1"/>
            <a:r>
              <a:rPr lang="zh-CN" altLang="en-US" smtClean="0"/>
              <a:t>一个更加形象的图</a:t>
            </a:r>
          </a:p>
          <a:p>
            <a:pPr eaLnBrk="1" hangingPunct="1"/>
            <a:endParaRPr lang="en-US" altLang="zh-CN" smtClean="0"/>
          </a:p>
        </p:txBody>
      </p:sp>
      <p:pic>
        <p:nvPicPr>
          <p:cNvPr id="12293" name="Picture 5"/>
          <p:cNvPicPr>
            <a:picLocks noChangeAspect="1" noChangeArrowheads="1"/>
          </p:cNvPicPr>
          <p:nvPr/>
        </p:nvPicPr>
        <p:blipFill>
          <a:blip r:embed="rId3" cstate="print"/>
          <a:srcRect/>
          <a:stretch>
            <a:fillRect/>
          </a:stretch>
        </p:blipFill>
        <p:spPr bwMode="auto">
          <a:xfrm>
            <a:off x="971550" y="2565400"/>
            <a:ext cx="4826000" cy="3871913"/>
          </a:xfrm>
          <a:prstGeom prst="rect">
            <a:avLst/>
          </a:prstGeom>
          <a:noFill/>
          <a:ln w="9525" algn="ctr">
            <a:noFill/>
            <a:miter lim="800000"/>
            <a:headEnd/>
            <a:tailEnd/>
          </a:ln>
        </p:spPr>
      </p:pic>
      <p:sp>
        <p:nvSpPr>
          <p:cNvPr id="12294" name="Text Box 6"/>
          <p:cNvSpPr txBox="1">
            <a:spLocks noChangeArrowheads="1"/>
          </p:cNvSpPr>
          <p:nvPr/>
        </p:nvSpPr>
        <p:spPr bwMode="auto">
          <a:xfrm>
            <a:off x="6084888" y="2852738"/>
            <a:ext cx="2736850" cy="1739900"/>
          </a:xfrm>
          <a:prstGeom prst="rect">
            <a:avLst/>
          </a:prstGeom>
          <a:noFill/>
          <a:ln w="9525" algn="ctr">
            <a:noFill/>
            <a:miter lim="800000"/>
            <a:headEnd/>
            <a:tailEnd/>
          </a:ln>
        </p:spPr>
        <p:txBody>
          <a:bodyPr>
            <a:spAutoFit/>
          </a:bodyPr>
          <a:lstStyle/>
          <a:p>
            <a:pPr algn="ctr" eaLnBrk="1" hangingPunct="1">
              <a:spcBef>
                <a:spcPct val="50000"/>
              </a:spcBef>
            </a:pPr>
            <a:r>
              <a:rPr lang="zh-CN" altLang="en-US"/>
              <a:t>链向</a:t>
            </a:r>
            <a:r>
              <a:rPr lang="zh-CN" altLang="en-US">
                <a:solidFill>
                  <a:srgbClr val="FF0000"/>
                </a:solidFill>
              </a:rPr>
              <a:t>网页</a:t>
            </a:r>
            <a:r>
              <a:rPr lang="en-US" altLang="zh-CN">
                <a:solidFill>
                  <a:srgbClr val="FF0000"/>
                </a:solidFill>
              </a:rPr>
              <a:t>E</a:t>
            </a:r>
            <a:r>
              <a:rPr lang="zh-CN" altLang="en-US">
                <a:solidFill>
                  <a:srgbClr val="FF0000"/>
                </a:solidFill>
              </a:rPr>
              <a:t>的链接远远大于链向网页</a:t>
            </a:r>
            <a:r>
              <a:rPr lang="en-US" altLang="zh-CN">
                <a:solidFill>
                  <a:srgbClr val="FF0000"/>
                </a:solidFill>
              </a:rPr>
              <a:t>C</a:t>
            </a:r>
            <a:r>
              <a:rPr lang="zh-CN" altLang="en-US">
                <a:solidFill>
                  <a:srgbClr val="FF0000"/>
                </a:solidFill>
              </a:rPr>
              <a:t>的链接</a:t>
            </a:r>
            <a:r>
              <a:rPr lang="zh-CN" altLang="en-US"/>
              <a:t>，但是网页</a:t>
            </a:r>
            <a:r>
              <a:rPr lang="en-US" altLang="zh-CN">
                <a:solidFill>
                  <a:srgbClr val="FF0000"/>
                </a:solidFill>
              </a:rPr>
              <a:t>C</a:t>
            </a:r>
            <a:r>
              <a:rPr lang="zh-CN" altLang="en-US">
                <a:solidFill>
                  <a:srgbClr val="FF0000"/>
                </a:solidFill>
              </a:rPr>
              <a:t>的重要性</a:t>
            </a:r>
            <a:r>
              <a:rPr lang="zh-CN" altLang="en-US"/>
              <a:t>却</a:t>
            </a:r>
            <a:r>
              <a:rPr lang="zh-CN" altLang="en-US">
                <a:solidFill>
                  <a:srgbClr val="FF0000"/>
                </a:solidFill>
              </a:rPr>
              <a:t>大于网页</a:t>
            </a:r>
            <a:r>
              <a:rPr lang="en-US" altLang="zh-CN">
                <a:solidFill>
                  <a:srgbClr val="FF0000"/>
                </a:solidFill>
              </a:rPr>
              <a:t>E</a:t>
            </a:r>
            <a:r>
              <a:rPr lang="zh-CN" altLang="en-US"/>
              <a:t>。这是因为因为网页</a:t>
            </a:r>
            <a:r>
              <a:rPr lang="en-US" altLang="zh-CN"/>
              <a:t>C</a:t>
            </a:r>
            <a:r>
              <a:rPr lang="zh-CN" altLang="en-US"/>
              <a:t>被网页</a:t>
            </a:r>
            <a:r>
              <a:rPr lang="en-US" altLang="zh-CN"/>
              <a:t>B</a:t>
            </a:r>
            <a:r>
              <a:rPr lang="zh-CN" altLang="en-US"/>
              <a:t>所链接，而网页</a:t>
            </a:r>
            <a:r>
              <a:rPr lang="en-US" altLang="zh-CN">
                <a:solidFill>
                  <a:srgbClr val="FF0000"/>
                </a:solidFill>
              </a:rPr>
              <a:t>B</a:t>
            </a:r>
            <a:r>
              <a:rPr lang="zh-CN" altLang="en-US">
                <a:solidFill>
                  <a:srgbClr val="FF0000"/>
                </a:solidFill>
              </a:rPr>
              <a:t>有很高的重要性</a:t>
            </a:r>
            <a:r>
              <a:rPr lang="zh-CN" altLang="en-US"/>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8313" y="476250"/>
            <a:ext cx="8229600" cy="1371600"/>
          </a:xfrm>
        </p:spPr>
        <p:txBody>
          <a:bodyPr/>
          <a:lstStyle/>
          <a:p>
            <a:pPr eaLnBrk="1" hangingPunct="1"/>
            <a:r>
              <a:rPr lang="en-US" altLang="zh-CN" smtClean="0"/>
              <a:t>Pagerank</a:t>
            </a:r>
            <a:r>
              <a:rPr lang="zh-CN" altLang="en-US" smtClean="0"/>
              <a:t>算法简介</a:t>
            </a:r>
          </a:p>
        </p:txBody>
      </p:sp>
      <p:sp>
        <p:nvSpPr>
          <p:cNvPr id="13315" name="Rectangle 3"/>
          <p:cNvSpPr>
            <a:spLocks noGrp="1" noChangeArrowheads="1"/>
          </p:cNvSpPr>
          <p:nvPr>
            <p:ph type="body" idx="1"/>
          </p:nvPr>
        </p:nvSpPr>
        <p:spPr>
          <a:xfrm>
            <a:off x="539750" y="2133600"/>
            <a:ext cx="8229600" cy="3886200"/>
          </a:xfrm>
        </p:spPr>
        <p:txBody>
          <a:bodyPr/>
          <a:lstStyle/>
          <a:p>
            <a:pPr eaLnBrk="1" hangingPunct="1">
              <a:buFont typeface="Wingdings" pitchFamily="2" charset="2"/>
              <a:buNone/>
            </a:pPr>
            <a:r>
              <a:rPr lang="zh-CN" altLang="en-US" b="1" smtClean="0"/>
              <a:t>创始人：拉里佩奇</a:t>
            </a:r>
            <a:r>
              <a:rPr lang="en-US" altLang="zh-CN" sz="1800" b="1" smtClean="0"/>
              <a:t>(Larry Page</a:t>
            </a:r>
            <a:r>
              <a:rPr lang="en-US" altLang="zh-CN" sz="1800" smtClean="0"/>
              <a:t> </a:t>
            </a:r>
            <a:r>
              <a:rPr lang="en-US" altLang="zh-CN" sz="1800" b="1" smtClean="0"/>
              <a:t>)</a:t>
            </a:r>
          </a:p>
          <a:p>
            <a:pPr eaLnBrk="1" hangingPunct="1">
              <a:buFont typeface="Wingdings" pitchFamily="2" charset="2"/>
              <a:buNone/>
            </a:pPr>
            <a:r>
              <a:rPr lang="en-US" altLang="zh-CN" sz="1800" b="1" smtClean="0"/>
              <a:t>              </a:t>
            </a:r>
            <a:r>
              <a:rPr lang="en-US" altLang="zh-CN" b="1" smtClean="0"/>
              <a:t>   —Google</a:t>
            </a:r>
            <a:r>
              <a:rPr lang="zh-CN" altLang="en-US" b="1" smtClean="0"/>
              <a:t>创始人之一</a:t>
            </a:r>
          </a:p>
          <a:p>
            <a:pPr eaLnBrk="1" hangingPunct="1">
              <a:buFont typeface="Wingdings" pitchFamily="2" charset="2"/>
              <a:buNone/>
            </a:pPr>
            <a:r>
              <a:rPr lang="zh-CN" altLang="en-US" b="1" smtClean="0"/>
              <a:t>应用： 是</a:t>
            </a:r>
            <a:r>
              <a:rPr lang="en-US" altLang="zh-CN" b="1" smtClean="0"/>
              <a:t>Google</a:t>
            </a:r>
            <a:r>
              <a:rPr lang="zh-CN" altLang="en-US" b="1" smtClean="0"/>
              <a:t>用来衡量</a:t>
            </a:r>
          </a:p>
          <a:p>
            <a:pPr eaLnBrk="1" hangingPunct="1">
              <a:buFont typeface="Wingdings" pitchFamily="2" charset="2"/>
              <a:buNone/>
            </a:pPr>
            <a:r>
              <a:rPr lang="zh-CN" altLang="en-US" b="1" smtClean="0"/>
              <a:t>           一个网站的好坏的</a:t>
            </a:r>
            <a:r>
              <a:rPr lang="zh-CN" altLang="en-US" b="1" smtClean="0">
                <a:solidFill>
                  <a:srgbClr val="FF0000"/>
                </a:solidFill>
              </a:rPr>
              <a:t>唯</a:t>
            </a:r>
          </a:p>
          <a:p>
            <a:pPr eaLnBrk="1" hangingPunct="1">
              <a:buFont typeface="Wingdings" pitchFamily="2" charset="2"/>
              <a:buNone/>
            </a:pPr>
            <a:r>
              <a:rPr lang="zh-CN" altLang="en-US" b="1" smtClean="0">
                <a:solidFill>
                  <a:srgbClr val="FF0000"/>
                </a:solidFill>
              </a:rPr>
              <a:t>           一标准</a:t>
            </a:r>
            <a:r>
              <a:rPr lang="zh-CN" altLang="en-US" b="1" smtClean="0"/>
              <a:t>。</a:t>
            </a:r>
            <a:r>
              <a:rPr lang="zh-CN" altLang="en-US" smtClean="0"/>
              <a:t> </a:t>
            </a:r>
          </a:p>
        </p:txBody>
      </p:sp>
      <p:pic>
        <p:nvPicPr>
          <p:cNvPr id="13316" name="Picture 5" descr="PageRank专利人——拉里·佩奇"/>
          <p:cNvPicPr>
            <a:picLocks noChangeAspect="1" noChangeArrowheads="1"/>
          </p:cNvPicPr>
          <p:nvPr/>
        </p:nvPicPr>
        <p:blipFill>
          <a:blip r:embed="rId2" cstate="print"/>
          <a:srcRect/>
          <a:stretch>
            <a:fillRect/>
          </a:stretch>
        </p:blipFill>
        <p:spPr bwMode="auto">
          <a:xfrm>
            <a:off x="6156325" y="2205038"/>
            <a:ext cx="2592388" cy="2087562"/>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68313" y="417513"/>
            <a:ext cx="8229600" cy="1139825"/>
          </a:xfrm>
        </p:spPr>
        <p:txBody>
          <a:bodyPr/>
          <a:lstStyle/>
          <a:p>
            <a:pPr eaLnBrk="1" hangingPunct="1"/>
            <a:r>
              <a:rPr lang="en-US" altLang="zh-CN" smtClean="0"/>
              <a:t>Google</a:t>
            </a:r>
            <a:r>
              <a:rPr lang="zh-CN" altLang="en-US" smtClean="0"/>
              <a:t>的网页排序</a:t>
            </a:r>
          </a:p>
        </p:txBody>
      </p:sp>
      <p:sp>
        <p:nvSpPr>
          <p:cNvPr id="14339" name="Rectangle 3"/>
          <p:cNvSpPr>
            <a:spLocks noGrp="1" noChangeArrowheads="1"/>
          </p:cNvSpPr>
          <p:nvPr>
            <p:ph type="body" idx="1"/>
          </p:nvPr>
        </p:nvSpPr>
        <p:spPr>
          <a:xfrm>
            <a:off x="395288" y="1774825"/>
            <a:ext cx="8229600" cy="3886200"/>
          </a:xfrm>
        </p:spPr>
        <p:txBody>
          <a:bodyPr/>
          <a:lstStyle/>
          <a:p>
            <a:pPr eaLnBrk="1" hangingPunct="1"/>
            <a:r>
              <a:rPr lang="en-US" altLang="zh-CN" sz="2600" smtClean="0"/>
              <a:t>PageRank</a:t>
            </a:r>
            <a:r>
              <a:rPr lang="zh-CN" altLang="en-US" sz="2600" smtClean="0"/>
              <a:t>的</a:t>
            </a:r>
            <a:r>
              <a:rPr lang="zh-CN" altLang="en-US" sz="2600" smtClean="0">
                <a:solidFill>
                  <a:srgbClr val="FF0000"/>
                </a:solidFill>
              </a:rPr>
              <a:t>提出</a:t>
            </a:r>
          </a:p>
          <a:p>
            <a:pPr lvl="1" eaLnBrk="1" hangingPunct="1"/>
            <a:r>
              <a:rPr lang="en-US" altLang="zh-CN" sz="2600" smtClean="0"/>
              <a:t>Google</a:t>
            </a:r>
            <a:r>
              <a:rPr lang="zh-CN" altLang="en-US" sz="2600" smtClean="0"/>
              <a:t>的创始人之一</a:t>
            </a:r>
            <a:r>
              <a:rPr lang="en-US" altLang="zh-CN" sz="2600" smtClean="0"/>
              <a:t>Larry Page</a:t>
            </a:r>
            <a:r>
              <a:rPr lang="zh-CN" altLang="en-US" sz="2600" smtClean="0"/>
              <a:t>于</a:t>
            </a:r>
            <a:r>
              <a:rPr lang="en-US" altLang="zh-CN" sz="2600" smtClean="0">
                <a:solidFill>
                  <a:srgbClr val="FF0000"/>
                </a:solidFill>
              </a:rPr>
              <a:t>1998</a:t>
            </a:r>
            <a:r>
              <a:rPr lang="zh-CN" altLang="en-US" sz="2600" smtClean="0"/>
              <a:t>年提出了</a:t>
            </a:r>
            <a:r>
              <a:rPr lang="en-US" altLang="zh-CN" sz="2600" smtClean="0"/>
              <a:t>PageRank</a:t>
            </a:r>
            <a:r>
              <a:rPr lang="zh-CN" altLang="en-US" sz="2600" smtClean="0"/>
              <a:t>，并应用在</a:t>
            </a:r>
            <a:r>
              <a:rPr lang="en-US" altLang="zh-CN" sz="2600" smtClean="0"/>
              <a:t>Google</a:t>
            </a:r>
            <a:r>
              <a:rPr lang="zh-CN" altLang="en-US" sz="2600" smtClean="0"/>
              <a:t>搜索引擎的检索结果排序上，该技术也是</a:t>
            </a:r>
            <a:r>
              <a:rPr lang="en-US" altLang="zh-CN" sz="2600" smtClean="0">
                <a:solidFill>
                  <a:srgbClr val="FF0000"/>
                </a:solidFill>
              </a:rPr>
              <a:t>Google</a:t>
            </a:r>
            <a:r>
              <a:rPr lang="zh-CN" altLang="en-US" sz="2600" smtClean="0">
                <a:solidFill>
                  <a:srgbClr val="FF0000"/>
                </a:solidFill>
              </a:rPr>
              <a:t>早期的核心技术之一</a:t>
            </a:r>
          </a:p>
          <a:p>
            <a:pPr lvl="1" eaLnBrk="1" hangingPunct="1"/>
            <a:r>
              <a:rPr lang="en-US" altLang="zh-CN" sz="2600" smtClean="0"/>
              <a:t>Larry Page</a:t>
            </a:r>
            <a:r>
              <a:rPr lang="zh-CN" altLang="en-US" sz="2600" smtClean="0"/>
              <a:t>是</a:t>
            </a:r>
            <a:r>
              <a:rPr lang="en-US" altLang="zh-CN" sz="2600" smtClean="0"/>
              <a:t>Google</a:t>
            </a:r>
            <a:r>
              <a:rPr lang="zh-CN" altLang="en-US" sz="2600" smtClean="0"/>
              <a:t>的创始</a:t>
            </a:r>
            <a:r>
              <a:rPr lang="zh-CN" altLang="en-US" sz="2600" smtClean="0">
                <a:solidFill>
                  <a:srgbClr val="FF0000"/>
                </a:solidFill>
              </a:rPr>
              <a:t>首席执行官</a:t>
            </a:r>
            <a:r>
              <a:rPr lang="zh-CN" altLang="en-US" sz="2600" smtClean="0"/>
              <a:t>，</a:t>
            </a:r>
            <a:r>
              <a:rPr lang="en-US" altLang="zh-CN" sz="2600" smtClean="0"/>
              <a:t>2001</a:t>
            </a:r>
            <a:r>
              <a:rPr lang="zh-CN" altLang="en-US" sz="2600" smtClean="0"/>
              <a:t>年</a:t>
            </a:r>
            <a:r>
              <a:rPr lang="en-US" altLang="zh-CN" sz="2600" smtClean="0"/>
              <a:t>4</a:t>
            </a:r>
            <a:r>
              <a:rPr lang="zh-CN" altLang="en-US" sz="2600" smtClean="0"/>
              <a:t>月转任现职产品总裁。他目前仍与</a:t>
            </a:r>
            <a:r>
              <a:rPr lang="en-US" altLang="zh-CN" sz="2600" smtClean="0"/>
              <a:t>Eric Schmidt</a:t>
            </a:r>
            <a:r>
              <a:rPr lang="zh-CN" altLang="en-US" sz="2600" smtClean="0"/>
              <a:t>和</a:t>
            </a:r>
            <a:r>
              <a:rPr lang="en-US" altLang="zh-CN" sz="2600" smtClean="0"/>
              <a:t>Sergey Brin</a:t>
            </a:r>
            <a:r>
              <a:rPr lang="zh-CN" altLang="en-US" sz="2600" smtClean="0"/>
              <a:t>一起共同负责 </a:t>
            </a:r>
            <a:r>
              <a:rPr lang="en-US" altLang="zh-CN" sz="2600" smtClean="0"/>
              <a:t>Google</a:t>
            </a:r>
            <a:r>
              <a:rPr lang="zh-CN" altLang="en-US" sz="2600" smtClean="0"/>
              <a:t>的日常运作。他在斯坦福大学攻读计算机科学博士学位期间，遇到了</a:t>
            </a:r>
            <a:r>
              <a:rPr lang="en-US" altLang="zh-CN" sz="2600" smtClean="0"/>
              <a:t>Sergey Brin</a:t>
            </a:r>
            <a:r>
              <a:rPr lang="zh-CN" altLang="en-US" sz="2600" smtClean="0"/>
              <a:t>，他们于</a:t>
            </a:r>
            <a:r>
              <a:rPr lang="en-US" altLang="zh-CN" sz="2600" smtClean="0"/>
              <a:t>1998</a:t>
            </a:r>
            <a:r>
              <a:rPr lang="zh-CN" altLang="en-US" sz="2600" smtClean="0"/>
              <a:t>年合伙创立</a:t>
            </a:r>
            <a:r>
              <a:rPr lang="en-US" altLang="zh-CN" sz="2600" smtClean="0"/>
              <a:t>Google</a:t>
            </a:r>
            <a:r>
              <a:rPr lang="zh-CN" altLang="en-US" sz="2600" smtClean="0"/>
              <a:t>。</a:t>
            </a:r>
          </a:p>
        </p:txBody>
      </p:sp>
      <p:pic>
        <p:nvPicPr>
          <p:cNvPr id="14340" name="Picture 4"/>
          <p:cNvPicPr>
            <a:picLocks noChangeAspect="1" noChangeArrowheads="1"/>
          </p:cNvPicPr>
          <p:nvPr/>
        </p:nvPicPr>
        <p:blipFill>
          <a:blip r:embed="rId3" cstate="print"/>
          <a:srcRect/>
          <a:stretch>
            <a:fillRect/>
          </a:stretch>
        </p:blipFill>
        <p:spPr bwMode="auto">
          <a:xfrm>
            <a:off x="7092950" y="333375"/>
            <a:ext cx="1257300" cy="1676400"/>
          </a:xfrm>
          <a:prstGeom prst="rect">
            <a:avLst/>
          </a:prstGeom>
          <a:noFill/>
          <a:ln w="9525" algn="ctr">
            <a:noFill/>
            <a:miter lim="800000"/>
            <a:headEnd/>
            <a:tailEnd/>
          </a:ln>
        </p:spPr>
      </p:pic>
      <p:sp>
        <p:nvSpPr>
          <p:cNvPr id="14341" name="Line 5"/>
          <p:cNvSpPr>
            <a:spLocks noChangeShapeType="1"/>
          </p:cNvSpPr>
          <p:nvPr/>
        </p:nvSpPr>
        <p:spPr bwMode="auto">
          <a:xfrm flipV="1">
            <a:off x="4932363" y="1268413"/>
            <a:ext cx="2160587" cy="936625"/>
          </a:xfrm>
          <a:prstGeom prst="line">
            <a:avLst/>
          </a:prstGeom>
          <a:noFill/>
          <a:ln w="9525">
            <a:solidFill>
              <a:schemeClr val="tx1"/>
            </a:solidFill>
            <a:round/>
            <a:headEnd/>
            <a:tailEnd type="triangle" w="med" len="med"/>
          </a:ln>
        </p:spPr>
        <p:txBody>
          <a:bodyPr wrap="none" anchor="ctr"/>
          <a:lstStyle/>
          <a:p>
            <a:endParaRPr lang="zh-CN" altLang="en-US"/>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smtClean="0"/>
              <a:t>Pagerank</a:t>
            </a:r>
            <a:r>
              <a:rPr lang="zh-CN" altLang="en-US" smtClean="0"/>
              <a:t>算法原理：</a:t>
            </a:r>
          </a:p>
        </p:txBody>
      </p:sp>
      <p:pic>
        <p:nvPicPr>
          <p:cNvPr id="15363" name="Picture 4" descr="800px-PageRank-hi-res"/>
          <p:cNvPicPr>
            <a:picLocks noChangeAspect="1" noChangeArrowheads="1"/>
          </p:cNvPicPr>
          <p:nvPr/>
        </p:nvPicPr>
        <p:blipFill>
          <a:blip r:embed="rId2" cstate="print"/>
          <a:srcRect/>
          <a:stretch>
            <a:fillRect/>
          </a:stretch>
        </p:blipFill>
        <p:spPr bwMode="auto">
          <a:xfrm>
            <a:off x="611188" y="1773238"/>
            <a:ext cx="7620000" cy="47513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16387" name="Rectangle 3"/>
          <p:cNvSpPr>
            <a:spLocks noGrp="1" noChangeArrowheads="1"/>
          </p:cNvSpPr>
          <p:nvPr>
            <p:ph type="body" idx="1"/>
          </p:nvPr>
        </p:nvSpPr>
        <p:spPr/>
        <p:txBody>
          <a:bodyPr/>
          <a:lstStyle/>
          <a:p>
            <a:pPr eaLnBrk="1" hangingPunct="1"/>
            <a:r>
              <a:rPr lang="zh-CN" altLang="en-US" smtClean="0"/>
              <a:t>网页的</a:t>
            </a:r>
            <a:r>
              <a:rPr lang="en-US" altLang="zh-CN" smtClean="0"/>
              <a:t>PageRank</a:t>
            </a:r>
            <a:r>
              <a:rPr lang="zh-CN" altLang="en-US" smtClean="0"/>
              <a:t>值</a:t>
            </a:r>
          </a:p>
          <a:p>
            <a:pPr lvl="1" eaLnBrk="1" hangingPunct="1"/>
            <a:r>
              <a:rPr lang="en-US" altLang="zh-CN" smtClean="0"/>
              <a:t>PR</a:t>
            </a:r>
            <a:r>
              <a:rPr lang="zh-CN" altLang="en-US" smtClean="0"/>
              <a:t>值：</a:t>
            </a:r>
            <a:r>
              <a:rPr lang="zh-CN" altLang="en-US" smtClean="0">
                <a:solidFill>
                  <a:srgbClr val="FF0000"/>
                </a:solidFill>
              </a:rPr>
              <a:t>取值</a:t>
            </a:r>
            <a:r>
              <a:rPr lang="en-US" altLang="zh-CN" smtClean="0">
                <a:solidFill>
                  <a:srgbClr val="FF0000"/>
                </a:solidFill>
              </a:rPr>
              <a:t>0-10     </a:t>
            </a:r>
          </a:p>
          <a:p>
            <a:pPr lvl="1" eaLnBrk="1" hangingPunct="1"/>
            <a:r>
              <a:rPr lang="en-US" altLang="zh-CN" smtClean="0"/>
              <a:t>Google</a:t>
            </a:r>
            <a:r>
              <a:rPr lang="zh-CN" altLang="en-US" smtClean="0"/>
              <a:t>工具栏 </a:t>
            </a:r>
            <a:r>
              <a:rPr lang="en-US" altLang="zh-CN" smtClean="0">
                <a:solidFill>
                  <a:srgbClr val="FF0000"/>
                </a:solidFill>
              </a:rPr>
              <a:t>9  8</a:t>
            </a:r>
            <a:r>
              <a:rPr lang="en-US" altLang="zh-CN" smtClean="0"/>
              <a:t> </a:t>
            </a:r>
            <a:endParaRPr lang="zh-CN" altLang="en-US" smtClean="0"/>
          </a:p>
          <a:p>
            <a:pPr lvl="2" eaLnBrk="1" hangingPunct="1"/>
            <a:r>
              <a:rPr lang="en-US" altLang="en-US" smtClean="0">
                <a:hlinkClick r:id="rId2"/>
              </a:rPr>
              <a:t>http://</a:t>
            </a:r>
            <a:r>
              <a:rPr lang="en-US" altLang="zh-CN" smtClean="0">
                <a:hlinkClick r:id="rId2"/>
              </a:rPr>
              <a:t>toolbar.google.com</a:t>
            </a:r>
            <a:endParaRPr lang="en-US" altLang="zh-CN" smtClean="0"/>
          </a:p>
          <a:p>
            <a:pPr lvl="1" eaLnBrk="1" hangingPunct="1"/>
            <a:endParaRPr lang="en-US" altLang="zh-CN" smtClean="0"/>
          </a:p>
        </p:txBody>
      </p:sp>
      <p:pic>
        <p:nvPicPr>
          <p:cNvPr id="16388" name="Picture 4"/>
          <p:cNvPicPr>
            <a:picLocks noChangeAspect="1" noChangeArrowheads="1"/>
          </p:cNvPicPr>
          <p:nvPr/>
        </p:nvPicPr>
        <p:blipFill>
          <a:blip r:embed="rId3" cstate="print"/>
          <a:srcRect l="41937" t="14795" r="10600" b="65364"/>
          <a:stretch>
            <a:fillRect/>
          </a:stretch>
        </p:blipFill>
        <p:spPr bwMode="auto">
          <a:xfrm>
            <a:off x="4427538" y="1412875"/>
            <a:ext cx="4716462" cy="1528763"/>
          </a:xfrm>
          <a:prstGeom prst="rect">
            <a:avLst/>
          </a:prstGeom>
          <a:noFill/>
          <a:ln w="9525">
            <a:noFill/>
            <a:miter lim="800000"/>
            <a:headEnd/>
            <a:tailEnd/>
          </a:ln>
        </p:spPr>
      </p:pic>
      <p:pic>
        <p:nvPicPr>
          <p:cNvPr id="16389" name="Picture 5"/>
          <p:cNvPicPr>
            <a:picLocks noChangeAspect="1" noChangeArrowheads="1"/>
          </p:cNvPicPr>
          <p:nvPr/>
        </p:nvPicPr>
        <p:blipFill>
          <a:blip r:embed="rId4" cstate="print"/>
          <a:srcRect l="17360" t="13589" r="4521" b="62651"/>
          <a:stretch>
            <a:fillRect/>
          </a:stretch>
        </p:blipFill>
        <p:spPr bwMode="auto">
          <a:xfrm>
            <a:off x="900113" y="4149725"/>
            <a:ext cx="7704137" cy="1747838"/>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smtClean="0"/>
              <a:t>Pagerank</a:t>
            </a:r>
            <a:r>
              <a:rPr lang="zh-CN" altLang="en-US" smtClean="0"/>
              <a:t>算法相关概念</a:t>
            </a:r>
          </a:p>
        </p:txBody>
      </p:sp>
      <p:sp>
        <p:nvSpPr>
          <p:cNvPr id="17411" name="Rectangle 3"/>
          <p:cNvSpPr>
            <a:spLocks noGrp="1" noChangeArrowheads="1"/>
          </p:cNvSpPr>
          <p:nvPr>
            <p:ph type="body" idx="1"/>
          </p:nvPr>
        </p:nvSpPr>
        <p:spPr/>
        <p:txBody>
          <a:bodyPr/>
          <a:lstStyle/>
          <a:p>
            <a:pPr eaLnBrk="1" hangingPunct="1">
              <a:lnSpc>
                <a:spcPct val="80000"/>
              </a:lnSpc>
              <a:buFont typeface="Wingdings" pitchFamily="2" charset="2"/>
              <a:buNone/>
            </a:pPr>
            <a:r>
              <a:rPr lang="en-US" altLang="zh-CN" sz="2000" b="1" smtClean="0"/>
              <a:t>PR</a:t>
            </a:r>
            <a:r>
              <a:rPr lang="zh-CN" altLang="en-US" sz="2000" b="1" smtClean="0"/>
              <a:t>值：用来</a:t>
            </a:r>
            <a:r>
              <a:rPr lang="zh-CN" altLang="en-US" sz="2000" b="1" smtClean="0">
                <a:solidFill>
                  <a:srgbClr val="FF0000"/>
                </a:solidFill>
              </a:rPr>
              <a:t>评价网页的重要性</a:t>
            </a:r>
            <a:r>
              <a:rPr lang="zh-CN" altLang="en-US" sz="2000" b="1" smtClean="0"/>
              <a:t>，</a:t>
            </a:r>
            <a:r>
              <a:rPr lang="en-US" altLang="zh-CN" sz="2000" b="1" smtClean="0">
                <a:solidFill>
                  <a:srgbClr val="FF0000"/>
                </a:solidFill>
              </a:rPr>
              <a:t>PR</a:t>
            </a:r>
            <a:r>
              <a:rPr lang="zh-CN" altLang="en-US" sz="2000" b="1" smtClean="0">
                <a:solidFill>
                  <a:srgbClr val="FF0000"/>
                </a:solidFill>
              </a:rPr>
              <a:t>值越大越重要</a:t>
            </a:r>
            <a:r>
              <a:rPr lang="zh-CN" altLang="en-US" sz="2000" b="1" smtClean="0"/>
              <a:t>，其级别从</a:t>
            </a:r>
            <a:r>
              <a:rPr lang="en-US" altLang="zh-CN" sz="2000" b="1" smtClean="0"/>
              <a:t>0</a:t>
            </a:r>
            <a:r>
              <a:rPr lang="zh-CN" altLang="en-US" sz="2000" b="1" smtClean="0"/>
              <a:t>到</a:t>
            </a:r>
            <a:r>
              <a:rPr lang="en-US" altLang="zh-CN" sz="2000" b="1" smtClean="0"/>
              <a:t>10</a:t>
            </a:r>
            <a:r>
              <a:rPr lang="zh-CN" altLang="en-US" sz="2000" b="1" smtClean="0"/>
              <a:t>级。一般</a:t>
            </a:r>
            <a:r>
              <a:rPr lang="en-US" altLang="zh-CN" sz="2000" b="1" smtClean="0"/>
              <a:t>PR</a:t>
            </a:r>
            <a:r>
              <a:rPr lang="zh-CN" altLang="en-US" sz="2000" b="1" smtClean="0"/>
              <a:t>值</a:t>
            </a:r>
            <a:r>
              <a:rPr lang="zh-CN" altLang="en-US" sz="2000" b="1" smtClean="0">
                <a:solidFill>
                  <a:srgbClr val="FF0000"/>
                </a:solidFill>
              </a:rPr>
              <a:t>达到</a:t>
            </a:r>
            <a:r>
              <a:rPr lang="en-US" altLang="zh-CN" sz="2000" b="1" smtClean="0">
                <a:solidFill>
                  <a:srgbClr val="FF0000"/>
                </a:solidFill>
              </a:rPr>
              <a:t>4</a:t>
            </a:r>
            <a:r>
              <a:rPr lang="zh-CN" altLang="en-US" sz="2000" b="1" smtClean="0"/>
              <a:t>，就</a:t>
            </a:r>
            <a:r>
              <a:rPr lang="zh-CN" altLang="en-US" sz="2000" b="1" smtClean="0">
                <a:solidFill>
                  <a:srgbClr val="FF0000"/>
                </a:solidFill>
              </a:rPr>
              <a:t>算是一个不错的网站了</a:t>
            </a:r>
            <a:r>
              <a:rPr lang="zh-CN" altLang="en-US" sz="2000" b="1" smtClean="0"/>
              <a:t>。</a:t>
            </a:r>
            <a:r>
              <a:rPr lang="en-US" altLang="zh-CN" sz="2000" b="1" smtClean="0"/>
              <a:t>Google</a:t>
            </a:r>
            <a:r>
              <a:rPr lang="zh-CN" altLang="en-US" sz="2000" b="1" smtClean="0"/>
              <a:t>把自己的网站的</a:t>
            </a:r>
            <a:r>
              <a:rPr lang="en-US" altLang="zh-CN" sz="2000" b="1" smtClean="0"/>
              <a:t>PR</a:t>
            </a:r>
            <a:r>
              <a:rPr lang="zh-CN" altLang="en-US" sz="2000" b="1" smtClean="0"/>
              <a:t>值定到</a:t>
            </a:r>
            <a:r>
              <a:rPr lang="en-US" altLang="zh-CN" sz="2000" b="1" smtClean="0"/>
              <a:t>10</a:t>
            </a:r>
            <a:r>
              <a:rPr lang="zh-CN" altLang="en-US" sz="2000" b="1" smtClean="0"/>
              <a:t>，这说明</a:t>
            </a:r>
            <a:r>
              <a:rPr lang="en-US" altLang="zh-CN" sz="2000" b="1" smtClean="0"/>
              <a:t>Google</a:t>
            </a:r>
            <a:r>
              <a:rPr lang="zh-CN" altLang="en-US" sz="2000" b="1" smtClean="0"/>
              <a:t>这个网站是非常受欢迎的，也可以说这个网站非常重要。</a:t>
            </a:r>
            <a:r>
              <a:rPr lang="zh-CN" altLang="en-US" sz="2000" smtClean="0"/>
              <a:t> </a:t>
            </a:r>
            <a:endParaRPr lang="zh-CN" altLang="en-US" sz="2000" b="1" smtClean="0"/>
          </a:p>
          <a:p>
            <a:pPr eaLnBrk="1" hangingPunct="1">
              <a:lnSpc>
                <a:spcPct val="80000"/>
              </a:lnSpc>
              <a:buFont typeface="Wingdings" pitchFamily="2" charset="2"/>
              <a:buNone/>
            </a:pPr>
            <a:endParaRPr lang="zh-CN" altLang="en-US" sz="2000" b="1" smtClean="0"/>
          </a:p>
          <a:p>
            <a:pPr eaLnBrk="1" hangingPunct="1">
              <a:lnSpc>
                <a:spcPct val="80000"/>
              </a:lnSpc>
              <a:buFont typeface="Wingdings" pitchFamily="2" charset="2"/>
              <a:buNone/>
            </a:pPr>
            <a:r>
              <a:rPr lang="zh-CN" altLang="en-US" sz="2000" b="1" smtClean="0"/>
              <a:t>阻尼因子：</a:t>
            </a:r>
            <a:r>
              <a:rPr lang="en-US" altLang="zh-CN" sz="2000" b="1" smtClean="0"/>
              <a:t>(damping factor)</a:t>
            </a:r>
            <a:r>
              <a:rPr lang="zh-CN" altLang="en-US" sz="2000" smtClean="0"/>
              <a:t>其值为</a:t>
            </a:r>
            <a:r>
              <a:rPr lang="en-US" altLang="zh-CN" sz="2000" smtClean="0">
                <a:solidFill>
                  <a:srgbClr val="FF0000"/>
                </a:solidFill>
              </a:rPr>
              <a:t>0.85</a:t>
            </a:r>
          </a:p>
          <a:p>
            <a:pPr eaLnBrk="1" hangingPunct="1">
              <a:lnSpc>
                <a:spcPct val="80000"/>
              </a:lnSpc>
            </a:pPr>
            <a:r>
              <a:rPr lang="en-US" altLang="zh-CN" sz="2000" smtClean="0"/>
              <a:t>    </a:t>
            </a:r>
            <a:r>
              <a:rPr lang="en-US" altLang="en-US" sz="2000" smtClean="0"/>
              <a:t>阻尼系数d定义为用户不断</a:t>
            </a:r>
            <a:r>
              <a:rPr lang="en-US" altLang="en-US" sz="2000" smtClean="0">
                <a:solidFill>
                  <a:srgbClr val="FF0000"/>
                </a:solidFill>
              </a:rPr>
              <a:t>随机点击链接的概率</a:t>
            </a:r>
            <a:r>
              <a:rPr lang="en-US" altLang="en-US" sz="2000" smtClean="0"/>
              <a:t>，所以，它取决于点击的次数，</a:t>
            </a:r>
            <a:r>
              <a:rPr lang="en-US" altLang="en-US" sz="2000" smtClean="0">
                <a:solidFill>
                  <a:srgbClr val="FF0000"/>
                </a:solidFill>
              </a:rPr>
              <a:t>被设定为0-1之间</a:t>
            </a:r>
            <a:r>
              <a:rPr lang="en-US" altLang="en-US" sz="2000" smtClean="0"/>
              <a:t>。d的值越高，继续点击链接的概率就越大。因此，用户</a:t>
            </a:r>
            <a:r>
              <a:rPr lang="en-US" altLang="en-US" sz="2000" smtClean="0">
                <a:solidFill>
                  <a:srgbClr val="FF0000"/>
                </a:solidFill>
              </a:rPr>
              <a:t>停止点击并随机冲浪至另一页面的概率在式子中</a:t>
            </a:r>
            <a:r>
              <a:rPr lang="en-US" altLang="en-US" sz="2000" smtClean="0"/>
              <a:t>用常数</a:t>
            </a:r>
            <a:r>
              <a:rPr lang="en-US" altLang="en-US" sz="2000" smtClean="0">
                <a:solidFill>
                  <a:srgbClr val="FF0000"/>
                </a:solidFill>
              </a:rPr>
              <a:t>(1-d)</a:t>
            </a:r>
            <a:r>
              <a:rPr lang="en-US" altLang="en-US" sz="2000" smtClean="0"/>
              <a:t>表示。无论入站链接如何，随机冲浪至一个页面的概率总是(1-d)。(1-d)本身也就是页面本身所具有的PageRank值。</a:t>
            </a:r>
          </a:p>
          <a:p>
            <a:pPr eaLnBrk="1" hangingPunct="1">
              <a:lnSpc>
                <a:spcPct val="80000"/>
              </a:lnSpc>
            </a:pPr>
            <a:endParaRPr lang="en-US" altLang="en-US" sz="2000" smtClean="0"/>
          </a:p>
          <a:p>
            <a:pPr eaLnBrk="1" hangingPunct="1">
              <a:lnSpc>
                <a:spcPct val="80000"/>
              </a:lnSpc>
              <a:buFont typeface="Wingdings" pitchFamily="2" charset="2"/>
              <a:buNone/>
            </a:pPr>
            <a:endParaRPr lang="zh-CN" altLang="en-US" sz="2000" smtClean="0"/>
          </a:p>
          <a:p>
            <a:pPr eaLnBrk="1" hangingPunct="1">
              <a:lnSpc>
                <a:spcPct val="80000"/>
              </a:lnSpc>
              <a:buFont typeface="Wingdings" pitchFamily="2" charset="2"/>
              <a:buNone/>
            </a:pPr>
            <a:r>
              <a:rPr lang="zh-CN" altLang="en-US" sz="2000" smtClean="0"/>
              <a:t>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smtClean="0"/>
              <a:t>Pagerank</a:t>
            </a:r>
            <a:r>
              <a:rPr lang="zh-CN" altLang="en-US" smtClean="0"/>
              <a:t>核心思想</a:t>
            </a:r>
          </a:p>
        </p:txBody>
      </p:sp>
      <p:sp>
        <p:nvSpPr>
          <p:cNvPr id="18435" name="Rectangle 3"/>
          <p:cNvSpPr>
            <a:spLocks noGrp="1" noChangeArrowheads="1"/>
          </p:cNvSpPr>
          <p:nvPr>
            <p:ph type="body" idx="1"/>
          </p:nvPr>
        </p:nvSpPr>
        <p:spPr/>
        <p:txBody>
          <a:bodyPr/>
          <a:lstStyle/>
          <a:p>
            <a:pPr marL="0" indent="0" eaLnBrk="1" hangingPunct="1">
              <a:lnSpc>
                <a:spcPts val="2800"/>
              </a:lnSpc>
              <a:buFont typeface="Wingdings" pitchFamily="2" charset="2"/>
              <a:buNone/>
            </a:pPr>
            <a:r>
              <a:rPr lang="en-US" altLang="zh-CN" sz="2400" b="1" smtClean="0"/>
              <a:t>           </a:t>
            </a:r>
            <a:r>
              <a:rPr lang="en-US" altLang="en-US" sz="2400" b="1" smtClean="0">
                <a:solidFill>
                  <a:srgbClr val="FF0000"/>
                </a:solidFill>
              </a:rPr>
              <a:t>PageRank</a:t>
            </a:r>
            <a:r>
              <a:rPr lang="en-US" altLang="en-US" sz="2400" b="1" smtClean="0"/>
              <a:t>通过</a:t>
            </a:r>
            <a:r>
              <a:rPr lang="en-US" altLang="en-US" sz="2400" b="1" smtClean="0">
                <a:solidFill>
                  <a:srgbClr val="FF0000"/>
                </a:solidFill>
              </a:rPr>
              <a:t>网络浩瀚的超链接关系</a:t>
            </a:r>
            <a:r>
              <a:rPr lang="en-US" altLang="en-US" sz="2400" b="1" smtClean="0"/>
              <a:t>来确定一个</a:t>
            </a:r>
            <a:r>
              <a:rPr lang="en-US" altLang="en-US" sz="2400" b="1" smtClean="0">
                <a:solidFill>
                  <a:srgbClr val="FF0000"/>
                </a:solidFill>
              </a:rPr>
              <a:t>页面</a:t>
            </a:r>
            <a:r>
              <a:rPr lang="en-US" altLang="en-US" sz="2400" b="1" smtClean="0"/>
              <a:t>的</a:t>
            </a:r>
            <a:r>
              <a:rPr lang="en-US" altLang="en-US" sz="2400" b="1" smtClean="0">
                <a:solidFill>
                  <a:srgbClr val="FF0000"/>
                </a:solidFill>
              </a:rPr>
              <a:t>等级</a:t>
            </a:r>
            <a:r>
              <a:rPr lang="en-US" altLang="en-US" sz="2400" b="1" smtClean="0"/>
              <a:t>。Google把从</a:t>
            </a:r>
            <a:r>
              <a:rPr lang="en-US" altLang="en-US" sz="2400" b="1" smtClean="0">
                <a:solidFill>
                  <a:srgbClr val="FF0000"/>
                </a:solidFill>
              </a:rPr>
              <a:t>A页面到B页面的链接</a:t>
            </a:r>
            <a:r>
              <a:rPr lang="en-US" altLang="en-US" sz="2400" b="1" smtClean="0"/>
              <a:t>解释为</a:t>
            </a:r>
            <a:r>
              <a:rPr lang="en-US" altLang="en-US" sz="2400" b="1" smtClean="0">
                <a:solidFill>
                  <a:srgbClr val="FF0000"/>
                </a:solidFill>
              </a:rPr>
              <a:t>A页面给B页面投票</a:t>
            </a:r>
            <a:r>
              <a:rPr lang="en-US" altLang="en-US" sz="2400" b="1" smtClean="0"/>
              <a:t>，Google根据</a:t>
            </a:r>
            <a:r>
              <a:rPr lang="en-US" altLang="en-US" sz="2400" b="1" smtClean="0">
                <a:solidFill>
                  <a:srgbClr val="FF0000"/>
                </a:solidFill>
              </a:rPr>
              <a:t>投票来源</a:t>
            </a:r>
            <a:r>
              <a:rPr lang="en-US" altLang="en-US" sz="2400" b="1" smtClean="0"/>
              <a:t>（甚至来源的来源，即链接到A页面的页面）和</a:t>
            </a:r>
            <a:r>
              <a:rPr lang="en-US" altLang="en-US" sz="2400" b="1" smtClean="0">
                <a:solidFill>
                  <a:srgbClr val="FF0000"/>
                </a:solidFill>
              </a:rPr>
              <a:t>投票目标的等级</a:t>
            </a:r>
            <a:r>
              <a:rPr lang="en-US" altLang="en-US" sz="2400" b="1" smtClean="0"/>
              <a:t>来决定新的等级。这样，PageRank会根据网页B所收到的</a:t>
            </a:r>
            <a:r>
              <a:rPr lang="en-US" altLang="en-US" sz="2400" b="1" smtClean="0">
                <a:solidFill>
                  <a:srgbClr val="FF0000"/>
                </a:solidFill>
              </a:rPr>
              <a:t>投票数量来</a:t>
            </a:r>
            <a:r>
              <a:rPr lang="en-US" altLang="en-US" sz="2400" b="1" smtClean="0"/>
              <a:t>评估该网页的重要性。此外，PageRank还会评估每个投票网页的重要性，因为</a:t>
            </a:r>
            <a:r>
              <a:rPr lang="en-US" altLang="en-US" sz="2400" b="1" smtClean="0">
                <a:solidFill>
                  <a:srgbClr val="FF0000"/>
                </a:solidFill>
              </a:rPr>
              <a:t>某些重要网页的投票被认为具有较高的价值，这样，它所链接的网页就能获得较高的价值</a:t>
            </a:r>
            <a:r>
              <a:rPr lang="en-US" altLang="en-US" sz="2400" b="1" smtClean="0"/>
              <a:t>。这就是PageRank的核心思想，当然PageRank算法的实际实现上要复杂很多。</a:t>
            </a:r>
            <a:endParaRPr lang="zh-CN" altLang="en-US" sz="240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b="1" smtClean="0"/>
              <a:t>PageRank</a:t>
            </a:r>
            <a:r>
              <a:rPr lang="zh-CN" altLang="en-US" smtClean="0"/>
              <a:t>简单计算： </a:t>
            </a:r>
          </a:p>
        </p:txBody>
      </p:sp>
      <p:sp>
        <p:nvSpPr>
          <p:cNvPr id="19459" name="Rectangle 3"/>
          <p:cNvSpPr>
            <a:spLocks noGrp="1" noChangeArrowheads="1"/>
          </p:cNvSpPr>
          <p:nvPr>
            <p:ph type="body" idx="1"/>
          </p:nvPr>
        </p:nvSpPr>
        <p:spPr>
          <a:xfrm>
            <a:off x="468313" y="1989138"/>
            <a:ext cx="8229600" cy="4392612"/>
          </a:xfrm>
        </p:spPr>
        <p:txBody>
          <a:bodyPr/>
          <a:lstStyle/>
          <a:p>
            <a:pPr eaLnBrk="1" hangingPunct="1">
              <a:lnSpc>
                <a:spcPct val="80000"/>
              </a:lnSpc>
              <a:buFont typeface="Wingdings" pitchFamily="2" charset="2"/>
              <a:buNone/>
            </a:pPr>
            <a:endParaRPr lang="en-US" altLang="zh-CN" sz="2000" smtClean="0"/>
          </a:p>
          <a:p>
            <a:pPr eaLnBrk="1" hangingPunct="1">
              <a:lnSpc>
                <a:spcPct val="80000"/>
              </a:lnSpc>
            </a:pPr>
            <a:r>
              <a:rPr lang="zh-CN" altLang="en-US" sz="2000" b="1" smtClean="0"/>
              <a:t>假设一个由只有</a:t>
            </a:r>
            <a:r>
              <a:rPr lang="en-US" altLang="zh-CN" sz="2000" b="1" smtClean="0"/>
              <a:t>4</a:t>
            </a:r>
            <a:r>
              <a:rPr lang="zh-CN" altLang="en-US" sz="2000" b="1" smtClean="0"/>
              <a:t>个页面组成的集合：</a:t>
            </a:r>
            <a:r>
              <a:rPr lang="en-US" altLang="zh-CN" sz="2000" b="1" smtClean="0"/>
              <a:t>A</a:t>
            </a:r>
            <a:r>
              <a:rPr lang="zh-CN" altLang="en-US" sz="2000" b="1" smtClean="0"/>
              <a:t>，</a:t>
            </a:r>
            <a:r>
              <a:rPr lang="en-US" altLang="zh-CN" sz="2000" b="1" smtClean="0"/>
              <a:t>B</a:t>
            </a:r>
            <a:r>
              <a:rPr lang="zh-CN" altLang="en-US" sz="2000" b="1" smtClean="0"/>
              <a:t>，</a:t>
            </a:r>
            <a:r>
              <a:rPr lang="en-US" altLang="zh-CN" sz="2000" b="1" smtClean="0"/>
              <a:t>C</a:t>
            </a:r>
            <a:r>
              <a:rPr lang="zh-CN" altLang="en-US" sz="2000" b="1" smtClean="0"/>
              <a:t>和</a:t>
            </a:r>
            <a:r>
              <a:rPr lang="en-US" altLang="zh-CN" sz="2000" b="1" smtClean="0"/>
              <a:t>D</a:t>
            </a:r>
            <a:r>
              <a:rPr lang="zh-CN" altLang="en-US" sz="2000" b="1" smtClean="0"/>
              <a:t>。如果所有页面都链向</a:t>
            </a:r>
            <a:r>
              <a:rPr lang="en-US" altLang="zh-CN" sz="2000" b="1" smtClean="0"/>
              <a:t>A</a:t>
            </a:r>
            <a:r>
              <a:rPr lang="zh-CN" altLang="en-US" sz="2000" b="1" smtClean="0"/>
              <a:t>，那么</a:t>
            </a:r>
            <a:r>
              <a:rPr lang="en-US" altLang="zh-CN" sz="2000" b="1" smtClean="0"/>
              <a:t>A</a:t>
            </a:r>
            <a:r>
              <a:rPr lang="zh-CN" altLang="en-US" sz="2000" b="1" smtClean="0"/>
              <a:t>的</a:t>
            </a:r>
            <a:r>
              <a:rPr lang="en-US" altLang="zh-CN" sz="2000" b="1" smtClean="0"/>
              <a:t>PR</a:t>
            </a:r>
            <a:r>
              <a:rPr lang="zh-CN" altLang="en-US" sz="2000" b="1" smtClean="0"/>
              <a:t>（</a:t>
            </a:r>
            <a:r>
              <a:rPr lang="en-US" altLang="zh-CN" sz="2000" b="1" smtClean="0"/>
              <a:t>PageRank</a:t>
            </a:r>
            <a:r>
              <a:rPr lang="zh-CN" altLang="en-US" sz="2000" b="1" smtClean="0"/>
              <a:t>）值将是</a:t>
            </a:r>
            <a:r>
              <a:rPr lang="en-US" altLang="zh-CN" sz="2000" b="1" smtClean="0"/>
              <a:t>B</a:t>
            </a:r>
            <a:r>
              <a:rPr lang="zh-CN" altLang="en-US" sz="2000" b="1" smtClean="0"/>
              <a:t>，</a:t>
            </a:r>
            <a:r>
              <a:rPr lang="en-US" altLang="zh-CN" sz="2000" b="1" smtClean="0"/>
              <a:t>C</a:t>
            </a:r>
            <a:r>
              <a:rPr lang="zh-CN" altLang="en-US" sz="2000" b="1" smtClean="0"/>
              <a:t>及</a:t>
            </a:r>
            <a:r>
              <a:rPr lang="en-US" altLang="zh-CN" sz="2000" b="1" smtClean="0"/>
              <a:t>D</a:t>
            </a:r>
            <a:r>
              <a:rPr lang="zh-CN" altLang="en-US" sz="2000" b="1" smtClean="0"/>
              <a:t>的和。</a:t>
            </a:r>
          </a:p>
          <a:p>
            <a:pPr eaLnBrk="1" hangingPunct="1">
              <a:lnSpc>
                <a:spcPct val="80000"/>
              </a:lnSpc>
              <a:buFont typeface="Wingdings" pitchFamily="2" charset="2"/>
              <a:buNone/>
            </a:pPr>
            <a:r>
              <a:rPr lang="zh-CN" altLang="en-US" sz="2000" smtClean="0"/>
              <a:t>         </a:t>
            </a:r>
          </a:p>
          <a:p>
            <a:pPr eaLnBrk="1" hangingPunct="1">
              <a:lnSpc>
                <a:spcPct val="80000"/>
              </a:lnSpc>
              <a:buFont typeface="Wingdings" pitchFamily="2" charset="2"/>
              <a:buNone/>
            </a:pPr>
            <a:endParaRPr lang="zh-CN" altLang="en-US" sz="2000" smtClean="0"/>
          </a:p>
          <a:p>
            <a:pPr eaLnBrk="1" hangingPunct="1">
              <a:lnSpc>
                <a:spcPct val="80000"/>
              </a:lnSpc>
            </a:pPr>
            <a:r>
              <a:rPr lang="zh-CN" altLang="en-US" sz="2000" b="1" smtClean="0"/>
              <a:t>继续假设</a:t>
            </a:r>
            <a:r>
              <a:rPr lang="en-US" altLang="zh-CN" sz="2000" b="1" smtClean="0"/>
              <a:t>B</a:t>
            </a:r>
            <a:r>
              <a:rPr lang="zh-CN" altLang="en-US" sz="2000" b="1" smtClean="0"/>
              <a:t>也有链接到</a:t>
            </a:r>
            <a:r>
              <a:rPr lang="en-US" altLang="zh-CN" sz="2000" b="1" smtClean="0"/>
              <a:t>C</a:t>
            </a:r>
            <a:r>
              <a:rPr lang="zh-CN" altLang="en-US" sz="2000" b="1" smtClean="0"/>
              <a:t>，并且</a:t>
            </a:r>
            <a:r>
              <a:rPr lang="en-US" altLang="zh-CN" sz="2000" b="1" smtClean="0"/>
              <a:t>D</a:t>
            </a:r>
            <a:r>
              <a:rPr lang="zh-CN" altLang="en-US" sz="2000" b="1" smtClean="0"/>
              <a:t>也有链接到包括</a:t>
            </a:r>
            <a:r>
              <a:rPr lang="en-US" altLang="zh-CN" sz="2000" b="1" smtClean="0"/>
              <a:t>A</a:t>
            </a:r>
            <a:r>
              <a:rPr lang="zh-CN" altLang="en-US" sz="2000" b="1" smtClean="0"/>
              <a:t>的</a:t>
            </a:r>
            <a:r>
              <a:rPr lang="en-US" altLang="zh-CN" sz="2000" b="1" smtClean="0"/>
              <a:t>3</a:t>
            </a:r>
            <a:r>
              <a:rPr lang="zh-CN" altLang="en-US" sz="2000" b="1" smtClean="0"/>
              <a:t>个页面。一个页面不能投票</a:t>
            </a:r>
            <a:r>
              <a:rPr lang="en-US" altLang="zh-CN" sz="2000" b="1" smtClean="0"/>
              <a:t>2</a:t>
            </a:r>
            <a:r>
              <a:rPr lang="zh-CN" altLang="en-US" sz="2000" b="1" smtClean="0"/>
              <a:t>次。所以</a:t>
            </a:r>
            <a:r>
              <a:rPr lang="en-US" altLang="zh-CN" sz="2000" b="1" smtClean="0">
                <a:solidFill>
                  <a:srgbClr val="FF0000"/>
                </a:solidFill>
              </a:rPr>
              <a:t>B</a:t>
            </a:r>
            <a:r>
              <a:rPr lang="zh-CN" altLang="en-US" sz="2000" b="1" smtClean="0">
                <a:solidFill>
                  <a:srgbClr val="FF0000"/>
                </a:solidFill>
              </a:rPr>
              <a:t>给</a:t>
            </a:r>
            <a:r>
              <a:rPr lang="zh-CN" altLang="en-US" sz="2000" b="1" smtClean="0"/>
              <a:t>每个页面</a:t>
            </a:r>
            <a:r>
              <a:rPr lang="zh-CN" altLang="en-US" sz="2000" b="1" smtClean="0">
                <a:solidFill>
                  <a:srgbClr val="FF0000"/>
                </a:solidFill>
              </a:rPr>
              <a:t>半票。</a:t>
            </a:r>
            <a:r>
              <a:rPr lang="zh-CN" altLang="en-US" sz="2000" b="1" smtClean="0"/>
              <a:t>以同样的逻辑，</a:t>
            </a:r>
            <a:r>
              <a:rPr lang="en-US" altLang="zh-CN" sz="2000" b="1" smtClean="0">
                <a:solidFill>
                  <a:srgbClr val="FF0000"/>
                </a:solidFill>
              </a:rPr>
              <a:t>D</a:t>
            </a:r>
            <a:r>
              <a:rPr lang="zh-CN" altLang="en-US" sz="2000" b="1" smtClean="0"/>
              <a:t>投出的票只有</a:t>
            </a:r>
            <a:r>
              <a:rPr lang="zh-CN" altLang="en-US" sz="2000" b="1" smtClean="0">
                <a:solidFill>
                  <a:srgbClr val="FF0000"/>
                </a:solidFill>
              </a:rPr>
              <a:t>三分之一</a:t>
            </a:r>
            <a:r>
              <a:rPr lang="zh-CN" altLang="en-US" sz="2000" b="1" smtClean="0"/>
              <a:t>算到了</a:t>
            </a:r>
            <a:r>
              <a:rPr lang="en-US" altLang="zh-CN" sz="2000" b="1" smtClean="0"/>
              <a:t>A</a:t>
            </a:r>
            <a:r>
              <a:rPr lang="zh-CN" altLang="en-US" sz="2000" b="1" smtClean="0"/>
              <a:t>的</a:t>
            </a:r>
            <a:r>
              <a:rPr lang="en-US" altLang="zh-CN" sz="2000" b="1" smtClean="0"/>
              <a:t>PageRank</a:t>
            </a:r>
            <a:r>
              <a:rPr lang="zh-CN" altLang="en-US" sz="2000" b="1" smtClean="0"/>
              <a:t>上。</a:t>
            </a:r>
            <a:endParaRPr lang="zh-CN" altLang="en-US" sz="2000" smtClean="0"/>
          </a:p>
          <a:p>
            <a:pPr eaLnBrk="1" hangingPunct="1">
              <a:lnSpc>
                <a:spcPct val="80000"/>
              </a:lnSpc>
              <a:buFont typeface="Wingdings" pitchFamily="2" charset="2"/>
              <a:buNone/>
            </a:pPr>
            <a:r>
              <a:rPr lang="zh-CN" altLang="en-US" sz="2000" smtClean="0"/>
              <a:t>               </a:t>
            </a:r>
          </a:p>
          <a:p>
            <a:pPr eaLnBrk="1" hangingPunct="1">
              <a:lnSpc>
                <a:spcPct val="80000"/>
              </a:lnSpc>
              <a:buFont typeface="Wingdings" pitchFamily="2" charset="2"/>
              <a:buNone/>
            </a:pPr>
            <a:endParaRPr lang="zh-CN" altLang="en-US" sz="2000" smtClean="0"/>
          </a:p>
          <a:p>
            <a:pPr eaLnBrk="1" hangingPunct="1">
              <a:lnSpc>
                <a:spcPct val="80000"/>
              </a:lnSpc>
              <a:buFont typeface="Wingdings" pitchFamily="2" charset="2"/>
              <a:buNone/>
            </a:pPr>
            <a:endParaRPr lang="zh-CN" altLang="en-US" sz="2000" smtClean="0"/>
          </a:p>
          <a:p>
            <a:pPr eaLnBrk="1" hangingPunct="1">
              <a:lnSpc>
                <a:spcPct val="80000"/>
              </a:lnSpc>
            </a:pPr>
            <a:r>
              <a:rPr lang="zh-CN" altLang="en-US" sz="2000" b="1" smtClean="0"/>
              <a:t>换句话说，</a:t>
            </a:r>
            <a:r>
              <a:rPr lang="zh-CN" altLang="en-US" sz="2000" b="1" smtClean="0">
                <a:solidFill>
                  <a:srgbClr val="FF0000"/>
                </a:solidFill>
              </a:rPr>
              <a:t>根据链出总数平分一个页面的</a:t>
            </a:r>
            <a:r>
              <a:rPr lang="en-US" altLang="zh-CN" sz="2000" b="1" smtClean="0">
                <a:solidFill>
                  <a:srgbClr val="FF0000"/>
                </a:solidFill>
              </a:rPr>
              <a:t>PR</a:t>
            </a:r>
            <a:r>
              <a:rPr lang="zh-CN" altLang="en-US" sz="2000" b="1" smtClean="0">
                <a:solidFill>
                  <a:srgbClr val="FF0000"/>
                </a:solidFill>
              </a:rPr>
              <a:t>值</a:t>
            </a:r>
            <a:r>
              <a:rPr lang="zh-CN" altLang="en-US" sz="2000" b="1" smtClean="0"/>
              <a:t>。</a:t>
            </a:r>
          </a:p>
          <a:p>
            <a:pPr eaLnBrk="1" hangingPunct="1">
              <a:lnSpc>
                <a:spcPct val="80000"/>
              </a:lnSpc>
              <a:buFont typeface="Wingdings" pitchFamily="2" charset="2"/>
              <a:buNone/>
            </a:pPr>
            <a:r>
              <a:rPr lang="zh-CN" altLang="en-US" sz="2000" smtClean="0"/>
              <a:t>   </a:t>
            </a:r>
          </a:p>
          <a:p>
            <a:pPr eaLnBrk="1" fontAlgn="ctr" hangingPunct="1">
              <a:lnSpc>
                <a:spcPct val="80000"/>
              </a:lnSpc>
              <a:buFont typeface="Wingdings" pitchFamily="2" charset="2"/>
              <a:buNone/>
            </a:pPr>
            <a:r>
              <a:rPr lang="zh-CN" altLang="en-US" sz="2000" smtClean="0"/>
              <a:t>              </a:t>
            </a:r>
          </a:p>
        </p:txBody>
      </p:sp>
      <p:pic>
        <p:nvPicPr>
          <p:cNvPr id="19460" name="Picture 4"/>
          <p:cNvPicPr>
            <a:picLocks noChangeAspect="1" noChangeArrowheads="1"/>
          </p:cNvPicPr>
          <p:nvPr/>
        </p:nvPicPr>
        <p:blipFill>
          <a:blip r:embed="rId2" cstate="print"/>
          <a:srcRect/>
          <a:stretch>
            <a:fillRect/>
          </a:stretch>
        </p:blipFill>
        <p:spPr bwMode="auto">
          <a:xfrm>
            <a:off x="2411413" y="2852738"/>
            <a:ext cx="3667125" cy="466725"/>
          </a:xfrm>
          <a:prstGeom prst="rect">
            <a:avLst/>
          </a:prstGeom>
          <a:noFill/>
          <a:ln w="9525">
            <a:noFill/>
            <a:miter lim="800000"/>
            <a:headEnd/>
            <a:tailEnd/>
          </a:ln>
        </p:spPr>
      </p:pic>
      <p:pic>
        <p:nvPicPr>
          <p:cNvPr id="19461" name="Picture 7"/>
          <p:cNvPicPr>
            <a:picLocks noChangeAspect="1" noChangeArrowheads="1"/>
          </p:cNvPicPr>
          <p:nvPr/>
        </p:nvPicPr>
        <p:blipFill>
          <a:blip r:embed="rId3" cstate="print"/>
          <a:srcRect/>
          <a:stretch>
            <a:fillRect/>
          </a:stretch>
        </p:blipFill>
        <p:spPr bwMode="auto">
          <a:xfrm>
            <a:off x="2051050" y="4365625"/>
            <a:ext cx="4505325" cy="695325"/>
          </a:xfrm>
          <a:prstGeom prst="rect">
            <a:avLst/>
          </a:prstGeom>
          <a:noFill/>
          <a:ln w="9525">
            <a:noFill/>
            <a:miter lim="800000"/>
            <a:headEnd/>
            <a:tailEnd/>
          </a:ln>
        </p:spPr>
      </p:pic>
      <p:pic>
        <p:nvPicPr>
          <p:cNvPr id="19462" name="Picture 8"/>
          <p:cNvPicPr>
            <a:picLocks noChangeAspect="1" noChangeArrowheads="1"/>
          </p:cNvPicPr>
          <p:nvPr/>
        </p:nvPicPr>
        <p:blipFill>
          <a:blip r:embed="rId4" cstate="print"/>
          <a:srcRect/>
          <a:stretch>
            <a:fillRect/>
          </a:stretch>
        </p:blipFill>
        <p:spPr bwMode="auto">
          <a:xfrm>
            <a:off x="2195513" y="5661025"/>
            <a:ext cx="3800475" cy="685800"/>
          </a:xfrm>
          <a:prstGeom prst="rect">
            <a:avLst/>
          </a:prstGeom>
          <a:noFill/>
          <a:ln w="9525">
            <a:noFill/>
            <a:miter lim="800000"/>
            <a:headEnd/>
            <a:tailEnd/>
          </a:ln>
        </p:spPr>
      </p:pic>
      <p:pic>
        <p:nvPicPr>
          <p:cNvPr id="19463" name="Picture 9"/>
          <p:cNvPicPr>
            <a:picLocks noChangeAspect="1" noChangeArrowheads="1"/>
          </p:cNvPicPr>
          <p:nvPr/>
        </p:nvPicPr>
        <p:blipFill>
          <a:blip r:embed="rId5" cstate="print"/>
          <a:srcRect/>
          <a:stretch>
            <a:fillRect/>
          </a:stretch>
        </p:blipFill>
        <p:spPr bwMode="auto">
          <a:xfrm>
            <a:off x="6000750" y="214313"/>
            <a:ext cx="2924175" cy="1866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2"/>
          <p:cNvSpPr>
            <a:spLocks noGrp="1" noChangeArrowheads="1"/>
          </p:cNvSpPr>
          <p:nvPr>
            <p:ph idx="1"/>
          </p:nvPr>
        </p:nvSpPr>
        <p:spPr>
          <a:xfrm>
            <a:off x="468313" y="692150"/>
            <a:ext cx="8229600" cy="4887913"/>
          </a:xfrm>
        </p:spPr>
        <p:txBody>
          <a:bodyPr/>
          <a:lstStyle/>
          <a:p>
            <a:pPr marL="0" indent="0">
              <a:buFont typeface="Wingdings" pitchFamily="2" charset="2"/>
              <a:buNone/>
            </a:pPr>
            <a:r>
              <a:rPr lang="zh-CN" altLang="en-US" sz="2200" smtClean="0"/>
              <a:t>然而我们再考虑一种情况：互联网中一个网页只有对自己的出链，或者几个网页的出链形成一个循环圈。那么在不断地迭代过程中，这一个或几个网页的</a:t>
            </a:r>
            <a:r>
              <a:rPr lang="en-US" altLang="zh-CN" sz="2200" smtClean="0"/>
              <a:t>PR</a:t>
            </a:r>
            <a:r>
              <a:rPr lang="zh-CN" altLang="en-US" sz="2200" smtClean="0"/>
              <a:t>值将只增不减，显然不合理。如下图中的</a:t>
            </a:r>
            <a:r>
              <a:rPr lang="en-US" altLang="zh-CN" sz="2200" smtClean="0"/>
              <a:t>C</a:t>
            </a:r>
            <a:r>
              <a:rPr lang="zh-CN" altLang="en-US" sz="2200" smtClean="0"/>
              <a:t>网页就是刚刚说的只有对自己的出链的网页：</a:t>
            </a: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r>
              <a:rPr lang="zh-CN" altLang="en-US" sz="2400" smtClean="0"/>
              <a:t>为了解决这个问题。我们假定他有一个确定的概率会输入网址直接跳转到一个随机的网页，并且跳转到每个网页的概率是一样的。</a:t>
            </a:r>
            <a:endParaRPr lang="zh-CN" altLang="en-US" sz="2200" smtClean="0"/>
          </a:p>
        </p:txBody>
      </p:sp>
      <p:pic>
        <p:nvPicPr>
          <p:cNvPr id="20483" name="图片 4"/>
          <p:cNvPicPr>
            <a:picLocks noChangeAspect="1"/>
          </p:cNvPicPr>
          <p:nvPr/>
        </p:nvPicPr>
        <p:blipFill>
          <a:blip r:embed="rId2" cstate="print"/>
          <a:srcRect/>
          <a:stretch>
            <a:fillRect/>
          </a:stretch>
        </p:blipFill>
        <p:spPr bwMode="auto">
          <a:xfrm>
            <a:off x="3086100" y="2095500"/>
            <a:ext cx="2971800"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noChangeArrowheads="1"/>
          </p:cNvSpPr>
          <p:nvPr>
            <p:ph idx="1"/>
          </p:nvPr>
        </p:nvSpPr>
        <p:spPr>
          <a:xfrm>
            <a:off x="457200" y="692150"/>
            <a:ext cx="8229600" cy="3886200"/>
          </a:xfrm>
        </p:spPr>
        <p:txBody>
          <a:bodyPr/>
          <a:lstStyle/>
          <a:p>
            <a:pPr marL="0" indent="0">
              <a:buFont typeface="Wingdings" pitchFamily="2" charset="2"/>
              <a:buNone/>
            </a:pPr>
            <a:r>
              <a:rPr lang="zh-CN" altLang="en-US" sz="2400" smtClean="0"/>
              <a:t>在一般情况下，一个网页的</a:t>
            </a:r>
            <a:r>
              <a:rPr lang="en-US" altLang="zh-CN" sz="2400" smtClean="0"/>
              <a:t>PR</a:t>
            </a:r>
            <a:r>
              <a:rPr lang="zh-CN" altLang="en-US" sz="2400" smtClean="0"/>
              <a:t>值计算如下：</a:t>
            </a:r>
            <a:endParaRPr lang="en-US" altLang="zh-CN" sz="2400" smtClean="0"/>
          </a:p>
          <a:p>
            <a:pPr marL="0" indent="0">
              <a:buFont typeface="Wingdings" pitchFamily="2" charset="2"/>
              <a:buNone/>
            </a:pPr>
            <a:endParaRPr lang="en-US" altLang="zh-CN" sz="2400" smtClean="0"/>
          </a:p>
          <a:p>
            <a:pPr marL="0" indent="0">
              <a:buFont typeface="Wingdings" pitchFamily="2" charset="2"/>
              <a:buNone/>
            </a:pPr>
            <a:endParaRPr lang="en-US" altLang="zh-CN" sz="2400" smtClean="0"/>
          </a:p>
          <a:p>
            <a:pPr marL="0" indent="0">
              <a:buFont typeface="Wingdings" pitchFamily="2" charset="2"/>
              <a:buNone/>
            </a:pPr>
            <a:endParaRPr lang="en-US" altLang="zh-CN" sz="2400" smtClean="0"/>
          </a:p>
          <a:p>
            <a:pPr marL="0" indent="0">
              <a:buFont typeface="Wingdings" pitchFamily="2" charset="2"/>
              <a:buNone/>
            </a:pPr>
            <a:r>
              <a:rPr lang="zh-CN" altLang="en-US" sz="2400" smtClean="0"/>
              <a:t>其中</a:t>
            </a:r>
            <a:r>
              <a:rPr lang="en-US" altLang="zh-CN" sz="2400" smtClean="0"/>
              <a:t>Mpi</a:t>
            </a:r>
            <a:r>
              <a:rPr lang="zh-CN" altLang="en-US" sz="2400" smtClean="0"/>
              <a:t>是所有对</a:t>
            </a:r>
            <a:r>
              <a:rPr lang="en-US" altLang="zh-CN" sz="2400" smtClean="0"/>
              <a:t>pi</a:t>
            </a:r>
            <a:r>
              <a:rPr lang="zh-CN" altLang="en-US" sz="2400" smtClean="0"/>
              <a:t>网页有出链的网页集合，</a:t>
            </a:r>
            <a:r>
              <a:rPr lang="en-US" altLang="zh-CN" sz="2400" smtClean="0"/>
              <a:t>L(pj)</a:t>
            </a:r>
            <a:r>
              <a:rPr lang="zh-CN" altLang="en-US" sz="2400" smtClean="0"/>
              <a:t>是网页</a:t>
            </a:r>
            <a:r>
              <a:rPr lang="en-US" altLang="zh-CN" sz="2400" smtClean="0"/>
              <a:t>pj</a:t>
            </a:r>
            <a:r>
              <a:rPr lang="zh-CN" altLang="en-US" sz="2400" smtClean="0"/>
              <a:t>的出链数目，</a:t>
            </a:r>
            <a:r>
              <a:rPr lang="en-US" altLang="zh-CN" sz="2400" smtClean="0"/>
              <a:t>N</a:t>
            </a:r>
            <a:r>
              <a:rPr lang="zh-CN" altLang="en-US" sz="2400" smtClean="0"/>
              <a:t>是网页总数，</a:t>
            </a:r>
            <a:r>
              <a:rPr lang="en-US" altLang="zh-CN" sz="2400" smtClean="0"/>
              <a:t>α</a:t>
            </a:r>
            <a:r>
              <a:rPr lang="zh-CN" altLang="en-US" sz="2400" smtClean="0"/>
              <a:t>一般取</a:t>
            </a:r>
            <a:r>
              <a:rPr lang="en-US" altLang="zh-CN" sz="2400" smtClean="0"/>
              <a:t>0.85</a:t>
            </a:r>
            <a:r>
              <a:rPr lang="zh-CN" altLang="en-US" sz="2400" smtClean="0"/>
              <a:t>。</a:t>
            </a:r>
            <a:br>
              <a:rPr lang="zh-CN" altLang="en-US" sz="2400" smtClean="0"/>
            </a:br>
            <a:r>
              <a:rPr lang="zh-CN" altLang="en-US" sz="2400" smtClean="0"/>
              <a:t>根据上面的公式，我们可以计算每个网页的</a:t>
            </a:r>
            <a:r>
              <a:rPr lang="en-US" altLang="zh-CN" sz="2400" smtClean="0"/>
              <a:t>PR</a:t>
            </a:r>
            <a:r>
              <a:rPr lang="zh-CN" altLang="en-US" sz="2400" smtClean="0"/>
              <a:t>值，在不断迭代趋于平稳的时候，即为最终结果。具体怎样算是趋于平稳，我们在下面的</a:t>
            </a:r>
            <a:r>
              <a:rPr lang="en-US" altLang="zh-CN" sz="2400" smtClean="0"/>
              <a:t>PR</a:t>
            </a:r>
            <a:r>
              <a:rPr lang="zh-CN" altLang="en-US" sz="2400" smtClean="0"/>
              <a:t>值计算方法部分再做解释。</a:t>
            </a:r>
            <a:endParaRPr lang="en-US" altLang="zh-CN" sz="2400" smtClean="0"/>
          </a:p>
          <a:p>
            <a:pPr marL="0" indent="0">
              <a:buFont typeface="Wingdings" pitchFamily="2" charset="2"/>
              <a:buNone/>
            </a:pPr>
            <a:endParaRPr lang="en-US" altLang="zh-CN" sz="2400" smtClean="0"/>
          </a:p>
          <a:p>
            <a:pPr marL="0" indent="0">
              <a:buFont typeface="Wingdings" pitchFamily="2" charset="2"/>
              <a:buNone/>
            </a:pPr>
            <a:r>
              <a:rPr lang="zh-CN" altLang="en-US" sz="2400" smtClean="0"/>
              <a:t>于是则此图中</a:t>
            </a:r>
            <a:r>
              <a:rPr lang="en-US" altLang="zh-CN" sz="2400" smtClean="0"/>
              <a:t>A</a:t>
            </a:r>
            <a:r>
              <a:rPr lang="zh-CN" altLang="en-US" sz="2400" smtClean="0"/>
              <a:t>的</a:t>
            </a:r>
            <a:r>
              <a:rPr lang="en-US" altLang="zh-CN" sz="2400" smtClean="0"/>
              <a:t>PR</a:t>
            </a:r>
            <a:r>
              <a:rPr lang="zh-CN" altLang="en-US" sz="2400" smtClean="0"/>
              <a:t>值可表示为：</a:t>
            </a:r>
          </a:p>
        </p:txBody>
      </p:sp>
      <p:pic>
        <p:nvPicPr>
          <p:cNvPr id="21507" name="图片 4"/>
          <p:cNvPicPr>
            <a:picLocks noChangeAspect="1"/>
          </p:cNvPicPr>
          <p:nvPr/>
        </p:nvPicPr>
        <p:blipFill>
          <a:blip r:embed="rId2" cstate="print"/>
          <a:srcRect/>
          <a:stretch>
            <a:fillRect/>
          </a:stretch>
        </p:blipFill>
        <p:spPr bwMode="auto">
          <a:xfrm>
            <a:off x="1547813" y="5302250"/>
            <a:ext cx="3819525" cy="863600"/>
          </a:xfrm>
          <a:prstGeom prst="rect">
            <a:avLst/>
          </a:prstGeom>
          <a:noFill/>
          <a:ln w="9525">
            <a:noFill/>
            <a:miter lim="800000"/>
            <a:headEnd/>
            <a:tailEnd/>
          </a:ln>
        </p:spPr>
      </p:pic>
      <p:pic>
        <p:nvPicPr>
          <p:cNvPr id="21508" name="图片 5"/>
          <p:cNvPicPr>
            <a:picLocks noChangeAspect="1"/>
          </p:cNvPicPr>
          <p:nvPr/>
        </p:nvPicPr>
        <p:blipFill>
          <a:blip r:embed="rId3" cstate="print"/>
          <a:srcRect/>
          <a:stretch>
            <a:fillRect/>
          </a:stretch>
        </p:blipFill>
        <p:spPr bwMode="auto">
          <a:xfrm>
            <a:off x="539750" y="1196975"/>
            <a:ext cx="4997450" cy="10080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smtClean="0"/>
              <a:t>PR</a:t>
            </a:r>
            <a:r>
              <a:rPr lang="zh-CN" altLang="en-US" smtClean="0"/>
              <a:t>值计算公式：</a:t>
            </a:r>
          </a:p>
        </p:txBody>
      </p:sp>
      <p:sp>
        <p:nvSpPr>
          <p:cNvPr id="22531" name="Rectangle 5"/>
          <p:cNvSpPr>
            <a:spLocks noGrp="1" noChangeArrowheads="1"/>
          </p:cNvSpPr>
          <p:nvPr>
            <p:ph type="body" idx="1"/>
          </p:nvPr>
        </p:nvSpPr>
        <p:spPr>
          <a:xfrm>
            <a:off x="250825" y="5445125"/>
            <a:ext cx="8229600" cy="3886200"/>
          </a:xfrm>
        </p:spPr>
        <p:txBody>
          <a:bodyPr/>
          <a:lstStyle/>
          <a:p>
            <a:pPr eaLnBrk="1" hangingPunct="1">
              <a:lnSpc>
                <a:spcPct val="80000"/>
              </a:lnSpc>
              <a:buFont typeface="Wingdings" pitchFamily="2" charset="2"/>
              <a:buNone/>
            </a:pPr>
            <a:r>
              <a:rPr lang="zh-CN" altLang="en-US" sz="2000" smtClean="0">
                <a:solidFill>
                  <a:srgbClr val="FF0000"/>
                </a:solidFill>
              </a:rPr>
              <a:t>     一个页面的</a:t>
            </a:r>
            <a:r>
              <a:rPr lang="en-US" altLang="zh-CN" sz="2000" smtClean="0">
                <a:solidFill>
                  <a:srgbClr val="FF0000"/>
                </a:solidFill>
              </a:rPr>
              <a:t>PageRank</a:t>
            </a:r>
            <a:r>
              <a:rPr lang="zh-CN" altLang="en-US" sz="2000" smtClean="0">
                <a:solidFill>
                  <a:srgbClr val="FF0000"/>
                </a:solidFill>
              </a:rPr>
              <a:t>是由其他页面的</a:t>
            </a:r>
            <a:r>
              <a:rPr lang="en-US" altLang="zh-CN" sz="2000" smtClean="0">
                <a:solidFill>
                  <a:srgbClr val="FF0000"/>
                </a:solidFill>
              </a:rPr>
              <a:t>PageRank</a:t>
            </a:r>
            <a:r>
              <a:rPr lang="zh-CN" altLang="en-US" sz="2000" smtClean="0">
                <a:solidFill>
                  <a:srgbClr val="FF0000"/>
                </a:solidFill>
              </a:rPr>
              <a:t>计算得到</a:t>
            </a:r>
            <a:r>
              <a:rPr lang="zh-CN" altLang="en-US" sz="2000" smtClean="0"/>
              <a:t>。</a:t>
            </a:r>
            <a:r>
              <a:rPr lang="en-US" altLang="zh-CN" sz="2000" smtClean="0"/>
              <a:t>Google</a:t>
            </a:r>
            <a:r>
              <a:rPr lang="zh-CN" altLang="en-US" sz="2000" smtClean="0"/>
              <a:t>不断的</a:t>
            </a:r>
            <a:r>
              <a:rPr lang="zh-CN" altLang="en-US" sz="2000" smtClean="0">
                <a:solidFill>
                  <a:srgbClr val="FF0000"/>
                </a:solidFill>
              </a:rPr>
              <a:t>重复计算每个页面的</a:t>
            </a:r>
            <a:r>
              <a:rPr lang="en-US" altLang="zh-CN" sz="2000" smtClean="0">
                <a:solidFill>
                  <a:srgbClr val="FF0000"/>
                </a:solidFill>
              </a:rPr>
              <a:t>PageRank</a:t>
            </a:r>
            <a:r>
              <a:rPr lang="zh-CN" altLang="en-US" sz="2000" smtClean="0"/>
              <a:t>。如果给每个页面</a:t>
            </a:r>
            <a:r>
              <a:rPr lang="zh-CN" altLang="en-US" sz="2000" smtClean="0">
                <a:solidFill>
                  <a:srgbClr val="FF0000"/>
                </a:solidFill>
              </a:rPr>
              <a:t>一个随机</a:t>
            </a:r>
            <a:r>
              <a:rPr lang="en-US" altLang="zh-CN" sz="2000" smtClean="0">
                <a:solidFill>
                  <a:srgbClr val="FF0000"/>
                </a:solidFill>
              </a:rPr>
              <a:t>PageRank</a:t>
            </a:r>
            <a:r>
              <a:rPr lang="zh-CN" altLang="en-US" sz="2000" smtClean="0">
                <a:solidFill>
                  <a:srgbClr val="FF0000"/>
                </a:solidFill>
              </a:rPr>
              <a:t>值</a:t>
            </a:r>
            <a:r>
              <a:rPr lang="zh-CN" altLang="en-US" sz="2000" smtClean="0"/>
              <a:t>（非</a:t>
            </a:r>
            <a:r>
              <a:rPr lang="en-US" altLang="zh-CN" sz="2000" smtClean="0"/>
              <a:t>0</a:t>
            </a:r>
            <a:r>
              <a:rPr lang="zh-CN" altLang="en-US" sz="2000" smtClean="0"/>
              <a:t>），那么经过</a:t>
            </a:r>
            <a:r>
              <a:rPr lang="zh-CN" altLang="en-US" sz="2000" smtClean="0">
                <a:solidFill>
                  <a:srgbClr val="FF0000"/>
                </a:solidFill>
              </a:rPr>
              <a:t>不断的重复计算</a:t>
            </a:r>
            <a:r>
              <a:rPr lang="zh-CN" altLang="en-US" sz="2000" smtClean="0"/>
              <a:t>，这些</a:t>
            </a:r>
            <a:r>
              <a:rPr lang="zh-CN" altLang="en-US" sz="2000" smtClean="0">
                <a:solidFill>
                  <a:srgbClr val="FF0000"/>
                </a:solidFill>
              </a:rPr>
              <a:t>页面的</a:t>
            </a:r>
            <a:r>
              <a:rPr lang="en-US" altLang="zh-CN" sz="2000" smtClean="0">
                <a:solidFill>
                  <a:srgbClr val="FF0000"/>
                </a:solidFill>
              </a:rPr>
              <a:t>PR</a:t>
            </a:r>
            <a:r>
              <a:rPr lang="zh-CN" altLang="en-US" sz="2000" smtClean="0">
                <a:solidFill>
                  <a:srgbClr val="FF0000"/>
                </a:solidFill>
              </a:rPr>
              <a:t>值</a:t>
            </a:r>
            <a:r>
              <a:rPr lang="zh-CN" altLang="en-US" sz="2000" smtClean="0"/>
              <a:t>会趋向于</a:t>
            </a:r>
            <a:r>
              <a:rPr lang="zh-CN" altLang="en-US" sz="2000" smtClean="0">
                <a:solidFill>
                  <a:srgbClr val="FF0000"/>
                </a:solidFill>
              </a:rPr>
              <a:t>正常和稳定</a:t>
            </a:r>
            <a:r>
              <a:rPr lang="zh-CN" altLang="en-US" sz="2000" smtClean="0"/>
              <a:t>。这就是搜索引擎使用它的原因。</a:t>
            </a:r>
            <a:br>
              <a:rPr lang="zh-CN" altLang="en-US" sz="2000" smtClean="0"/>
            </a:br>
            <a:endParaRPr lang="zh-CN" altLang="en-US" sz="2000" smtClean="0"/>
          </a:p>
        </p:txBody>
      </p:sp>
      <p:pic>
        <p:nvPicPr>
          <p:cNvPr id="22532" name="图片 1"/>
          <p:cNvPicPr>
            <a:picLocks noChangeAspect="1" noChangeArrowheads="1"/>
          </p:cNvPicPr>
          <p:nvPr/>
        </p:nvPicPr>
        <p:blipFill>
          <a:blip r:embed="rId2" cstate="print"/>
          <a:srcRect/>
          <a:stretch>
            <a:fillRect/>
          </a:stretch>
        </p:blipFill>
        <p:spPr bwMode="auto">
          <a:xfrm>
            <a:off x="0" y="1506538"/>
            <a:ext cx="9144000" cy="3844925"/>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68313" y="549275"/>
            <a:ext cx="8229600" cy="1371600"/>
          </a:xfrm>
        </p:spPr>
        <p:txBody>
          <a:bodyPr/>
          <a:lstStyle/>
          <a:p>
            <a:pPr eaLnBrk="1" hangingPunct="1"/>
            <a:r>
              <a:rPr lang="en-US" altLang="zh-CN" sz="4000" smtClean="0"/>
              <a:t>PR</a:t>
            </a:r>
            <a:r>
              <a:rPr lang="zh-CN" altLang="en-US" sz="4000" smtClean="0"/>
              <a:t>值的取决因素：</a:t>
            </a:r>
          </a:p>
        </p:txBody>
      </p:sp>
      <p:sp>
        <p:nvSpPr>
          <p:cNvPr id="23555" name="Rectangle 3"/>
          <p:cNvSpPr>
            <a:spLocks noGrp="1" noChangeArrowheads="1"/>
          </p:cNvSpPr>
          <p:nvPr>
            <p:ph type="body" idx="1"/>
          </p:nvPr>
        </p:nvSpPr>
        <p:spPr>
          <a:xfrm>
            <a:off x="457200" y="1981200"/>
            <a:ext cx="8229600" cy="1952625"/>
          </a:xfrm>
        </p:spPr>
        <p:txBody>
          <a:bodyPr/>
          <a:lstStyle/>
          <a:p>
            <a:pPr eaLnBrk="1" hangingPunct="1"/>
            <a:r>
              <a:rPr lang="zh-CN" altLang="en-US" sz="2800" smtClean="0"/>
              <a:t>链</a:t>
            </a:r>
            <a:r>
              <a:rPr lang="zh-CN" altLang="en-US" sz="2800" smtClean="0">
                <a:solidFill>
                  <a:srgbClr val="FF0000"/>
                </a:solidFill>
              </a:rPr>
              <a:t>入网页数</a:t>
            </a:r>
            <a:endParaRPr lang="zh-CN" altLang="en-US" sz="2800" smtClean="0"/>
          </a:p>
          <a:p>
            <a:pPr eaLnBrk="1" hangingPunct="1"/>
            <a:r>
              <a:rPr lang="zh-CN" altLang="en-US" sz="2800" smtClean="0"/>
              <a:t>链入网页的</a:t>
            </a:r>
            <a:r>
              <a:rPr lang="zh-CN" altLang="en-US" sz="2800" smtClean="0">
                <a:solidFill>
                  <a:srgbClr val="FF0000"/>
                </a:solidFill>
              </a:rPr>
              <a:t>质量</a:t>
            </a:r>
            <a:endParaRPr lang="zh-CN" altLang="en-US" sz="2800" smtClean="0"/>
          </a:p>
          <a:p>
            <a:pPr eaLnBrk="1" hangingPunct="1"/>
            <a:r>
              <a:rPr lang="zh-CN" altLang="en-US" sz="2800" smtClean="0"/>
              <a:t>链入网页的链出网页数</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https://ss.csdn.net/p?https://mmbiz.qpic.cn/mmbiz_png/QY9Ieg3xj8D7bLlOawyfickgiaxZspMrPnZnCaXicMWfc3RRibfGwqdRsSfaE1g6iafNzNsQ7rSPu7EAhraZroWUEpQ/640?wx_fmt=png"/>
          <p:cNvPicPr>
            <a:picLocks noChangeAspect="1" noChangeArrowheads="1"/>
          </p:cNvPicPr>
          <p:nvPr/>
        </p:nvPicPr>
        <p:blipFill>
          <a:blip r:embed="rId2" cstate="print"/>
          <a:srcRect/>
          <a:stretch>
            <a:fillRect/>
          </a:stretch>
        </p:blipFill>
        <p:spPr bwMode="auto">
          <a:xfrm>
            <a:off x="1692275" y="1341438"/>
            <a:ext cx="5310188" cy="3043237"/>
          </a:xfrm>
          <a:prstGeom prst="rect">
            <a:avLst/>
          </a:prstGeom>
          <a:noFill/>
          <a:ln w="9525">
            <a:noFill/>
            <a:miter lim="800000"/>
            <a:headEnd/>
            <a:tailEnd/>
          </a:ln>
        </p:spPr>
      </p:pic>
      <p:sp>
        <p:nvSpPr>
          <p:cNvPr id="24579" name="矩形 1"/>
          <p:cNvSpPr>
            <a:spLocks noChangeArrowheads="1"/>
          </p:cNvSpPr>
          <p:nvPr/>
        </p:nvSpPr>
        <p:spPr bwMode="auto">
          <a:xfrm>
            <a:off x="1258888" y="5116513"/>
            <a:ext cx="6265862" cy="369887"/>
          </a:xfrm>
          <a:prstGeom prst="rect">
            <a:avLst/>
          </a:prstGeom>
          <a:noFill/>
          <a:ln w="9525">
            <a:noFill/>
            <a:miter lim="800000"/>
            <a:headEnd/>
            <a:tailEnd/>
          </a:ln>
        </p:spPr>
        <p:txBody>
          <a:bodyPr>
            <a:spAutoFit/>
          </a:bodyPr>
          <a:lstStyle/>
          <a:p>
            <a:r>
              <a:rPr lang="zh-CN" altLang="en-US"/>
              <a:t>为了便于计算，我们假设每个页面的</a:t>
            </a:r>
            <a:r>
              <a:rPr lang="en-US" altLang="zh-CN"/>
              <a:t>PR</a:t>
            </a:r>
            <a:r>
              <a:rPr lang="zh-CN" altLang="en-US"/>
              <a:t>初始值为</a:t>
            </a:r>
            <a:r>
              <a:rPr lang="en-US" altLang="zh-CN"/>
              <a:t>1</a:t>
            </a:r>
            <a:r>
              <a:rPr lang="zh-CN" altLang="en-US"/>
              <a:t>，</a:t>
            </a:r>
            <a:r>
              <a:rPr lang="en-US" altLang="zh-CN"/>
              <a:t>d</a:t>
            </a:r>
            <a:r>
              <a:rPr lang="zh-CN" altLang="en-US"/>
              <a:t>为</a:t>
            </a:r>
            <a:r>
              <a:rPr lang="en-US" altLang="zh-CN"/>
              <a:t>0.5</a:t>
            </a:r>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图片 1"/>
          <p:cNvPicPr>
            <a:picLocks noChangeAspect="1" noChangeArrowheads="1"/>
          </p:cNvPicPr>
          <p:nvPr/>
        </p:nvPicPr>
        <p:blipFill>
          <a:blip r:embed="rId2" cstate="print"/>
          <a:srcRect/>
          <a:stretch>
            <a:fillRect/>
          </a:stretch>
        </p:blipFill>
        <p:spPr bwMode="auto">
          <a:xfrm>
            <a:off x="0" y="1490663"/>
            <a:ext cx="9144000" cy="3876675"/>
          </a:xfrm>
          <a:prstGeom prst="rect">
            <a:avLst/>
          </a:prstGeom>
          <a:noFill/>
          <a:ln w="9525">
            <a:noFill/>
            <a:miter lim="800000"/>
            <a:headEnd/>
            <a:tailEnd/>
          </a:ln>
        </p:spPr>
      </p:pic>
      <p:sp>
        <p:nvSpPr>
          <p:cNvPr id="25603" name="矩形 2"/>
          <p:cNvSpPr>
            <a:spLocks noChangeArrowheads="1"/>
          </p:cNvSpPr>
          <p:nvPr/>
        </p:nvSpPr>
        <p:spPr bwMode="auto">
          <a:xfrm>
            <a:off x="107950" y="6021388"/>
            <a:ext cx="5976938" cy="646112"/>
          </a:xfrm>
          <a:prstGeom prst="rect">
            <a:avLst/>
          </a:prstGeom>
          <a:noFill/>
          <a:ln w="9525">
            <a:noFill/>
            <a:miter lim="800000"/>
            <a:headEnd/>
            <a:tailEnd/>
          </a:ln>
        </p:spPr>
        <p:txBody>
          <a:bodyPr>
            <a:spAutoFit/>
          </a:bodyPr>
          <a:lstStyle/>
          <a:p>
            <a:r>
              <a:rPr lang="zh-CN" altLang="en-US"/>
              <a:t>下面是迭代计算</a:t>
            </a:r>
            <a:r>
              <a:rPr lang="en-US" altLang="zh-CN"/>
              <a:t>12</a:t>
            </a:r>
            <a:r>
              <a:rPr lang="zh-CN" altLang="en-US"/>
              <a:t>轮之后，各个页面的</a:t>
            </a:r>
            <a:r>
              <a:rPr lang="en-US" altLang="zh-CN"/>
              <a:t>PR</a:t>
            </a:r>
            <a:r>
              <a:rPr lang="zh-CN" altLang="en-US"/>
              <a:t>值：</a:t>
            </a:r>
          </a:p>
          <a:p>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图片 1"/>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p:txBody>
          <a:bodyPr/>
          <a:lstStyle/>
          <a:p>
            <a:pPr eaLnBrk="1" hangingPunct="1"/>
            <a:r>
              <a:rPr lang="en-US" altLang="zh-CN" b="1" smtClean="0"/>
              <a:t>PageRank</a:t>
            </a:r>
            <a:r>
              <a:rPr lang="zh-CN" altLang="en-US" smtClean="0"/>
              <a:t>值是一个特殊矩阵中的特征向量。这个特征向量为：</a:t>
            </a:r>
          </a:p>
        </p:txBody>
      </p:sp>
      <p:pic>
        <p:nvPicPr>
          <p:cNvPr id="27651" name="Picture 4" descr="\mathbf{R} =&#10;\begin{bmatrix}&#10;{\rm PageRank}(p_1) \\&#10;{\rm PageRank}(p_2) \\&#10;\vdots \\&#10;{\rm PageRank}(p_N)&#10;\end{bmatrix}"/>
          <p:cNvPicPr>
            <a:picLocks noChangeAspect="1" noChangeArrowheads="1"/>
          </p:cNvPicPr>
          <p:nvPr/>
        </p:nvPicPr>
        <p:blipFill>
          <a:blip r:embed="rId2" cstate="print"/>
          <a:srcRect/>
          <a:stretch>
            <a:fillRect/>
          </a:stretch>
        </p:blipFill>
        <p:spPr bwMode="auto">
          <a:xfrm>
            <a:off x="1619250" y="3429000"/>
            <a:ext cx="4105275" cy="1944688"/>
          </a:xfrm>
          <a:prstGeom prst="rect">
            <a:avLst/>
          </a:prstGeom>
          <a:noFill/>
          <a:ln w="9525">
            <a:noFill/>
            <a:miter lim="800000"/>
            <a:headEnd/>
            <a:tailEnd/>
          </a:ln>
        </p:spPr>
      </p:pic>
      <p:sp>
        <p:nvSpPr>
          <p:cNvPr id="27652" name="Rectangle 8"/>
          <p:cNvSpPr>
            <a:spLocks noGrp="1" noChangeArrowheads="1"/>
          </p:cNvSpPr>
          <p:nvPr>
            <p:ph type="title"/>
          </p:nvPr>
        </p:nvSpPr>
        <p:spPr/>
        <p:txBody>
          <a:bodyPr/>
          <a:lstStyle/>
          <a:p>
            <a:pPr eaLnBrk="1" hangingPunct="1"/>
            <a:r>
              <a:rPr lang="en-US" altLang="zh-CN" smtClean="0"/>
              <a:t>PR</a:t>
            </a:r>
            <a:r>
              <a:rPr lang="zh-CN" altLang="en-US" smtClean="0"/>
              <a:t>值的计算（</a:t>
            </a:r>
            <a:r>
              <a:rPr lang="en-US" altLang="zh-CN" smtClean="0"/>
              <a:t>1</a:t>
            </a:r>
            <a:r>
              <a:rPr lang="zh-CN" altLang="en-US" smtClean="0"/>
              <a: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468313" y="1989138"/>
            <a:ext cx="8229600" cy="3886200"/>
          </a:xfrm>
        </p:spPr>
        <p:txBody>
          <a:bodyPr/>
          <a:lstStyle/>
          <a:p>
            <a:pPr eaLnBrk="1" hangingPunct="1">
              <a:buFont typeface="Wingdings" pitchFamily="2" charset="2"/>
              <a:buNone/>
            </a:pPr>
            <a:r>
              <a:rPr lang="en-US" altLang="zh-CN" smtClean="0"/>
              <a:t>PR(A)=</a:t>
            </a:r>
          </a:p>
          <a:p>
            <a:pPr eaLnBrk="1" hangingPunct="1">
              <a:buFont typeface="Wingdings" pitchFamily="2" charset="2"/>
              <a:buNone/>
            </a:pPr>
            <a:r>
              <a:rPr lang="en-US" altLang="zh-CN" smtClean="0"/>
              <a:t>   (1-q)/n+q(PR(t1)/C(t1)+...+PR(tn)/C(tn))</a:t>
            </a:r>
          </a:p>
          <a:p>
            <a:pPr eaLnBrk="1" hangingPunct="1"/>
            <a:endParaRPr lang="en-US" altLang="zh-CN" smtClean="0"/>
          </a:p>
        </p:txBody>
      </p:sp>
      <p:sp>
        <p:nvSpPr>
          <p:cNvPr id="28675" name="Rectangle 5"/>
          <p:cNvSpPr>
            <a:spLocks noGrp="1" noChangeArrowheads="1"/>
          </p:cNvSpPr>
          <p:nvPr>
            <p:ph type="title"/>
          </p:nvPr>
        </p:nvSpPr>
        <p:spPr/>
        <p:txBody>
          <a:bodyPr/>
          <a:lstStyle/>
          <a:p>
            <a:pPr eaLnBrk="1" hangingPunct="1"/>
            <a:r>
              <a:rPr lang="en-US" altLang="zh-CN" smtClean="0"/>
              <a:t>PR</a:t>
            </a:r>
            <a:r>
              <a:rPr lang="zh-CN" altLang="en-US" smtClean="0"/>
              <a:t>值的计算（</a:t>
            </a:r>
            <a:r>
              <a:rPr lang="en-US" altLang="zh-CN" smtClean="0"/>
              <a:t>2</a:t>
            </a:r>
            <a:r>
              <a:rPr lang="zh-CN" altLang="en-US" smtClean="0"/>
              <a:t>）</a:t>
            </a:r>
          </a:p>
        </p:txBody>
      </p:sp>
      <p:sp>
        <p:nvSpPr>
          <p:cNvPr id="28676"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28677" name="Picture 6" descr="\mathbf{R} =&#10;&#10;\begin{bmatrix}&#10;{(1-q) / N} \\&#10;{(1-q) / N} \\&#10;\vdots \\&#10;{(1-q) / N}&#10;\end{bmatrix}&#10;&#10;+ q&#10;&#10;\begin{bmatrix}&#10;\ell(p_1,p_1) &amp; \ell(p_1,p_2) &amp; \cdots &amp; \ell(p_1,p_N) \\&#10;\ell(p_2,p_1) &amp; \ddots &amp; &amp; \\&#10;\vdots &amp; &amp; \ell(p_i,p_j) &amp; \\&#10;\ell(p_N,p_1) &amp; &amp; &amp; \ell(p_N,p_N)&#10;\end{bmatrix}&#10;&#10;\mathbf{R}"/>
          <p:cNvPicPr>
            <a:picLocks noChangeAspect="1" noChangeArrowheads="1"/>
          </p:cNvPicPr>
          <p:nvPr/>
        </p:nvPicPr>
        <p:blipFill>
          <a:blip r:embed="rId2" r:link="rId3" cstate="print"/>
          <a:srcRect/>
          <a:stretch>
            <a:fillRect/>
          </a:stretch>
        </p:blipFill>
        <p:spPr bwMode="auto">
          <a:xfrm>
            <a:off x="684213" y="3357563"/>
            <a:ext cx="7561262" cy="2592387"/>
          </a:xfrm>
          <a:prstGeom prst="rect">
            <a:avLst/>
          </a:prstGeom>
          <a:noFill/>
          <a:ln w="9525">
            <a:noFill/>
            <a:miter lim="800000"/>
            <a:headEnd/>
            <a:tailEnd/>
          </a:ln>
        </p:spPr>
      </p:pic>
      <p:pic>
        <p:nvPicPr>
          <p:cNvPr id="28678" name="Picture 8"/>
          <p:cNvPicPr>
            <a:picLocks noChangeAspect="1" noChangeArrowheads="1"/>
          </p:cNvPicPr>
          <p:nvPr/>
        </p:nvPicPr>
        <p:blipFill>
          <a:blip r:embed="rId4" cstate="print"/>
          <a:srcRect/>
          <a:stretch>
            <a:fillRect/>
          </a:stretch>
        </p:blipFill>
        <p:spPr bwMode="auto">
          <a:xfrm>
            <a:off x="5105400" y="692150"/>
            <a:ext cx="3175000" cy="1822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smtClean="0"/>
              <a:t>(</a:t>
            </a:r>
            <a:r>
              <a:rPr lang="en-US" altLang="zh-CN" sz="3600" smtClean="0"/>
              <a:t>1-d)/n+d(PR(t1)/C(t1)+...+PR(tn)/C(tn))</a:t>
            </a:r>
          </a:p>
        </p:txBody>
      </p:sp>
      <p:sp>
        <p:nvSpPr>
          <p:cNvPr id="29699" name="Rectangle 3"/>
          <p:cNvSpPr>
            <a:spLocks noGrp="1" noChangeArrowheads="1"/>
          </p:cNvSpPr>
          <p:nvPr>
            <p:ph type="body" idx="1"/>
          </p:nvPr>
        </p:nvSpPr>
        <p:spPr/>
        <p:txBody>
          <a:bodyPr/>
          <a:lstStyle/>
          <a:p>
            <a:pPr eaLnBrk="1" hangingPunct="1"/>
            <a:endParaRPr lang="zh-CN" altLang="zh-CN" smtClean="0"/>
          </a:p>
        </p:txBody>
      </p:sp>
      <p:pic>
        <p:nvPicPr>
          <p:cNvPr id="29700" name="Picture 4"/>
          <p:cNvPicPr>
            <a:picLocks noChangeAspect="1" noChangeArrowheads="1"/>
          </p:cNvPicPr>
          <p:nvPr/>
        </p:nvPicPr>
        <p:blipFill>
          <a:blip r:embed="rId2" cstate="print"/>
          <a:srcRect/>
          <a:stretch>
            <a:fillRect/>
          </a:stretch>
        </p:blipFill>
        <p:spPr bwMode="auto">
          <a:xfrm>
            <a:off x="406400" y="1947863"/>
            <a:ext cx="8280400" cy="4194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468313" y="1989138"/>
            <a:ext cx="8229600" cy="4464050"/>
          </a:xfrm>
        </p:spPr>
        <p:txBody>
          <a:bodyPr/>
          <a:lstStyle/>
          <a:p>
            <a:pPr eaLnBrk="1" hangingPunct="1"/>
            <a:r>
              <a:rPr lang="zh-CN" altLang="en-US" sz="1800" b="1" smtClean="0"/>
              <a:t>一、 </a:t>
            </a:r>
            <a:r>
              <a:rPr lang="en-US" altLang="zh-CN" sz="1800" b="1" smtClean="0"/>
              <a:t>P</a:t>
            </a:r>
            <a:r>
              <a:rPr lang="zh-CN" altLang="en-US" sz="1800" b="1" smtClean="0"/>
              <a:t>概率转移矩阵的计算过程</a:t>
            </a:r>
            <a:r>
              <a:rPr lang="en-US" altLang="zh-CN" sz="1800" b="1" smtClean="0"/>
              <a:t>:</a:t>
            </a:r>
          </a:p>
          <a:p>
            <a:pPr eaLnBrk="1" hangingPunct="1"/>
            <a:r>
              <a:rPr lang="zh-CN" altLang="en-US" sz="1800" b="1" smtClean="0"/>
              <a:t>先建立一个</a:t>
            </a:r>
            <a:r>
              <a:rPr lang="zh-CN" altLang="en-US" sz="1800" b="1" smtClean="0">
                <a:solidFill>
                  <a:srgbClr val="FF0000"/>
                </a:solidFill>
              </a:rPr>
              <a:t>网页间的链接关系的模型</a:t>
            </a:r>
            <a:r>
              <a:rPr lang="en-US" altLang="zh-CN" sz="1800" b="1" smtClean="0"/>
              <a:t>,</a:t>
            </a:r>
            <a:r>
              <a:rPr lang="zh-CN" altLang="en-US" sz="1800" b="1" smtClean="0"/>
              <a:t>即我们需要合适的数据结构表示页面间的连接关系。</a:t>
            </a:r>
          </a:p>
          <a:p>
            <a:pPr eaLnBrk="1" hangingPunct="1"/>
            <a:r>
              <a:rPr lang="en-US" altLang="zh-CN" sz="1800" b="1" smtClean="0"/>
              <a:t>1) </a:t>
            </a:r>
            <a:r>
              <a:rPr lang="zh-CN" altLang="en-US" sz="1800" b="1" smtClean="0"/>
              <a:t>首先我们使用图的形式来表述网页之间关系：</a:t>
            </a:r>
          </a:p>
          <a:p>
            <a:pPr eaLnBrk="1" hangingPunct="1"/>
            <a:r>
              <a:rPr lang="zh-CN" altLang="en-US" sz="1800" b="1" smtClean="0"/>
              <a:t>现在假设只有四张网页集合：</a:t>
            </a:r>
            <a:r>
              <a:rPr lang="en-US" altLang="zh-CN" sz="1800" b="1" smtClean="0"/>
              <a:t>A</a:t>
            </a:r>
            <a:r>
              <a:rPr lang="zh-CN" altLang="en-US" sz="1800" b="1" smtClean="0"/>
              <a:t>、</a:t>
            </a:r>
            <a:r>
              <a:rPr lang="en-US" altLang="zh-CN" sz="1800" b="1" smtClean="0"/>
              <a:t>B</a:t>
            </a:r>
            <a:r>
              <a:rPr lang="zh-CN" altLang="en-US" sz="1800" b="1" smtClean="0"/>
              <a:t>、</a:t>
            </a:r>
            <a:r>
              <a:rPr lang="en-US" altLang="zh-CN" sz="1800" b="1" smtClean="0"/>
              <a:t>C</a:t>
            </a:r>
            <a:r>
              <a:rPr lang="zh-CN" altLang="en-US" sz="1800" b="1" smtClean="0"/>
              <a:t>，其抽象结构如下图</a:t>
            </a:r>
            <a:r>
              <a:rPr lang="en-US" altLang="zh-CN" sz="1800" b="1" smtClean="0"/>
              <a:t>1</a:t>
            </a:r>
            <a:r>
              <a:rPr lang="zh-CN" altLang="en-US" sz="1800" b="1" smtClean="0"/>
              <a:t>：</a:t>
            </a:r>
          </a:p>
          <a:p>
            <a:pPr eaLnBrk="1" hangingPunct="1"/>
            <a:endParaRPr lang="en-US" altLang="zh-CN" sz="1800" b="1" smtClean="0"/>
          </a:p>
        </p:txBody>
      </p:sp>
      <p:sp>
        <p:nvSpPr>
          <p:cNvPr id="30723" name="Rectangle 3"/>
          <p:cNvSpPr>
            <a:spLocks noGrp="1" noChangeArrowheads="1"/>
          </p:cNvSpPr>
          <p:nvPr>
            <p:ph type="title"/>
          </p:nvPr>
        </p:nvSpPr>
        <p:spPr/>
        <p:txBody>
          <a:bodyPr/>
          <a:lstStyle/>
          <a:p>
            <a:pPr eaLnBrk="1" hangingPunct="1"/>
            <a:r>
              <a:rPr lang="en-US" altLang="zh-CN" b="1" smtClean="0"/>
              <a:t>2.2 </a:t>
            </a:r>
            <a:r>
              <a:rPr lang="zh-CN" altLang="en-US" b="1" smtClean="0"/>
              <a:t>求解步骤：</a:t>
            </a:r>
            <a:r>
              <a:rPr lang="zh-CN" altLang="en-US" smtClean="0"/>
              <a:t> </a:t>
            </a:r>
          </a:p>
        </p:txBody>
      </p:sp>
      <p:sp>
        <p:nvSpPr>
          <p:cNvPr id="3072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30725" name="Picture 7"/>
          <p:cNvPicPr>
            <a:picLocks noChangeAspect="1" noChangeArrowheads="1"/>
          </p:cNvPicPr>
          <p:nvPr/>
        </p:nvPicPr>
        <p:blipFill>
          <a:blip r:embed="rId2" cstate="print"/>
          <a:srcRect/>
          <a:stretch>
            <a:fillRect/>
          </a:stretch>
        </p:blipFill>
        <p:spPr bwMode="auto">
          <a:xfrm>
            <a:off x="2411413" y="3789363"/>
            <a:ext cx="3962400" cy="2638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457200" y="836613"/>
            <a:ext cx="8229600" cy="5111750"/>
          </a:xfrm>
        </p:spPr>
        <p:txBody>
          <a:bodyPr/>
          <a:lstStyle/>
          <a:p>
            <a:pPr eaLnBrk="1" hangingPunct="1"/>
            <a:r>
              <a:rPr lang="en-US" altLang="zh-CN" sz="1600" b="1" smtClean="0"/>
              <a:t>2</a:t>
            </a:r>
            <a:r>
              <a:rPr lang="zh-CN" altLang="en-US" sz="1600" b="1" smtClean="0"/>
              <a:t>）我们用矩阵表示连通图：</a:t>
            </a:r>
          </a:p>
          <a:p>
            <a:pPr eaLnBrk="1" hangingPunct="1"/>
            <a:r>
              <a:rPr lang="zh-CN" altLang="en-US" sz="1600" b="1" smtClean="0"/>
              <a:t>用邻接矩阵 </a:t>
            </a:r>
            <a:r>
              <a:rPr lang="en-US" altLang="zh-CN" sz="1600" b="1" smtClean="0"/>
              <a:t>P</a:t>
            </a:r>
            <a:r>
              <a:rPr lang="zh-CN" altLang="en-US" sz="1600" b="1" smtClean="0"/>
              <a:t>表示这个图中顶点关系 ，如果顶（页面）</a:t>
            </a:r>
            <a:r>
              <a:rPr lang="en-US" altLang="zh-CN" sz="1600" b="1" smtClean="0"/>
              <a:t>i</a:t>
            </a:r>
            <a:r>
              <a:rPr lang="zh-CN" altLang="en-US" sz="1600" b="1" smtClean="0"/>
              <a:t>向顶点（页面）</a:t>
            </a:r>
            <a:r>
              <a:rPr lang="en-US" altLang="zh-CN" sz="1600" b="1" smtClean="0"/>
              <a:t>j</a:t>
            </a:r>
            <a:r>
              <a:rPr lang="zh-CN" altLang="en-US" sz="1600" b="1" smtClean="0"/>
              <a:t>有链接情况 ，则</a:t>
            </a:r>
            <a:r>
              <a:rPr lang="en-US" altLang="zh-CN" sz="1600" b="1" smtClean="0">
                <a:solidFill>
                  <a:srgbClr val="FF0000"/>
                </a:solidFill>
              </a:rPr>
              <a:t>pij = 1 </a:t>
            </a:r>
            <a:r>
              <a:rPr lang="zh-CN" altLang="en-US" sz="1600" b="1" smtClean="0"/>
              <a:t>，否则</a:t>
            </a:r>
            <a:r>
              <a:rPr lang="en-US" altLang="zh-CN" sz="1600" b="1" smtClean="0"/>
              <a:t>pij = 0 </a:t>
            </a:r>
            <a:r>
              <a:rPr lang="zh-CN" altLang="en-US" sz="1600" b="1" smtClean="0"/>
              <a:t>。如图</a:t>
            </a:r>
            <a:r>
              <a:rPr lang="en-US" altLang="zh-CN" sz="1600" b="1" smtClean="0"/>
              <a:t>2</a:t>
            </a:r>
            <a:r>
              <a:rPr lang="zh-CN" altLang="en-US" sz="1600" b="1" smtClean="0"/>
              <a:t>所示。如果网页文件总数为</a:t>
            </a:r>
            <a:r>
              <a:rPr lang="en-US" altLang="zh-CN" sz="1600" b="1" smtClean="0"/>
              <a:t>N </a:t>
            </a:r>
            <a:r>
              <a:rPr lang="zh-CN" altLang="en-US" sz="1600" b="1" smtClean="0"/>
              <a:t>， 那么这个网页链接矩阵就是一个</a:t>
            </a:r>
            <a:r>
              <a:rPr lang="en-US" altLang="zh-CN" sz="1600" b="1" smtClean="0"/>
              <a:t>N x N </a:t>
            </a:r>
            <a:r>
              <a:rPr lang="zh-CN" altLang="en-US" sz="1600" b="1" smtClean="0"/>
              <a:t>的矩 阵 。 </a:t>
            </a:r>
          </a:p>
          <a:p>
            <a:pPr eaLnBrk="1" hangingPunct="1"/>
            <a:r>
              <a:rPr lang="en-US" altLang="zh-CN" sz="1600" b="1" smtClean="0"/>
              <a:t>3</a:t>
            </a:r>
            <a:r>
              <a:rPr lang="zh-CN" altLang="en-US" sz="1600" b="1" smtClean="0"/>
              <a:t>）网页链接概率矩阵</a:t>
            </a:r>
          </a:p>
          <a:p>
            <a:pPr eaLnBrk="1" hangingPunct="1"/>
            <a:r>
              <a:rPr lang="zh-CN" altLang="en-US" sz="1600" b="1" smtClean="0"/>
              <a:t>然后将</a:t>
            </a:r>
            <a:r>
              <a:rPr lang="zh-CN" altLang="en-US" sz="1600" b="1" smtClean="0">
                <a:solidFill>
                  <a:srgbClr val="FF0000"/>
                </a:solidFill>
              </a:rPr>
              <a:t>每一行除以该行非零数字之和</a:t>
            </a:r>
            <a:r>
              <a:rPr lang="zh-CN" altLang="en-US" sz="1600" b="1" smtClean="0"/>
              <a:t>，即（每行非</a:t>
            </a:r>
            <a:r>
              <a:rPr lang="en-US" altLang="zh-CN" sz="1600" b="1" smtClean="0"/>
              <a:t>0</a:t>
            </a:r>
            <a:r>
              <a:rPr lang="zh-CN" altLang="en-US" sz="1600" b="1" smtClean="0"/>
              <a:t>数之和就是链接网个数）则得到新矩阵</a:t>
            </a:r>
            <a:r>
              <a:rPr lang="en-US" altLang="zh-CN" sz="1600" b="1" smtClean="0"/>
              <a:t>P’</a:t>
            </a:r>
            <a:r>
              <a:rPr lang="zh-CN" altLang="en-US" sz="1600" b="1" smtClean="0"/>
              <a:t>，如图</a:t>
            </a:r>
            <a:r>
              <a:rPr lang="en-US" altLang="zh-CN" sz="1600" b="1" smtClean="0"/>
              <a:t>3</a:t>
            </a:r>
            <a:r>
              <a:rPr lang="zh-CN" altLang="en-US" sz="1600" b="1" smtClean="0"/>
              <a:t>所示。 这个矩阵记录了 每个网页跳转到其他网页的概率，即其中</a:t>
            </a:r>
            <a:r>
              <a:rPr lang="en-US" altLang="zh-CN" sz="1600" b="1" smtClean="0"/>
              <a:t>i</a:t>
            </a:r>
            <a:r>
              <a:rPr lang="zh-CN" altLang="en-US" sz="1600" b="1" smtClean="0"/>
              <a:t>行</a:t>
            </a:r>
            <a:r>
              <a:rPr lang="en-US" altLang="zh-CN" sz="1600" b="1" smtClean="0"/>
              <a:t>j</a:t>
            </a:r>
            <a:r>
              <a:rPr lang="zh-CN" altLang="en-US" sz="1600" b="1" smtClean="0"/>
              <a:t>列的值表示用户从页面</a:t>
            </a:r>
            <a:r>
              <a:rPr lang="en-US" altLang="zh-CN" sz="1600" b="1" smtClean="0"/>
              <a:t>i </a:t>
            </a:r>
            <a:r>
              <a:rPr lang="zh-CN" altLang="en-US" sz="1600" b="1" smtClean="0"/>
              <a:t>转到页面</a:t>
            </a:r>
            <a:r>
              <a:rPr lang="en-US" altLang="zh-CN" sz="1600" b="1" smtClean="0"/>
              <a:t>j</a:t>
            </a:r>
            <a:r>
              <a:rPr lang="zh-CN" altLang="en-US" sz="1600" b="1" smtClean="0"/>
              <a:t>的概率。图</a:t>
            </a:r>
            <a:r>
              <a:rPr lang="en-US" altLang="zh-CN" sz="1600" b="1" smtClean="0"/>
              <a:t>1 </a:t>
            </a:r>
            <a:r>
              <a:rPr lang="zh-CN" altLang="en-US" sz="1600" b="1" smtClean="0"/>
              <a:t>中</a:t>
            </a:r>
            <a:r>
              <a:rPr lang="en-US" altLang="zh-CN" sz="1600" b="1" smtClean="0"/>
              <a:t>A</a:t>
            </a:r>
            <a:r>
              <a:rPr lang="zh-CN" altLang="en-US" sz="1600" b="1" smtClean="0"/>
              <a:t>页面链向</a:t>
            </a:r>
            <a:r>
              <a:rPr lang="en-US" altLang="zh-CN" sz="1600" b="1" smtClean="0"/>
              <a:t>B</a:t>
            </a:r>
            <a:r>
              <a:rPr lang="zh-CN" altLang="en-US" sz="1600" b="1" smtClean="0"/>
              <a:t>、</a:t>
            </a:r>
            <a:r>
              <a:rPr lang="en-US" altLang="zh-CN" sz="1600" b="1" smtClean="0"/>
              <a:t>C</a:t>
            </a:r>
            <a:r>
              <a:rPr lang="zh-CN" altLang="en-US" sz="1600" b="1" smtClean="0"/>
              <a:t>，所以一个用户从</a:t>
            </a:r>
            <a:r>
              <a:rPr lang="en-US" altLang="zh-CN" sz="1600" b="1" smtClean="0"/>
              <a:t>A</a:t>
            </a:r>
            <a:r>
              <a:rPr lang="zh-CN" altLang="en-US" sz="1600" b="1" smtClean="0"/>
              <a:t>跳转到</a:t>
            </a:r>
            <a:r>
              <a:rPr lang="en-US" altLang="zh-CN" sz="1600" b="1" smtClean="0"/>
              <a:t>B</a:t>
            </a:r>
            <a:r>
              <a:rPr lang="zh-CN" altLang="en-US" sz="1600" b="1" smtClean="0"/>
              <a:t>、</a:t>
            </a:r>
            <a:r>
              <a:rPr lang="en-US" altLang="zh-CN" sz="1600" b="1" smtClean="0"/>
              <a:t>C</a:t>
            </a:r>
            <a:r>
              <a:rPr lang="zh-CN" altLang="en-US" sz="1600" b="1" smtClean="0"/>
              <a:t>的概率各为</a:t>
            </a:r>
            <a:r>
              <a:rPr lang="en-US" altLang="zh-CN" sz="1600" b="1" smtClean="0"/>
              <a:t>1/2</a:t>
            </a:r>
            <a:r>
              <a:rPr lang="zh-CN" altLang="en-US" sz="1600" b="1" smtClean="0"/>
              <a:t>。</a:t>
            </a:r>
          </a:p>
          <a:p>
            <a:pPr eaLnBrk="1" hangingPunct="1"/>
            <a:r>
              <a:rPr lang="en-US" altLang="zh-CN" sz="1600" b="1" smtClean="0"/>
              <a:t>4</a:t>
            </a:r>
            <a:r>
              <a:rPr lang="zh-CN" altLang="en-US" sz="1600" b="1" smtClean="0"/>
              <a:t>）概率转移矩阵</a:t>
            </a:r>
            <a:r>
              <a:rPr lang="en-US" altLang="zh-CN" sz="1600" b="1" smtClean="0"/>
              <a:t>P</a:t>
            </a:r>
          </a:p>
          <a:p>
            <a:pPr eaLnBrk="1" hangingPunct="1"/>
            <a:r>
              <a:rPr lang="zh-CN" altLang="en-US" sz="1600" b="1" smtClean="0"/>
              <a:t>采用</a:t>
            </a:r>
            <a:r>
              <a:rPr lang="en-US" altLang="zh-CN" sz="1600" b="1" smtClean="0"/>
              <a:t>P’ </a:t>
            </a:r>
            <a:r>
              <a:rPr lang="zh-CN" altLang="en-US" sz="1600" b="1" smtClean="0"/>
              <a:t>的转置矩 阵进行计算， 也就是上面提到的概率转移矩阵</a:t>
            </a:r>
            <a:r>
              <a:rPr lang="en-US" altLang="zh-CN" sz="1600" b="1" smtClean="0"/>
              <a:t>P </a:t>
            </a:r>
            <a:r>
              <a:rPr lang="zh-CN" altLang="en-US" sz="1600" b="1" smtClean="0"/>
              <a:t>。 如图</a:t>
            </a:r>
            <a:r>
              <a:rPr lang="en-US" altLang="zh-CN" sz="1600" b="1" smtClean="0"/>
              <a:t>4</a:t>
            </a:r>
            <a:r>
              <a:rPr lang="zh-CN" altLang="en-US" sz="1600" b="1" smtClean="0"/>
              <a:t>所示：</a:t>
            </a:r>
          </a:p>
          <a:p>
            <a:pPr eaLnBrk="1" hangingPunct="1">
              <a:buFont typeface="Wingdings" pitchFamily="2" charset="2"/>
              <a:buNone/>
            </a:pPr>
            <a:r>
              <a:rPr lang="zh-CN" altLang="en-US" sz="1600" b="1" smtClean="0"/>
              <a:t>   </a:t>
            </a:r>
          </a:p>
        </p:txBody>
      </p:sp>
      <p:pic>
        <p:nvPicPr>
          <p:cNvPr id="31747" name="Picture 6"/>
          <p:cNvPicPr>
            <a:picLocks noChangeAspect="1" noChangeArrowheads="1"/>
          </p:cNvPicPr>
          <p:nvPr/>
        </p:nvPicPr>
        <p:blipFill>
          <a:blip r:embed="rId2" cstate="print"/>
          <a:srcRect/>
          <a:stretch>
            <a:fillRect/>
          </a:stretch>
        </p:blipFill>
        <p:spPr bwMode="auto">
          <a:xfrm>
            <a:off x="1619250" y="4005263"/>
            <a:ext cx="6624638" cy="2246312"/>
          </a:xfrm>
          <a:prstGeom prst="rect">
            <a:avLst/>
          </a:prstGeom>
          <a:noFill/>
          <a:ln w="9525">
            <a:noFill/>
            <a:miter lim="800000"/>
            <a:headEnd/>
            <a:tailEnd/>
          </a:ln>
        </p:spPr>
      </p:pic>
      <p:sp>
        <p:nvSpPr>
          <p:cNvPr id="3174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468313" y="1989138"/>
            <a:ext cx="8229600" cy="4464050"/>
          </a:xfrm>
        </p:spPr>
        <p:txBody>
          <a:bodyPr/>
          <a:lstStyle/>
          <a:p>
            <a:pPr eaLnBrk="1" hangingPunct="1"/>
            <a:endParaRPr lang="en-US" altLang="zh-CN" sz="1800" b="1" smtClean="0"/>
          </a:p>
          <a:p>
            <a:pPr eaLnBrk="1" hangingPunct="1"/>
            <a:endParaRPr lang="en-US" altLang="zh-CN" sz="1800" b="1" smtClean="0"/>
          </a:p>
        </p:txBody>
      </p:sp>
      <p:sp>
        <p:nvSpPr>
          <p:cNvPr id="32771" name="Rectangle 3"/>
          <p:cNvSpPr>
            <a:spLocks noGrp="1" noChangeArrowheads="1"/>
          </p:cNvSpPr>
          <p:nvPr>
            <p:ph type="title"/>
          </p:nvPr>
        </p:nvSpPr>
        <p:spPr>
          <a:xfrm>
            <a:off x="468313" y="431800"/>
            <a:ext cx="8229600" cy="1371600"/>
          </a:xfrm>
        </p:spPr>
        <p:txBody>
          <a:bodyPr/>
          <a:lstStyle/>
          <a:p>
            <a:pPr eaLnBrk="1" hangingPunct="1"/>
            <a:r>
              <a:rPr lang="en-US" altLang="zh-CN" b="1" smtClean="0"/>
              <a:t>2.3  A</a:t>
            </a:r>
            <a:r>
              <a:rPr lang="zh-CN" altLang="en-US" b="1" smtClean="0"/>
              <a:t>矩阵计算过程。</a:t>
            </a:r>
            <a:r>
              <a:rPr lang="zh-CN" altLang="en-US" smtClean="0"/>
              <a:t> </a:t>
            </a:r>
          </a:p>
        </p:txBody>
      </p:sp>
      <p:sp>
        <p:nvSpPr>
          <p:cNvPr id="3277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32773" name="Picture 7"/>
          <p:cNvPicPr>
            <a:picLocks noChangeAspect="1" noChangeArrowheads="1"/>
          </p:cNvPicPr>
          <p:nvPr/>
        </p:nvPicPr>
        <p:blipFill>
          <a:blip r:embed="rId2" cstate="print"/>
          <a:srcRect/>
          <a:stretch>
            <a:fillRect/>
          </a:stretch>
        </p:blipFill>
        <p:spPr bwMode="auto">
          <a:xfrm>
            <a:off x="34925" y="1557338"/>
            <a:ext cx="6481763" cy="5184775"/>
          </a:xfrm>
          <a:prstGeom prst="rect">
            <a:avLst/>
          </a:prstGeom>
          <a:noFill/>
          <a:ln w="9525">
            <a:noFill/>
            <a:miter lim="800000"/>
            <a:headEnd/>
            <a:tailEnd/>
          </a:ln>
        </p:spPr>
      </p:pic>
      <p:sp>
        <p:nvSpPr>
          <p:cNvPr id="32774" name="矩形 1"/>
          <p:cNvSpPr>
            <a:spLocks noChangeArrowheads="1"/>
          </p:cNvSpPr>
          <p:nvPr/>
        </p:nvSpPr>
        <p:spPr bwMode="auto">
          <a:xfrm>
            <a:off x="3708400" y="1989138"/>
            <a:ext cx="5256213" cy="1200150"/>
          </a:xfrm>
          <a:prstGeom prst="rect">
            <a:avLst/>
          </a:prstGeom>
          <a:noFill/>
          <a:ln w="9525">
            <a:noFill/>
            <a:miter lim="800000"/>
            <a:headEnd/>
            <a:tailEnd/>
          </a:ln>
        </p:spPr>
        <p:txBody>
          <a:bodyPr>
            <a:spAutoFit/>
          </a:bodyPr>
          <a:lstStyle/>
          <a:p>
            <a:r>
              <a:rPr lang="fr-FR" altLang="zh-CN"/>
              <a:t>PR(T) = PR(T1)/C(T1)+...+PR(Tn)/C(Tn))</a:t>
            </a:r>
            <a:endParaRPr lang="en-US" altLang="zh-CN"/>
          </a:p>
          <a:p>
            <a:r>
              <a:rPr lang="zh-CN" altLang="en-US"/>
              <a:t>最后写成了 </a:t>
            </a:r>
            <a:r>
              <a:rPr lang="en-US" altLang="zh-CN"/>
              <a:t>X = A * X, X</a:t>
            </a:r>
            <a:r>
              <a:rPr lang="zh-CN" altLang="en-US"/>
              <a:t>为</a:t>
            </a:r>
            <a:r>
              <a:rPr lang="en-US" altLang="zh-CN"/>
              <a:t>n</a:t>
            </a:r>
            <a:r>
              <a:rPr lang="zh-CN" altLang="en-US"/>
              <a:t>个网页的</a:t>
            </a:r>
            <a:r>
              <a:rPr lang="en-US" altLang="zh-CN"/>
              <a:t>pagerank</a:t>
            </a:r>
            <a:r>
              <a:rPr lang="zh-CN" altLang="en-US"/>
              <a:t>值组成的列向量，</a:t>
            </a:r>
            <a:r>
              <a:rPr lang="en-US" altLang="zh-CN"/>
              <a:t>A</a:t>
            </a:r>
            <a:r>
              <a:rPr lang="zh-CN" altLang="en-US"/>
              <a:t>为马尔可夫转移矩阵，其每列元素表示该网页跳转到其他网页的概率。</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468313" y="1989138"/>
            <a:ext cx="8229600" cy="4464050"/>
          </a:xfrm>
        </p:spPr>
        <p:txBody>
          <a:bodyPr/>
          <a:lstStyle/>
          <a:p>
            <a:pPr eaLnBrk="1" hangingPunct="1"/>
            <a:endParaRPr lang="en-US" altLang="zh-CN" sz="1800" b="1" smtClean="0"/>
          </a:p>
          <a:p>
            <a:pPr eaLnBrk="1" hangingPunct="1"/>
            <a:endParaRPr lang="en-US" altLang="zh-CN" sz="1800" b="1" smtClean="0"/>
          </a:p>
        </p:txBody>
      </p:sp>
      <p:sp>
        <p:nvSpPr>
          <p:cNvPr id="33795" name="Rectangle 3"/>
          <p:cNvSpPr>
            <a:spLocks noGrp="1" noChangeArrowheads="1"/>
          </p:cNvSpPr>
          <p:nvPr>
            <p:ph type="title"/>
          </p:nvPr>
        </p:nvSpPr>
        <p:spPr>
          <a:xfrm>
            <a:off x="457200" y="457200"/>
            <a:ext cx="8229600" cy="739775"/>
          </a:xfrm>
        </p:spPr>
        <p:txBody>
          <a:bodyPr/>
          <a:lstStyle/>
          <a:p>
            <a:pPr eaLnBrk="1" hangingPunct="1"/>
            <a:r>
              <a:rPr lang="en-US" altLang="zh-CN" sz="2400" b="1" smtClean="0"/>
              <a:t>2.4  </a:t>
            </a:r>
            <a:r>
              <a:rPr lang="zh-CN" altLang="en-US" sz="2400" b="1" smtClean="0"/>
              <a:t>循环迭代计算</a:t>
            </a:r>
            <a:r>
              <a:rPr lang="en-US" altLang="zh-CN" sz="2400" b="1" smtClean="0"/>
              <a:t>PageRank</a:t>
            </a:r>
            <a:r>
              <a:rPr lang="zh-CN" altLang="en-US" sz="2400" b="1" smtClean="0"/>
              <a:t>的过程</a:t>
            </a:r>
            <a:r>
              <a:rPr lang="zh-CN" altLang="en-US" sz="4000" smtClean="0"/>
              <a:t> </a:t>
            </a:r>
          </a:p>
        </p:txBody>
      </p:sp>
      <p:sp>
        <p:nvSpPr>
          <p:cNvPr id="3379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33797" name="Picture 6"/>
          <p:cNvPicPr>
            <a:picLocks noChangeAspect="1" noChangeArrowheads="1"/>
          </p:cNvPicPr>
          <p:nvPr/>
        </p:nvPicPr>
        <p:blipFill>
          <a:blip r:embed="rId2" cstate="print"/>
          <a:srcRect/>
          <a:stretch>
            <a:fillRect/>
          </a:stretch>
        </p:blipFill>
        <p:spPr bwMode="auto">
          <a:xfrm>
            <a:off x="1042988" y="1196975"/>
            <a:ext cx="7105650" cy="4652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68313" y="260350"/>
            <a:ext cx="8229600" cy="1139825"/>
          </a:xfrm>
        </p:spPr>
        <p:txBody>
          <a:bodyPr/>
          <a:lstStyle/>
          <a:p>
            <a:pPr eaLnBrk="1" hangingPunct="1"/>
            <a:r>
              <a:rPr lang="en-US" altLang="zh-CN" smtClean="0"/>
              <a:t>3    PageRank</a:t>
            </a:r>
            <a:r>
              <a:rPr lang="zh-CN" altLang="en-US" smtClean="0"/>
              <a:t>算法的应用</a:t>
            </a:r>
          </a:p>
        </p:txBody>
      </p:sp>
      <p:sp>
        <p:nvSpPr>
          <p:cNvPr id="34819" name="Rectangle 3"/>
          <p:cNvSpPr>
            <a:spLocks noGrp="1" noChangeArrowheads="1"/>
          </p:cNvSpPr>
          <p:nvPr>
            <p:ph type="body" idx="1"/>
          </p:nvPr>
        </p:nvSpPr>
        <p:spPr/>
        <p:txBody>
          <a:bodyPr/>
          <a:lstStyle/>
          <a:p>
            <a:pPr eaLnBrk="1" hangingPunct="1">
              <a:lnSpc>
                <a:spcPct val="80000"/>
              </a:lnSpc>
            </a:pPr>
            <a:r>
              <a:rPr lang="zh-CN" altLang="en-US" sz="2800" smtClean="0"/>
              <a:t>学术论文的重要性排序</a:t>
            </a:r>
          </a:p>
          <a:p>
            <a:pPr eaLnBrk="1" hangingPunct="1">
              <a:lnSpc>
                <a:spcPct val="80000"/>
              </a:lnSpc>
            </a:pPr>
            <a:r>
              <a:rPr lang="zh-CN" altLang="en-US" sz="2800" smtClean="0"/>
              <a:t>学术论文的作者的重要性排序</a:t>
            </a:r>
          </a:p>
          <a:p>
            <a:pPr lvl="1" eaLnBrk="1" hangingPunct="1">
              <a:lnSpc>
                <a:spcPct val="80000"/>
              </a:lnSpc>
            </a:pPr>
            <a:r>
              <a:rPr lang="zh-CN" altLang="en-US" sz="2400" smtClean="0"/>
              <a:t>某作者引用了其它作者的文献，则该作者认为其它作者是“重要”的。</a:t>
            </a:r>
          </a:p>
          <a:p>
            <a:pPr eaLnBrk="1" hangingPunct="1">
              <a:lnSpc>
                <a:spcPct val="80000"/>
              </a:lnSpc>
            </a:pPr>
            <a:r>
              <a:rPr lang="zh-CN" altLang="en-US" sz="2800" smtClean="0"/>
              <a:t>网络爬虫</a:t>
            </a:r>
            <a:r>
              <a:rPr lang="en-US" altLang="zh-CN" sz="2800" smtClean="0"/>
              <a:t>(Web Crawler)</a:t>
            </a:r>
          </a:p>
          <a:p>
            <a:pPr lvl="1" eaLnBrk="1" hangingPunct="1">
              <a:lnSpc>
                <a:spcPct val="80000"/>
              </a:lnSpc>
            </a:pPr>
            <a:r>
              <a:rPr lang="zh-CN" altLang="en-US" sz="2400" smtClean="0"/>
              <a:t>可以利用</a:t>
            </a:r>
            <a:r>
              <a:rPr lang="en-US" altLang="zh-CN" sz="2400" smtClean="0"/>
              <a:t>PR</a:t>
            </a:r>
            <a:r>
              <a:rPr lang="zh-CN" altLang="en-US" sz="2400" smtClean="0"/>
              <a:t>值，决定某个</a:t>
            </a:r>
            <a:r>
              <a:rPr lang="en-US" altLang="zh-CN" sz="2400" smtClean="0"/>
              <a:t>URL</a:t>
            </a:r>
            <a:r>
              <a:rPr lang="zh-CN" altLang="en-US" sz="2400" smtClean="0"/>
              <a:t>，所需要抓取的网页数量和深度</a:t>
            </a:r>
          </a:p>
          <a:p>
            <a:pPr lvl="1" eaLnBrk="1" hangingPunct="1">
              <a:lnSpc>
                <a:spcPct val="80000"/>
              </a:lnSpc>
            </a:pPr>
            <a:r>
              <a:rPr lang="zh-CN" altLang="en-US" sz="2400" smtClean="0"/>
              <a:t>重要性高的网页抓取的页面数量相对多一些，反之，则少一些</a:t>
            </a:r>
          </a:p>
          <a:p>
            <a:pPr eaLnBrk="1" hangingPunct="1">
              <a:lnSpc>
                <a:spcPct val="80000"/>
              </a:lnSpc>
            </a:pPr>
            <a:r>
              <a:rPr lang="zh-CN" altLang="en-US" sz="2800" smtClean="0"/>
              <a:t>关键词与句子的抽取（节点与边）</a:t>
            </a:r>
          </a:p>
          <a:p>
            <a:pPr lvl="1" eaLnBrk="1" hangingPunct="1">
              <a:lnSpc>
                <a:spcPct val="80000"/>
              </a:lnSpc>
              <a:buFont typeface="Wingdings" pitchFamily="2" charset="2"/>
              <a:buNone/>
            </a:pPr>
            <a:endParaRPr lang="zh-CN" altLang="en-US" sz="2400" smtClean="0"/>
          </a:p>
          <a:p>
            <a:pPr eaLnBrk="1" hangingPunct="1">
              <a:lnSpc>
                <a:spcPct val="80000"/>
              </a:lnSpc>
            </a:pPr>
            <a:endParaRPr lang="zh-CN" altLang="en-US" sz="2800" smtClean="0"/>
          </a:p>
          <a:p>
            <a:pPr eaLnBrk="1" hangingPunct="1">
              <a:lnSpc>
                <a:spcPct val="80000"/>
              </a:lnSpc>
            </a:pPr>
            <a:endParaRPr lang="zh-CN" altLang="en-US" sz="2800" smtClean="0"/>
          </a:p>
          <a:p>
            <a:pPr eaLnBrk="1" hangingPunct="1">
              <a:lnSpc>
                <a:spcPct val="80000"/>
              </a:lnSpc>
            </a:pPr>
            <a:endParaRPr lang="en-US" altLang="zh-CN" sz="280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mtClean="0"/>
              <a:t>小结</a:t>
            </a:r>
          </a:p>
        </p:txBody>
      </p:sp>
      <p:sp>
        <p:nvSpPr>
          <p:cNvPr id="35843" name="Rectangle 3"/>
          <p:cNvSpPr>
            <a:spLocks noGrp="1" noChangeArrowheads="1"/>
          </p:cNvSpPr>
          <p:nvPr>
            <p:ph type="body" idx="1"/>
          </p:nvPr>
        </p:nvSpPr>
        <p:spPr>
          <a:xfrm>
            <a:off x="457200" y="1628775"/>
            <a:ext cx="8229600" cy="4238625"/>
          </a:xfrm>
        </p:spPr>
        <p:txBody>
          <a:bodyPr/>
          <a:lstStyle/>
          <a:p>
            <a:pPr eaLnBrk="1" hangingPunct="1">
              <a:lnSpc>
                <a:spcPct val="80000"/>
              </a:lnSpc>
            </a:pPr>
            <a:r>
              <a:rPr lang="zh-CN" altLang="en-US" sz="2000" smtClean="0"/>
              <a:t>优点： </a:t>
            </a:r>
          </a:p>
          <a:p>
            <a:pPr eaLnBrk="1" hangingPunct="1">
              <a:lnSpc>
                <a:spcPct val="80000"/>
              </a:lnSpc>
              <a:buFont typeface="Wingdings" pitchFamily="2" charset="2"/>
              <a:buNone/>
            </a:pPr>
            <a:r>
              <a:rPr lang="zh-CN" altLang="en-US" sz="2000" smtClean="0"/>
              <a:t>        是一个与查询无关的静态算法，所有网页的</a:t>
            </a:r>
            <a:r>
              <a:rPr lang="en-US" altLang="zh-CN" sz="2000" smtClean="0"/>
              <a:t>PageRank</a:t>
            </a:r>
            <a:r>
              <a:rPr lang="zh-CN" altLang="en-US" sz="2000" smtClean="0"/>
              <a:t>值通过离线计算获得；有效减少在线查询时的计算量，极大降低了查询响应时间。</a:t>
            </a:r>
          </a:p>
          <a:p>
            <a:pPr eaLnBrk="1" hangingPunct="1">
              <a:lnSpc>
                <a:spcPct val="80000"/>
              </a:lnSpc>
            </a:pPr>
            <a:r>
              <a:rPr lang="en-US" altLang="zh-CN" sz="2000" smtClean="0"/>
              <a:t>PageRank</a:t>
            </a:r>
            <a:r>
              <a:rPr lang="zh-CN" altLang="en-US" sz="2000" smtClean="0"/>
              <a:t>的缺点</a:t>
            </a:r>
          </a:p>
          <a:p>
            <a:pPr lvl="1" eaLnBrk="1" hangingPunct="1">
              <a:lnSpc>
                <a:spcPct val="80000"/>
              </a:lnSpc>
            </a:pPr>
            <a:r>
              <a:rPr lang="zh-CN" altLang="en-US" sz="1800" smtClean="0"/>
              <a:t>过分相信链接关系</a:t>
            </a:r>
          </a:p>
          <a:p>
            <a:pPr lvl="2" eaLnBrk="1" hangingPunct="1">
              <a:lnSpc>
                <a:spcPct val="80000"/>
              </a:lnSpc>
            </a:pPr>
            <a:r>
              <a:rPr lang="zh-CN" altLang="en-US" sz="1600" smtClean="0"/>
              <a:t>一些权威网页往往是相互不链接的，比如新浪、搜狐、网易以及腾讯这些大的门户之间，基本是不相互链接的，学术领域也是这样。</a:t>
            </a:r>
          </a:p>
          <a:p>
            <a:pPr lvl="2" eaLnBrk="1" hangingPunct="1">
              <a:lnSpc>
                <a:spcPct val="80000"/>
              </a:lnSpc>
            </a:pPr>
            <a:r>
              <a:rPr lang="zh-CN" altLang="en-US" sz="1600" smtClean="0"/>
              <a:t>人们的查询具有主题特征，</a:t>
            </a:r>
            <a:r>
              <a:rPr lang="en-US" altLang="zh-CN" sz="1600" smtClean="0"/>
              <a:t>PageRank</a:t>
            </a:r>
            <a:r>
              <a:rPr lang="zh-CN" altLang="en-US" sz="1600" smtClean="0"/>
              <a:t>忽略了主题相关性，导致结果的相关性和主题性降低 </a:t>
            </a:r>
          </a:p>
          <a:p>
            <a:pPr lvl="2" eaLnBrk="1" hangingPunct="1">
              <a:lnSpc>
                <a:spcPct val="80000"/>
              </a:lnSpc>
            </a:pPr>
            <a:r>
              <a:rPr lang="zh-CN" altLang="en-US" sz="1600" smtClean="0"/>
              <a:t>旧的页面等级会比新页面高。因为即使是非常好的新页面也不会有很多上游链接，除非它是某个站点的子站点。</a:t>
            </a:r>
            <a:endParaRPr lang="en-US" altLang="zh-CN" sz="1600" smtClean="0"/>
          </a:p>
          <a:p>
            <a:pPr lvl="2" eaLnBrk="1" hangingPunct="1">
              <a:lnSpc>
                <a:spcPct val="80000"/>
              </a:lnSpc>
            </a:pPr>
            <a:r>
              <a:rPr lang="zh-CN" altLang="en-US" sz="1600" b="1" smtClean="0"/>
              <a:t>没有区分站内导航链接</a:t>
            </a:r>
            <a:r>
              <a:rPr lang="zh-CN" altLang="en-US" sz="1600" smtClean="0"/>
              <a:t>。很多网站的首页都有很多对站内其他页面的链接，称为站内导航链接。这些链接与不同网站之间的链接相比，肯定是后者更能体现</a:t>
            </a:r>
            <a:r>
              <a:rPr lang="en-US" altLang="zh-CN" sz="1600" smtClean="0"/>
              <a:t>PageRank</a:t>
            </a:r>
            <a:r>
              <a:rPr lang="zh-CN" altLang="en-US" sz="1600" smtClean="0"/>
              <a:t>值的传递关系</a:t>
            </a:r>
            <a:endParaRPr lang="en-US" altLang="zh-CN" sz="1600" smtClean="0"/>
          </a:p>
          <a:p>
            <a:pPr lvl="2" eaLnBrk="1" hangingPunct="1">
              <a:lnSpc>
                <a:spcPct val="80000"/>
              </a:lnSpc>
            </a:pPr>
            <a:r>
              <a:rPr lang="zh-CN" altLang="en-US" sz="1600" b="1" smtClean="0"/>
              <a:t>没有过滤广告链接和功能链接</a:t>
            </a:r>
            <a:r>
              <a:rPr lang="zh-CN" altLang="en-US" sz="1600" smtClean="0"/>
              <a:t>（例如常见的“分享到微博”）。这些链接通常没有什么实际价值，前者链接到广告页面，后者常常链接到某个社交网站首页。</a:t>
            </a:r>
          </a:p>
          <a:p>
            <a:pPr eaLnBrk="1" hangingPunct="1">
              <a:lnSpc>
                <a:spcPct val="80000"/>
              </a:lnSpc>
            </a:pPr>
            <a:r>
              <a:rPr lang="zh-CN" altLang="en-US" sz="2000" smtClean="0"/>
              <a:t>排序技术是搜索引擎的绝密</a:t>
            </a:r>
          </a:p>
          <a:p>
            <a:pPr lvl="1" eaLnBrk="1" hangingPunct="1">
              <a:lnSpc>
                <a:spcPct val="80000"/>
              </a:lnSpc>
            </a:pPr>
            <a:r>
              <a:rPr lang="en-US" altLang="zh-CN" sz="1800" smtClean="0"/>
              <a:t>Google</a:t>
            </a:r>
            <a:r>
              <a:rPr lang="zh-CN" altLang="en-US" sz="1800" smtClean="0"/>
              <a:t>目前所使用的排序技术，已经不再是简单的</a:t>
            </a:r>
            <a:r>
              <a:rPr lang="en-US" altLang="zh-CN" sz="1800" smtClean="0"/>
              <a:t>PageRank</a:t>
            </a:r>
          </a:p>
          <a:p>
            <a:pPr lvl="1" eaLnBrk="1" hangingPunct="1">
              <a:lnSpc>
                <a:spcPct val="80000"/>
              </a:lnSpc>
            </a:pPr>
            <a:endParaRPr lang="en-US" altLang="zh-CN" sz="1800" smtClean="0"/>
          </a:p>
          <a:p>
            <a:pPr lvl="1" eaLnBrk="1" hangingPunct="1">
              <a:lnSpc>
                <a:spcPct val="80000"/>
              </a:lnSpc>
            </a:pPr>
            <a:endParaRPr lang="en-US" altLang="zh-CN" sz="180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1754</TotalTime>
  <Words>2155</Words>
  <Application>Microsoft Office PowerPoint</Application>
  <PresentationFormat>全屏显示(4:3)</PresentationFormat>
  <Paragraphs>167</Paragraphs>
  <Slides>33</Slides>
  <Notes>8</Notes>
  <HiddenSlides>4</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33</vt:i4>
      </vt:variant>
    </vt:vector>
  </HeadingPairs>
  <TitlesOfParts>
    <vt:vector size="39" baseType="lpstr">
      <vt:lpstr>Arial</vt:lpstr>
      <vt:lpstr>宋体</vt:lpstr>
      <vt:lpstr>Wingdings</vt:lpstr>
      <vt:lpstr>Arial Black</vt:lpstr>
      <vt:lpstr>Times New Roman</vt:lpstr>
      <vt:lpstr>Pixel</vt:lpstr>
      <vt:lpstr>PageRank算法介绍</vt:lpstr>
      <vt:lpstr>目录</vt:lpstr>
      <vt:lpstr>Google的网页排序</vt:lpstr>
      <vt:lpstr>幻灯片 4</vt:lpstr>
      <vt:lpstr>Google的网页排序</vt:lpstr>
      <vt:lpstr>幻灯片 6</vt:lpstr>
      <vt:lpstr>Google的网页排序</vt:lpstr>
      <vt:lpstr>Google的网页排序</vt:lpstr>
      <vt:lpstr>Google的网页排序</vt:lpstr>
      <vt:lpstr>Google的网页排序</vt:lpstr>
      <vt:lpstr>Pagerank算法简介</vt:lpstr>
      <vt:lpstr>Google的网页排序</vt:lpstr>
      <vt:lpstr>Pagerank算法原理：</vt:lpstr>
      <vt:lpstr>Google的网页排序</vt:lpstr>
      <vt:lpstr>Pagerank算法相关概念</vt:lpstr>
      <vt:lpstr>Pagerank核心思想</vt:lpstr>
      <vt:lpstr>PageRank简单计算： </vt:lpstr>
      <vt:lpstr>幻灯片 18</vt:lpstr>
      <vt:lpstr>幻灯片 19</vt:lpstr>
      <vt:lpstr>PR值计算公式：</vt:lpstr>
      <vt:lpstr>PR值的取决因素：</vt:lpstr>
      <vt:lpstr>幻灯片 22</vt:lpstr>
      <vt:lpstr>幻灯片 23</vt:lpstr>
      <vt:lpstr>幻灯片 24</vt:lpstr>
      <vt:lpstr>PR值的计算（1）</vt:lpstr>
      <vt:lpstr>PR值的计算（2）</vt:lpstr>
      <vt:lpstr>(1-d)/n+d(PR(t1)/C(t1)+...+PR(tn)/C(tn))</vt:lpstr>
      <vt:lpstr>2.2 求解步骤： </vt:lpstr>
      <vt:lpstr>幻灯片 29</vt:lpstr>
      <vt:lpstr>2.3  A矩阵计算过程。 </vt:lpstr>
      <vt:lpstr>2.4  循环迭代计算PageRank的过程 </vt:lpstr>
      <vt:lpstr>3    PageRank算法的应用</vt:lpstr>
      <vt:lpstr>小结</vt:lpstr>
    </vt:vector>
  </TitlesOfParts>
  <Company>PKU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PageRank算法解析</dc:title>
  <dc:creator>blueidea</dc:creator>
  <cp:lastModifiedBy>samsung</cp:lastModifiedBy>
  <cp:revision>47</cp:revision>
  <dcterms:created xsi:type="dcterms:W3CDTF">2004-09-09T01:53:09Z</dcterms:created>
  <dcterms:modified xsi:type="dcterms:W3CDTF">2019-08-27T07:50:08Z</dcterms:modified>
</cp:coreProperties>
</file>