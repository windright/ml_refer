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36"/>
  </p:notesMasterIdLst>
  <p:sldIdLst>
    <p:sldId id="256" r:id="rId2"/>
    <p:sldId id="289" r:id="rId3"/>
    <p:sldId id="307" r:id="rId4"/>
    <p:sldId id="291" r:id="rId5"/>
    <p:sldId id="314" r:id="rId6"/>
    <p:sldId id="292" r:id="rId7"/>
    <p:sldId id="293" r:id="rId8"/>
    <p:sldId id="294" r:id="rId9"/>
    <p:sldId id="295" r:id="rId10"/>
    <p:sldId id="275" r:id="rId11"/>
    <p:sldId id="299" r:id="rId12"/>
    <p:sldId id="281" r:id="rId13"/>
    <p:sldId id="296" r:id="rId14"/>
    <p:sldId id="308" r:id="rId15"/>
    <p:sldId id="277" r:id="rId16"/>
    <p:sldId id="300" r:id="rId17"/>
    <p:sldId id="310" r:id="rId18"/>
    <p:sldId id="311" r:id="rId19"/>
    <p:sldId id="278" r:id="rId20"/>
    <p:sldId id="279" r:id="rId21"/>
    <p:sldId id="282" r:id="rId22"/>
    <p:sldId id="283" r:id="rId23"/>
    <p:sldId id="284" r:id="rId24"/>
    <p:sldId id="301" r:id="rId25"/>
    <p:sldId id="312" r:id="rId26"/>
    <p:sldId id="313" r:id="rId27"/>
    <p:sldId id="302" r:id="rId28"/>
    <p:sldId id="303" r:id="rId29"/>
    <p:sldId id="304" r:id="rId30"/>
    <p:sldId id="305" r:id="rId31"/>
    <p:sldId id="306" r:id="rId32"/>
    <p:sldId id="298" r:id="rId33"/>
    <p:sldId id="297" r:id="rId34"/>
    <p:sldId id="309" r:id="rId35"/>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58" autoAdjust="0"/>
    <p:restoredTop sz="85031" autoAdjust="0"/>
  </p:normalViewPr>
  <p:slideViewPr>
    <p:cSldViewPr>
      <p:cViewPr varScale="1">
        <p:scale>
          <a:sx n="59" d="100"/>
          <a:sy n="59" d="100"/>
        </p:scale>
        <p:origin x="-156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59395" name="Rectangle 3">
            <a:extLst>
              <a:ext uri="{FF2B5EF4-FFF2-40B4-BE49-F238E27FC236}"/>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37892"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9397" name="Rectangle 5">
            <a:extLst>
              <a:ext uri="{FF2B5EF4-FFF2-40B4-BE49-F238E27FC236}"/>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9398" name="Rectangle 6">
            <a:extLst>
              <a:ext uri="{FF2B5EF4-FFF2-40B4-BE49-F238E27FC236}"/>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
        <p:nvSpPr>
          <p:cNvPr id="59399" name="Rectangle 7">
            <a:extLst>
              <a:ext uri="{FF2B5EF4-FFF2-40B4-BE49-F238E27FC236}"/>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FAACF7F6-8334-40C9-B89B-AFC672EA438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8414046B-2BFF-4B00-9ED3-0AD8C25F6FC6}" type="slidenum">
              <a:rPr lang="en-US" altLang="zh-CN"/>
              <a:pPr/>
              <a:t>3</a:t>
            </a:fld>
            <a:endParaRPr lang="en-US" altLang="zh-CN"/>
          </a:p>
        </p:txBody>
      </p:sp>
      <p:sp>
        <p:nvSpPr>
          <p:cNvPr id="38915" name="Rectangle 2"/>
          <p:cNvSpPr>
            <a:spLocks noRo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CDEBF823-6DF7-40DE-9A2F-9D2A7499E7F7}" type="slidenum">
              <a:rPr lang="en-US" altLang="zh-CN"/>
              <a:pPr/>
              <a:t>4</a:t>
            </a:fld>
            <a:endParaRPr lang="en-US" altLang="zh-CN"/>
          </a:p>
        </p:txBody>
      </p:sp>
      <p:sp>
        <p:nvSpPr>
          <p:cNvPr id="39939" name="Rectangle 2"/>
          <p:cNvSpPr>
            <a:spLocks noRo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r>
              <a:rPr lang="zh-CN" altLang="en-US" smtClean="0">
                <a:latin typeface="Arial" pitchFamily="34" charset="0"/>
              </a:rPr>
              <a:t>基于内容的相关性，简单地说是指，比如某篇文档出现了多次“体育新闻”，就比只出现一次“体育新闻”的文档与</a:t>
            </a:r>
            <a:r>
              <a:rPr lang="en-US" altLang="zh-CN" smtClean="0">
                <a:latin typeface="Arial" pitchFamily="34" charset="0"/>
              </a:rPr>
              <a:t>query</a:t>
            </a:r>
            <a:r>
              <a:rPr lang="zh-CN" altLang="en-US" smtClean="0">
                <a:latin typeface="Arial" pitchFamily="34" charset="0"/>
              </a:rPr>
              <a:t>的相关性高，目前的相关性排序，已经不再是简单地基于词匹配，还会根据</a:t>
            </a:r>
            <a:r>
              <a:rPr lang="en-US" altLang="zh-CN" smtClean="0">
                <a:latin typeface="Arial" pitchFamily="34" charset="0"/>
              </a:rPr>
              <a:t>topic</a:t>
            </a:r>
            <a:r>
              <a:rPr lang="zh-CN" altLang="en-US" smtClean="0">
                <a:latin typeface="Arial" pitchFamily="34" charset="0"/>
              </a:rPr>
              <a:t>，比如大量出现“足球”、“乒乓球”等词语的文档同样相当于大量出现了“体育”</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819AF247-6620-4676-A812-6263AFE25DC8}" type="slidenum">
              <a:rPr lang="en-US" altLang="zh-CN"/>
              <a:pPr/>
              <a:t>6</a:t>
            </a:fld>
            <a:endParaRPr lang="en-US" altLang="zh-CN"/>
          </a:p>
        </p:txBody>
      </p:sp>
      <p:sp>
        <p:nvSpPr>
          <p:cNvPr id="40963" name="Rectangle 2"/>
          <p:cNvSpPr>
            <a:spLocks noRo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zh-CN" altLang="zh-CN" smtClean="0">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F02E7749-AAFC-48C3-AF74-2809AE132A79}" type="slidenum">
              <a:rPr lang="en-US" altLang="zh-CN"/>
              <a:pPr/>
              <a:t>7</a:t>
            </a:fld>
            <a:endParaRPr lang="en-US" altLang="zh-CN"/>
          </a:p>
        </p:txBody>
      </p:sp>
      <p:sp>
        <p:nvSpPr>
          <p:cNvPr id="41987" name="Rectangle 2"/>
          <p:cNvSpPr>
            <a:spLocks noRo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r>
              <a:rPr lang="zh-CN" altLang="en-US" smtClean="0">
                <a:latin typeface="Arial" pitchFamily="34" charset="0"/>
              </a:rPr>
              <a:t>因此，除了基于相关性的排序外，还有一种基于重要性的排序，也被引入了搜索引擎中</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FD37A490-DCFF-4050-AF20-E56416631492}" type="slidenum">
              <a:rPr lang="en-US" altLang="zh-CN"/>
              <a:pPr/>
              <a:t>8</a:t>
            </a:fld>
            <a:endParaRPr lang="en-US" altLang="zh-CN"/>
          </a:p>
        </p:txBody>
      </p:sp>
      <p:sp>
        <p:nvSpPr>
          <p:cNvPr id="43011" name="Rectangle 2"/>
          <p:cNvSpPr>
            <a:spLocks noRo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r>
              <a:rPr lang="zh-CN" altLang="en-US" smtClean="0">
                <a:latin typeface="Arial" pitchFamily="34" charset="0"/>
              </a:rPr>
              <a:t>网页</a:t>
            </a:r>
            <a:r>
              <a:rPr lang="en-US" altLang="zh-CN" smtClean="0">
                <a:latin typeface="Arial" pitchFamily="34" charset="0"/>
              </a:rPr>
              <a:t>A</a:t>
            </a:r>
            <a:r>
              <a:rPr lang="zh-CN" altLang="en-US" smtClean="0">
                <a:latin typeface="Arial" pitchFamily="34" charset="0"/>
              </a:rPr>
              <a:t>的重要性，应该等于所有链向</a:t>
            </a:r>
            <a:r>
              <a:rPr lang="en-US" altLang="zh-CN" smtClean="0">
                <a:latin typeface="Arial" pitchFamily="34" charset="0"/>
              </a:rPr>
              <a:t>A</a:t>
            </a:r>
            <a:r>
              <a:rPr lang="zh-CN" altLang="en-US" smtClean="0">
                <a:latin typeface="Arial" pitchFamily="34" charset="0"/>
              </a:rPr>
              <a:t>的网页的重要性除以该网页的链接数之后再求和</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AEFC91B4-2AA0-49A0-8F6A-B316CA731AA6}" type="slidenum">
              <a:rPr lang="en-US" altLang="zh-CN"/>
              <a:pPr/>
              <a:t>9</a:t>
            </a:fld>
            <a:endParaRPr lang="en-US" altLang="zh-CN"/>
          </a:p>
        </p:txBody>
      </p:sp>
      <p:sp>
        <p:nvSpPr>
          <p:cNvPr id="44035" name="Rectangle 2"/>
          <p:cNvSpPr>
            <a:spLocks noRo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r>
              <a:rPr lang="zh-CN" altLang="en-US" smtClean="0">
                <a:latin typeface="Arial" pitchFamily="34" charset="0"/>
              </a:rPr>
              <a:t>一个更加形象的图</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C6159F4B-179D-47F8-9FDE-A3FF56A18781}" type="slidenum">
              <a:rPr lang="en-US" altLang="zh-CN"/>
              <a:pPr/>
              <a:t>11</a:t>
            </a:fld>
            <a:endParaRPr lang="en-US" altLang="zh-CN"/>
          </a:p>
        </p:txBody>
      </p:sp>
      <p:sp>
        <p:nvSpPr>
          <p:cNvPr id="45059" name="Rectangle 2"/>
          <p:cNvSpPr>
            <a:spLocks noRo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r>
              <a:rPr lang="zh-CN" altLang="en-US" smtClean="0">
                <a:latin typeface="Arial" pitchFamily="34" charset="0"/>
              </a:rPr>
              <a:t>基于以上的一些朴素的想法，</a:t>
            </a:r>
            <a:r>
              <a:rPr lang="en-US" altLang="zh-CN" smtClean="0">
                <a:latin typeface="Arial" pitchFamily="34" charset="0"/>
              </a:rPr>
              <a:t>Google</a:t>
            </a:r>
            <a:r>
              <a:rPr lang="zh-CN" altLang="en-US" smtClean="0">
                <a:latin typeface="Arial" pitchFamily="34" charset="0"/>
              </a:rPr>
              <a:t>的创始人</a:t>
            </a:r>
            <a:r>
              <a:rPr lang="en-US" altLang="zh-CN" smtClean="0">
                <a:latin typeface="Arial" pitchFamily="34" charset="0"/>
              </a:rPr>
              <a:t>Page</a:t>
            </a:r>
            <a:r>
              <a:rPr lang="zh-CN" altLang="en-US" smtClean="0">
                <a:latin typeface="Arial" pitchFamily="34" charset="0"/>
              </a:rPr>
              <a:t>提出了</a:t>
            </a:r>
            <a:r>
              <a:rPr lang="en-US" altLang="zh-CN" smtClean="0">
                <a:latin typeface="Arial" pitchFamily="34" charset="0"/>
              </a:rPr>
              <a:t>PageRank</a:t>
            </a:r>
            <a:r>
              <a:rPr lang="zh-CN" altLang="en-US" smtClean="0">
                <a:latin typeface="Arial" pitchFamily="34" charset="0"/>
              </a:rPr>
              <a:t>，并应用在</a:t>
            </a:r>
            <a:r>
              <a:rPr lang="en-US" altLang="zh-CN" smtClean="0">
                <a:latin typeface="Arial" pitchFamily="34" charset="0"/>
              </a:rPr>
              <a:t>Google</a:t>
            </a:r>
            <a:r>
              <a:rPr lang="zh-CN" altLang="en-US" smtClean="0">
                <a:latin typeface="Arial" pitchFamily="34" charset="0"/>
              </a:rPr>
              <a:t>搜索引擎的检索结果排序上，作为早期</a:t>
            </a:r>
            <a:r>
              <a:rPr lang="en-US" altLang="zh-CN" smtClean="0">
                <a:latin typeface="Arial" pitchFamily="34" charset="0"/>
              </a:rPr>
              <a:t>Google</a:t>
            </a:r>
            <a:r>
              <a:rPr lang="zh-CN" altLang="en-US" smtClean="0">
                <a:latin typeface="Arial" pitchFamily="34" charset="0"/>
              </a:rPr>
              <a:t>的核心技术之一</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6001843C-BEDB-4317-918C-B3DBC35DBBD1}" type="slidenum">
              <a:rPr lang="en-US" altLang="zh-CN"/>
              <a:pPr/>
              <a:t>32</a:t>
            </a:fld>
            <a:endParaRPr lang="en-US" altLang="zh-CN"/>
          </a:p>
        </p:txBody>
      </p:sp>
      <p:sp>
        <p:nvSpPr>
          <p:cNvPr id="46083" name="Rectangle 2"/>
          <p:cNvSpPr>
            <a:spLocks noRo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r>
              <a:rPr lang="zh-CN" altLang="en-US" smtClean="0">
                <a:latin typeface="Arial" pitchFamily="34" charset="0"/>
              </a:rPr>
              <a:t>关于引用分析的研究要比链接分析早得多</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a:extLst>
                <a:ext uri="{FF2B5EF4-FFF2-40B4-BE49-F238E27FC236}"/>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6" name="Rectangle 4">
              <a:extLst>
                <a:ext uri="{FF2B5EF4-FFF2-40B4-BE49-F238E27FC236}"/>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a:extLst>
                  <a:ext uri="{FF2B5EF4-FFF2-40B4-BE49-F238E27FC236}"/>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9" name="Rectangle 7">
                <a:extLst>
                  <a:ext uri="{FF2B5EF4-FFF2-40B4-BE49-F238E27FC236}"/>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 name="Rectangle 8">
                <a:extLst>
                  <a:ext uri="{FF2B5EF4-FFF2-40B4-BE49-F238E27FC236}"/>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1" name="Rectangle 9">
                <a:extLst>
                  <a:ext uri="{FF2B5EF4-FFF2-40B4-BE49-F238E27FC236}"/>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2" name="Rectangle 10">
                <a:extLst>
                  <a:ext uri="{FF2B5EF4-FFF2-40B4-BE49-F238E27FC236}"/>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3" name="Rectangle 11">
                <a:extLst>
                  <a:ext uri="{FF2B5EF4-FFF2-40B4-BE49-F238E27FC236}"/>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4" name="Rectangle 12">
                <a:extLst>
                  <a:ext uri="{FF2B5EF4-FFF2-40B4-BE49-F238E27FC236}"/>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5" name="Rectangle 13">
                <a:extLst>
                  <a:ext uri="{FF2B5EF4-FFF2-40B4-BE49-F238E27FC236}"/>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6" name="Rectangle 14">
                <a:extLst>
                  <a:ext uri="{FF2B5EF4-FFF2-40B4-BE49-F238E27FC236}"/>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7" name="Rectangle 15">
                <a:extLst>
                  <a:ext uri="{FF2B5EF4-FFF2-40B4-BE49-F238E27FC236}"/>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grpSp>
      <p:sp>
        <p:nvSpPr>
          <p:cNvPr id="2459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2459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zh-CN" altLang="en-US"/>
              <a:t>单击此处编辑母版副标题样式</a:t>
            </a:r>
          </a:p>
        </p:txBody>
      </p:sp>
      <p:sp>
        <p:nvSpPr>
          <p:cNvPr id="18" name="Rectangle 16">
            <a:extLst>
              <a:ext uri="{FF2B5EF4-FFF2-40B4-BE49-F238E27FC236}"/>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a:extLst>
              <a:ext uri="{FF2B5EF4-FFF2-40B4-BE49-F238E27FC236}"/>
            </a:extLst>
          </p:cNvPr>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a:extLst>
              <a:ext uri="{FF2B5EF4-FFF2-40B4-BE49-F238E27FC236}"/>
            </a:extLst>
          </p:cNvPr>
          <p:cNvSpPr>
            <a:spLocks noGrp="1" noChangeArrowheads="1"/>
          </p:cNvSpPr>
          <p:nvPr>
            <p:ph type="sldNum" sz="quarter" idx="12"/>
          </p:nvPr>
        </p:nvSpPr>
        <p:spPr/>
        <p:txBody>
          <a:bodyPr/>
          <a:lstStyle>
            <a:lvl1pPr>
              <a:defRPr smtClean="0"/>
            </a:lvl1pPr>
          </a:lstStyle>
          <a:p>
            <a:pPr>
              <a:defRPr/>
            </a:pPr>
            <a:fld id="{BF13C4BC-829C-4B53-B9C2-0439F3CD1196}"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19D2E897-D735-4ED9-8998-8781A455AFD9}" type="slidenum">
              <a:rPr lang="en-US" altLang="zh-CN"/>
              <a:pPr>
                <a:defRPr/>
              </a:pPr>
              <a:t>‹#›</a:t>
            </a:fld>
            <a:endParaRPr lang="en-US" altLang="zh-CN"/>
          </a:p>
        </p:txBody>
      </p:sp>
      <p:sp>
        <p:nvSpPr>
          <p:cNvPr id="6"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9ADA811E-E959-4D75-A018-63E4BD980624}" type="slidenum">
              <a:rPr lang="en-US" altLang="zh-CN"/>
              <a:pPr>
                <a:defRPr/>
              </a:pPr>
              <a:t>‹#›</a:t>
            </a:fld>
            <a:endParaRPr lang="en-US" altLang="zh-CN"/>
          </a:p>
        </p:txBody>
      </p:sp>
      <p:sp>
        <p:nvSpPr>
          <p:cNvPr id="6"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D0C0CAFF-4E2E-4BE9-9097-FC67AEA9C34C}" type="slidenum">
              <a:rPr lang="en-US" altLang="zh-CN"/>
              <a:pPr>
                <a:defRPr/>
              </a:pPr>
              <a:t>‹#›</a:t>
            </a:fld>
            <a:endParaRPr lang="en-US" altLang="zh-CN"/>
          </a:p>
        </p:txBody>
      </p:sp>
      <p:sp>
        <p:nvSpPr>
          <p:cNvPr id="7"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F14A4E54-8A33-40F6-B521-5A97D0366E79}" type="slidenum">
              <a:rPr lang="en-US" altLang="zh-CN"/>
              <a:pPr>
                <a:defRPr/>
              </a:pPr>
              <a:t>‹#›</a:t>
            </a:fld>
            <a:endParaRPr lang="en-US" altLang="zh-CN"/>
          </a:p>
        </p:txBody>
      </p:sp>
      <p:sp>
        <p:nvSpPr>
          <p:cNvPr id="9"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61ED8967-E724-4457-BB97-A3430674F734}" type="slidenum">
              <a:rPr lang="en-US" altLang="zh-CN"/>
              <a:pPr>
                <a:defRPr/>
              </a:pPr>
              <a:t>‹#›</a:t>
            </a:fld>
            <a:endParaRPr lang="en-US" altLang="zh-CN"/>
          </a:p>
        </p:txBody>
      </p:sp>
      <p:sp>
        <p:nvSpPr>
          <p:cNvPr id="5"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06897716-F5F2-44AD-98B1-9196C2CBA123}" type="slidenum">
              <a:rPr lang="en-US" altLang="zh-CN"/>
              <a:pPr>
                <a:defRPr/>
              </a:pPr>
              <a:t>‹#›</a:t>
            </a:fld>
            <a:endParaRPr lang="en-US" altLang="zh-CN"/>
          </a:p>
        </p:txBody>
      </p:sp>
      <p:sp>
        <p:nvSpPr>
          <p:cNvPr id="4"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70DEF038-7AE3-4872-9659-01DDA2D3FF5D}" type="slidenum">
              <a:rPr lang="en-US" altLang="zh-CN"/>
              <a:pPr>
                <a:defRPr/>
              </a:pPr>
              <a:t>‹#›</a:t>
            </a:fld>
            <a:endParaRPr lang="en-US" altLang="zh-CN"/>
          </a:p>
        </p:txBody>
      </p:sp>
      <p:sp>
        <p:nvSpPr>
          <p:cNvPr id="7"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E19AC56E-4092-4C45-BB7F-958969463427}" type="slidenum">
              <a:rPr lang="en-US" altLang="zh-CN"/>
              <a:pPr>
                <a:defRPr/>
              </a:pPr>
              <a:t>‹#›</a:t>
            </a:fld>
            <a:endParaRPr lang="en-US" altLang="zh-CN"/>
          </a:p>
        </p:txBody>
      </p:sp>
      <p:sp>
        <p:nvSpPr>
          <p:cNvPr id="7"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938E50E2-6779-4145-97EF-0C89B810F679}" type="slidenum">
              <a:rPr lang="en-US" altLang="zh-CN"/>
              <a:pPr>
                <a:defRPr/>
              </a:pPr>
              <a:t>‹#›</a:t>
            </a:fld>
            <a:endParaRPr lang="en-US" altLang="zh-CN"/>
          </a:p>
        </p:txBody>
      </p:sp>
      <p:sp>
        <p:nvSpPr>
          <p:cNvPr id="6"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a:extLst>
              <a:ext uri="{FF2B5EF4-FFF2-40B4-BE49-F238E27FC236}"/>
            </a:extLst>
          </p:cNvPr>
          <p:cNvSpPr>
            <a:spLocks noGrp="1" noChangeArrowheads="1"/>
          </p:cNvSpPr>
          <p:nvPr>
            <p:ph type="sldNum" sz="quarter" idx="11"/>
          </p:nvPr>
        </p:nvSpPr>
        <p:spPr>
          <a:ln/>
        </p:spPr>
        <p:txBody>
          <a:bodyPr/>
          <a:lstStyle>
            <a:lvl1pPr>
              <a:defRPr/>
            </a:lvl1pPr>
          </a:lstStyle>
          <a:p>
            <a:pPr>
              <a:defRPr/>
            </a:pPr>
            <a:fld id="{699734C4-4BF4-4F1D-819D-BC9BE60E11C3}" type="slidenum">
              <a:rPr lang="en-US" altLang="zh-CN"/>
              <a:pPr>
                <a:defRPr/>
              </a:pPr>
              <a:t>‹#›</a:t>
            </a:fld>
            <a:endParaRPr lang="en-US" altLang="zh-CN"/>
          </a:p>
        </p:txBody>
      </p:sp>
      <p:sp>
        <p:nvSpPr>
          <p:cNvPr id="6" name="Rectangle 16">
            <a:extLst>
              <a:ext uri="{FF2B5EF4-FFF2-40B4-BE49-F238E27FC236}"/>
            </a:extLst>
          </p:cNvPr>
          <p:cNvSpPr>
            <a:spLocks noGrp="1" noChangeArrowheads="1"/>
          </p:cNvSpPr>
          <p:nvPr>
            <p:ph type="dt" sz="half" idx="12"/>
          </p:nvPr>
        </p:nvSpPr>
        <p:spPr>
          <a:ln/>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3555" name="Rectangle 3">
            <a:extLst>
              <a:ext uri="{FF2B5EF4-FFF2-40B4-BE49-F238E27FC236}"/>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Black" pitchFamily="34" charset="0"/>
              </a:defRPr>
            </a:lvl1pPr>
          </a:lstStyle>
          <a:p>
            <a:pPr>
              <a:defRPr/>
            </a:pPr>
            <a:fld id="{86F9CFCD-89CF-47C9-930B-6CAB1DFE6685}"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a:extLst>
                <a:ext uri="{FF2B5EF4-FFF2-40B4-BE49-F238E27FC236}"/>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3" name="Rectangle 6">
              <a:extLst>
                <a:ext uri="{FF2B5EF4-FFF2-40B4-BE49-F238E27FC236}"/>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34" name="Rectangle 7">
              <a:extLst>
                <a:ext uri="{FF2B5EF4-FFF2-40B4-BE49-F238E27FC236}"/>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hlink"/>
                </a:solidFill>
              </a:endParaRPr>
            </a:p>
          </p:txBody>
        </p:sp>
        <p:sp>
          <p:nvSpPr>
            <p:cNvPr id="1035" name="Rectangle 8">
              <a:extLst>
                <a:ext uri="{FF2B5EF4-FFF2-40B4-BE49-F238E27FC236}"/>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hlink"/>
                </a:solidFill>
              </a:endParaRPr>
            </a:p>
          </p:txBody>
        </p:sp>
        <p:sp>
          <p:nvSpPr>
            <p:cNvPr id="1036" name="Rectangle 9">
              <a:extLst>
                <a:ext uri="{FF2B5EF4-FFF2-40B4-BE49-F238E27FC236}"/>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accent2"/>
                </a:solidFill>
              </a:endParaRPr>
            </a:p>
          </p:txBody>
        </p:sp>
        <p:sp>
          <p:nvSpPr>
            <p:cNvPr id="1037" name="Rectangle 10">
              <a:extLst>
                <a:ext uri="{FF2B5EF4-FFF2-40B4-BE49-F238E27FC236}"/>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hlink"/>
                </a:solidFill>
              </a:endParaRPr>
            </a:p>
          </p:txBody>
        </p:sp>
        <p:sp>
          <p:nvSpPr>
            <p:cNvPr id="1038" name="Rectangle 11">
              <a:extLst>
                <a:ext uri="{FF2B5EF4-FFF2-40B4-BE49-F238E27FC236}"/>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39" name="Rectangle 12">
              <a:extLst>
                <a:ext uri="{FF2B5EF4-FFF2-40B4-BE49-F238E27FC236}"/>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accent2"/>
                </a:solidFill>
              </a:endParaRPr>
            </a:p>
          </p:txBody>
        </p:sp>
        <p:sp>
          <p:nvSpPr>
            <p:cNvPr id="1040" name="Rectangle 13">
              <a:extLst>
                <a:ext uri="{FF2B5EF4-FFF2-40B4-BE49-F238E27FC236}"/>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3568" name="Rectangle 16">
            <a:extLst>
              <a:ext uri="{FF2B5EF4-FFF2-40B4-BE49-F238E27FC236}"/>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762"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toolbar.google.com/" TargetMode="Externa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http://upload.wikimedia.org/math/f/4/b/f4b39677280bf4c935165bda5de86ef1.png" TargetMode="External"/><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altLang="zh-CN" smtClean="0"/>
              <a:t>PageRank</a:t>
            </a:r>
            <a:r>
              <a:rPr lang="zh-CN" altLang="en-US" smtClean="0"/>
              <a:t>算法介绍</a:t>
            </a:r>
          </a:p>
        </p:txBody>
      </p:sp>
      <p:sp>
        <p:nvSpPr>
          <p:cNvPr id="3075" name="Rectangle 3"/>
          <p:cNvSpPr>
            <a:spLocks noGrp="1" noChangeArrowheads="1"/>
          </p:cNvSpPr>
          <p:nvPr>
            <p:ph type="subTitle" idx="1"/>
          </p:nvPr>
        </p:nvSpPr>
        <p:spPr/>
        <p:txBody>
          <a:bodyPr/>
          <a:lstStyle/>
          <a:p>
            <a:pPr eaLnBrk="1" hangingPunct="1"/>
            <a:endParaRPr lang="zh-CN" altLang="en-US"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zh-CN" altLang="en-US" smtClean="0"/>
              <a:t>目录</a:t>
            </a:r>
          </a:p>
        </p:txBody>
      </p:sp>
      <p:sp>
        <p:nvSpPr>
          <p:cNvPr id="4099" name="Rectangle 3"/>
          <p:cNvSpPr>
            <a:spLocks noGrp="1" noChangeArrowheads="1"/>
          </p:cNvSpPr>
          <p:nvPr>
            <p:ph type="body" idx="1"/>
          </p:nvPr>
        </p:nvSpPr>
        <p:spPr>
          <a:xfrm>
            <a:off x="457200" y="2005013"/>
            <a:ext cx="8229600" cy="3862387"/>
          </a:xfrm>
        </p:spPr>
        <p:txBody>
          <a:bodyPr/>
          <a:lstStyle/>
          <a:p>
            <a:pPr eaLnBrk="1" hangingPunct="1"/>
            <a:r>
              <a:rPr lang="en-US" altLang="zh-CN" smtClean="0"/>
              <a:t>Google</a:t>
            </a:r>
            <a:r>
              <a:rPr lang="zh-CN" altLang="en-US" smtClean="0"/>
              <a:t>的网页排序</a:t>
            </a:r>
          </a:p>
          <a:p>
            <a:pPr eaLnBrk="1" hangingPunct="1"/>
            <a:r>
              <a:rPr lang="en-US" altLang="zh-CN" smtClean="0"/>
              <a:t>PageRank</a:t>
            </a:r>
            <a:r>
              <a:rPr lang="zh-CN" altLang="en-US" smtClean="0"/>
              <a:t>算法求解</a:t>
            </a:r>
          </a:p>
          <a:p>
            <a:pPr eaLnBrk="1" hangingPunct="1"/>
            <a:r>
              <a:rPr lang="en-US" altLang="zh-CN" smtClean="0"/>
              <a:t>PageRank</a:t>
            </a:r>
            <a:r>
              <a:rPr lang="zh-CN" altLang="en-US" smtClean="0"/>
              <a:t>算法的应用</a:t>
            </a:r>
          </a:p>
          <a:p>
            <a:pPr eaLnBrk="1" hangingPunct="1"/>
            <a:r>
              <a:rPr lang="zh-CN" altLang="en-US" smtClean="0"/>
              <a:t>小结</a:t>
            </a:r>
            <a:endParaRPr lang="zh-CN" altLang="en-US" smtClean="0">
              <a:solidFill>
                <a:srgbClr val="FF3300"/>
              </a:solidFill>
            </a:endParaRPr>
          </a:p>
          <a:p>
            <a:pPr eaLnBrk="1" hangingPunct="1"/>
            <a:endParaRPr lang="zh-CN" altLang="en-US" smtClean="0"/>
          </a:p>
          <a:p>
            <a:pPr eaLnBrk="1" hangingPunct="1"/>
            <a:endParaRPr lang="zh-CN" altLang="en-US" smtClean="0"/>
          </a:p>
          <a:p>
            <a:pPr eaLnBrk="1" hangingPunct="1"/>
            <a:endParaRPr lang="en-US" altLang="zh-CN" smtClean="0"/>
          </a:p>
        </p:txBody>
      </p:sp>
    </p:spTree>
  </p:cSld>
  <p:clrMapOvr>
    <a:masterClrMapping/>
  </p:clrMapOvr>
  <p:transition advTm="17687"/>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5123" name="Rectangle 3"/>
          <p:cNvSpPr>
            <a:spLocks noGrp="1" noChangeArrowheads="1"/>
          </p:cNvSpPr>
          <p:nvPr>
            <p:ph type="body" idx="1"/>
          </p:nvPr>
        </p:nvSpPr>
        <p:spPr>
          <a:xfrm>
            <a:off x="395288" y="1600200"/>
            <a:ext cx="8569325" cy="4530725"/>
          </a:xfrm>
        </p:spPr>
        <p:txBody>
          <a:bodyPr/>
          <a:lstStyle/>
          <a:p>
            <a:pPr eaLnBrk="1" hangingPunct="1"/>
            <a:r>
              <a:rPr lang="zh-CN" altLang="en-US" smtClean="0"/>
              <a:t>在</a:t>
            </a:r>
            <a:r>
              <a:rPr lang="en-US" altLang="zh-CN" smtClean="0"/>
              <a:t>Google</a:t>
            </a:r>
            <a:r>
              <a:rPr lang="zh-CN" altLang="en-US" smtClean="0"/>
              <a:t>中搜索“体育新闻”</a:t>
            </a:r>
          </a:p>
          <a:p>
            <a:pPr eaLnBrk="1" hangingPunct="1"/>
            <a:endParaRPr lang="zh-CN" altLang="en-US" smtClean="0"/>
          </a:p>
          <a:p>
            <a:pPr lvl="1" eaLnBrk="1" hangingPunct="1"/>
            <a:endParaRPr lang="en-US" altLang="zh-CN" smtClean="0"/>
          </a:p>
        </p:txBody>
      </p:sp>
      <p:pic>
        <p:nvPicPr>
          <p:cNvPr id="5124" name="Picture 4"/>
          <p:cNvPicPr>
            <a:picLocks noChangeAspect="1" noChangeArrowheads="1"/>
          </p:cNvPicPr>
          <p:nvPr/>
        </p:nvPicPr>
        <p:blipFill>
          <a:blip r:embed="rId3" cstate="print"/>
          <a:srcRect/>
          <a:stretch>
            <a:fillRect/>
          </a:stretch>
        </p:blipFill>
        <p:spPr bwMode="auto">
          <a:xfrm>
            <a:off x="1692275" y="2133600"/>
            <a:ext cx="5705475" cy="3970338"/>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6147" name="Rectangle 3"/>
          <p:cNvSpPr>
            <a:spLocks noGrp="1" noChangeArrowheads="1"/>
          </p:cNvSpPr>
          <p:nvPr>
            <p:ph type="body" idx="1"/>
          </p:nvPr>
        </p:nvSpPr>
        <p:spPr/>
        <p:txBody>
          <a:bodyPr/>
          <a:lstStyle/>
          <a:p>
            <a:pPr eaLnBrk="1" hangingPunct="1"/>
            <a:r>
              <a:rPr lang="zh-CN" altLang="en-US" smtClean="0"/>
              <a:t>在</a:t>
            </a:r>
            <a:r>
              <a:rPr lang="en-US" altLang="zh-CN" smtClean="0"/>
              <a:t>Google</a:t>
            </a:r>
            <a:r>
              <a:rPr lang="zh-CN" altLang="en-US" smtClean="0"/>
              <a:t>中搜索“</a:t>
            </a:r>
            <a:r>
              <a:rPr lang="zh-CN" altLang="en-US" smtClean="0">
                <a:solidFill>
                  <a:srgbClr val="FF0000"/>
                </a:solidFill>
              </a:rPr>
              <a:t>体育新闻</a:t>
            </a:r>
            <a:r>
              <a:rPr lang="zh-CN" altLang="en-US" smtClean="0"/>
              <a:t>”</a:t>
            </a:r>
          </a:p>
          <a:p>
            <a:pPr lvl="1" eaLnBrk="1" hangingPunct="1"/>
            <a:r>
              <a:rPr lang="zh-CN" altLang="en-US" smtClean="0"/>
              <a:t>搜索引擎工作的简要过程如下</a:t>
            </a:r>
          </a:p>
          <a:p>
            <a:pPr lvl="2" eaLnBrk="1" hangingPunct="1"/>
            <a:r>
              <a:rPr lang="zh-CN" altLang="en-US" smtClean="0"/>
              <a:t>针对查询词“体育新闻”进行分词</a:t>
            </a:r>
            <a:r>
              <a:rPr lang="en-US" altLang="zh-CN" smtClean="0"/>
              <a:t>——》“</a:t>
            </a:r>
            <a:r>
              <a:rPr lang="zh-CN" altLang="en-US" smtClean="0">
                <a:solidFill>
                  <a:srgbClr val="FF0000"/>
                </a:solidFill>
              </a:rPr>
              <a:t>体育</a:t>
            </a:r>
            <a:r>
              <a:rPr lang="zh-CN" altLang="en-US" smtClean="0"/>
              <a:t>”、“</a:t>
            </a:r>
            <a:r>
              <a:rPr lang="zh-CN" altLang="en-US" smtClean="0">
                <a:solidFill>
                  <a:srgbClr val="FF0000"/>
                </a:solidFill>
              </a:rPr>
              <a:t>新闻</a:t>
            </a:r>
            <a:r>
              <a:rPr lang="zh-CN" altLang="en-US" smtClean="0"/>
              <a:t>”</a:t>
            </a:r>
          </a:p>
          <a:p>
            <a:pPr lvl="2" eaLnBrk="1" hangingPunct="1"/>
            <a:r>
              <a:rPr lang="zh-CN" altLang="en-US" smtClean="0"/>
              <a:t>根据建立的倒排索引，将同时包含“</a:t>
            </a:r>
            <a:r>
              <a:rPr lang="zh-CN" altLang="en-US" smtClean="0">
                <a:solidFill>
                  <a:srgbClr val="FF0000"/>
                </a:solidFill>
              </a:rPr>
              <a:t>体育</a:t>
            </a:r>
            <a:r>
              <a:rPr lang="zh-CN" altLang="en-US" smtClean="0"/>
              <a:t>”和“</a:t>
            </a:r>
            <a:r>
              <a:rPr lang="zh-CN" altLang="en-US" smtClean="0">
                <a:solidFill>
                  <a:srgbClr val="FF0000"/>
                </a:solidFill>
              </a:rPr>
              <a:t>新闻</a:t>
            </a:r>
            <a:r>
              <a:rPr lang="zh-CN" altLang="en-US" smtClean="0"/>
              <a:t>”的文档返回，并根据</a:t>
            </a:r>
            <a:r>
              <a:rPr lang="zh-CN" altLang="en-US" smtClean="0">
                <a:solidFill>
                  <a:srgbClr val="FF3300"/>
                </a:solidFill>
              </a:rPr>
              <a:t>相关性</a:t>
            </a:r>
            <a:r>
              <a:rPr lang="zh-CN" altLang="en-US" smtClean="0"/>
              <a:t>进行排序</a:t>
            </a:r>
          </a:p>
          <a:p>
            <a:pPr lvl="3" eaLnBrk="1" hangingPunct="1"/>
            <a:r>
              <a:rPr lang="zh-CN" altLang="en-US" smtClean="0"/>
              <a:t>这里的相关性主要是基于</a:t>
            </a:r>
            <a:r>
              <a:rPr lang="zh-CN" altLang="en-US" smtClean="0">
                <a:solidFill>
                  <a:srgbClr val="FF0000"/>
                </a:solidFill>
              </a:rPr>
              <a:t>内容的相关性</a:t>
            </a:r>
          </a:p>
          <a:p>
            <a:pPr lvl="3" eaLnBrk="1" hangingPunct="1"/>
            <a:r>
              <a:rPr lang="zh-CN" altLang="en-US" smtClean="0"/>
              <a:t>但是会有一些</a:t>
            </a:r>
            <a:r>
              <a:rPr lang="zh-CN" altLang="en-US" smtClean="0">
                <a:solidFill>
                  <a:srgbClr val="FF0000"/>
                </a:solidFill>
              </a:rPr>
              <a:t>垃圾网页</a:t>
            </a:r>
            <a:r>
              <a:rPr lang="zh-CN" altLang="en-US" smtClean="0"/>
              <a:t>，虽然也包含大量的查询词，但却并非满足用户需要的文档，如下图，一个网页中虽然出现了四次“体育新闻”但却不是用户所需要的</a:t>
            </a:r>
          </a:p>
          <a:p>
            <a:pPr lvl="3" eaLnBrk="1" hangingPunct="1"/>
            <a:r>
              <a:rPr lang="zh-CN" altLang="en-US" smtClean="0"/>
              <a:t>因此，页面</a:t>
            </a:r>
            <a:r>
              <a:rPr lang="zh-CN" altLang="en-US" smtClean="0">
                <a:solidFill>
                  <a:srgbClr val="FF0000"/>
                </a:solidFill>
              </a:rPr>
              <a:t>本身的重要性</a:t>
            </a:r>
            <a:r>
              <a:rPr lang="zh-CN" altLang="en-US" smtClean="0"/>
              <a:t>在网页排序中也起着很重要的作用</a:t>
            </a:r>
          </a:p>
          <a:p>
            <a:pPr lvl="1" eaLnBrk="1" hangingPunct="1"/>
            <a:endParaRPr lang="zh-CN" altLang="en-US" smtClean="0"/>
          </a:p>
          <a:p>
            <a:pPr eaLnBrk="1" hangingPunct="1"/>
            <a:endParaRPr lang="zh-CN" altLang="en-US" smtClean="0"/>
          </a:p>
          <a:p>
            <a:pPr eaLnBrk="1" hangingPunct="1"/>
            <a:endParaRPr lang="en-US" altLang="zh-CN" smtClean="0"/>
          </a:p>
        </p:txBody>
      </p:sp>
      <p:sp>
        <p:nvSpPr>
          <p:cNvPr id="6148" name="Oval 4"/>
          <p:cNvSpPr>
            <a:spLocks noChangeArrowheads="1"/>
          </p:cNvSpPr>
          <p:nvPr/>
        </p:nvSpPr>
        <p:spPr bwMode="auto">
          <a:xfrm>
            <a:off x="5940425" y="908050"/>
            <a:ext cx="2376488" cy="1008063"/>
          </a:xfrm>
          <a:prstGeom prst="ellipse">
            <a:avLst/>
          </a:prstGeom>
          <a:solidFill>
            <a:schemeClr val="accent1"/>
          </a:solidFill>
          <a:ln w="9525" algn="ctr">
            <a:solidFill>
              <a:schemeClr val="tx1"/>
            </a:solidFill>
            <a:round/>
            <a:headEnd/>
            <a:tailEnd/>
          </a:ln>
        </p:spPr>
        <p:txBody>
          <a:bodyPr wrap="none" anchor="ctr"/>
          <a:lstStyle/>
          <a:p>
            <a:pPr algn="ctr" eaLnBrk="1" hangingPunct="1"/>
            <a:r>
              <a:rPr lang="zh-CN" altLang="en-US"/>
              <a:t>查询词和文档的相关性</a:t>
            </a:r>
          </a:p>
        </p:txBody>
      </p:sp>
      <p:sp>
        <p:nvSpPr>
          <p:cNvPr id="6149" name="Line 5"/>
          <p:cNvSpPr>
            <a:spLocks noChangeShapeType="1"/>
          </p:cNvSpPr>
          <p:nvPr/>
        </p:nvSpPr>
        <p:spPr bwMode="auto">
          <a:xfrm flipV="1">
            <a:off x="2643188" y="1928813"/>
            <a:ext cx="2663825" cy="1512887"/>
          </a:xfrm>
          <a:prstGeom prst="line">
            <a:avLst/>
          </a:prstGeom>
          <a:noFill/>
          <a:ln w="9525">
            <a:solidFill>
              <a:schemeClr val="tx1"/>
            </a:solidFill>
            <a:round/>
            <a:headEnd/>
            <a:tailEnd type="triangle" w="med" len="me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395288" y="765175"/>
            <a:ext cx="5905500" cy="1822450"/>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cstate="print"/>
          <a:srcRect/>
          <a:stretch>
            <a:fillRect/>
          </a:stretch>
        </p:blipFill>
        <p:spPr bwMode="auto">
          <a:xfrm>
            <a:off x="415925" y="2852738"/>
            <a:ext cx="2495550" cy="3267075"/>
          </a:xfrm>
          <a:prstGeom prst="rect">
            <a:avLst/>
          </a:prstGeom>
          <a:noFill/>
          <a:ln w="9525">
            <a:noFill/>
            <a:miter lim="800000"/>
            <a:headEnd/>
            <a:tailEnd/>
          </a:ln>
          <a:effectLst/>
        </p:spPr>
      </p:pic>
      <p:pic>
        <p:nvPicPr>
          <p:cNvPr id="7172" name="Picture 4"/>
          <p:cNvPicPr>
            <a:picLocks noChangeAspect="1" noChangeArrowheads="1"/>
          </p:cNvPicPr>
          <p:nvPr/>
        </p:nvPicPr>
        <p:blipFill>
          <a:blip r:embed="rId4" cstate="print"/>
          <a:srcRect/>
          <a:stretch>
            <a:fillRect/>
          </a:stretch>
        </p:blipFill>
        <p:spPr bwMode="auto">
          <a:xfrm>
            <a:off x="5435600" y="2681288"/>
            <a:ext cx="2324100" cy="360997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8195" name="Rectangle 3"/>
          <p:cNvSpPr>
            <a:spLocks noGrp="1" noChangeArrowheads="1"/>
          </p:cNvSpPr>
          <p:nvPr>
            <p:ph type="body" idx="1"/>
          </p:nvPr>
        </p:nvSpPr>
        <p:spPr/>
        <p:txBody>
          <a:bodyPr/>
          <a:lstStyle/>
          <a:p>
            <a:pPr eaLnBrk="1" hangingPunct="1"/>
            <a:r>
              <a:rPr lang="zh-CN" altLang="en-US" smtClean="0"/>
              <a:t>在</a:t>
            </a:r>
            <a:r>
              <a:rPr lang="en-US" altLang="zh-CN" smtClean="0"/>
              <a:t>Google</a:t>
            </a:r>
            <a:r>
              <a:rPr lang="zh-CN" altLang="en-US" smtClean="0"/>
              <a:t>中搜索“体育新闻”</a:t>
            </a:r>
          </a:p>
          <a:p>
            <a:pPr lvl="1" eaLnBrk="1" hangingPunct="1"/>
            <a:endParaRPr lang="zh-CN" altLang="en-US" smtClean="0"/>
          </a:p>
          <a:p>
            <a:pPr lvl="1" eaLnBrk="1" hangingPunct="1"/>
            <a:endParaRPr lang="zh-CN" altLang="en-US" smtClean="0"/>
          </a:p>
          <a:p>
            <a:pPr lvl="1" eaLnBrk="1" hangingPunct="1"/>
            <a:endParaRPr lang="zh-CN" altLang="en-US" smtClean="0"/>
          </a:p>
          <a:p>
            <a:pPr eaLnBrk="1" hangingPunct="1"/>
            <a:endParaRPr lang="zh-CN" altLang="en-US" smtClean="0"/>
          </a:p>
          <a:p>
            <a:pPr eaLnBrk="1" hangingPunct="1"/>
            <a:endParaRPr lang="en-US" altLang="zh-CN" smtClean="0"/>
          </a:p>
        </p:txBody>
      </p:sp>
      <p:pic>
        <p:nvPicPr>
          <p:cNvPr id="8196" name="Picture 4"/>
          <p:cNvPicPr>
            <a:picLocks noChangeAspect="1" noChangeArrowheads="1"/>
          </p:cNvPicPr>
          <p:nvPr/>
        </p:nvPicPr>
        <p:blipFill>
          <a:blip r:embed="rId3" cstate="print"/>
          <a:srcRect/>
          <a:stretch>
            <a:fillRect/>
          </a:stretch>
        </p:blipFill>
        <p:spPr bwMode="auto">
          <a:xfrm>
            <a:off x="2124075" y="2565400"/>
            <a:ext cx="5473700" cy="3878263"/>
          </a:xfrm>
          <a:prstGeom prst="rect">
            <a:avLst/>
          </a:prstGeom>
          <a:noFill/>
          <a:ln w="9525" algn="ctr">
            <a:noFill/>
            <a:miter lim="800000"/>
            <a:headEnd/>
            <a:tailEnd/>
          </a:ln>
        </p:spPr>
      </p:pic>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9219" name="Rectangle 3"/>
          <p:cNvSpPr>
            <a:spLocks noGrp="1" noChangeArrowheads="1"/>
          </p:cNvSpPr>
          <p:nvPr>
            <p:ph type="body" idx="1"/>
          </p:nvPr>
        </p:nvSpPr>
        <p:spPr>
          <a:xfrm>
            <a:off x="468313" y="1412875"/>
            <a:ext cx="8229600" cy="3862388"/>
          </a:xfrm>
        </p:spPr>
        <p:txBody>
          <a:bodyPr/>
          <a:lstStyle/>
          <a:p>
            <a:pPr eaLnBrk="1" hangingPunct="1"/>
            <a:r>
              <a:rPr lang="zh-CN" altLang="en-US" smtClean="0"/>
              <a:t>如何度量网页本身的重要性呢？</a:t>
            </a:r>
          </a:p>
          <a:p>
            <a:pPr lvl="1" eaLnBrk="1" hangingPunct="1"/>
            <a:r>
              <a:rPr lang="zh-CN" altLang="en-US" smtClean="0"/>
              <a:t>互联网上的每一篇</a:t>
            </a:r>
            <a:r>
              <a:rPr lang="en-US" altLang="zh-CN" smtClean="0"/>
              <a:t>html</a:t>
            </a:r>
            <a:r>
              <a:rPr lang="zh-CN" altLang="en-US" smtClean="0"/>
              <a:t>文档除了</a:t>
            </a:r>
            <a:r>
              <a:rPr lang="zh-CN" altLang="en-US" smtClean="0">
                <a:solidFill>
                  <a:srgbClr val="FF0000"/>
                </a:solidFill>
              </a:rPr>
              <a:t>包含文本、图片、视频等信息外</a:t>
            </a:r>
            <a:r>
              <a:rPr lang="zh-CN" altLang="en-US" smtClean="0"/>
              <a:t>，还包含了大量的</a:t>
            </a:r>
            <a:r>
              <a:rPr lang="zh-CN" altLang="en-US" smtClean="0">
                <a:solidFill>
                  <a:srgbClr val="FF0000"/>
                </a:solidFill>
              </a:rPr>
              <a:t>链接关系</a:t>
            </a:r>
            <a:r>
              <a:rPr lang="zh-CN" altLang="en-US" smtClean="0"/>
              <a:t>，利用这些</a:t>
            </a:r>
            <a:r>
              <a:rPr lang="zh-CN" altLang="en-US" smtClean="0">
                <a:solidFill>
                  <a:srgbClr val="FF0000"/>
                </a:solidFill>
              </a:rPr>
              <a:t>链接关系</a:t>
            </a:r>
            <a:r>
              <a:rPr lang="zh-CN" altLang="en-US" smtClean="0"/>
              <a:t>，能够发现某些</a:t>
            </a:r>
            <a:r>
              <a:rPr lang="zh-CN" altLang="en-US" smtClean="0">
                <a:solidFill>
                  <a:srgbClr val="FF0000"/>
                </a:solidFill>
              </a:rPr>
              <a:t>重要的网页</a:t>
            </a:r>
          </a:p>
          <a:p>
            <a:pPr lvl="2" eaLnBrk="1" hangingPunct="1"/>
            <a:endParaRPr lang="zh-CN" altLang="en-US" smtClean="0"/>
          </a:p>
          <a:p>
            <a:pPr lvl="2" eaLnBrk="1" hangingPunct="1"/>
            <a:endParaRPr lang="zh-CN" altLang="en-US" smtClean="0"/>
          </a:p>
          <a:p>
            <a:pPr lvl="2" eaLnBrk="1" hangingPunct="1"/>
            <a:endParaRPr lang="zh-CN" altLang="en-US" smtClean="0"/>
          </a:p>
          <a:p>
            <a:pPr lvl="2" eaLnBrk="1" hangingPunct="1"/>
            <a:r>
              <a:rPr lang="zh-CN" altLang="en-US" smtClean="0"/>
              <a:t>直观地看，某网页</a:t>
            </a:r>
            <a:r>
              <a:rPr lang="en-US" altLang="zh-CN" smtClean="0"/>
              <a:t>A</a:t>
            </a:r>
            <a:r>
              <a:rPr lang="zh-CN" altLang="en-US" smtClean="0"/>
              <a:t>链向网页</a:t>
            </a:r>
            <a:r>
              <a:rPr lang="en-US" altLang="zh-CN" smtClean="0"/>
              <a:t>B</a:t>
            </a:r>
            <a:r>
              <a:rPr lang="zh-CN" altLang="en-US" smtClean="0"/>
              <a:t>，则可以认为网页</a:t>
            </a:r>
            <a:r>
              <a:rPr lang="en-US" altLang="zh-CN" smtClean="0"/>
              <a:t>A</a:t>
            </a:r>
            <a:r>
              <a:rPr lang="zh-CN" altLang="en-US" smtClean="0"/>
              <a:t>觉得网页</a:t>
            </a:r>
            <a:r>
              <a:rPr lang="en-US" altLang="zh-CN" smtClean="0"/>
              <a:t>B</a:t>
            </a:r>
            <a:r>
              <a:rPr lang="zh-CN" altLang="en-US" smtClean="0"/>
              <a:t>有链接价值，是比较重要的网页。</a:t>
            </a:r>
          </a:p>
          <a:p>
            <a:pPr lvl="2" eaLnBrk="1" hangingPunct="1"/>
            <a:r>
              <a:rPr lang="zh-CN" altLang="en-US" smtClean="0"/>
              <a:t>某网页被指向的</a:t>
            </a:r>
            <a:r>
              <a:rPr lang="zh-CN" altLang="en-US" smtClean="0">
                <a:solidFill>
                  <a:srgbClr val="FF0000"/>
                </a:solidFill>
              </a:rPr>
              <a:t>次数越多</a:t>
            </a:r>
            <a:r>
              <a:rPr lang="zh-CN" altLang="en-US" smtClean="0"/>
              <a:t>，则它的</a:t>
            </a:r>
            <a:r>
              <a:rPr lang="zh-CN" altLang="en-US" smtClean="0">
                <a:solidFill>
                  <a:srgbClr val="FF0000"/>
                </a:solidFill>
              </a:rPr>
              <a:t>重要性越高</a:t>
            </a:r>
            <a:r>
              <a:rPr lang="zh-CN" altLang="en-US" smtClean="0"/>
              <a:t>；越是</a:t>
            </a:r>
            <a:r>
              <a:rPr lang="zh-CN" altLang="en-US" smtClean="0">
                <a:solidFill>
                  <a:srgbClr val="FF0000"/>
                </a:solidFill>
              </a:rPr>
              <a:t>重要的网页</a:t>
            </a:r>
            <a:r>
              <a:rPr lang="zh-CN" altLang="en-US" smtClean="0"/>
              <a:t>，</a:t>
            </a:r>
            <a:r>
              <a:rPr lang="zh-CN" altLang="en-US" smtClean="0">
                <a:solidFill>
                  <a:srgbClr val="FF0000"/>
                </a:solidFill>
              </a:rPr>
              <a:t>所链接的网页</a:t>
            </a:r>
            <a:r>
              <a:rPr lang="zh-CN" altLang="en-US" smtClean="0"/>
              <a:t>的</a:t>
            </a:r>
            <a:r>
              <a:rPr lang="zh-CN" altLang="en-US" smtClean="0">
                <a:solidFill>
                  <a:srgbClr val="FF0000"/>
                </a:solidFill>
              </a:rPr>
              <a:t>重要性也越高</a:t>
            </a:r>
            <a:r>
              <a:rPr lang="zh-CN" altLang="en-US" smtClean="0"/>
              <a:t>。</a:t>
            </a:r>
          </a:p>
        </p:txBody>
      </p:sp>
      <p:pic>
        <p:nvPicPr>
          <p:cNvPr id="9220" name="Picture 4"/>
          <p:cNvPicPr>
            <a:picLocks noChangeAspect="1" noChangeArrowheads="1"/>
          </p:cNvPicPr>
          <p:nvPr/>
        </p:nvPicPr>
        <p:blipFill>
          <a:blip r:embed="rId3" cstate="print"/>
          <a:srcRect/>
          <a:stretch>
            <a:fillRect/>
          </a:stretch>
        </p:blipFill>
        <p:spPr bwMode="auto">
          <a:xfrm>
            <a:off x="4284663" y="3452813"/>
            <a:ext cx="1296987" cy="1173162"/>
          </a:xfrm>
          <a:prstGeom prst="rect">
            <a:avLst/>
          </a:prstGeom>
          <a:noFill/>
          <a:ln w="9525" algn="ctr">
            <a:noFill/>
            <a:miter lim="800000"/>
            <a:headEnd/>
            <a:tailEnd/>
          </a:ln>
        </p:spPr>
      </p:pic>
      <p:sp>
        <p:nvSpPr>
          <p:cNvPr id="9221" name="Oval 5"/>
          <p:cNvSpPr>
            <a:spLocks noChangeArrowheads="1"/>
          </p:cNvSpPr>
          <p:nvPr/>
        </p:nvSpPr>
        <p:spPr bwMode="auto">
          <a:xfrm>
            <a:off x="1835150" y="3878263"/>
            <a:ext cx="358775" cy="215900"/>
          </a:xfrm>
          <a:prstGeom prst="ellipse">
            <a:avLst/>
          </a:prstGeom>
          <a:solidFill>
            <a:schemeClr val="accent1"/>
          </a:solidFill>
          <a:ln w="9525" algn="ctr">
            <a:solidFill>
              <a:schemeClr val="tx1"/>
            </a:solidFill>
            <a:round/>
            <a:headEnd/>
            <a:tailEnd/>
          </a:ln>
        </p:spPr>
        <p:txBody>
          <a:bodyPr wrap="none" anchor="ctr"/>
          <a:lstStyle/>
          <a:p>
            <a:pPr algn="ctr" eaLnBrk="1" hangingPunct="1"/>
            <a:r>
              <a:rPr lang="en-US" altLang="zh-CN"/>
              <a:t>A</a:t>
            </a:r>
          </a:p>
        </p:txBody>
      </p:sp>
      <p:sp>
        <p:nvSpPr>
          <p:cNvPr id="9222" name="Oval 6"/>
          <p:cNvSpPr>
            <a:spLocks noChangeArrowheads="1"/>
          </p:cNvSpPr>
          <p:nvPr/>
        </p:nvSpPr>
        <p:spPr bwMode="auto">
          <a:xfrm>
            <a:off x="3013075" y="3865563"/>
            <a:ext cx="358775" cy="241300"/>
          </a:xfrm>
          <a:prstGeom prst="ellipse">
            <a:avLst/>
          </a:prstGeom>
          <a:solidFill>
            <a:schemeClr val="accent1"/>
          </a:solidFill>
          <a:ln w="9525" algn="ctr">
            <a:solidFill>
              <a:schemeClr val="tx1"/>
            </a:solidFill>
            <a:round/>
            <a:headEnd/>
            <a:tailEnd/>
          </a:ln>
        </p:spPr>
        <p:txBody>
          <a:bodyPr wrap="none" anchor="ctr"/>
          <a:lstStyle/>
          <a:p>
            <a:pPr algn="ctr" eaLnBrk="1" hangingPunct="1"/>
            <a:r>
              <a:rPr lang="en-US" altLang="zh-CN"/>
              <a:t>B</a:t>
            </a:r>
          </a:p>
        </p:txBody>
      </p:sp>
      <p:sp>
        <p:nvSpPr>
          <p:cNvPr id="9223" name="Line 7"/>
          <p:cNvSpPr>
            <a:spLocks noChangeShapeType="1"/>
          </p:cNvSpPr>
          <p:nvPr/>
        </p:nvSpPr>
        <p:spPr bwMode="auto">
          <a:xfrm>
            <a:off x="2219325" y="3962400"/>
            <a:ext cx="792163" cy="0"/>
          </a:xfrm>
          <a:prstGeom prst="line">
            <a:avLst/>
          </a:prstGeom>
          <a:noFill/>
          <a:ln w="9525">
            <a:solidFill>
              <a:schemeClr val="tx1"/>
            </a:solidFill>
            <a:round/>
            <a:headEnd/>
            <a:tailEnd type="triangle" w="med" len="med"/>
          </a:ln>
        </p:spPr>
        <p:txBody>
          <a:bodyPr wrap="none" anchor="ctr"/>
          <a:lstStyle/>
          <a:p>
            <a:endParaRPr lang="zh-CN" altLang="en-US"/>
          </a:p>
        </p:txBody>
      </p:sp>
      <p:sp>
        <p:nvSpPr>
          <p:cNvPr id="9224" name="Oval 8"/>
          <p:cNvSpPr>
            <a:spLocks noChangeArrowheads="1"/>
          </p:cNvSpPr>
          <p:nvPr/>
        </p:nvSpPr>
        <p:spPr bwMode="auto">
          <a:xfrm>
            <a:off x="6443663" y="3429000"/>
            <a:ext cx="2160587" cy="1008063"/>
          </a:xfrm>
          <a:prstGeom prst="ellipse">
            <a:avLst/>
          </a:prstGeom>
          <a:solidFill>
            <a:schemeClr val="accent1"/>
          </a:solidFill>
          <a:ln w="9525" algn="ctr">
            <a:solidFill>
              <a:schemeClr val="tx1"/>
            </a:solidFill>
            <a:round/>
            <a:headEnd/>
            <a:tailEnd/>
          </a:ln>
        </p:spPr>
        <p:txBody>
          <a:bodyPr wrap="none" anchor="ctr"/>
          <a:lstStyle/>
          <a:p>
            <a:pPr algn="ctr" eaLnBrk="1" hangingPunct="1"/>
            <a:r>
              <a:rPr lang="zh-CN" altLang="en-US">
                <a:solidFill>
                  <a:srgbClr val="FF0000"/>
                </a:solidFill>
              </a:rPr>
              <a:t>网页是节点，网页</a:t>
            </a:r>
          </a:p>
          <a:p>
            <a:pPr algn="ctr" eaLnBrk="1" hangingPunct="1"/>
            <a:r>
              <a:rPr lang="zh-CN" altLang="en-US">
                <a:solidFill>
                  <a:srgbClr val="FF0000"/>
                </a:solidFill>
              </a:rPr>
              <a:t>间的链接关系是边</a:t>
            </a:r>
          </a:p>
        </p:txBody>
      </p:sp>
    </p:spTree>
  </p:cSld>
  <p:clrMapOvr>
    <a:masterClrMapping/>
  </p:clrMapOvr>
  <p:transition advTm="17687"/>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10243" name="Rectangle 3"/>
          <p:cNvSpPr>
            <a:spLocks noGrp="1" noChangeArrowheads="1"/>
          </p:cNvSpPr>
          <p:nvPr>
            <p:ph type="body" idx="1"/>
          </p:nvPr>
        </p:nvSpPr>
        <p:spPr/>
        <p:txBody>
          <a:bodyPr/>
          <a:lstStyle/>
          <a:p>
            <a:pPr eaLnBrk="1" hangingPunct="1"/>
            <a:r>
              <a:rPr lang="zh-CN" altLang="en-US" smtClean="0"/>
              <a:t>如何</a:t>
            </a:r>
            <a:r>
              <a:rPr lang="zh-CN" altLang="en-US" smtClean="0">
                <a:solidFill>
                  <a:srgbClr val="FF0000"/>
                </a:solidFill>
              </a:rPr>
              <a:t>度量</a:t>
            </a:r>
            <a:r>
              <a:rPr lang="zh-CN" altLang="en-US" smtClean="0"/>
              <a:t>网页本身的</a:t>
            </a:r>
            <a:r>
              <a:rPr lang="zh-CN" altLang="en-US" smtClean="0">
                <a:solidFill>
                  <a:srgbClr val="FF0000"/>
                </a:solidFill>
              </a:rPr>
              <a:t>重要性</a:t>
            </a:r>
            <a:r>
              <a:rPr lang="zh-CN" altLang="en-US" smtClean="0"/>
              <a:t>呢？</a:t>
            </a:r>
          </a:p>
          <a:p>
            <a:pPr lvl="1" eaLnBrk="1" hangingPunct="1"/>
            <a:r>
              <a:rPr lang="zh-CN" altLang="en-US" smtClean="0"/>
              <a:t>比如，新华网体育在其首页中对新浪体育做了链接，人民网体育同样在其首页中对新浪体育做了链接</a:t>
            </a:r>
          </a:p>
          <a:p>
            <a:pPr eaLnBrk="1" hangingPunct="1"/>
            <a:endParaRPr lang="zh-CN" altLang="en-US" smtClean="0"/>
          </a:p>
          <a:p>
            <a:pPr lvl="1" eaLnBrk="1" hangingPunct="1"/>
            <a:r>
              <a:rPr lang="zh-CN" altLang="en-US" smtClean="0"/>
              <a:t>可见，</a:t>
            </a:r>
            <a:r>
              <a:rPr lang="zh-CN" altLang="en-US" smtClean="0">
                <a:solidFill>
                  <a:srgbClr val="FF0000"/>
                </a:solidFill>
              </a:rPr>
              <a:t>新浪体育</a:t>
            </a:r>
            <a:r>
              <a:rPr lang="zh-CN" altLang="en-US" smtClean="0"/>
              <a:t>被</a:t>
            </a:r>
            <a:r>
              <a:rPr lang="zh-CN" altLang="en-US" smtClean="0">
                <a:solidFill>
                  <a:srgbClr val="FF0000"/>
                </a:solidFill>
              </a:rPr>
              <a:t>链接的次数较多</a:t>
            </a:r>
            <a:r>
              <a:rPr lang="zh-CN" altLang="en-US" smtClean="0"/>
              <a:t>；同时，</a:t>
            </a:r>
            <a:r>
              <a:rPr lang="zh-CN" altLang="en-US" smtClean="0">
                <a:solidFill>
                  <a:srgbClr val="FF0000"/>
                </a:solidFill>
              </a:rPr>
              <a:t>人民网体育和新华网体育</a:t>
            </a:r>
            <a:r>
              <a:rPr lang="zh-CN" altLang="en-US" smtClean="0"/>
              <a:t>也</a:t>
            </a:r>
            <a:r>
              <a:rPr lang="zh-CN" altLang="en-US" smtClean="0">
                <a:solidFill>
                  <a:srgbClr val="FF0000"/>
                </a:solidFill>
              </a:rPr>
              <a:t>都是比较“重要”的网页</a:t>
            </a:r>
            <a:r>
              <a:rPr lang="zh-CN" altLang="en-US" smtClean="0"/>
              <a:t>，因此</a:t>
            </a:r>
            <a:r>
              <a:rPr lang="zh-CN" altLang="en-US" smtClean="0">
                <a:solidFill>
                  <a:srgbClr val="FF0000"/>
                </a:solidFill>
              </a:rPr>
              <a:t>新浪体育也应该是比较“重要”的网页。</a:t>
            </a:r>
          </a:p>
        </p:txBody>
      </p:sp>
      <p:pic>
        <p:nvPicPr>
          <p:cNvPr id="10244" name="Picture 4"/>
          <p:cNvPicPr>
            <a:picLocks noChangeAspect="1" noChangeArrowheads="1"/>
          </p:cNvPicPr>
          <p:nvPr/>
        </p:nvPicPr>
        <p:blipFill>
          <a:blip r:embed="rId3" cstate="print"/>
          <a:srcRect/>
          <a:stretch>
            <a:fillRect/>
          </a:stretch>
        </p:blipFill>
        <p:spPr bwMode="auto">
          <a:xfrm>
            <a:off x="1571625" y="4000500"/>
            <a:ext cx="3240088" cy="573088"/>
          </a:xfrm>
          <a:prstGeom prst="rect">
            <a:avLst/>
          </a:prstGeom>
          <a:noFill/>
          <a:ln w="9525" algn="ctr">
            <a:noFill/>
            <a:miter lim="800000"/>
            <a:headEnd/>
            <a:tailEnd/>
          </a:ln>
        </p:spPr>
      </p:pic>
      <p:pic>
        <p:nvPicPr>
          <p:cNvPr id="10245" name="Picture 5"/>
          <p:cNvPicPr>
            <a:picLocks noChangeAspect="1" noChangeArrowheads="1"/>
          </p:cNvPicPr>
          <p:nvPr/>
        </p:nvPicPr>
        <p:blipFill>
          <a:blip r:embed="rId4" cstate="print"/>
          <a:srcRect/>
          <a:stretch>
            <a:fillRect/>
          </a:stretch>
        </p:blipFill>
        <p:spPr bwMode="auto">
          <a:xfrm>
            <a:off x="5500688" y="3929063"/>
            <a:ext cx="2087562" cy="574675"/>
          </a:xfrm>
          <a:prstGeom prst="rect">
            <a:avLst/>
          </a:prstGeom>
          <a:noFill/>
          <a:ln w="9525" algn="ctr">
            <a:noFill/>
            <a:miter lim="800000"/>
            <a:headEnd/>
            <a:tailEnd/>
          </a:ln>
        </p:spPr>
      </p:pic>
      <p:sp>
        <p:nvSpPr>
          <p:cNvPr id="10246" name="Oval 6"/>
          <p:cNvSpPr>
            <a:spLocks noChangeArrowheads="1"/>
          </p:cNvSpPr>
          <p:nvPr/>
        </p:nvSpPr>
        <p:spPr bwMode="auto">
          <a:xfrm>
            <a:off x="2857500" y="3643313"/>
            <a:ext cx="1655763" cy="431800"/>
          </a:xfrm>
          <a:prstGeom prst="ellipse">
            <a:avLst/>
          </a:prstGeom>
          <a:solidFill>
            <a:schemeClr val="accent1"/>
          </a:solidFill>
          <a:ln w="9525" algn="ctr">
            <a:solidFill>
              <a:schemeClr val="tx1"/>
            </a:solidFill>
            <a:round/>
            <a:headEnd/>
            <a:tailEnd/>
          </a:ln>
        </p:spPr>
        <p:txBody>
          <a:bodyPr wrap="none" anchor="ctr"/>
          <a:lstStyle/>
          <a:p>
            <a:pPr algn="ctr" eaLnBrk="1" hangingPunct="1"/>
            <a:r>
              <a:rPr lang="zh-CN" altLang="en-US"/>
              <a:t>新华网体育</a:t>
            </a:r>
          </a:p>
        </p:txBody>
      </p:sp>
      <p:sp>
        <p:nvSpPr>
          <p:cNvPr id="10247" name="Oval 7"/>
          <p:cNvSpPr>
            <a:spLocks noChangeArrowheads="1"/>
          </p:cNvSpPr>
          <p:nvPr/>
        </p:nvSpPr>
        <p:spPr bwMode="auto">
          <a:xfrm>
            <a:off x="6572250" y="3429000"/>
            <a:ext cx="1728788" cy="431800"/>
          </a:xfrm>
          <a:prstGeom prst="ellipse">
            <a:avLst/>
          </a:prstGeom>
          <a:solidFill>
            <a:schemeClr val="accent1"/>
          </a:solidFill>
          <a:ln w="9525" algn="ctr">
            <a:solidFill>
              <a:schemeClr val="tx1"/>
            </a:solidFill>
            <a:round/>
            <a:headEnd/>
            <a:tailEnd/>
          </a:ln>
        </p:spPr>
        <p:txBody>
          <a:bodyPr wrap="none" anchor="ctr"/>
          <a:lstStyle/>
          <a:p>
            <a:pPr algn="ctr" eaLnBrk="1" hangingPunct="1"/>
            <a:r>
              <a:rPr lang="zh-CN" altLang="en-US"/>
              <a:t>人民网体育</a:t>
            </a:r>
          </a:p>
        </p:txBody>
      </p:sp>
      <p:sp>
        <p:nvSpPr>
          <p:cNvPr id="10248" name="Line 8"/>
          <p:cNvSpPr>
            <a:spLocks noChangeShapeType="1"/>
          </p:cNvSpPr>
          <p:nvPr/>
        </p:nvSpPr>
        <p:spPr bwMode="auto">
          <a:xfrm flipH="1">
            <a:off x="2857500" y="4000500"/>
            <a:ext cx="287338" cy="215900"/>
          </a:xfrm>
          <a:prstGeom prst="line">
            <a:avLst/>
          </a:prstGeom>
          <a:noFill/>
          <a:ln w="9525">
            <a:solidFill>
              <a:schemeClr val="tx1"/>
            </a:solidFill>
            <a:round/>
            <a:headEnd/>
            <a:tailEnd type="triangle" w="med" len="med"/>
          </a:ln>
        </p:spPr>
        <p:txBody>
          <a:bodyPr wrap="none" anchor="ctr"/>
          <a:lstStyle/>
          <a:p>
            <a:endParaRPr lang="zh-CN" altLang="en-US"/>
          </a:p>
        </p:txBody>
      </p:sp>
      <p:sp>
        <p:nvSpPr>
          <p:cNvPr id="10249" name="Line 9"/>
          <p:cNvSpPr>
            <a:spLocks noChangeShapeType="1"/>
          </p:cNvSpPr>
          <p:nvPr/>
        </p:nvSpPr>
        <p:spPr bwMode="auto">
          <a:xfrm flipH="1">
            <a:off x="5857875" y="4143375"/>
            <a:ext cx="360363" cy="215900"/>
          </a:xfrm>
          <a:prstGeom prst="line">
            <a:avLst/>
          </a:prstGeom>
          <a:noFill/>
          <a:ln w="9525">
            <a:solidFill>
              <a:schemeClr val="tx1"/>
            </a:solidFill>
            <a:round/>
            <a:headEnd/>
            <a:tailEnd type="triangle" w="med" len="med"/>
          </a:ln>
        </p:spPr>
        <p:txBody>
          <a:bodyPr wrap="none" anchor="ctr"/>
          <a:lstStyle/>
          <a:p>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6156325" y="2733675"/>
            <a:ext cx="2592388" cy="1944688"/>
          </a:xfrm>
          <a:prstGeom prst="rect">
            <a:avLst/>
          </a:prstGeom>
          <a:noFill/>
          <a:ln w="9525" algn="ctr">
            <a:solidFill>
              <a:schemeClr val="tx1"/>
            </a:solidFill>
            <a:miter lim="800000"/>
            <a:headEnd/>
            <a:tailEnd/>
          </a:ln>
        </p:spPr>
        <p:txBody>
          <a:bodyPr wrap="none" anchor="ctr"/>
          <a:lstStyle/>
          <a:p>
            <a:pPr eaLnBrk="1" hangingPunct="1"/>
            <a:endParaRPr lang="zh-CN" altLang="en-US"/>
          </a:p>
        </p:txBody>
      </p:sp>
      <p:sp>
        <p:nvSpPr>
          <p:cNvPr id="11267" name="Rectangle 3"/>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11268" name="Rectangle 4"/>
          <p:cNvSpPr>
            <a:spLocks noGrp="1" noChangeArrowheads="1"/>
          </p:cNvSpPr>
          <p:nvPr>
            <p:ph type="body" idx="1"/>
          </p:nvPr>
        </p:nvSpPr>
        <p:spPr/>
        <p:txBody>
          <a:bodyPr/>
          <a:lstStyle/>
          <a:p>
            <a:pPr eaLnBrk="1" hangingPunct="1"/>
            <a:r>
              <a:rPr lang="zh-CN" altLang="en-US" smtClean="0"/>
              <a:t>一个更加形象的图</a:t>
            </a:r>
          </a:p>
          <a:p>
            <a:pPr eaLnBrk="1" hangingPunct="1"/>
            <a:endParaRPr lang="en-US" altLang="zh-CN" smtClean="0"/>
          </a:p>
        </p:txBody>
      </p:sp>
      <p:pic>
        <p:nvPicPr>
          <p:cNvPr id="11269" name="Picture 5"/>
          <p:cNvPicPr>
            <a:picLocks noChangeAspect="1" noChangeArrowheads="1"/>
          </p:cNvPicPr>
          <p:nvPr/>
        </p:nvPicPr>
        <p:blipFill>
          <a:blip r:embed="rId3" cstate="print"/>
          <a:srcRect/>
          <a:stretch>
            <a:fillRect/>
          </a:stretch>
        </p:blipFill>
        <p:spPr bwMode="auto">
          <a:xfrm>
            <a:off x="971550" y="2565400"/>
            <a:ext cx="4826000" cy="3871913"/>
          </a:xfrm>
          <a:prstGeom prst="rect">
            <a:avLst/>
          </a:prstGeom>
          <a:noFill/>
          <a:ln w="9525" algn="ctr">
            <a:noFill/>
            <a:miter lim="800000"/>
            <a:headEnd/>
            <a:tailEnd/>
          </a:ln>
        </p:spPr>
      </p:pic>
      <p:sp>
        <p:nvSpPr>
          <p:cNvPr id="11270" name="Text Box 6"/>
          <p:cNvSpPr txBox="1">
            <a:spLocks noChangeArrowheads="1"/>
          </p:cNvSpPr>
          <p:nvPr/>
        </p:nvSpPr>
        <p:spPr bwMode="auto">
          <a:xfrm>
            <a:off x="6084888" y="2852738"/>
            <a:ext cx="2736850" cy="1739900"/>
          </a:xfrm>
          <a:prstGeom prst="rect">
            <a:avLst/>
          </a:prstGeom>
          <a:noFill/>
          <a:ln w="9525" algn="ctr">
            <a:noFill/>
            <a:miter lim="800000"/>
            <a:headEnd/>
            <a:tailEnd/>
          </a:ln>
        </p:spPr>
        <p:txBody>
          <a:bodyPr>
            <a:spAutoFit/>
          </a:bodyPr>
          <a:lstStyle/>
          <a:p>
            <a:pPr algn="ctr" eaLnBrk="1" hangingPunct="1">
              <a:spcBef>
                <a:spcPct val="50000"/>
              </a:spcBef>
            </a:pPr>
            <a:r>
              <a:rPr lang="zh-CN" altLang="en-US"/>
              <a:t>链向</a:t>
            </a:r>
            <a:r>
              <a:rPr lang="zh-CN" altLang="en-US">
                <a:solidFill>
                  <a:srgbClr val="FF0000"/>
                </a:solidFill>
              </a:rPr>
              <a:t>网页</a:t>
            </a:r>
            <a:r>
              <a:rPr lang="en-US" altLang="zh-CN">
                <a:solidFill>
                  <a:srgbClr val="FF0000"/>
                </a:solidFill>
              </a:rPr>
              <a:t>E</a:t>
            </a:r>
            <a:r>
              <a:rPr lang="zh-CN" altLang="en-US">
                <a:solidFill>
                  <a:srgbClr val="FF0000"/>
                </a:solidFill>
              </a:rPr>
              <a:t>的链接远远大于链向网页</a:t>
            </a:r>
            <a:r>
              <a:rPr lang="en-US" altLang="zh-CN">
                <a:solidFill>
                  <a:srgbClr val="FF0000"/>
                </a:solidFill>
              </a:rPr>
              <a:t>C</a:t>
            </a:r>
            <a:r>
              <a:rPr lang="zh-CN" altLang="en-US">
                <a:solidFill>
                  <a:srgbClr val="FF0000"/>
                </a:solidFill>
              </a:rPr>
              <a:t>的链接</a:t>
            </a:r>
            <a:r>
              <a:rPr lang="zh-CN" altLang="en-US"/>
              <a:t>，但是网页</a:t>
            </a:r>
            <a:r>
              <a:rPr lang="en-US" altLang="zh-CN">
                <a:solidFill>
                  <a:srgbClr val="FF0000"/>
                </a:solidFill>
              </a:rPr>
              <a:t>C</a:t>
            </a:r>
            <a:r>
              <a:rPr lang="zh-CN" altLang="en-US">
                <a:solidFill>
                  <a:srgbClr val="FF0000"/>
                </a:solidFill>
              </a:rPr>
              <a:t>的重要性</a:t>
            </a:r>
            <a:r>
              <a:rPr lang="zh-CN" altLang="en-US"/>
              <a:t>却</a:t>
            </a:r>
            <a:r>
              <a:rPr lang="zh-CN" altLang="en-US">
                <a:solidFill>
                  <a:srgbClr val="FF0000"/>
                </a:solidFill>
              </a:rPr>
              <a:t>大于网页</a:t>
            </a:r>
            <a:r>
              <a:rPr lang="en-US" altLang="zh-CN">
                <a:solidFill>
                  <a:srgbClr val="FF0000"/>
                </a:solidFill>
              </a:rPr>
              <a:t>E</a:t>
            </a:r>
            <a:r>
              <a:rPr lang="zh-CN" altLang="en-US"/>
              <a:t>。这是因为因为网页</a:t>
            </a:r>
            <a:r>
              <a:rPr lang="en-US" altLang="zh-CN"/>
              <a:t>C</a:t>
            </a:r>
            <a:r>
              <a:rPr lang="zh-CN" altLang="en-US"/>
              <a:t>被网页</a:t>
            </a:r>
            <a:r>
              <a:rPr lang="en-US" altLang="zh-CN"/>
              <a:t>B</a:t>
            </a:r>
            <a:r>
              <a:rPr lang="zh-CN" altLang="en-US"/>
              <a:t>所链接，而网页</a:t>
            </a:r>
            <a:r>
              <a:rPr lang="en-US" altLang="zh-CN">
                <a:solidFill>
                  <a:srgbClr val="FF0000"/>
                </a:solidFill>
              </a:rPr>
              <a:t>B</a:t>
            </a:r>
            <a:r>
              <a:rPr lang="zh-CN" altLang="en-US">
                <a:solidFill>
                  <a:srgbClr val="FF0000"/>
                </a:solidFill>
              </a:rPr>
              <a:t>有很高的重要性</a:t>
            </a:r>
            <a:r>
              <a:rPr lang="zh-CN" altLang="en-US"/>
              <a: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68313" y="476250"/>
            <a:ext cx="8229600" cy="1371600"/>
          </a:xfrm>
        </p:spPr>
        <p:txBody>
          <a:bodyPr/>
          <a:lstStyle/>
          <a:p>
            <a:pPr eaLnBrk="1" hangingPunct="1"/>
            <a:r>
              <a:rPr lang="en-US" altLang="zh-CN" smtClean="0"/>
              <a:t>Pagerank</a:t>
            </a:r>
            <a:r>
              <a:rPr lang="zh-CN" altLang="en-US" smtClean="0"/>
              <a:t>算法简介</a:t>
            </a:r>
          </a:p>
        </p:txBody>
      </p:sp>
      <p:sp>
        <p:nvSpPr>
          <p:cNvPr id="12291" name="Rectangle 3"/>
          <p:cNvSpPr>
            <a:spLocks noGrp="1" noChangeArrowheads="1"/>
          </p:cNvSpPr>
          <p:nvPr>
            <p:ph type="body" idx="1"/>
          </p:nvPr>
        </p:nvSpPr>
        <p:spPr>
          <a:xfrm>
            <a:off x="539750" y="2133600"/>
            <a:ext cx="8229600" cy="3886200"/>
          </a:xfrm>
        </p:spPr>
        <p:txBody>
          <a:bodyPr/>
          <a:lstStyle/>
          <a:p>
            <a:pPr eaLnBrk="1" hangingPunct="1">
              <a:buFont typeface="Wingdings" pitchFamily="2" charset="2"/>
              <a:buNone/>
            </a:pPr>
            <a:r>
              <a:rPr lang="zh-CN" altLang="en-US" b="1" smtClean="0"/>
              <a:t>创始人：拉里佩奇</a:t>
            </a:r>
            <a:r>
              <a:rPr lang="en-US" altLang="zh-CN" sz="1800" b="1" smtClean="0"/>
              <a:t>(Larry Page</a:t>
            </a:r>
            <a:r>
              <a:rPr lang="en-US" altLang="zh-CN" sz="1800" smtClean="0"/>
              <a:t> </a:t>
            </a:r>
            <a:r>
              <a:rPr lang="en-US" altLang="zh-CN" sz="1800" b="1" smtClean="0"/>
              <a:t>)</a:t>
            </a:r>
          </a:p>
          <a:p>
            <a:pPr eaLnBrk="1" hangingPunct="1">
              <a:buFont typeface="Wingdings" pitchFamily="2" charset="2"/>
              <a:buNone/>
            </a:pPr>
            <a:r>
              <a:rPr lang="en-US" altLang="zh-CN" sz="1800" b="1" smtClean="0"/>
              <a:t>              </a:t>
            </a:r>
            <a:r>
              <a:rPr lang="en-US" altLang="zh-CN" b="1" smtClean="0"/>
              <a:t>   —Google</a:t>
            </a:r>
            <a:r>
              <a:rPr lang="zh-CN" altLang="en-US" b="1" smtClean="0"/>
              <a:t>创始人之一</a:t>
            </a:r>
          </a:p>
          <a:p>
            <a:pPr eaLnBrk="1" hangingPunct="1">
              <a:buFont typeface="Wingdings" pitchFamily="2" charset="2"/>
              <a:buNone/>
            </a:pPr>
            <a:r>
              <a:rPr lang="zh-CN" altLang="en-US" b="1" smtClean="0"/>
              <a:t>应用： 是</a:t>
            </a:r>
            <a:r>
              <a:rPr lang="en-US" altLang="zh-CN" b="1" smtClean="0"/>
              <a:t>Google</a:t>
            </a:r>
            <a:r>
              <a:rPr lang="zh-CN" altLang="en-US" b="1" smtClean="0"/>
              <a:t>用来衡量</a:t>
            </a:r>
          </a:p>
          <a:p>
            <a:pPr eaLnBrk="1" hangingPunct="1">
              <a:buFont typeface="Wingdings" pitchFamily="2" charset="2"/>
              <a:buNone/>
            </a:pPr>
            <a:r>
              <a:rPr lang="zh-CN" altLang="en-US" b="1" smtClean="0"/>
              <a:t>           一个网站的好坏的</a:t>
            </a:r>
            <a:r>
              <a:rPr lang="zh-CN" altLang="en-US" b="1" smtClean="0">
                <a:solidFill>
                  <a:srgbClr val="FF0000"/>
                </a:solidFill>
              </a:rPr>
              <a:t>唯</a:t>
            </a:r>
          </a:p>
          <a:p>
            <a:pPr eaLnBrk="1" hangingPunct="1">
              <a:buFont typeface="Wingdings" pitchFamily="2" charset="2"/>
              <a:buNone/>
            </a:pPr>
            <a:r>
              <a:rPr lang="zh-CN" altLang="en-US" b="1" smtClean="0">
                <a:solidFill>
                  <a:srgbClr val="FF0000"/>
                </a:solidFill>
              </a:rPr>
              <a:t>           一标准</a:t>
            </a:r>
            <a:r>
              <a:rPr lang="zh-CN" altLang="en-US" b="1" smtClean="0"/>
              <a:t>。</a:t>
            </a:r>
            <a:r>
              <a:rPr lang="zh-CN" altLang="en-US" smtClean="0"/>
              <a:t> </a:t>
            </a:r>
          </a:p>
        </p:txBody>
      </p:sp>
      <p:pic>
        <p:nvPicPr>
          <p:cNvPr id="12292" name="Picture 5" descr="PageRank专利人——拉里·佩奇"/>
          <p:cNvPicPr>
            <a:picLocks noChangeAspect="1" noChangeArrowheads="1"/>
          </p:cNvPicPr>
          <p:nvPr/>
        </p:nvPicPr>
        <p:blipFill>
          <a:blip r:embed="rId2" cstate="print"/>
          <a:srcRect/>
          <a:stretch>
            <a:fillRect/>
          </a:stretch>
        </p:blipFill>
        <p:spPr bwMode="auto">
          <a:xfrm>
            <a:off x="6156325" y="2205038"/>
            <a:ext cx="2592388" cy="20875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8313" y="417513"/>
            <a:ext cx="8229600" cy="1139825"/>
          </a:xfrm>
        </p:spPr>
        <p:txBody>
          <a:bodyPr/>
          <a:lstStyle/>
          <a:p>
            <a:pPr eaLnBrk="1" hangingPunct="1"/>
            <a:r>
              <a:rPr lang="en-US" altLang="zh-CN" smtClean="0"/>
              <a:t>Google</a:t>
            </a:r>
            <a:r>
              <a:rPr lang="zh-CN" altLang="en-US" smtClean="0"/>
              <a:t>的网页排序</a:t>
            </a:r>
          </a:p>
        </p:txBody>
      </p:sp>
      <p:sp>
        <p:nvSpPr>
          <p:cNvPr id="13315" name="Rectangle 3"/>
          <p:cNvSpPr>
            <a:spLocks noGrp="1" noChangeArrowheads="1"/>
          </p:cNvSpPr>
          <p:nvPr>
            <p:ph type="body" idx="1"/>
          </p:nvPr>
        </p:nvSpPr>
        <p:spPr>
          <a:xfrm>
            <a:off x="395288" y="1774825"/>
            <a:ext cx="8229600" cy="3886200"/>
          </a:xfrm>
        </p:spPr>
        <p:txBody>
          <a:bodyPr/>
          <a:lstStyle/>
          <a:p>
            <a:pPr eaLnBrk="1" hangingPunct="1"/>
            <a:r>
              <a:rPr lang="en-US" altLang="zh-CN" sz="2600" smtClean="0"/>
              <a:t>PageRank</a:t>
            </a:r>
            <a:r>
              <a:rPr lang="zh-CN" altLang="en-US" sz="2600" smtClean="0"/>
              <a:t>的</a:t>
            </a:r>
            <a:r>
              <a:rPr lang="zh-CN" altLang="en-US" sz="2600" smtClean="0">
                <a:solidFill>
                  <a:srgbClr val="FF0000"/>
                </a:solidFill>
              </a:rPr>
              <a:t>提出</a:t>
            </a:r>
          </a:p>
          <a:p>
            <a:pPr lvl="1" eaLnBrk="1" hangingPunct="1"/>
            <a:r>
              <a:rPr lang="en-US" altLang="zh-CN" sz="2600" smtClean="0"/>
              <a:t>Google</a:t>
            </a:r>
            <a:r>
              <a:rPr lang="zh-CN" altLang="en-US" sz="2600" smtClean="0"/>
              <a:t>的创始人之一</a:t>
            </a:r>
            <a:r>
              <a:rPr lang="en-US" altLang="zh-CN" sz="2600" smtClean="0"/>
              <a:t>Larry Page</a:t>
            </a:r>
            <a:r>
              <a:rPr lang="zh-CN" altLang="en-US" sz="2600" smtClean="0"/>
              <a:t>于</a:t>
            </a:r>
            <a:r>
              <a:rPr lang="en-US" altLang="zh-CN" sz="2600" smtClean="0">
                <a:solidFill>
                  <a:srgbClr val="FF0000"/>
                </a:solidFill>
              </a:rPr>
              <a:t>1998</a:t>
            </a:r>
            <a:r>
              <a:rPr lang="zh-CN" altLang="en-US" sz="2600" smtClean="0"/>
              <a:t>年提出了</a:t>
            </a:r>
            <a:r>
              <a:rPr lang="en-US" altLang="zh-CN" sz="2600" smtClean="0"/>
              <a:t>PageRank</a:t>
            </a:r>
            <a:r>
              <a:rPr lang="zh-CN" altLang="en-US" sz="2600" smtClean="0"/>
              <a:t>，并应用在</a:t>
            </a:r>
            <a:r>
              <a:rPr lang="en-US" altLang="zh-CN" sz="2600" smtClean="0"/>
              <a:t>Google</a:t>
            </a:r>
            <a:r>
              <a:rPr lang="zh-CN" altLang="en-US" sz="2600" smtClean="0"/>
              <a:t>搜索引擎的检索结果排序上，该技术也是</a:t>
            </a:r>
            <a:r>
              <a:rPr lang="en-US" altLang="zh-CN" sz="2600" smtClean="0">
                <a:solidFill>
                  <a:srgbClr val="FF0000"/>
                </a:solidFill>
              </a:rPr>
              <a:t>Google</a:t>
            </a:r>
            <a:r>
              <a:rPr lang="zh-CN" altLang="en-US" sz="2600" smtClean="0">
                <a:solidFill>
                  <a:srgbClr val="FF0000"/>
                </a:solidFill>
              </a:rPr>
              <a:t>早期的核心技术之一</a:t>
            </a:r>
          </a:p>
          <a:p>
            <a:pPr lvl="1" eaLnBrk="1" hangingPunct="1"/>
            <a:r>
              <a:rPr lang="en-US" altLang="zh-CN" sz="2600" smtClean="0"/>
              <a:t>Larry Page</a:t>
            </a:r>
            <a:r>
              <a:rPr lang="zh-CN" altLang="en-US" sz="2600" smtClean="0"/>
              <a:t>是</a:t>
            </a:r>
            <a:r>
              <a:rPr lang="en-US" altLang="zh-CN" sz="2600" smtClean="0"/>
              <a:t>Google</a:t>
            </a:r>
            <a:r>
              <a:rPr lang="zh-CN" altLang="en-US" sz="2600" smtClean="0"/>
              <a:t>的创始</a:t>
            </a:r>
            <a:r>
              <a:rPr lang="zh-CN" altLang="en-US" sz="2600" smtClean="0">
                <a:solidFill>
                  <a:srgbClr val="FF0000"/>
                </a:solidFill>
              </a:rPr>
              <a:t>首席执行官</a:t>
            </a:r>
            <a:r>
              <a:rPr lang="zh-CN" altLang="en-US" sz="2600" smtClean="0"/>
              <a:t>，</a:t>
            </a:r>
            <a:r>
              <a:rPr lang="en-US" altLang="zh-CN" sz="2600" smtClean="0"/>
              <a:t>2001</a:t>
            </a:r>
            <a:r>
              <a:rPr lang="zh-CN" altLang="en-US" sz="2600" smtClean="0"/>
              <a:t>年</a:t>
            </a:r>
            <a:r>
              <a:rPr lang="en-US" altLang="zh-CN" sz="2600" smtClean="0"/>
              <a:t>4</a:t>
            </a:r>
            <a:r>
              <a:rPr lang="zh-CN" altLang="en-US" sz="2600" smtClean="0"/>
              <a:t>月转任现职产品总裁。他目前仍与</a:t>
            </a:r>
            <a:r>
              <a:rPr lang="en-US" altLang="zh-CN" sz="2600" smtClean="0"/>
              <a:t>Eric Schmidt</a:t>
            </a:r>
            <a:r>
              <a:rPr lang="zh-CN" altLang="en-US" sz="2600" smtClean="0"/>
              <a:t>和</a:t>
            </a:r>
            <a:r>
              <a:rPr lang="en-US" altLang="zh-CN" sz="2600" smtClean="0"/>
              <a:t>Sergey Brin</a:t>
            </a:r>
            <a:r>
              <a:rPr lang="zh-CN" altLang="en-US" sz="2600" smtClean="0"/>
              <a:t>一起共同负责 </a:t>
            </a:r>
            <a:r>
              <a:rPr lang="en-US" altLang="zh-CN" sz="2600" smtClean="0"/>
              <a:t>Google</a:t>
            </a:r>
            <a:r>
              <a:rPr lang="zh-CN" altLang="en-US" sz="2600" smtClean="0"/>
              <a:t>的日常运作。他在斯坦福大学攻读计算机科学博士学位期间，遇到了</a:t>
            </a:r>
            <a:r>
              <a:rPr lang="en-US" altLang="zh-CN" sz="2600" smtClean="0"/>
              <a:t>Sergey Brin</a:t>
            </a:r>
            <a:r>
              <a:rPr lang="zh-CN" altLang="en-US" sz="2600" smtClean="0"/>
              <a:t>，他们于</a:t>
            </a:r>
            <a:r>
              <a:rPr lang="en-US" altLang="zh-CN" sz="2600" smtClean="0"/>
              <a:t>1998</a:t>
            </a:r>
            <a:r>
              <a:rPr lang="zh-CN" altLang="en-US" sz="2600" smtClean="0"/>
              <a:t>年合伙创立</a:t>
            </a:r>
            <a:r>
              <a:rPr lang="en-US" altLang="zh-CN" sz="2600" smtClean="0"/>
              <a:t>Google</a:t>
            </a:r>
            <a:r>
              <a:rPr lang="zh-CN" altLang="en-US" sz="2600" smtClean="0"/>
              <a:t>。</a:t>
            </a:r>
          </a:p>
        </p:txBody>
      </p:sp>
      <p:pic>
        <p:nvPicPr>
          <p:cNvPr id="13316" name="Picture 4"/>
          <p:cNvPicPr>
            <a:picLocks noChangeAspect="1" noChangeArrowheads="1"/>
          </p:cNvPicPr>
          <p:nvPr/>
        </p:nvPicPr>
        <p:blipFill>
          <a:blip r:embed="rId3" cstate="print"/>
          <a:srcRect/>
          <a:stretch>
            <a:fillRect/>
          </a:stretch>
        </p:blipFill>
        <p:spPr bwMode="auto">
          <a:xfrm>
            <a:off x="7092950" y="333375"/>
            <a:ext cx="1257300" cy="1676400"/>
          </a:xfrm>
          <a:prstGeom prst="rect">
            <a:avLst/>
          </a:prstGeom>
          <a:noFill/>
          <a:ln w="9525" algn="ctr">
            <a:noFill/>
            <a:miter lim="800000"/>
            <a:headEnd/>
            <a:tailEnd/>
          </a:ln>
        </p:spPr>
      </p:pic>
      <p:sp>
        <p:nvSpPr>
          <p:cNvPr id="13317" name="Line 5"/>
          <p:cNvSpPr>
            <a:spLocks noChangeShapeType="1"/>
          </p:cNvSpPr>
          <p:nvPr/>
        </p:nvSpPr>
        <p:spPr bwMode="auto">
          <a:xfrm flipV="1">
            <a:off x="4932363" y="1268413"/>
            <a:ext cx="2160587" cy="936625"/>
          </a:xfrm>
          <a:prstGeom prst="line">
            <a:avLst/>
          </a:prstGeom>
          <a:noFill/>
          <a:ln w="9525">
            <a:solidFill>
              <a:schemeClr val="tx1"/>
            </a:solidFill>
            <a:round/>
            <a:headEnd/>
            <a:tailEnd type="triangle" w="med" len="med"/>
          </a:ln>
        </p:spPr>
        <p:txBody>
          <a:bodyPr wrap="none" anchor="ctr"/>
          <a:lstStyle/>
          <a:p>
            <a:endParaRPr lang="zh-CN" altLang="en-US"/>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zh-CN" smtClean="0"/>
              <a:t>Pagerank</a:t>
            </a:r>
            <a:r>
              <a:rPr lang="zh-CN" altLang="en-US" smtClean="0"/>
              <a:t>算法原理：</a:t>
            </a:r>
          </a:p>
        </p:txBody>
      </p:sp>
      <p:pic>
        <p:nvPicPr>
          <p:cNvPr id="14339" name="Picture 4" descr="800px-PageRank-hi-res"/>
          <p:cNvPicPr>
            <a:picLocks noChangeAspect="1" noChangeArrowheads="1"/>
          </p:cNvPicPr>
          <p:nvPr/>
        </p:nvPicPr>
        <p:blipFill>
          <a:blip r:embed="rId2" cstate="print"/>
          <a:srcRect/>
          <a:stretch>
            <a:fillRect/>
          </a:stretch>
        </p:blipFill>
        <p:spPr bwMode="auto">
          <a:xfrm>
            <a:off x="611188" y="1773238"/>
            <a:ext cx="7620000" cy="47513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zh-CN" smtClean="0"/>
              <a:t>Google</a:t>
            </a:r>
            <a:r>
              <a:rPr lang="zh-CN" altLang="en-US" smtClean="0"/>
              <a:t>的网页排序</a:t>
            </a:r>
          </a:p>
        </p:txBody>
      </p:sp>
      <p:sp>
        <p:nvSpPr>
          <p:cNvPr id="15363" name="Rectangle 3"/>
          <p:cNvSpPr>
            <a:spLocks noGrp="1" noChangeArrowheads="1"/>
          </p:cNvSpPr>
          <p:nvPr>
            <p:ph type="body" idx="1"/>
          </p:nvPr>
        </p:nvSpPr>
        <p:spPr/>
        <p:txBody>
          <a:bodyPr/>
          <a:lstStyle/>
          <a:p>
            <a:pPr eaLnBrk="1" hangingPunct="1"/>
            <a:r>
              <a:rPr lang="zh-CN" altLang="en-US" smtClean="0"/>
              <a:t>网页的</a:t>
            </a:r>
            <a:r>
              <a:rPr lang="en-US" altLang="zh-CN" smtClean="0"/>
              <a:t>PageRank</a:t>
            </a:r>
            <a:r>
              <a:rPr lang="zh-CN" altLang="en-US" smtClean="0"/>
              <a:t>值</a:t>
            </a:r>
          </a:p>
          <a:p>
            <a:pPr lvl="1" eaLnBrk="1" hangingPunct="1"/>
            <a:r>
              <a:rPr lang="en-US" altLang="zh-CN" smtClean="0"/>
              <a:t>PR</a:t>
            </a:r>
            <a:r>
              <a:rPr lang="zh-CN" altLang="en-US" smtClean="0"/>
              <a:t>值：</a:t>
            </a:r>
            <a:r>
              <a:rPr lang="zh-CN" altLang="en-US" smtClean="0">
                <a:solidFill>
                  <a:srgbClr val="FF0000"/>
                </a:solidFill>
              </a:rPr>
              <a:t>取值</a:t>
            </a:r>
            <a:r>
              <a:rPr lang="en-US" altLang="zh-CN" smtClean="0">
                <a:solidFill>
                  <a:srgbClr val="FF0000"/>
                </a:solidFill>
              </a:rPr>
              <a:t>0-10     </a:t>
            </a:r>
          </a:p>
          <a:p>
            <a:pPr lvl="1" eaLnBrk="1" hangingPunct="1"/>
            <a:r>
              <a:rPr lang="en-US" altLang="zh-CN" smtClean="0"/>
              <a:t>Google</a:t>
            </a:r>
            <a:r>
              <a:rPr lang="zh-CN" altLang="en-US" smtClean="0"/>
              <a:t>工具栏 </a:t>
            </a:r>
            <a:r>
              <a:rPr lang="en-US" altLang="zh-CN" smtClean="0">
                <a:solidFill>
                  <a:srgbClr val="FF0000"/>
                </a:solidFill>
              </a:rPr>
              <a:t>9  8</a:t>
            </a:r>
            <a:r>
              <a:rPr lang="en-US" altLang="zh-CN" smtClean="0"/>
              <a:t> </a:t>
            </a:r>
            <a:endParaRPr lang="zh-CN" altLang="en-US" smtClean="0"/>
          </a:p>
          <a:p>
            <a:pPr lvl="2" eaLnBrk="1" hangingPunct="1"/>
            <a:r>
              <a:rPr lang="en-US" altLang="en-US" smtClean="0">
                <a:hlinkClick r:id="rId2"/>
              </a:rPr>
              <a:t>http://</a:t>
            </a:r>
            <a:r>
              <a:rPr lang="en-US" altLang="zh-CN" smtClean="0">
                <a:hlinkClick r:id="rId2"/>
              </a:rPr>
              <a:t>toolbar.google.com</a:t>
            </a:r>
            <a:endParaRPr lang="en-US" altLang="zh-CN" smtClean="0"/>
          </a:p>
          <a:p>
            <a:pPr lvl="1" eaLnBrk="1" hangingPunct="1"/>
            <a:endParaRPr lang="en-US" altLang="zh-CN" smtClean="0"/>
          </a:p>
        </p:txBody>
      </p:sp>
      <p:pic>
        <p:nvPicPr>
          <p:cNvPr id="15364" name="Picture 4"/>
          <p:cNvPicPr>
            <a:picLocks noChangeAspect="1" noChangeArrowheads="1"/>
          </p:cNvPicPr>
          <p:nvPr/>
        </p:nvPicPr>
        <p:blipFill>
          <a:blip r:embed="rId3" cstate="print"/>
          <a:srcRect l="41937" t="14795" r="10600" b="65364"/>
          <a:stretch>
            <a:fillRect/>
          </a:stretch>
        </p:blipFill>
        <p:spPr bwMode="auto">
          <a:xfrm>
            <a:off x="4427538" y="1412875"/>
            <a:ext cx="4716462" cy="1528763"/>
          </a:xfrm>
          <a:prstGeom prst="rect">
            <a:avLst/>
          </a:prstGeom>
          <a:noFill/>
          <a:ln w="9525">
            <a:noFill/>
            <a:miter lim="800000"/>
            <a:headEnd/>
            <a:tailEnd/>
          </a:ln>
        </p:spPr>
      </p:pic>
      <p:pic>
        <p:nvPicPr>
          <p:cNvPr id="15365" name="Picture 5"/>
          <p:cNvPicPr>
            <a:picLocks noChangeAspect="1" noChangeArrowheads="1"/>
          </p:cNvPicPr>
          <p:nvPr/>
        </p:nvPicPr>
        <p:blipFill>
          <a:blip r:embed="rId4" cstate="print"/>
          <a:srcRect l="17360" t="13589" r="4521" b="62651"/>
          <a:stretch>
            <a:fillRect/>
          </a:stretch>
        </p:blipFill>
        <p:spPr bwMode="auto">
          <a:xfrm>
            <a:off x="900113" y="4149725"/>
            <a:ext cx="7704137" cy="1747838"/>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smtClean="0"/>
              <a:t>Pagerank</a:t>
            </a:r>
            <a:r>
              <a:rPr lang="zh-CN" altLang="en-US" smtClean="0"/>
              <a:t>算法相关概念</a:t>
            </a:r>
          </a:p>
        </p:txBody>
      </p:sp>
      <p:sp>
        <p:nvSpPr>
          <p:cNvPr id="16387" name="Rectangle 3"/>
          <p:cNvSpPr>
            <a:spLocks noGrp="1" noChangeArrowheads="1"/>
          </p:cNvSpPr>
          <p:nvPr>
            <p:ph type="body" idx="1"/>
          </p:nvPr>
        </p:nvSpPr>
        <p:spPr/>
        <p:txBody>
          <a:bodyPr/>
          <a:lstStyle/>
          <a:p>
            <a:pPr eaLnBrk="1" hangingPunct="1">
              <a:lnSpc>
                <a:spcPct val="80000"/>
              </a:lnSpc>
              <a:buFont typeface="Wingdings" pitchFamily="2" charset="2"/>
              <a:buNone/>
            </a:pPr>
            <a:r>
              <a:rPr lang="en-US" altLang="zh-CN" sz="2000" b="1" smtClean="0"/>
              <a:t>PR</a:t>
            </a:r>
            <a:r>
              <a:rPr lang="zh-CN" altLang="en-US" sz="2000" b="1" smtClean="0"/>
              <a:t>值：用来</a:t>
            </a:r>
            <a:r>
              <a:rPr lang="zh-CN" altLang="en-US" sz="2000" b="1" smtClean="0">
                <a:solidFill>
                  <a:srgbClr val="FF0000"/>
                </a:solidFill>
              </a:rPr>
              <a:t>评价网页的重要性</a:t>
            </a:r>
            <a:r>
              <a:rPr lang="zh-CN" altLang="en-US" sz="2000" b="1" smtClean="0"/>
              <a:t>，</a:t>
            </a:r>
            <a:r>
              <a:rPr lang="en-US" altLang="zh-CN" sz="2000" b="1" smtClean="0">
                <a:solidFill>
                  <a:srgbClr val="FF0000"/>
                </a:solidFill>
              </a:rPr>
              <a:t>PR</a:t>
            </a:r>
            <a:r>
              <a:rPr lang="zh-CN" altLang="en-US" sz="2000" b="1" smtClean="0">
                <a:solidFill>
                  <a:srgbClr val="FF0000"/>
                </a:solidFill>
              </a:rPr>
              <a:t>值越大越重要</a:t>
            </a:r>
            <a:r>
              <a:rPr lang="zh-CN" altLang="en-US" sz="2000" b="1" smtClean="0"/>
              <a:t>，其级别从</a:t>
            </a:r>
            <a:r>
              <a:rPr lang="en-US" altLang="zh-CN" sz="2000" b="1" smtClean="0"/>
              <a:t>0</a:t>
            </a:r>
            <a:r>
              <a:rPr lang="zh-CN" altLang="en-US" sz="2000" b="1" smtClean="0"/>
              <a:t>到</a:t>
            </a:r>
            <a:r>
              <a:rPr lang="en-US" altLang="zh-CN" sz="2000" b="1" smtClean="0"/>
              <a:t>10</a:t>
            </a:r>
            <a:r>
              <a:rPr lang="zh-CN" altLang="en-US" sz="2000" b="1" smtClean="0"/>
              <a:t>级。一般</a:t>
            </a:r>
            <a:r>
              <a:rPr lang="en-US" altLang="zh-CN" sz="2000" b="1" smtClean="0"/>
              <a:t>PR</a:t>
            </a:r>
            <a:r>
              <a:rPr lang="zh-CN" altLang="en-US" sz="2000" b="1" smtClean="0"/>
              <a:t>值</a:t>
            </a:r>
            <a:r>
              <a:rPr lang="zh-CN" altLang="en-US" sz="2000" b="1" smtClean="0">
                <a:solidFill>
                  <a:srgbClr val="FF0000"/>
                </a:solidFill>
              </a:rPr>
              <a:t>达到</a:t>
            </a:r>
            <a:r>
              <a:rPr lang="en-US" altLang="zh-CN" sz="2000" b="1" smtClean="0">
                <a:solidFill>
                  <a:srgbClr val="FF0000"/>
                </a:solidFill>
              </a:rPr>
              <a:t>4</a:t>
            </a:r>
            <a:r>
              <a:rPr lang="zh-CN" altLang="en-US" sz="2000" b="1" smtClean="0"/>
              <a:t>，就</a:t>
            </a:r>
            <a:r>
              <a:rPr lang="zh-CN" altLang="en-US" sz="2000" b="1" smtClean="0">
                <a:solidFill>
                  <a:srgbClr val="FF0000"/>
                </a:solidFill>
              </a:rPr>
              <a:t>算是一个不错的网站了</a:t>
            </a:r>
            <a:r>
              <a:rPr lang="zh-CN" altLang="en-US" sz="2000" b="1" smtClean="0"/>
              <a:t>。</a:t>
            </a:r>
            <a:r>
              <a:rPr lang="en-US" altLang="zh-CN" sz="2000" b="1" smtClean="0"/>
              <a:t>Google</a:t>
            </a:r>
            <a:r>
              <a:rPr lang="zh-CN" altLang="en-US" sz="2000" b="1" smtClean="0"/>
              <a:t>把自己的网站的</a:t>
            </a:r>
            <a:r>
              <a:rPr lang="en-US" altLang="zh-CN" sz="2000" b="1" smtClean="0"/>
              <a:t>PR</a:t>
            </a:r>
            <a:r>
              <a:rPr lang="zh-CN" altLang="en-US" sz="2000" b="1" smtClean="0"/>
              <a:t>值定到</a:t>
            </a:r>
            <a:r>
              <a:rPr lang="en-US" altLang="zh-CN" sz="2000" b="1" smtClean="0"/>
              <a:t>10</a:t>
            </a:r>
            <a:r>
              <a:rPr lang="zh-CN" altLang="en-US" sz="2000" b="1" smtClean="0"/>
              <a:t>，这说明</a:t>
            </a:r>
            <a:r>
              <a:rPr lang="en-US" altLang="zh-CN" sz="2000" b="1" smtClean="0"/>
              <a:t>Google</a:t>
            </a:r>
            <a:r>
              <a:rPr lang="zh-CN" altLang="en-US" sz="2000" b="1" smtClean="0"/>
              <a:t>这个网站是非常受欢迎的，也可以说这个网站非常重要。</a:t>
            </a:r>
            <a:r>
              <a:rPr lang="zh-CN" altLang="en-US" sz="2000" smtClean="0"/>
              <a:t> </a:t>
            </a:r>
            <a:endParaRPr lang="zh-CN" altLang="en-US" sz="2000" b="1" smtClean="0"/>
          </a:p>
          <a:p>
            <a:pPr eaLnBrk="1" hangingPunct="1">
              <a:lnSpc>
                <a:spcPct val="80000"/>
              </a:lnSpc>
              <a:buFont typeface="Wingdings" pitchFamily="2" charset="2"/>
              <a:buNone/>
            </a:pPr>
            <a:endParaRPr lang="zh-CN" altLang="en-US" sz="2000" b="1" smtClean="0"/>
          </a:p>
          <a:p>
            <a:pPr eaLnBrk="1" hangingPunct="1">
              <a:lnSpc>
                <a:spcPct val="80000"/>
              </a:lnSpc>
              <a:buFont typeface="Wingdings" pitchFamily="2" charset="2"/>
              <a:buNone/>
            </a:pPr>
            <a:r>
              <a:rPr lang="zh-CN" altLang="en-US" sz="2000" b="1" smtClean="0"/>
              <a:t>阻尼因子：</a:t>
            </a:r>
            <a:r>
              <a:rPr lang="en-US" altLang="zh-CN" sz="2000" b="1" smtClean="0"/>
              <a:t>(damping factor)</a:t>
            </a:r>
            <a:r>
              <a:rPr lang="zh-CN" altLang="en-US" sz="2000" smtClean="0"/>
              <a:t>其值为</a:t>
            </a:r>
            <a:r>
              <a:rPr lang="en-US" altLang="zh-CN" sz="2000" smtClean="0">
                <a:solidFill>
                  <a:srgbClr val="FF0000"/>
                </a:solidFill>
              </a:rPr>
              <a:t>0.85</a:t>
            </a:r>
          </a:p>
          <a:p>
            <a:pPr eaLnBrk="1" hangingPunct="1">
              <a:lnSpc>
                <a:spcPct val="80000"/>
              </a:lnSpc>
            </a:pPr>
            <a:r>
              <a:rPr lang="en-US" altLang="zh-CN" sz="2000" smtClean="0"/>
              <a:t>    </a:t>
            </a:r>
            <a:r>
              <a:rPr lang="en-US" altLang="en-US" sz="2000" smtClean="0"/>
              <a:t>阻尼系数d定义为用户不断</a:t>
            </a:r>
            <a:r>
              <a:rPr lang="en-US" altLang="en-US" sz="2000" smtClean="0">
                <a:solidFill>
                  <a:srgbClr val="FF0000"/>
                </a:solidFill>
              </a:rPr>
              <a:t>随机点击链接的概率</a:t>
            </a:r>
            <a:r>
              <a:rPr lang="en-US" altLang="en-US" sz="2000" smtClean="0"/>
              <a:t>，所以，它取决于点击的次数，</a:t>
            </a:r>
            <a:r>
              <a:rPr lang="en-US" altLang="en-US" sz="2000" smtClean="0">
                <a:solidFill>
                  <a:srgbClr val="FF0000"/>
                </a:solidFill>
              </a:rPr>
              <a:t>被设定为0-1之间</a:t>
            </a:r>
            <a:r>
              <a:rPr lang="en-US" altLang="en-US" sz="2000" smtClean="0"/>
              <a:t>。d的值越高，继续点击链接的概率就越大。因此，用户</a:t>
            </a:r>
            <a:r>
              <a:rPr lang="en-US" altLang="en-US" sz="2000" smtClean="0">
                <a:solidFill>
                  <a:srgbClr val="FF0000"/>
                </a:solidFill>
              </a:rPr>
              <a:t>停止点击并随机冲浪至另一页面的概率在式子中</a:t>
            </a:r>
            <a:r>
              <a:rPr lang="en-US" altLang="en-US" sz="2000" smtClean="0"/>
              <a:t>用常数</a:t>
            </a:r>
            <a:r>
              <a:rPr lang="en-US" altLang="en-US" sz="2000" smtClean="0">
                <a:solidFill>
                  <a:srgbClr val="FF0000"/>
                </a:solidFill>
              </a:rPr>
              <a:t>(1-d)</a:t>
            </a:r>
            <a:r>
              <a:rPr lang="en-US" altLang="en-US" sz="2000" smtClean="0"/>
              <a:t>表示。无论入站链接如何，随机冲浪至一个页面的概率总是(1-d)。(1-d)本身也就是页面本身所具有的PageRank值。</a:t>
            </a:r>
          </a:p>
          <a:p>
            <a:pPr eaLnBrk="1" hangingPunct="1">
              <a:lnSpc>
                <a:spcPct val="80000"/>
              </a:lnSpc>
            </a:pPr>
            <a:endParaRPr lang="en-US" altLang="en-US" sz="2000" smtClean="0"/>
          </a:p>
          <a:p>
            <a:pPr eaLnBrk="1" hangingPunct="1">
              <a:lnSpc>
                <a:spcPct val="80000"/>
              </a:lnSpc>
              <a:buFont typeface="Wingdings" pitchFamily="2" charset="2"/>
              <a:buNone/>
            </a:pPr>
            <a:endParaRPr lang="zh-CN" altLang="en-US" sz="2000" smtClean="0"/>
          </a:p>
          <a:p>
            <a:pPr eaLnBrk="1" hangingPunct="1">
              <a:lnSpc>
                <a:spcPct val="80000"/>
              </a:lnSpc>
              <a:buFont typeface="Wingdings" pitchFamily="2" charset="2"/>
              <a:buNone/>
            </a:pPr>
            <a:r>
              <a:rPr lang="zh-CN" altLang="en-US" sz="2000" smtClean="0"/>
              <a:t>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zh-CN" smtClean="0"/>
              <a:t>Pagerank</a:t>
            </a:r>
            <a:r>
              <a:rPr lang="zh-CN" altLang="en-US" smtClean="0"/>
              <a:t>核心思想</a:t>
            </a:r>
          </a:p>
        </p:txBody>
      </p:sp>
      <p:sp>
        <p:nvSpPr>
          <p:cNvPr id="17411" name="Rectangle 3"/>
          <p:cNvSpPr>
            <a:spLocks noGrp="1" noChangeArrowheads="1"/>
          </p:cNvSpPr>
          <p:nvPr>
            <p:ph type="body" idx="1"/>
          </p:nvPr>
        </p:nvSpPr>
        <p:spPr/>
        <p:txBody>
          <a:bodyPr/>
          <a:lstStyle/>
          <a:p>
            <a:pPr marL="0" indent="0" eaLnBrk="1" hangingPunct="1">
              <a:lnSpc>
                <a:spcPts val="2800"/>
              </a:lnSpc>
              <a:buFont typeface="Wingdings" pitchFamily="2" charset="2"/>
              <a:buNone/>
            </a:pPr>
            <a:r>
              <a:rPr lang="en-US" altLang="zh-CN" sz="2400" b="1" smtClean="0"/>
              <a:t>           </a:t>
            </a:r>
            <a:r>
              <a:rPr lang="en-US" altLang="en-US" sz="2400" b="1" smtClean="0">
                <a:solidFill>
                  <a:srgbClr val="FF0000"/>
                </a:solidFill>
              </a:rPr>
              <a:t>PageRank</a:t>
            </a:r>
            <a:r>
              <a:rPr lang="en-US" altLang="en-US" sz="2400" b="1" smtClean="0"/>
              <a:t>通过</a:t>
            </a:r>
            <a:r>
              <a:rPr lang="en-US" altLang="en-US" sz="2400" b="1" smtClean="0">
                <a:solidFill>
                  <a:srgbClr val="FF0000"/>
                </a:solidFill>
              </a:rPr>
              <a:t>网络浩瀚的超链接关系</a:t>
            </a:r>
            <a:r>
              <a:rPr lang="en-US" altLang="en-US" sz="2400" b="1" smtClean="0"/>
              <a:t>来确定一个</a:t>
            </a:r>
            <a:r>
              <a:rPr lang="en-US" altLang="en-US" sz="2400" b="1" smtClean="0">
                <a:solidFill>
                  <a:srgbClr val="FF0000"/>
                </a:solidFill>
              </a:rPr>
              <a:t>页面</a:t>
            </a:r>
            <a:r>
              <a:rPr lang="en-US" altLang="en-US" sz="2400" b="1" smtClean="0"/>
              <a:t>的</a:t>
            </a:r>
            <a:r>
              <a:rPr lang="en-US" altLang="en-US" sz="2400" b="1" smtClean="0">
                <a:solidFill>
                  <a:srgbClr val="FF0000"/>
                </a:solidFill>
              </a:rPr>
              <a:t>等级</a:t>
            </a:r>
            <a:r>
              <a:rPr lang="en-US" altLang="en-US" sz="2400" b="1" smtClean="0"/>
              <a:t>。Google把从</a:t>
            </a:r>
            <a:r>
              <a:rPr lang="en-US" altLang="en-US" sz="2400" b="1" smtClean="0">
                <a:solidFill>
                  <a:srgbClr val="FF0000"/>
                </a:solidFill>
              </a:rPr>
              <a:t>A页面到B页面的链接</a:t>
            </a:r>
            <a:r>
              <a:rPr lang="en-US" altLang="en-US" sz="2400" b="1" smtClean="0"/>
              <a:t>解释为</a:t>
            </a:r>
            <a:r>
              <a:rPr lang="en-US" altLang="en-US" sz="2400" b="1" smtClean="0">
                <a:solidFill>
                  <a:srgbClr val="FF0000"/>
                </a:solidFill>
              </a:rPr>
              <a:t>A页面给B页面投票</a:t>
            </a:r>
            <a:r>
              <a:rPr lang="en-US" altLang="en-US" sz="2400" b="1" smtClean="0"/>
              <a:t>，Google根据</a:t>
            </a:r>
            <a:r>
              <a:rPr lang="en-US" altLang="en-US" sz="2400" b="1" smtClean="0">
                <a:solidFill>
                  <a:srgbClr val="FF0000"/>
                </a:solidFill>
              </a:rPr>
              <a:t>投票来源</a:t>
            </a:r>
            <a:r>
              <a:rPr lang="en-US" altLang="en-US" sz="2400" b="1" smtClean="0"/>
              <a:t>（甚至来源的来源，即链接到A页面的页面）和</a:t>
            </a:r>
            <a:r>
              <a:rPr lang="en-US" altLang="en-US" sz="2400" b="1" smtClean="0">
                <a:solidFill>
                  <a:srgbClr val="FF0000"/>
                </a:solidFill>
              </a:rPr>
              <a:t>投票目标的等级</a:t>
            </a:r>
            <a:r>
              <a:rPr lang="en-US" altLang="en-US" sz="2400" b="1" smtClean="0"/>
              <a:t>来决定新的等级。这样，PageRank会根据网页B所收到的</a:t>
            </a:r>
            <a:r>
              <a:rPr lang="en-US" altLang="en-US" sz="2400" b="1" smtClean="0">
                <a:solidFill>
                  <a:srgbClr val="FF0000"/>
                </a:solidFill>
              </a:rPr>
              <a:t>投票数量来</a:t>
            </a:r>
            <a:r>
              <a:rPr lang="en-US" altLang="en-US" sz="2400" b="1" smtClean="0"/>
              <a:t>评估该网页的重要性。此外，PageRank还会评估每个投票网页的重要性，因为</a:t>
            </a:r>
            <a:r>
              <a:rPr lang="en-US" altLang="en-US" sz="2400" b="1" smtClean="0">
                <a:solidFill>
                  <a:srgbClr val="FF0000"/>
                </a:solidFill>
              </a:rPr>
              <a:t>某些重要网页的投票被认为具有较高的价值，这样，它所链接的网页就能获得较高的价值</a:t>
            </a:r>
            <a:r>
              <a:rPr lang="en-US" altLang="en-US" sz="2400" b="1" smtClean="0"/>
              <a:t>。这就是PageRank的核心思想，当然PageRank算法的实际实现上要复杂很多。</a:t>
            </a:r>
            <a:endParaRPr lang="zh-CN" altLang="en-US" sz="240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zh-CN" b="1" smtClean="0"/>
              <a:t>PageRank</a:t>
            </a:r>
            <a:r>
              <a:rPr lang="zh-CN" altLang="en-US" smtClean="0"/>
              <a:t>简单计算： </a:t>
            </a:r>
          </a:p>
        </p:txBody>
      </p:sp>
      <p:sp>
        <p:nvSpPr>
          <p:cNvPr id="18435" name="Rectangle 3"/>
          <p:cNvSpPr>
            <a:spLocks noGrp="1" noChangeArrowheads="1"/>
          </p:cNvSpPr>
          <p:nvPr>
            <p:ph type="body" idx="1"/>
          </p:nvPr>
        </p:nvSpPr>
        <p:spPr>
          <a:xfrm>
            <a:off x="468313" y="1989138"/>
            <a:ext cx="8229600" cy="4392612"/>
          </a:xfrm>
        </p:spPr>
        <p:txBody>
          <a:bodyPr/>
          <a:lstStyle/>
          <a:p>
            <a:pPr eaLnBrk="1" hangingPunct="1">
              <a:lnSpc>
                <a:spcPct val="80000"/>
              </a:lnSpc>
              <a:buFont typeface="Wingdings" pitchFamily="2" charset="2"/>
              <a:buNone/>
            </a:pPr>
            <a:endParaRPr lang="en-US" altLang="zh-CN" sz="2000" smtClean="0"/>
          </a:p>
          <a:p>
            <a:pPr eaLnBrk="1" hangingPunct="1">
              <a:lnSpc>
                <a:spcPct val="80000"/>
              </a:lnSpc>
            </a:pPr>
            <a:r>
              <a:rPr lang="zh-CN" altLang="en-US" sz="2000" b="1" smtClean="0"/>
              <a:t>假设一个由只有</a:t>
            </a:r>
            <a:r>
              <a:rPr lang="en-US" altLang="zh-CN" sz="2000" b="1" smtClean="0"/>
              <a:t>4</a:t>
            </a:r>
            <a:r>
              <a:rPr lang="zh-CN" altLang="en-US" sz="2000" b="1" smtClean="0"/>
              <a:t>个页面组成的集合：</a:t>
            </a:r>
            <a:r>
              <a:rPr lang="en-US" altLang="zh-CN" sz="2000" b="1" smtClean="0"/>
              <a:t>A</a:t>
            </a:r>
            <a:r>
              <a:rPr lang="zh-CN" altLang="en-US" sz="2000" b="1" smtClean="0"/>
              <a:t>，</a:t>
            </a:r>
            <a:r>
              <a:rPr lang="en-US" altLang="zh-CN" sz="2000" b="1" smtClean="0"/>
              <a:t>B</a:t>
            </a:r>
            <a:r>
              <a:rPr lang="zh-CN" altLang="en-US" sz="2000" b="1" smtClean="0"/>
              <a:t>，</a:t>
            </a:r>
            <a:r>
              <a:rPr lang="en-US" altLang="zh-CN" sz="2000" b="1" smtClean="0"/>
              <a:t>C</a:t>
            </a:r>
            <a:r>
              <a:rPr lang="zh-CN" altLang="en-US" sz="2000" b="1" smtClean="0"/>
              <a:t>和</a:t>
            </a:r>
            <a:r>
              <a:rPr lang="en-US" altLang="zh-CN" sz="2000" b="1" smtClean="0"/>
              <a:t>D</a:t>
            </a:r>
            <a:r>
              <a:rPr lang="zh-CN" altLang="en-US" sz="2000" b="1" smtClean="0"/>
              <a:t>。如果所有页面都链向</a:t>
            </a:r>
            <a:r>
              <a:rPr lang="en-US" altLang="zh-CN" sz="2000" b="1" smtClean="0"/>
              <a:t>A</a:t>
            </a:r>
            <a:r>
              <a:rPr lang="zh-CN" altLang="en-US" sz="2000" b="1" smtClean="0"/>
              <a:t>，那么</a:t>
            </a:r>
            <a:r>
              <a:rPr lang="en-US" altLang="zh-CN" sz="2000" b="1" smtClean="0"/>
              <a:t>A</a:t>
            </a:r>
            <a:r>
              <a:rPr lang="zh-CN" altLang="en-US" sz="2000" b="1" smtClean="0"/>
              <a:t>的</a:t>
            </a:r>
            <a:r>
              <a:rPr lang="en-US" altLang="zh-CN" sz="2000" b="1" smtClean="0"/>
              <a:t>PR</a:t>
            </a:r>
            <a:r>
              <a:rPr lang="zh-CN" altLang="en-US" sz="2000" b="1" smtClean="0"/>
              <a:t>（</a:t>
            </a:r>
            <a:r>
              <a:rPr lang="en-US" altLang="zh-CN" sz="2000" b="1" smtClean="0"/>
              <a:t>PageRank</a:t>
            </a:r>
            <a:r>
              <a:rPr lang="zh-CN" altLang="en-US" sz="2000" b="1" smtClean="0"/>
              <a:t>）值将是</a:t>
            </a:r>
            <a:r>
              <a:rPr lang="en-US" altLang="zh-CN" sz="2000" b="1" smtClean="0"/>
              <a:t>B</a:t>
            </a:r>
            <a:r>
              <a:rPr lang="zh-CN" altLang="en-US" sz="2000" b="1" smtClean="0"/>
              <a:t>，</a:t>
            </a:r>
            <a:r>
              <a:rPr lang="en-US" altLang="zh-CN" sz="2000" b="1" smtClean="0"/>
              <a:t>C</a:t>
            </a:r>
            <a:r>
              <a:rPr lang="zh-CN" altLang="en-US" sz="2000" b="1" smtClean="0"/>
              <a:t>及</a:t>
            </a:r>
            <a:r>
              <a:rPr lang="en-US" altLang="zh-CN" sz="2000" b="1" smtClean="0"/>
              <a:t>D</a:t>
            </a:r>
            <a:r>
              <a:rPr lang="zh-CN" altLang="en-US" sz="2000" b="1" smtClean="0"/>
              <a:t>的和。</a:t>
            </a:r>
          </a:p>
          <a:p>
            <a:pPr eaLnBrk="1" hangingPunct="1">
              <a:lnSpc>
                <a:spcPct val="80000"/>
              </a:lnSpc>
              <a:buFont typeface="Wingdings" pitchFamily="2" charset="2"/>
              <a:buNone/>
            </a:pPr>
            <a:r>
              <a:rPr lang="zh-CN" altLang="en-US" sz="2000" smtClean="0"/>
              <a:t>         </a:t>
            </a:r>
          </a:p>
          <a:p>
            <a:pPr eaLnBrk="1" hangingPunct="1">
              <a:lnSpc>
                <a:spcPct val="80000"/>
              </a:lnSpc>
              <a:buFont typeface="Wingdings" pitchFamily="2" charset="2"/>
              <a:buNone/>
            </a:pPr>
            <a:endParaRPr lang="zh-CN" altLang="en-US" sz="2000" smtClean="0"/>
          </a:p>
          <a:p>
            <a:pPr eaLnBrk="1" hangingPunct="1">
              <a:lnSpc>
                <a:spcPct val="80000"/>
              </a:lnSpc>
            </a:pPr>
            <a:r>
              <a:rPr lang="zh-CN" altLang="en-US" sz="2000" b="1" smtClean="0"/>
              <a:t>继续假设</a:t>
            </a:r>
            <a:r>
              <a:rPr lang="en-US" altLang="zh-CN" sz="2000" b="1" smtClean="0"/>
              <a:t>B</a:t>
            </a:r>
            <a:r>
              <a:rPr lang="zh-CN" altLang="en-US" sz="2000" b="1" smtClean="0"/>
              <a:t>也有链接到</a:t>
            </a:r>
            <a:r>
              <a:rPr lang="en-US" altLang="zh-CN" sz="2000" b="1" smtClean="0"/>
              <a:t>C</a:t>
            </a:r>
            <a:r>
              <a:rPr lang="zh-CN" altLang="en-US" sz="2000" b="1" smtClean="0"/>
              <a:t>，并且</a:t>
            </a:r>
            <a:r>
              <a:rPr lang="en-US" altLang="zh-CN" sz="2000" b="1" smtClean="0"/>
              <a:t>D</a:t>
            </a:r>
            <a:r>
              <a:rPr lang="zh-CN" altLang="en-US" sz="2000" b="1" smtClean="0"/>
              <a:t>也有链接到包括</a:t>
            </a:r>
            <a:r>
              <a:rPr lang="en-US" altLang="zh-CN" sz="2000" b="1" smtClean="0"/>
              <a:t>A</a:t>
            </a:r>
            <a:r>
              <a:rPr lang="zh-CN" altLang="en-US" sz="2000" b="1" smtClean="0"/>
              <a:t>的</a:t>
            </a:r>
            <a:r>
              <a:rPr lang="en-US" altLang="zh-CN" sz="2000" b="1" smtClean="0"/>
              <a:t>3</a:t>
            </a:r>
            <a:r>
              <a:rPr lang="zh-CN" altLang="en-US" sz="2000" b="1" smtClean="0"/>
              <a:t>个页面。一个页面不能投票</a:t>
            </a:r>
            <a:r>
              <a:rPr lang="en-US" altLang="zh-CN" sz="2000" b="1" smtClean="0"/>
              <a:t>2</a:t>
            </a:r>
            <a:r>
              <a:rPr lang="zh-CN" altLang="en-US" sz="2000" b="1" smtClean="0"/>
              <a:t>次。所以</a:t>
            </a:r>
            <a:r>
              <a:rPr lang="en-US" altLang="zh-CN" sz="2000" b="1" smtClean="0">
                <a:solidFill>
                  <a:srgbClr val="FF0000"/>
                </a:solidFill>
              </a:rPr>
              <a:t>B</a:t>
            </a:r>
            <a:r>
              <a:rPr lang="zh-CN" altLang="en-US" sz="2000" b="1" smtClean="0">
                <a:solidFill>
                  <a:srgbClr val="FF0000"/>
                </a:solidFill>
              </a:rPr>
              <a:t>给</a:t>
            </a:r>
            <a:r>
              <a:rPr lang="zh-CN" altLang="en-US" sz="2000" b="1" smtClean="0"/>
              <a:t>每个页面</a:t>
            </a:r>
            <a:r>
              <a:rPr lang="zh-CN" altLang="en-US" sz="2000" b="1" smtClean="0">
                <a:solidFill>
                  <a:srgbClr val="FF0000"/>
                </a:solidFill>
              </a:rPr>
              <a:t>半票。</a:t>
            </a:r>
            <a:r>
              <a:rPr lang="zh-CN" altLang="en-US" sz="2000" b="1" smtClean="0"/>
              <a:t>以同样的逻辑，</a:t>
            </a:r>
            <a:r>
              <a:rPr lang="en-US" altLang="zh-CN" sz="2000" b="1" smtClean="0">
                <a:solidFill>
                  <a:srgbClr val="FF0000"/>
                </a:solidFill>
              </a:rPr>
              <a:t>D</a:t>
            </a:r>
            <a:r>
              <a:rPr lang="zh-CN" altLang="en-US" sz="2000" b="1" smtClean="0"/>
              <a:t>投出的票只有</a:t>
            </a:r>
            <a:r>
              <a:rPr lang="zh-CN" altLang="en-US" sz="2000" b="1" smtClean="0">
                <a:solidFill>
                  <a:srgbClr val="FF0000"/>
                </a:solidFill>
              </a:rPr>
              <a:t>三分之一</a:t>
            </a:r>
            <a:r>
              <a:rPr lang="zh-CN" altLang="en-US" sz="2000" b="1" smtClean="0"/>
              <a:t>算到了</a:t>
            </a:r>
            <a:r>
              <a:rPr lang="en-US" altLang="zh-CN" sz="2000" b="1" smtClean="0"/>
              <a:t>A</a:t>
            </a:r>
            <a:r>
              <a:rPr lang="zh-CN" altLang="en-US" sz="2000" b="1" smtClean="0"/>
              <a:t>的</a:t>
            </a:r>
            <a:r>
              <a:rPr lang="en-US" altLang="zh-CN" sz="2000" b="1" smtClean="0"/>
              <a:t>PageRank</a:t>
            </a:r>
            <a:r>
              <a:rPr lang="zh-CN" altLang="en-US" sz="2000" b="1" smtClean="0"/>
              <a:t>上。</a:t>
            </a:r>
            <a:endParaRPr lang="zh-CN" altLang="en-US" sz="2000" smtClean="0"/>
          </a:p>
          <a:p>
            <a:pPr eaLnBrk="1" hangingPunct="1">
              <a:lnSpc>
                <a:spcPct val="80000"/>
              </a:lnSpc>
              <a:buFont typeface="Wingdings" pitchFamily="2" charset="2"/>
              <a:buNone/>
            </a:pPr>
            <a:r>
              <a:rPr lang="zh-CN" altLang="en-US" sz="2000" smtClean="0"/>
              <a:t>               </a:t>
            </a:r>
          </a:p>
          <a:p>
            <a:pPr eaLnBrk="1" hangingPunct="1">
              <a:lnSpc>
                <a:spcPct val="80000"/>
              </a:lnSpc>
              <a:buFont typeface="Wingdings" pitchFamily="2" charset="2"/>
              <a:buNone/>
            </a:pPr>
            <a:endParaRPr lang="zh-CN" altLang="en-US" sz="2000" smtClean="0"/>
          </a:p>
          <a:p>
            <a:pPr eaLnBrk="1" hangingPunct="1">
              <a:lnSpc>
                <a:spcPct val="80000"/>
              </a:lnSpc>
              <a:buFont typeface="Wingdings" pitchFamily="2" charset="2"/>
              <a:buNone/>
            </a:pPr>
            <a:endParaRPr lang="zh-CN" altLang="en-US" sz="2000" smtClean="0"/>
          </a:p>
          <a:p>
            <a:pPr eaLnBrk="1" hangingPunct="1">
              <a:lnSpc>
                <a:spcPct val="80000"/>
              </a:lnSpc>
            </a:pPr>
            <a:r>
              <a:rPr lang="zh-CN" altLang="en-US" sz="2000" b="1" smtClean="0"/>
              <a:t>换句话说，</a:t>
            </a:r>
            <a:r>
              <a:rPr lang="zh-CN" altLang="en-US" sz="2000" b="1" smtClean="0">
                <a:solidFill>
                  <a:srgbClr val="FF0000"/>
                </a:solidFill>
              </a:rPr>
              <a:t>根据链出总数平分一个页面的</a:t>
            </a:r>
            <a:r>
              <a:rPr lang="en-US" altLang="zh-CN" sz="2000" b="1" smtClean="0">
                <a:solidFill>
                  <a:srgbClr val="FF0000"/>
                </a:solidFill>
              </a:rPr>
              <a:t>PR</a:t>
            </a:r>
            <a:r>
              <a:rPr lang="zh-CN" altLang="en-US" sz="2000" b="1" smtClean="0">
                <a:solidFill>
                  <a:srgbClr val="FF0000"/>
                </a:solidFill>
              </a:rPr>
              <a:t>值</a:t>
            </a:r>
            <a:r>
              <a:rPr lang="zh-CN" altLang="en-US" sz="2000" b="1" smtClean="0"/>
              <a:t>。</a:t>
            </a:r>
          </a:p>
          <a:p>
            <a:pPr eaLnBrk="1" hangingPunct="1">
              <a:lnSpc>
                <a:spcPct val="80000"/>
              </a:lnSpc>
              <a:buFont typeface="Wingdings" pitchFamily="2" charset="2"/>
              <a:buNone/>
            </a:pPr>
            <a:r>
              <a:rPr lang="zh-CN" altLang="en-US" sz="2000" smtClean="0"/>
              <a:t>   </a:t>
            </a:r>
          </a:p>
          <a:p>
            <a:pPr eaLnBrk="1" fontAlgn="ctr" hangingPunct="1">
              <a:lnSpc>
                <a:spcPct val="80000"/>
              </a:lnSpc>
              <a:buFont typeface="Wingdings" pitchFamily="2" charset="2"/>
              <a:buNone/>
            </a:pPr>
            <a:r>
              <a:rPr lang="zh-CN" altLang="en-US" sz="2000" smtClean="0"/>
              <a:t>              </a:t>
            </a:r>
          </a:p>
        </p:txBody>
      </p:sp>
      <p:pic>
        <p:nvPicPr>
          <p:cNvPr id="18436" name="Picture 4"/>
          <p:cNvPicPr>
            <a:picLocks noChangeAspect="1" noChangeArrowheads="1"/>
          </p:cNvPicPr>
          <p:nvPr/>
        </p:nvPicPr>
        <p:blipFill>
          <a:blip r:embed="rId2" cstate="print"/>
          <a:srcRect/>
          <a:stretch>
            <a:fillRect/>
          </a:stretch>
        </p:blipFill>
        <p:spPr bwMode="auto">
          <a:xfrm>
            <a:off x="2411413" y="2852738"/>
            <a:ext cx="3667125" cy="466725"/>
          </a:xfrm>
          <a:prstGeom prst="rect">
            <a:avLst/>
          </a:prstGeom>
          <a:noFill/>
          <a:ln w="9525">
            <a:noFill/>
            <a:miter lim="800000"/>
            <a:headEnd/>
            <a:tailEnd/>
          </a:ln>
        </p:spPr>
      </p:pic>
      <p:pic>
        <p:nvPicPr>
          <p:cNvPr id="18437" name="Picture 7"/>
          <p:cNvPicPr>
            <a:picLocks noChangeAspect="1" noChangeArrowheads="1"/>
          </p:cNvPicPr>
          <p:nvPr/>
        </p:nvPicPr>
        <p:blipFill>
          <a:blip r:embed="rId3" cstate="print"/>
          <a:srcRect/>
          <a:stretch>
            <a:fillRect/>
          </a:stretch>
        </p:blipFill>
        <p:spPr bwMode="auto">
          <a:xfrm>
            <a:off x="2051050" y="4365625"/>
            <a:ext cx="4505325" cy="695325"/>
          </a:xfrm>
          <a:prstGeom prst="rect">
            <a:avLst/>
          </a:prstGeom>
          <a:noFill/>
          <a:ln w="9525">
            <a:noFill/>
            <a:miter lim="800000"/>
            <a:headEnd/>
            <a:tailEnd/>
          </a:ln>
        </p:spPr>
      </p:pic>
      <p:pic>
        <p:nvPicPr>
          <p:cNvPr id="18438" name="Picture 8"/>
          <p:cNvPicPr>
            <a:picLocks noChangeAspect="1" noChangeArrowheads="1"/>
          </p:cNvPicPr>
          <p:nvPr/>
        </p:nvPicPr>
        <p:blipFill>
          <a:blip r:embed="rId4" cstate="print"/>
          <a:srcRect/>
          <a:stretch>
            <a:fillRect/>
          </a:stretch>
        </p:blipFill>
        <p:spPr bwMode="auto">
          <a:xfrm>
            <a:off x="2195513" y="5661025"/>
            <a:ext cx="3800475" cy="685800"/>
          </a:xfrm>
          <a:prstGeom prst="rect">
            <a:avLst/>
          </a:prstGeom>
          <a:noFill/>
          <a:ln w="9525">
            <a:noFill/>
            <a:miter lim="800000"/>
            <a:headEnd/>
            <a:tailEnd/>
          </a:ln>
        </p:spPr>
      </p:pic>
      <p:pic>
        <p:nvPicPr>
          <p:cNvPr id="18439" name="Picture 9"/>
          <p:cNvPicPr>
            <a:picLocks noChangeAspect="1" noChangeArrowheads="1"/>
          </p:cNvPicPr>
          <p:nvPr/>
        </p:nvPicPr>
        <p:blipFill>
          <a:blip r:embed="rId5" cstate="print"/>
          <a:srcRect/>
          <a:stretch>
            <a:fillRect/>
          </a:stretch>
        </p:blipFill>
        <p:spPr bwMode="auto">
          <a:xfrm>
            <a:off x="6000750" y="214313"/>
            <a:ext cx="2924175" cy="1866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2"/>
          <p:cNvSpPr>
            <a:spLocks noGrp="1" noChangeArrowheads="1"/>
          </p:cNvSpPr>
          <p:nvPr>
            <p:ph idx="1"/>
          </p:nvPr>
        </p:nvSpPr>
        <p:spPr>
          <a:xfrm>
            <a:off x="468313" y="692150"/>
            <a:ext cx="8229600" cy="4887913"/>
          </a:xfrm>
        </p:spPr>
        <p:txBody>
          <a:bodyPr/>
          <a:lstStyle/>
          <a:p>
            <a:pPr marL="0" indent="0">
              <a:buFont typeface="Wingdings" pitchFamily="2" charset="2"/>
              <a:buNone/>
            </a:pPr>
            <a:r>
              <a:rPr lang="zh-CN" altLang="en-US" sz="2200" smtClean="0"/>
              <a:t>然而我们再考虑一种情况：互联网中一个网页只有对自己的出链，或者几个网页的出链形成一个循环圈。那么在不断地迭代过程中，这一个或几个网页的</a:t>
            </a:r>
            <a:r>
              <a:rPr lang="en-US" altLang="zh-CN" sz="2200" smtClean="0"/>
              <a:t>PR</a:t>
            </a:r>
            <a:r>
              <a:rPr lang="zh-CN" altLang="en-US" sz="2200" smtClean="0"/>
              <a:t>值将只增不减，显然不合理。如下图中的</a:t>
            </a:r>
            <a:r>
              <a:rPr lang="en-US" altLang="zh-CN" sz="2200" smtClean="0"/>
              <a:t>C</a:t>
            </a:r>
            <a:r>
              <a:rPr lang="zh-CN" altLang="en-US" sz="2200" smtClean="0"/>
              <a:t>网页就是刚刚说的只有对自己的出链的网页：</a:t>
            </a:r>
            <a:endParaRPr lang="en-US" altLang="zh-CN" sz="2200" smtClean="0"/>
          </a:p>
          <a:p>
            <a:pPr marL="0" indent="0">
              <a:buFont typeface="Wingdings" pitchFamily="2" charset="2"/>
              <a:buNone/>
            </a:pPr>
            <a:endParaRPr lang="en-US" altLang="zh-CN" sz="2200" smtClean="0"/>
          </a:p>
          <a:p>
            <a:pPr marL="0" indent="0">
              <a:buFont typeface="Wingdings" pitchFamily="2" charset="2"/>
              <a:buNone/>
            </a:pPr>
            <a:endParaRPr lang="en-US" altLang="zh-CN" sz="2200" smtClean="0"/>
          </a:p>
          <a:p>
            <a:pPr marL="0" indent="0">
              <a:buFont typeface="Wingdings" pitchFamily="2" charset="2"/>
              <a:buNone/>
            </a:pPr>
            <a:endParaRPr lang="en-US" altLang="zh-CN" sz="2200" smtClean="0"/>
          </a:p>
          <a:p>
            <a:pPr marL="0" indent="0">
              <a:buFont typeface="Wingdings" pitchFamily="2" charset="2"/>
              <a:buNone/>
            </a:pPr>
            <a:endParaRPr lang="en-US" altLang="zh-CN" sz="2200" smtClean="0"/>
          </a:p>
          <a:p>
            <a:pPr marL="0" indent="0">
              <a:buFont typeface="Wingdings" pitchFamily="2" charset="2"/>
              <a:buNone/>
            </a:pPr>
            <a:endParaRPr lang="en-US" altLang="zh-CN" sz="2200" smtClean="0"/>
          </a:p>
          <a:p>
            <a:pPr marL="0" indent="0">
              <a:buFont typeface="Wingdings" pitchFamily="2" charset="2"/>
              <a:buNone/>
            </a:pPr>
            <a:endParaRPr lang="en-US" altLang="zh-CN" sz="2200" smtClean="0"/>
          </a:p>
          <a:p>
            <a:pPr marL="0" indent="0">
              <a:buFont typeface="Wingdings" pitchFamily="2" charset="2"/>
              <a:buNone/>
            </a:pPr>
            <a:endParaRPr lang="en-US" altLang="zh-CN" sz="2200" smtClean="0"/>
          </a:p>
          <a:p>
            <a:pPr marL="0" indent="0">
              <a:buFont typeface="Wingdings" pitchFamily="2" charset="2"/>
              <a:buNone/>
            </a:pPr>
            <a:r>
              <a:rPr lang="zh-CN" altLang="en-US" sz="2400" smtClean="0"/>
              <a:t>为了解决这个问题。我们假定他有一个确定的概率会输入网址直接跳转到一个随机的网页，并且跳转到每个网页的概率是一样的。于是则此图中</a:t>
            </a:r>
            <a:r>
              <a:rPr lang="en-US" altLang="zh-CN" sz="2400" smtClean="0"/>
              <a:t>A</a:t>
            </a:r>
            <a:r>
              <a:rPr lang="zh-CN" altLang="en-US" sz="2400" smtClean="0"/>
              <a:t>的</a:t>
            </a:r>
            <a:r>
              <a:rPr lang="en-US" altLang="zh-CN" sz="2400" smtClean="0"/>
              <a:t>PR</a:t>
            </a:r>
            <a:r>
              <a:rPr lang="zh-CN" altLang="en-US" sz="2400" smtClean="0"/>
              <a:t>值可表示为：</a:t>
            </a:r>
            <a:endParaRPr lang="zh-CN" altLang="en-US" sz="2200" smtClean="0"/>
          </a:p>
        </p:txBody>
      </p:sp>
      <p:pic>
        <p:nvPicPr>
          <p:cNvPr id="19459" name="图片 4"/>
          <p:cNvPicPr>
            <a:picLocks noChangeAspect="1"/>
          </p:cNvPicPr>
          <p:nvPr/>
        </p:nvPicPr>
        <p:blipFill>
          <a:blip r:embed="rId2" cstate="print"/>
          <a:srcRect/>
          <a:stretch>
            <a:fillRect/>
          </a:stretch>
        </p:blipFill>
        <p:spPr bwMode="auto">
          <a:xfrm>
            <a:off x="3086100" y="2095500"/>
            <a:ext cx="2971800" cy="2667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2"/>
          <p:cNvSpPr>
            <a:spLocks noGrp="1" noChangeArrowheads="1"/>
          </p:cNvSpPr>
          <p:nvPr>
            <p:ph idx="1"/>
          </p:nvPr>
        </p:nvSpPr>
        <p:spPr/>
        <p:txBody>
          <a:bodyPr/>
          <a:lstStyle/>
          <a:p>
            <a:pPr marL="0" indent="0">
              <a:buFont typeface="Wingdings" pitchFamily="2" charset="2"/>
              <a:buNone/>
            </a:pPr>
            <a:r>
              <a:rPr lang="zh-CN" altLang="en-US" sz="2400" smtClean="0"/>
              <a:t>在一般情况下，一个网页的</a:t>
            </a:r>
            <a:r>
              <a:rPr lang="en-US" altLang="zh-CN" sz="2400" smtClean="0"/>
              <a:t>PR</a:t>
            </a:r>
            <a:r>
              <a:rPr lang="zh-CN" altLang="en-US" sz="2400" smtClean="0"/>
              <a:t>值计算如下：</a:t>
            </a:r>
            <a:endParaRPr lang="en-US" altLang="zh-CN" sz="2400" smtClean="0"/>
          </a:p>
          <a:p>
            <a:pPr marL="0" indent="0">
              <a:buFont typeface="Wingdings" pitchFamily="2" charset="2"/>
              <a:buNone/>
            </a:pPr>
            <a:endParaRPr lang="en-US" altLang="zh-CN" sz="2400" smtClean="0"/>
          </a:p>
          <a:p>
            <a:pPr marL="0" indent="0">
              <a:buFont typeface="Wingdings" pitchFamily="2" charset="2"/>
              <a:buNone/>
            </a:pPr>
            <a:endParaRPr lang="en-US" altLang="zh-CN" sz="2400" smtClean="0"/>
          </a:p>
          <a:p>
            <a:pPr marL="0" indent="0">
              <a:buFont typeface="Wingdings" pitchFamily="2" charset="2"/>
              <a:buNone/>
            </a:pPr>
            <a:endParaRPr lang="en-US" altLang="zh-CN" sz="2400" smtClean="0"/>
          </a:p>
          <a:p>
            <a:pPr marL="0" indent="0">
              <a:buFont typeface="Wingdings" pitchFamily="2" charset="2"/>
              <a:buNone/>
            </a:pPr>
            <a:r>
              <a:rPr lang="zh-CN" altLang="en-US" sz="2400" smtClean="0"/>
              <a:t>其中</a:t>
            </a:r>
            <a:r>
              <a:rPr lang="en-US" altLang="zh-CN" sz="2400" smtClean="0"/>
              <a:t>Mpi</a:t>
            </a:r>
            <a:r>
              <a:rPr lang="zh-CN" altLang="en-US" sz="2400" smtClean="0"/>
              <a:t>是所有对</a:t>
            </a:r>
            <a:r>
              <a:rPr lang="en-US" altLang="zh-CN" sz="2400" smtClean="0"/>
              <a:t>pi</a:t>
            </a:r>
            <a:r>
              <a:rPr lang="zh-CN" altLang="en-US" sz="2400" smtClean="0"/>
              <a:t>网页有出链的网页集合，</a:t>
            </a:r>
            <a:r>
              <a:rPr lang="en-US" altLang="zh-CN" sz="2400" smtClean="0"/>
              <a:t>L(pj)</a:t>
            </a:r>
            <a:r>
              <a:rPr lang="zh-CN" altLang="en-US" sz="2400" smtClean="0"/>
              <a:t>是网页</a:t>
            </a:r>
            <a:r>
              <a:rPr lang="en-US" altLang="zh-CN" sz="2400" smtClean="0"/>
              <a:t>pj</a:t>
            </a:r>
            <a:r>
              <a:rPr lang="zh-CN" altLang="en-US" sz="2400" smtClean="0"/>
              <a:t>的出链数目，</a:t>
            </a:r>
            <a:r>
              <a:rPr lang="en-US" altLang="zh-CN" sz="2400" smtClean="0"/>
              <a:t>N</a:t>
            </a:r>
            <a:r>
              <a:rPr lang="zh-CN" altLang="en-US" sz="2400" smtClean="0"/>
              <a:t>是网页总数，</a:t>
            </a:r>
            <a:r>
              <a:rPr lang="en-US" altLang="zh-CN" sz="2400" smtClean="0"/>
              <a:t>α</a:t>
            </a:r>
            <a:r>
              <a:rPr lang="zh-CN" altLang="en-US" sz="2400" smtClean="0"/>
              <a:t>一般取</a:t>
            </a:r>
            <a:r>
              <a:rPr lang="en-US" altLang="zh-CN" sz="2400" smtClean="0"/>
              <a:t>0.85</a:t>
            </a:r>
            <a:r>
              <a:rPr lang="zh-CN" altLang="en-US" sz="2400" smtClean="0"/>
              <a:t>。</a:t>
            </a:r>
            <a:br>
              <a:rPr lang="zh-CN" altLang="en-US" sz="2400" smtClean="0"/>
            </a:br>
            <a:r>
              <a:rPr lang="zh-CN" altLang="en-US" sz="2400" smtClean="0"/>
              <a:t>根据上面的公式，我们可以计算每个网页的</a:t>
            </a:r>
            <a:r>
              <a:rPr lang="en-US" altLang="zh-CN" sz="2400" smtClean="0"/>
              <a:t>PR</a:t>
            </a:r>
            <a:r>
              <a:rPr lang="zh-CN" altLang="en-US" sz="2400" smtClean="0"/>
              <a:t>值，在不断迭代趋于平稳的时候，即为最终结果。具体怎样算是趋于平稳，我们在下面的</a:t>
            </a:r>
            <a:r>
              <a:rPr lang="en-US" altLang="zh-CN" sz="2400" smtClean="0"/>
              <a:t>PR</a:t>
            </a:r>
            <a:r>
              <a:rPr lang="zh-CN" altLang="en-US" sz="2400" smtClean="0"/>
              <a:t>值计算方法部分再做解释。</a:t>
            </a:r>
            <a:endParaRPr lang="en-US" altLang="zh-CN" sz="2400" smtClean="0"/>
          </a:p>
          <a:p>
            <a:pPr marL="0" indent="0">
              <a:buFont typeface="Wingdings" pitchFamily="2" charset="2"/>
              <a:buNone/>
            </a:pPr>
            <a:endParaRPr lang="en-US" altLang="zh-CN" sz="2400" smtClean="0"/>
          </a:p>
          <a:p>
            <a:pPr marL="0" indent="0">
              <a:buFont typeface="Wingdings" pitchFamily="2" charset="2"/>
              <a:buNone/>
            </a:pPr>
            <a:endParaRPr lang="zh-CN" altLang="en-US" sz="2400" smtClean="0"/>
          </a:p>
        </p:txBody>
      </p:sp>
      <p:pic>
        <p:nvPicPr>
          <p:cNvPr id="20483" name="图片 4"/>
          <p:cNvPicPr>
            <a:picLocks noChangeAspect="1"/>
          </p:cNvPicPr>
          <p:nvPr/>
        </p:nvPicPr>
        <p:blipFill>
          <a:blip r:embed="rId2" cstate="print"/>
          <a:srcRect/>
          <a:stretch>
            <a:fillRect/>
          </a:stretch>
        </p:blipFill>
        <p:spPr bwMode="auto">
          <a:xfrm>
            <a:off x="587375" y="981075"/>
            <a:ext cx="3819525" cy="863600"/>
          </a:xfrm>
          <a:prstGeom prst="rect">
            <a:avLst/>
          </a:prstGeom>
          <a:noFill/>
          <a:ln w="9525">
            <a:noFill/>
            <a:miter lim="800000"/>
            <a:headEnd/>
            <a:tailEnd/>
          </a:ln>
        </p:spPr>
      </p:pic>
      <p:pic>
        <p:nvPicPr>
          <p:cNvPr id="20484" name="图片 5"/>
          <p:cNvPicPr>
            <a:picLocks noChangeAspect="1"/>
          </p:cNvPicPr>
          <p:nvPr/>
        </p:nvPicPr>
        <p:blipFill>
          <a:blip r:embed="rId3" cstate="print"/>
          <a:srcRect/>
          <a:stretch>
            <a:fillRect/>
          </a:stretch>
        </p:blipFill>
        <p:spPr bwMode="auto">
          <a:xfrm>
            <a:off x="684213" y="2708275"/>
            <a:ext cx="4997450" cy="10080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zh-CN" smtClean="0"/>
              <a:t>PR</a:t>
            </a:r>
            <a:r>
              <a:rPr lang="zh-CN" altLang="en-US" smtClean="0"/>
              <a:t>值计算公式：</a:t>
            </a:r>
          </a:p>
        </p:txBody>
      </p:sp>
      <p:sp>
        <p:nvSpPr>
          <p:cNvPr id="21507" name="Rectangle 5"/>
          <p:cNvSpPr>
            <a:spLocks noGrp="1" noChangeArrowheads="1"/>
          </p:cNvSpPr>
          <p:nvPr>
            <p:ph type="body" idx="1"/>
          </p:nvPr>
        </p:nvSpPr>
        <p:spPr>
          <a:xfrm>
            <a:off x="468313" y="1989138"/>
            <a:ext cx="8229600" cy="3886200"/>
          </a:xfrm>
        </p:spPr>
        <p:txBody>
          <a:bodyPr/>
          <a:lstStyle/>
          <a:p>
            <a:pPr eaLnBrk="1" hangingPunct="1">
              <a:lnSpc>
                <a:spcPct val="80000"/>
              </a:lnSpc>
              <a:buFont typeface="Wingdings" pitchFamily="2" charset="2"/>
              <a:buNone/>
            </a:pPr>
            <a:r>
              <a:rPr lang="en-US" altLang="zh-CN" sz="2000" smtClean="0"/>
              <a:t>PR(A)=</a:t>
            </a:r>
          </a:p>
          <a:p>
            <a:pPr eaLnBrk="1" hangingPunct="1">
              <a:lnSpc>
                <a:spcPct val="80000"/>
              </a:lnSpc>
              <a:buFont typeface="Wingdings" pitchFamily="2" charset="2"/>
              <a:buNone/>
            </a:pPr>
            <a:r>
              <a:rPr lang="en-US" altLang="zh-CN" sz="2000" smtClean="0"/>
              <a:t>   (1-d)/N+d(PR(t1)/C(p1)+...+PR(pn)/L(pj))</a:t>
            </a:r>
          </a:p>
          <a:p>
            <a:pPr eaLnBrk="1" hangingPunct="1">
              <a:lnSpc>
                <a:spcPct val="80000"/>
              </a:lnSpc>
              <a:buFont typeface="Wingdings" pitchFamily="2" charset="2"/>
              <a:buNone/>
            </a:pPr>
            <a:r>
              <a:rPr lang="en-US" altLang="zh-CN" sz="2000" smtClean="0"/>
              <a:t> </a:t>
            </a:r>
          </a:p>
          <a:p>
            <a:pPr eaLnBrk="1" hangingPunct="1">
              <a:lnSpc>
                <a:spcPct val="80000"/>
              </a:lnSpc>
              <a:buFont typeface="Wingdings" pitchFamily="2" charset="2"/>
              <a:buNone/>
            </a:pPr>
            <a:r>
              <a:rPr lang="en-US" altLang="zh-CN" sz="2000" smtClean="0"/>
              <a:t>N: </a:t>
            </a:r>
            <a:r>
              <a:rPr lang="zh-CN" altLang="en-US" sz="2000" smtClean="0"/>
              <a:t>网络中网页总数</a:t>
            </a:r>
          </a:p>
          <a:p>
            <a:pPr eaLnBrk="1" hangingPunct="1">
              <a:lnSpc>
                <a:spcPct val="80000"/>
              </a:lnSpc>
              <a:buFont typeface="Wingdings" pitchFamily="2" charset="2"/>
              <a:buNone/>
            </a:pPr>
            <a:r>
              <a:rPr lang="en-US" altLang="zh-CN" sz="2000" smtClean="0"/>
              <a:t>d: </a:t>
            </a:r>
            <a:r>
              <a:rPr lang="zh-CN" altLang="en-US" sz="2000" smtClean="0"/>
              <a:t>阻尼因数 </a:t>
            </a:r>
          </a:p>
          <a:p>
            <a:pPr eaLnBrk="1" hangingPunct="1">
              <a:lnSpc>
                <a:spcPct val="80000"/>
              </a:lnSpc>
              <a:buFont typeface="Wingdings" pitchFamily="2" charset="2"/>
              <a:buNone/>
            </a:pPr>
            <a:r>
              <a:rPr lang="en-US" altLang="zh-CN" sz="2000" smtClean="0"/>
              <a:t>PR(x):</a:t>
            </a:r>
            <a:r>
              <a:rPr lang="zh-CN" altLang="en-US" sz="2000" smtClean="0"/>
              <a:t>网页</a:t>
            </a:r>
            <a:r>
              <a:rPr lang="en-US" altLang="zh-CN" sz="2000" smtClean="0"/>
              <a:t>x</a:t>
            </a:r>
            <a:r>
              <a:rPr lang="zh-CN" altLang="en-US" sz="2000" smtClean="0"/>
              <a:t>的</a:t>
            </a:r>
            <a:r>
              <a:rPr lang="en-US" altLang="zh-CN" sz="2000" smtClean="0"/>
              <a:t>PR</a:t>
            </a:r>
            <a:r>
              <a:rPr lang="zh-CN" altLang="en-US" sz="2000" smtClean="0"/>
              <a:t>值</a:t>
            </a:r>
          </a:p>
          <a:p>
            <a:pPr eaLnBrk="1" hangingPunct="1">
              <a:lnSpc>
                <a:spcPct val="80000"/>
              </a:lnSpc>
              <a:buFont typeface="Wingdings" pitchFamily="2" charset="2"/>
              <a:buNone/>
            </a:pPr>
            <a:r>
              <a:rPr lang="en-US" altLang="zh-CN" sz="2000" smtClean="0"/>
              <a:t>L(pj)</a:t>
            </a:r>
            <a:r>
              <a:rPr lang="zh-CN" altLang="en-US" sz="2000" smtClean="0"/>
              <a:t>：网页</a:t>
            </a:r>
            <a:r>
              <a:rPr lang="en-US" altLang="zh-CN" sz="2000" smtClean="0"/>
              <a:t>pj</a:t>
            </a:r>
            <a:r>
              <a:rPr lang="zh-CN" altLang="en-US" sz="2000" smtClean="0"/>
              <a:t>的链出网页数</a:t>
            </a:r>
          </a:p>
          <a:p>
            <a:pPr eaLnBrk="1" hangingPunct="1">
              <a:lnSpc>
                <a:spcPct val="80000"/>
              </a:lnSpc>
              <a:buFont typeface="Wingdings" pitchFamily="2" charset="2"/>
              <a:buNone/>
            </a:pPr>
            <a:r>
              <a:rPr lang="zh-CN" altLang="en-US" sz="2000" smtClean="0"/>
              <a:t>     </a:t>
            </a:r>
            <a:r>
              <a:rPr lang="zh-CN" altLang="en-US" sz="2000" smtClean="0">
                <a:solidFill>
                  <a:srgbClr val="FF0000"/>
                </a:solidFill>
              </a:rPr>
              <a:t>一个页面的</a:t>
            </a:r>
            <a:r>
              <a:rPr lang="en-US" altLang="zh-CN" sz="2000" smtClean="0">
                <a:solidFill>
                  <a:srgbClr val="FF0000"/>
                </a:solidFill>
              </a:rPr>
              <a:t>PageRank</a:t>
            </a:r>
            <a:r>
              <a:rPr lang="zh-CN" altLang="en-US" sz="2000" smtClean="0">
                <a:solidFill>
                  <a:srgbClr val="FF0000"/>
                </a:solidFill>
              </a:rPr>
              <a:t>是由其他页面的</a:t>
            </a:r>
            <a:r>
              <a:rPr lang="en-US" altLang="zh-CN" sz="2000" smtClean="0">
                <a:solidFill>
                  <a:srgbClr val="FF0000"/>
                </a:solidFill>
              </a:rPr>
              <a:t>PageRank</a:t>
            </a:r>
            <a:r>
              <a:rPr lang="zh-CN" altLang="en-US" sz="2000" smtClean="0">
                <a:solidFill>
                  <a:srgbClr val="FF0000"/>
                </a:solidFill>
              </a:rPr>
              <a:t>计算得到</a:t>
            </a:r>
            <a:r>
              <a:rPr lang="zh-CN" altLang="en-US" sz="2000" smtClean="0"/>
              <a:t>。</a:t>
            </a:r>
            <a:r>
              <a:rPr lang="en-US" altLang="zh-CN" sz="2000" smtClean="0"/>
              <a:t>Google</a:t>
            </a:r>
            <a:r>
              <a:rPr lang="zh-CN" altLang="en-US" sz="2000" smtClean="0"/>
              <a:t>不断的</a:t>
            </a:r>
            <a:r>
              <a:rPr lang="zh-CN" altLang="en-US" sz="2000" smtClean="0">
                <a:solidFill>
                  <a:srgbClr val="FF0000"/>
                </a:solidFill>
              </a:rPr>
              <a:t>重复计算每个页面的</a:t>
            </a:r>
            <a:r>
              <a:rPr lang="en-US" altLang="zh-CN" sz="2000" smtClean="0">
                <a:solidFill>
                  <a:srgbClr val="FF0000"/>
                </a:solidFill>
              </a:rPr>
              <a:t>PageRank</a:t>
            </a:r>
            <a:r>
              <a:rPr lang="zh-CN" altLang="en-US" sz="2000" smtClean="0"/>
              <a:t>。如果给每个页面</a:t>
            </a:r>
            <a:r>
              <a:rPr lang="zh-CN" altLang="en-US" sz="2000" smtClean="0">
                <a:solidFill>
                  <a:srgbClr val="FF0000"/>
                </a:solidFill>
              </a:rPr>
              <a:t>一个随机</a:t>
            </a:r>
            <a:r>
              <a:rPr lang="en-US" altLang="zh-CN" sz="2000" smtClean="0">
                <a:solidFill>
                  <a:srgbClr val="FF0000"/>
                </a:solidFill>
              </a:rPr>
              <a:t>PageRank</a:t>
            </a:r>
            <a:r>
              <a:rPr lang="zh-CN" altLang="en-US" sz="2000" smtClean="0">
                <a:solidFill>
                  <a:srgbClr val="FF0000"/>
                </a:solidFill>
              </a:rPr>
              <a:t>值</a:t>
            </a:r>
            <a:r>
              <a:rPr lang="zh-CN" altLang="en-US" sz="2000" smtClean="0"/>
              <a:t>（非</a:t>
            </a:r>
            <a:r>
              <a:rPr lang="en-US" altLang="zh-CN" sz="2000" smtClean="0"/>
              <a:t>0</a:t>
            </a:r>
            <a:r>
              <a:rPr lang="zh-CN" altLang="en-US" sz="2000" smtClean="0"/>
              <a:t>），那么经过</a:t>
            </a:r>
            <a:r>
              <a:rPr lang="zh-CN" altLang="en-US" sz="2000" smtClean="0">
                <a:solidFill>
                  <a:srgbClr val="FF0000"/>
                </a:solidFill>
              </a:rPr>
              <a:t>不断的重复计算</a:t>
            </a:r>
            <a:r>
              <a:rPr lang="zh-CN" altLang="en-US" sz="2000" smtClean="0"/>
              <a:t>，这些</a:t>
            </a:r>
            <a:r>
              <a:rPr lang="zh-CN" altLang="en-US" sz="2000" smtClean="0">
                <a:solidFill>
                  <a:srgbClr val="FF0000"/>
                </a:solidFill>
              </a:rPr>
              <a:t>页面的</a:t>
            </a:r>
            <a:r>
              <a:rPr lang="en-US" altLang="zh-CN" sz="2000" smtClean="0">
                <a:solidFill>
                  <a:srgbClr val="FF0000"/>
                </a:solidFill>
              </a:rPr>
              <a:t>PR</a:t>
            </a:r>
            <a:r>
              <a:rPr lang="zh-CN" altLang="en-US" sz="2000" smtClean="0">
                <a:solidFill>
                  <a:srgbClr val="FF0000"/>
                </a:solidFill>
              </a:rPr>
              <a:t>值</a:t>
            </a:r>
            <a:r>
              <a:rPr lang="zh-CN" altLang="en-US" sz="2000" smtClean="0"/>
              <a:t>会趋向于</a:t>
            </a:r>
            <a:r>
              <a:rPr lang="zh-CN" altLang="en-US" sz="2000" smtClean="0">
                <a:solidFill>
                  <a:srgbClr val="FF0000"/>
                </a:solidFill>
              </a:rPr>
              <a:t>正常和稳定</a:t>
            </a:r>
            <a:r>
              <a:rPr lang="zh-CN" altLang="en-US" sz="2000" smtClean="0"/>
              <a:t>。这就是搜索引擎使用它的原因。</a:t>
            </a:r>
            <a:br>
              <a:rPr lang="zh-CN" altLang="en-US" sz="2000" smtClean="0"/>
            </a:br>
            <a:endParaRPr lang="zh-CN" altLang="en-US" sz="2000" smtClean="0"/>
          </a:p>
        </p:txBody>
      </p:sp>
    </p:spTree>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68313" y="549275"/>
            <a:ext cx="8229600" cy="1371600"/>
          </a:xfrm>
        </p:spPr>
        <p:txBody>
          <a:bodyPr/>
          <a:lstStyle/>
          <a:p>
            <a:pPr eaLnBrk="1" hangingPunct="1"/>
            <a:r>
              <a:rPr lang="en-US" altLang="zh-CN" sz="4000" smtClean="0"/>
              <a:t>PR</a:t>
            </a:r>
            <a:r>
              <a:rPr lang="zh-CN" altLang="en-US" sz="4000" smtClean="0"/>
              <a:t>值的取决因素：</a:t>
            </a:r>
          </a:p>
        </p:txBody>
      </p:sp>
      <p:sp>
        <p:nvSpPr>
          <p:cNvPr id="22531" name="Rectangle 3"/>
          <p:cNvSpPr>
            <a:spLocks noGrp="1" noChangeArrowheads="1"/>
          </p:cNvSpPr>
          <p:nvPr>
            <p:ph type="body" idx="1"/>
          </p:nvPr>
        </p:nvSpPr>
        <p:spPr>
          <a:xfrm>
            <a:off x="457200" y="1981200"/>
            <a:ext cx="8229600" cy="1952625"/>
          </a:xfrm>
        </p:spPr>
        <p:txBody>
          <a:bodyPr/>
          <a:lstStyle/>
          <a:p>
            <a:pPr eaLnBrk="1" hangingPunct="1"/>
            <a:r>
              <a:rPr lang="zh-CN" altLang="en-US" sz="2800" smtClean="0"/>
              <a:t>链</a:t>
            </a:r>
            <a:r>
              <a:rPr lang="zh-CN" altLang="en-US" sz="2800" smtClean="0">
                <a:solidFill>
                  <a:srgbClr val="FF0000"/>
                </a:solidFill>
              </a:rPr>
              <a:t>入网页数</a:t>
            </a:r>
            <a:endParaRPr lang="zh-CN" altLang="en-US" sz="2800" smtClean="0"/>
          </a:p>
          <a:p>
            <a:pPr eaLnBrk="1" hangingPunct="1"/>
            <a:r>
              <a:rPr lang="zh-CN" altLang="en-US" sz="2800" smtClean="0"/>
              <a:t>链入网页的</a:t>
            </a:r>
            <a:r>
              <a:rPr lang="zh-CN" altLang="en-US" sz="2800" smtClean="0">
                <a:solidFill>
                  <a:srgbClr val="FF0000"/>
                </a:solidFill>
              </a:rPr>
              <a:t>质量</a:t>
            </a:r>
            <a:endParaRPr lang="zh-CN" altLang="en-US" sz="2800" smtClean="0"/>
          </a:p>
          <a:p>
            <a:pPr eaLnBrk="1" hangingPunct="1"/>
            <a:r>
              <a:rPr lang="zh-CN" altLang="en-US" sz="2800" smtClean="0"/>
              <a:t>链入网页的链出网页数</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body" idx="1"/>
          </p:nvPr>
        </p:nvSpPr>
        <p:spPr/>
        <p:txBody>
          <a:bodyPr/>
          <a:lstStyle/>
          <a:p>
            <a:pPr eaLnBrk="1" hangingPunct="1"/>
            <a:r>
              <a:rPr lang="en-US" altLang="zh-CN" b="1" smtClean="0"/>
              <a:t>PageRank</a:t>
            </a:r>
            <a:r>
              <a:rPr lang="zh-CN" altLang="en-US" smtClean="0"/>
              <a:t>值是一个特殊矩阵中的特征向量。这个特征向量为：</a:t>
            </a:r>
          </a:p>
        </p:txBody>
      </p:sp>
      <p:pic>
        <p:nvPicPr>
          <p:cNvPr id="23555" name="Picture 4" descr="\mathbf{R} =&#10;\begin{bmatrix}&#10;{\rm PageRank}(p_1) \\&#10;{\rm PageRank}(p_2) \\&#10;\vdots \\&#10;{\rm PageRank}(p_N)&#10;\end{bmatrix}"/>
          <p:cNvPicPr>
            <a:picLocks noChangeAspect="1" noChangeArrowheads="1"/>
          </p:cNvPicPr>
          <p:nvPr/>
        </p:nvPicPr>
        <p:blipFill>
          <a:blip r:embed="rId2" cstate="print"/>
          <a:srcRect/>
          <a:stretch>
            <a:fillRect/>
          </a:stretch>
        </p:blipFill>
        <p:spPr bwMode="auto">
          <a:xfrm>
            <a:off x="1619250" y="3429000"/>
            <a:ext cx="4105275" cy="1944688"/>
          </a:xfrm>
          <a:prstGeom prst="rect">
            <a:avLst/>
          </a:prstGeom>
          <a:noFill/>
          <a:ln w="9525">
            <a:noFill/>
            <a:miter lim="800000"/>
            <a:headEnd/>
            <a:tailEnd/>
          </a:ln>
        </p:spPr>
      </p:pic>
      <p:sp>
        <p:nvSpPr>
          <p:cNvPr id="23556" name="Rectangle 8"/>
          <p:cNvSpPr>
            <a:spLocks noGrp="1" noChangeArrowheads="1"/>
          </p:cNvSpPr>
          <p:nvPr>
            <p:ph type="title"/>
          </p:nvPr>
        </p:nvSpPr>
        <p:spPr/>
        <p:txBody>
          <a:bodyPr/>
          <a:lstStyle/>
          <a:p>
            <a:pPr eaLnBrk="1" hangingPunct="1"/>
            <a:r>
              <a:rPr lang="en-US" altLang="zh-CN" smtClean="0"/>
              <a:t>PR</a:t>
            </a:r>
            <a:r>
              <a:rPr lang="zh-CN" altLang="en-US" smtClean="0"/>
              <a:t>值的计算（</a:t>
            </a:r>
            <a:r>
              <a:rPr lang="en-US" altLang="zh-CN" smtClean="0"/>
              <a:t>1</a:t>
            </a:r>
            <a:r>
              <a:rPr lang="zh-CN" altLang="en-US" smtClean="0"/>
              <a:t>）</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body" idx="1"/>
          </p:nvPr>
        </p:nvSpPr>
        <p:spPr>
          <a:xfrm>
            <a:off x="468313" y="1989138"/>
            <a:ext cx="8229600" cy="3886200"/>
          </a:xfrm>
        </p:spPr>
        <p:txBody>
          <a:bodyPr/>
          <a:lstStyle/>
          <a:p>
            <a:pPr eaLnBrk="1" hangingPunct="1">
              <a:buFont typeface="Wingdings" pitchFamily="2" charset="2"/>
              <a:buNone/>
            </a:pPr>
            <a:r>
              <a:rPr lang="en-US" altLang="zh-CN" smtClean="0"/>
              <a:t>PR(A)=</a:t>
            </a:r>
          </a:p>
          <a:p>
            <a:pPr eaLnBrk="1" hangingPunct="1">
              <a:buFont typeface="Wingdings" pitchFamily="2" charset="2"/>
              <a:buNone/>
            </a:pPr>
            <a:r>
              <a:rPr lang="en-US" altLang="zh-CN" smtClean="0"/>
              <a:t>   (1-d)/n+d(PR(t1)/C(t1)+...+PR(tn)/C(tn))</a:t>
            </a:r>
          </a:p>
          <a:p>
            <a:pPr eaLnBrk="1" hangingPunct="1"/>
            <a:endParaRPr lang="en-US" altLang="zh-CN" smtClean="0"/>
          </a:p>
        </p:txBody>
      </p:sp>
      <p:sp>
        <p:nvSpPr>
          <p:cNvPr id="24579" name="Rectangle 5"/>
          <p:cNvSpPr>
            <a:spLocks noGrp="1" noChangeArrowheads="1"/>
          </p:cNvSpPr>
          <p:nvPr>
            <p:ph type="title"/>
          </p:nvPr>
        </p:nvSpPr>
        <p:spPr/>
        <p:txBody>
          <a:bodyPr/>
          <a:lstStyle/>
          <a:p>
            <a:pPr eaLnBrk="1" hangingPunct="1"/>
            <a:r>
              <a:rPr lang="en-US" altLang="zh-CN" smtClean="0"/>
              <a:t>PR</a:t>
            </a:r>
            <a:r>
              <a:rPr lang="zh-CN" altLang="en-US" smtClean="0"/>
              <a:t>值的计算（</a:t>
            </a:r>
            <a:r>
              <a:rPr lang="en-US" altLang="zh-CN" smtClean="0"/>
              <a:t>2</a:t>
            </a:r>
            <a:r>
              <a:rPr lang="zh-CN" altLang="en-US" smtClean="0"/>
              <a:t>）</a:t>
            </a:r>
          </a:p>
        </p:txBody>
      </p:sp>
      <p:sp>
        <p:nvSpPr>
          <p:cNvPr id="24580"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pic>
        <p:nvPicPr>
          <p:cNvPr id="24581" name="Picture 6" descr="\mathbf{R} =&#10;&#10;\begin{bmatrix}&#10;{(1-q) / N} \\&#10;{(1-q) / N} \\&#10;\vdots \\&#10;{(1-q) / N}&#10;\end{bmatrix}&#10;&#10;+ q&#10;&#10;\begin{bmatrix}&#10;\ell(p_1,p_1) &amp; \ell(p_1,p_2) &amp; \cdots &amp; \ell(p_1,p_N) \\&#10;\ell(p_2,p_1) &amp; \ddots &amp; &amp; \\&#10;\vdots &amp; &amp; \ell(p_i,p_j) &amp; \\&#10;\ell(p_N,p_1) &amp; &amp; &amp; \ell(p_N,p_N)&#10;\end{bmatrix}&#10;&#10;\mathbf{R}"/>
          <p:cNvPicPr>
            <a:picLocks noChangeAspect="1" noChangeArrowheads="1"/>
          </p:cNvPicPr>
          <p:nvPr/>
        </p:nvPicPr>
        <p:blipFill>
          <a:blip r:embed="rId2" r:link="rId3" cstate="print"/>
          <a:srcRect/>
          <a:stretch>
            <a:fillRect/>
          </a:stretch>
        </p:blipFill>
        <p:spPr bwMode="auto">
          <a:xfrm>
            <a:off x="684213" y="3357563"/>
            <a:ext cx="7561262" cy="2592387"/>
          </a:xfrm>
          <a:prstGeom prst="rect">
            <a:avLst/>
          </a:prstGeom>
          <a:noFill/>
          <a:ln w="9525">
            <a:noFill/>
            <a:miter lim="800000"/>
            <a:headEnd/>
            <a:tailEnd/>
          </a:ln>
        </p:spPr>
      </p:pic>
      <p:pic>
        <p:nvPicPr>
          <p:cNvPr id="24582" name="Picture 8"/>
          <p:cNvPicPr>
            <a:picLocks noChangeAspect="1" noChangeArrowheads="1"/>
          </p:cNvPicPr>
          <p:nvPr/>
        </p:nvPicPr>
        <p:blipFill>
          <a:blip r:embed="rId4" cstate="print"/>
          <a:srcRect/>
          <a:stretch>
            <a:fillRect/>
          </a:stretch>
        </p:blipFill>
        <p:spPr bwMode="auto">
          <a:xfrm>
            <a:off x="5105400" y="692150"/>
            <a:ext cx="3175000" cy="1822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smtClean="0"/>
              <a:t>(</a:t>
            </a:r>
            <a:r>
              <a:rPr lang="en-US" altLang="zh-CN" sz="3600" smtClean="0"/>
              <a:t>1-d)/n+d(PR(t1)/C(t1)+...+PR(tn)/C(tn))</a:t>
            </a:r>
          </a:p>
        </p:txBody>
      </p:sp>
      <p:sp>
        <p:nvSpPr>
          <p:cNvPr id="25603" name="Rectangle 3"/>
          <p:cNvSpPr>
            <a:spLocks noGrp="1" noChangeArrowheads="1"/>
          </p:cNvSpPr>
          <p:nvPr>
            <p:ph type="body" idx="1"/>
          </p:nvPr>
        </p:nvSpPr>
        <p:spPr/>
        <p:txBody>
          <a:bodyPr/>
          <a:lstStyle/>
          <a:p>
            <a:pPr eaLnBrk="1" hangingPunct="1"/>
            <a:endParaRPr lang="zh-CN" altLang="zh-CN" smtClean="0"/>
          </a:p>
        </p:txBody>
      </p:sp>
      <p:pic>
        <p:nvPicPr>
          <p:cNvPr id="25604" name="Picture 4"/>
          <p:cNvPicPr>
            <a:picLocks noChangeAspect="1" noChangeArrowheads="1"/>
          </p:cNvPicPr>
          <p:nvPr/>
        </p:nvPicPr>
        <p:blipFill>
          <a:blip r:embed="rId2" cstate="print"/>
          <a:srcRect/>
          <a:stretch>
            <a:fillRect/>
          </a:stretch>
        </p:blipFill>
        <p:spPr bwMode="auto">
          <a:xfrm>
            <a:off x="406400" y="1947863"/>
            <a:ext cx="8280400" cy="4194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xfrm>
            <a:off x="468313" y="1989138"/>
            <a:ext cx="8229600" cy="3886200"/>
          </a:xfrm>
        </p:spPr>
        <p:txBody>
          <a:bodyPr/>
          <a:lstStyle/>
          <a:p>
            <a:pPr eaLnBrk="1" hangingPunct="1">
              <a:buFont typeface="Wingdings" pitchFamily="2" charset="2"/>
              <a:buNone/>
            </a:pPr>
            <a:endParaRPr lang="en-US" altLang="zh-CN" smtClean="0"/>
          </a:p>
          <a:p>
            <a:pPr eaLnBrk="1" hangingPunct="1"/>
            <a:endParaRPr lang="en-US" altLang="zh-CN" smtClean="0"/>
          </a:p>
        </p:txBody>
      </p:sp>
      <p:sp>
        <p:nvSpPr>
          <p:cNvPr id="26627" name="Rectangle 3"/>
          <p:cNvSpPr>
            <a:spLocks noGrp="1" noChangeArrowheads="1"/>
          </p:cNvSpPr>
          <p:nvPr>
            <p:ph type="title"/>
          </p:nvPr>
        </p:nvSpPr>
        <p:spPr/>
        <p:txBody>
          <a:bodyPr/>
          <a:lstStyle/>
          <a:p>
            <a:pPr eaLnBrk="1" hangingPunct="1"/>
            <a:r>
              <a:rPr lang="en-US" altLang="zh-CN" b="1" smtClean="0"/>
              <a:t>2.2 </a:t>
            </a:r>
            <a:r>
              <a:rPr lang="zh-CN" altLang="en-US" b="1" smtClean="0"/>
              <a:t>使用</a:t>
            </a:r>
            <a:r>
              <a:rPr lang="zh-CN" altLang="en-US" b="1" smtClean="0">
                <a:solidFill>
                  <a:srgbClr val="FF0000"/>
                </a:solidFill>
              </a:rPr>
              <a:t>幂法求</a:t>
            </a:r>
            <a:r>
              <a:rPr lang="en-US" altLang="zh-CN" b="1" smtClean="0"/>
              <a:t>PageRank</a:t>
            </a:r>
            <a:r>
              <a:rPr lang="en-US" altLang="zh-CN" smtClean="0"/>
              <a:t> </a:t>
            </a:r>
          </a:p>
        </p:txBody>
      </p:sp>
      <p:sp>
        <p:nvSpPr>
          <p:cNvPr id="2662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pic>
        <p:nvPicPr>
          <p:cNvPr id="26629" name="Picture 7"/>
          <p:cNvPicPr>
            <a:picLocks noChangeAspect="1" noChangeArrowheads="1"/>
          </p:cNvPicPr>
          <p:nvPr/>
        </p:nvPicPr>
        <p:blipFill>
          <a:blip r:embed="rId2" cstate="print"/>
          <a:srcRect/>
          <a:stretch>
            <a:fillRect/>
          </a:stretch>
        </p:blipFill>
        <p:spPr bwMode="auto">
          <a:xfrm>
            <a:off x="1331913" y="1484313"/>
            <a:ext cx="6038850" cy="1990725"/>
          </a:xfrm>
          <a:prstGeom prst="rect">
            <a:avLst/>
          </a:prstGeom>
          <a:noFill/>
          <a:ln w="9525">
            <a:noFill/>
            <a:miter lim="800000"/>
            <a:headEnd/>
            <a:tailEnd/>
          </a:ln>
        </p:spPr>
      </p:pic>
      <p:sp>
        <p:nvSpPr>
          <p:cNvPr id="26630" name="Rectangle 8"/>
          <p:cNvSpPr>
            <a:spLocks noChangeArrowheads="1"/>
          </p:cNvSpPr>
          <p:nvPr/>
        </p:nvSpPr>
        <p:spPr bwMode="auto">
          <a:xfrm>
            <a:off x="827088" y="3332163"/>
            <a:ext cx="6697662" cy="3416300"/>
          </a:xfrm>
          <a:prstGeom prst="rect">
            <a:avLst/>
          </a:prstGeom>
          <a:noFill/>
          <a:ln w="9525">
            <a:noFill/>
            <a:miter lim="800000"/>
            <a:headEnd/>
            <a:tailEnd/>
          </a:ln>
        </p:spPr>
        <p:txBody>
          <a:bodyPr lIns="0" tIns="0" rIns="0" bIns="0" anchor="ctr">
            <a:spAutoFit/>
          </a:bodyPr>
          <a:lstStyle/>
          <a:p>
            <a:pPr eaLnBrk="1" fontAlgn="ctr" hangingPunct="1"/>
            <a:r>
              <a:rPr lang="zh-CN" altLang="en-US" sz="1200" b="1">
                <a:solidFill>
                  <a:srgbClr val="3333FF"/>
                </a:solidFill>
              </a:rPr>
              <a:t>幂法</a:t>
            </a:r>
            <a:r>
              <a:rPr lang="zh-CN" altLang="en-US" sz="1200" b="1">
                <a:solidFill>
                  <a:srgbClr val="FF0000"/>
                </a:solidFill>
              </a:rPr>
              <a:t>计算过程如下</a:t>
            </a:r>
            <a:r>
              <a:rPr lang="zh-CN" altLang="en-US" sz="1200" b="1">
                <a:solidFill>
                  <a:srgbClr val="3333FF"/>
                </a:solidFill>
              </a:rPr>
              <a:t>：</a:t>
            </a:r>
            <a:r>
              <a:rPr lang="zh-CN" altLang="en-US" sz="1200" b="1">
                <a:solidFill>
                  <a:srgbClr val="000000"/>
                </a:solidFill>
              </a:rPr>
              <a:t/>
            </a:r>
            <a:br>
              <a:rPr lang="zh-CN" altLang="en-US" sz="1200" b="1">
                <a:solidFill>
                  <a:srgbClr val="000000"/>
                </a:solidFill>
              </a:rPr>
            </a:br>
            <a:r>
              <a:rPr lang="en-US" altLang="zh-CN" sz="1200" b="1">
                <a:solidFill>
                  <a:srgbClr val="000000"/>
                </a:solidFill>
              </a:rPr>
              <a:t>X </a:t>
            </a:r>
            <a:r>
              <a:rPr lang="zh-CN" altLang="en-US" sz="1200" b="1">
                <a:solidFill>
                  <a:srgbClr val="000000"/>
                </a:solidFill>
              </a:rPr>
              <a:t>设任意一个初始向量</a:t>
            </a:r>
            <a:r>
              <a:rPr lang="en-US" altLang="zh-CN" sz="1200" b="1">
                <a:solidFill>
                  <a:srgbClr val="000000"/>
                </a:solidFill>
              </a:rPr>
              <a:t>, </a:t>
            </a:r>
            <a:r>
              <a:rPr lang="zh-CN" altLang="en-US" sz="1200" b="1">
                <a:solidFill>
                  <a:srgbClr val="000000"/>
                </a:solidFill>
              </a:rPr>
              <a:t>即设置初始每个网页的 </a:t>
            </a:r>
            <a:r>
              <a:rPr lang="en-US" altLang="zh-CN" sz="1200" b="1">
                <a:solidFill>
                  <a:srgbClr val="000000"/>
                </a:solidFill>
              </a:rPr>
              <a:t>PageRank</a:t>
            </a:r>
            <a:r>
              <a:rPr lang="zh-CN" altLang="en-US" sz="1200" b="1">
                <a:solidFill>
                  <a:srgbClr val="000000"/>
                </a:solidFill>
              </a:rPr>
              <a:t>值均。一般为</a:t>
            </a:r>
            <a:r>
              <a:rPr lang="en-US" altLang="zh-CN" sz="1200" b="1">
                <a:solidFill>
                  <a:srgbClr val="000000"/>
                </a:solidFill>
              </a:rPr>
              <a:t>1.</a:t>
            </a:r>
            <a:endParaRPr lang="en-US" altLang="zh-CN" sz="1200"/>
          </a:p>
          <a:p>
            <a:pPr fontAlgn="ctr"/>
            <a:r>
              <a:rPr lang="en-US" altLang="zh-CN" sz="1200" b="1">
                <a:solidFill>
                  <a:srgbClr val="000000"/>
                </a:solidFill>
              </a:rPr>
              <a:t>R = AX; </a:t>
            </a:r>
            <a:endParaRPr lang="en-US" altLang="zh-CN" sz="1200"/>
          </a:p>
          <a:p>
            <a:pPr fontAlgn="ctr"/>
            <a:r>
              <a:rPr lang="en-US" altLang="zh-CN" sz="1200" b="1">
                <a:solidFill>
                  <a:srgbClr val="000000"/>
                </a:solidFill>
              </a:rPr>
              <a:t>while (1 )(</a:t>
            </a:r>
            <a:endParaRPr lang="en-US" altLang="zh-CN" sz="1200"/>
          </a:p>
          <a:p>
            <a:pPr fontAlgn="ctr"/>
            <a:r>
              <a:rPr lang="en-US" altLang="zh-CN" sz="1200" b="1">
                <a:solidFill>
                  <a:srgbClr val="000000"/>
                </a:solidFill>
              </a:rPr>
              <a:t>if ( l X - R I &lt;  e ) { //</a:t>
            </a:r>
            <a:r>
              <a:rPr lang="zh-CN" altLang="en-US" sz="1200" b="1">
                <a:solidFill>
                  <a:srgbClr val="000000"/>
                </a:solidFill>
              </a:rPr>
              <a:t>如果最后两次的结果近似或者相同，返回</a:t>
            </a:r>
            <a:r>
              <a:rPr lang="en-US" altLang="zh-CN" sz="1200" b="1">
                <a:solidFill>
                  <a:srgbClr val="000000"/>
                </a:solidFill>
              </a:rPr>
              <a:t>R</a:t>
            </a:r>
            <a:endParaRPr lang="en-US" altLang="zh-CN" sz="1200"/>
          </a:p>
          <a:p>
            <a:pPr fontAlgn="ctr"/>
            <a:r>
              <a:rPr lang="en-US" altLang="zh-CN" sz="1200" b="1">
                <a:solidFill>
                  <a:srgbClr val="000000"/>
                </a:solidFill>
              </a:rPr>
              <a:t>return R;</a:t>
            </a:r>
            <a:endParaRPr lang="en-US" altLang="zh-CN" sz="1200"/>
          </a:p>
          <a:p>
            <a:pPr fontAlgn="ctr"/>
            <a:r>
              <a:rPr lang="en-US" altLang="zh-CN" sz="1200" b="1">
                <a:solidFill>
                  <a:srgbClr val="000000"/>
                </a:solidFill>
              </a:rPr>
              <a:t>} else {</a:t>
            </a:r>
            <a:endParaRPr lang="en-US" altLang="zh-CN" sz="1200"/>
          </a:p>
          <a:p>
            <a:pPr fontAlgn="ctr"/>
            <a:r>
              <a:rPr lang="en-US" altLang="zh-CN" sz="1200" b="1">
                <a:solidFill>
                  <a:srgbClr val="000000"/>
                </a:solidFill>
              </a:rPr>
              <a:t>X =R;</a:t>
            </a:r>
            <a:endParaRPr lang="en-US" altLang="zh-CN" sz="1200"/>
          </a:p>
          <a:p>
            <a:pPr fontAlgn="ctr"/>
            <a:r>
              <a:rPr lang="en-US" altLang="zh-CN" sz="1200" b="1">
                <a:solidFill>
                  <a:srgbClr val="000000"/>
                </a:solidFill>
              </a:rPr>
              <a:t>R = AX;</a:t>
            </a:r>
            <a:endParaRPr lang="en-US" altLang="zh-CN" sz="1200"/>
          </a:p>
          <a:p>
            <a:pPr fontAlgn="ctr"/>
            <a:r>
              <a:rPr lang="en-US" altLang="zh-CN" sz="1200" b="1">
                <a:solidFill>
                  <a:srgbClr val="000000"/>
                </a:solidFill>
              </a:rPr>
              <a:t>}</a:t>
            </a:r>
            <a:endParaRPr lang="en-US" altLang="zh-CN" sz="1200"/>
          </a:p>
          <a:p>
            <a:pPr fontAlgn="ctr"/>
            <a:r>
              <a:rPr lang="en-US" altLang="zh-CN" sz="1200" b="1">
                <a:solidFill>
                  <a:srgbClr val="000000"/>
                </a:solidFill>
              </a:rPr>
              <a:t>}</a:t>
            </a:r>
          </a:p>
          <a:p>
            <a:r>
              <a:rPr lang="zh-CN" altLang="en-US" sz="1200">
                <a:solidFill>
                  <a:srgbClr val="000000"/>
                </a:solidFill>
                <a:latin typeface="Helvetica Neue"/>
              </a:rPr>
              <a:t>首先给每个页面赋予随机的</a:t>
            </a:r>
            <a:r>
              <a:rPr lang="en-US" altLang="zh-CN" sz="1200">
                <a:solidFill>
                  <a:srgbClr val="000000"/>
                </a:solidFill>
                <a:latin typeface="Helvetica Neue"/>
              </a:rPr>
              <a:t>PR</a:t>
            </a:r>
            <a:r>
              <a:rPr lang="zh-CN" altLang="en-US" sz="1200">
                <a:solidFill>
                  <a:srgbClr val="000000"/>
                </a:solidFill>
                <a:latin typeface="Helvetica Neue"/>
              </a:rPr>
              <a:t>值，然后通过</a:t>
            </a:r>
            <a:r>
              <a:rPr lang="en-US" altLang="zh-CN" sz="1200">
                <a:solidFill>
                  <a:srgbClr val="000000"/>
                </a:solidFill>
                <a:latin typeface="Helvetica Neue"/>
              </a:rPr>
              <a:t>Pn+1=APn</a:t>
            </a:r>
            <a:r>
              <a:rPr lang="zh-CN" altLang="en-US" sz="1200">
                <a:solidFill>
                  <a:srgbClr val="000000"/>
                </a:solidFill>
                <a:latin typeface="Helvetica Neue"/>
              </a:rPr>
              <a:t>不断地迭代</a:t>
            </a:r>
            <a:r>
              <a:rPr lang="en-US" altLang="zh-CN" sz="1200">
                <a:solidFill>
                  <a:srgbClr val="000000"/>
                </a:solidFill>
                <a:latin typeface="Helvetica Neue"/>
              </a:rPr>
              <a:t>PR</a:t>
            </a:r>
            <a:r>
              <a:rPr lang="zh-CN" altLang="en-US" sz="1200">
                <a:solidFill>
                  <a:srgbClr val="000000"/>
                </a:solidFill>
                <a:latin typeface="Helvetica Neue"/>
              </a:rPr>
              <a:t>值。当满足下面的不等式后迭代结束，获得所有页面的</a:t>
            </a:r>
            <a:r>
              <a:rPr lang="en-US" altLang="zh-CN" sz="1200">
                <a:solidFill>
                  <a:srgbClr val="000000"/>
                </a:solidFill>
                <a:latin typeface="Helvetica Neue"/>
              </a:rPr>
              <a:t>PR</a:t>
            </a:r>
            <a:r>
              <a:rPr lang="zh-CN" altLang="en-US" sz="1200">
                <a:solidFill>
                  <a:srgbClr val="000000"/>
                </a:solidFill>
                <a:latin typeface="Helvetica Neue"/>
              </a:rPr>
              <a:t>值：</a:t>
            </a:r>
          </a:p>
          <a:p>
            <a:r>
              <a:rPr lang="zh-CN" altLang="en-US" sz="1200"/>
              <a:t/>
            </a:r>
            <a:br>
              <a:rPr lang="zh-CN" altLang="en-US" sz="1200"/>
            </a:br>
            <a:endParaRPr lang="en-US" altLang="zh-CN" sz="1200" b="1">
              <a:solidFill>
                <a:srgbClr val="000000"/>
              </a:solidFill>
            </a:endParaRPr>
          </a:p>
          <a:p>
            <a:pPr fontAlgn="ctr"/>
            <a:endParaRPr lang="en-US" altLang="zh-CN" sz="1200" b="1">
              <a:solidFill>
                <a:srgbClr val="000000"/>
              </a:solidFill>
            </a:endParaRPr>
          </a:p>
          <a:p>
            <a:pPr fontAlgn="ctr"/>
            <a:endParaRPr lang="en-US" altLang="zh-CN" sz="1200" b="1">
              <a:solidFill>
                <a:srgbClr val="000000"/>
              </a:solidFill>
            </a:endParaRPr>
          </a:p>
          <a:p>
            <a:pPr fontAlgn="ctr"/>
            <a:endParaRPr lang="en-US" altLang="zh-CN" sz="1200" b="1">
              <a:solidFill>
                <a:srgbClr val="000000"/>
              </a:solidFill>
            </a:endParaRPr>
          </a:p>
        </p:txBody>
      </p:sp>
      <p:pic>
        <p:nvPicPr>
          <p:cNvPr id="26631" name="图片 1"/>
          <p:cNvPicPr>
            <a:picLocks noChangeAspect="1"/>
          </p:cNvPicPr>
          <p:nvPr/>
        </p:nvPicPr>
        <p:blipFill>
          <a:blip r:embed="rId3" cstate="print"/>
          <a:srcRect/>
          <a:stretch>
            <a:fillRect/>
          </a:stretch>
        </p:blipFill>
        <p:spPr bwMode="auto">
          <a:xfrm>
            <a:off x="3006725" y="5732463"/>
            <a:ext cx="1504950" cy="323850"/>
          </a:xfrm>
          <a:prstGeom prst="rect">
            <a:avLst/>
          </a:prstGeom>
          <a:noFill/>
          <a:ln w="9525">
            <a:noFill/>
            <a:miter lim="800000"/>
            <a:headEnd/>
            <a:tailEnd/>
          </a:ln>
        </p:spPr>
      </p:pic>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标题 1"/>
          <p:cNvSpPr>
            <a:spLocks noGrp="1" noChangeArrowheads="1"/>
          </p:cNvSpPr>
          <p:nvPr>
            <p:ph type="title"/>
          </p:nvPr>
        </p:nvSpPr>
        <p:spPr/>
        <p:txBody>
          <a:bodyPr/>
          <a:lstStyle/>
          <a:p>
            <a:endParaRPr lang="zh-CN" altLang="en-US" smtClean="0"/>
          </a:p>
        </p:txBody>
      </p:sp>
      <p:sp>
        <p:nvSpPr>
          <p:cNvPr id="27651" name="内容占位符 2"/>
          <p:cNvSpPr>
            <a:spLocks noGrp="1" noChangeArrowheads="1"/>
          </p:cNvSpPr>
          <p:nvPr>
            <p:ph idx="1"/>
          </p:nvPr>
        </p:nvSpPr>
        <p:spPr/>
        <p:txBody>
          <a:bodyPr/>
          <a:lstStyle/>
          <a:p>
            <a:pPr marL="0" indent="0">
              <a:buFont typeface="Wingdings" pitchFamily="2" charset="2"/>
              <a:buNone/>
            </a:pPr>
            <a:r>
              <a:rPr lang="zh-CN" altLang="en-US" smtClean="0"/>
              <a:t>还有特征值法、代数法等，在这里不做详细解释</a:t>
            </a:r>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标题 1"/>
          <p:cNvSpPr>
            <a:spLocks noGrp="1" noChangeArrowheads="1"/>
          </p:cNvSpPr>
          <p:nvPr>
            <p:ph type="title"/>
          </p:nvPr>
        </p:nvSpPr>
        <p:spPr/>
        <p:txBody>
          <a:bodyPr/>
          <a:lstStyle/>
          <a:p>
            <a:endParaRPr lang="zh-CN" altLang="en-US" smtClean="0"/>
          </a:p>
        </p:txBody>
      </p:sp>
      <p:pic>
        <p:nvPicPr>
          <p:cNvPr id="28675" name="内容占位符 3"/>
          <p:cNvPicPr>
            <a:picLocks noGrp="1" noChangeAspect="1" noChangeArrowheads="1"/>
          </p:cNvPicPr>
          <p:nvPr>
            <p:ph idx="1"/>
          </p:nvPr>
        </p:nvPicPr>
        <p:blipFill>
          <a:blip r:embed="rId2" cstate="print"/>
          <a:srcRect/>
          <a:stretch>
            <a:fillRect/>
          </a:stretch>
        </p:blipFill>
        <p:spPr>
          <a:xfrm>
            <a:off x="684213" y="1412875"/>
            <a:ext cx="7542212" cy="4267200"/>
          </a:xfrm>
        </p:spPr>
      </p:pic>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xfrm>
            <a:off x="468313" y="1989138"/>
            <a:ext cx="8229600" cy="4464050"/>
          </a:xfrm>
        </p:spPr>
        <p:txBody>
          <a:bodyPr/>
          <a:lstStyle/>
          <a:p>
            <a:pPr eaLnBrk="1" hangingPunct="1"/>
            <a:r>
              <a:rPr lang="zh-CN" altLang="en-US" sz="1800" b="1" smtClean="0"/>
              <a:t>一、 </a:t>
            </a:r>
            <a:r>
              <a:rPr lang="en-US" altLang="zh-CN" sz="1800" b="1" smtClean="0"/>
              <a:t>P</a:t>
            </a:r>
            <a:r>
              <a:rPr lang="zh-CN" altLang="en-US" sz="1800" b="1" smtClean="0"/>
              <a:t>概率转移矩阵的计算过程</a:t>
            </a:r>
            <a:r>
              <a:rPr lang="en-US" altLang="zh-CN" sz="1800" b="1" smtClean="0"/>
              <a:t>:</a:t>
            </a:r>
          </a:p>
          <a:p>
            <a:pPr eaLnBrk="1" hangingPunct="1"/>
            <a:r>
              <a:rPr lang="zh-CN" altLang="en-US" sz="1800" b="1" smtClean="0"/>
              <a:t>先建立一个</a:t>
            </a:r>
            <a:r>
              <a:rPr lang="zh-CN" altLang="en-US" sz="1800" b="1" smtClean="0">
                <a:solidFill>
                  <a:srgbClr val="FF0000"/>
                </a:solidFill>
              </a:rPr>
              <a:t>网页间的链接关系的模型</a:t>
            </a:r>
            <a:r>
              <a:rPr lang="en-US" altLang="zh-CN" sz="1800" b="1" smtClean="0"/>
              <a:t>,</a:t>
            </a:r>
            <a:r>
              <a:rPr lang="zh-CN" altLang="en-US" sz="1800" b="1" smtClean="0"/>
              <a:t>即我们需要合适的数据结构表示页面间的连接关系。</a:t>
            </a:r>
          </a:p>
          <a:p>
            <a:pPr eaLnBrk="1" hangingPunct="1"/>
            <a:r>
              <a:rPr lang="en-US" altLang="zh-CN" sz="1800" b="1" smtClean="0"/>
              <a:t>1) </a:t>
            </a:r>
            <a:r>
              <a:rPr lang="zh-CN" altLang="en-US" sz="1800" b="1" smtClean="0"/>
              <a:t>首先我们使用图的形式来表述网页之间关系：</a:t>
            </a:r>
          </a:p>
          <a:p>
            <a:pPr eaLnBrk="1" hangingPunct="1"/>
            <a:r>
              <a:rPr lang="zh-CN" altLang="en-US" sz="1800" b="1" smtClean="0"/>
              <a:t>现在假设只有四张网页集合：</a:t>
            </a:r>
            <a:r>
              <a:rPr lang="en-US" altLang="zh-CN" sz="1800" b="1" smtClean="0"/>
              <a:t>A</a:t>
            </a:r>
            <a:r>
              <a:rPr lang="zh-CN" altLang="en-US" sz="1800" b="1" smtClean="0"/>
              <a:t>、</a:t>
            </a:r>
            <a:r>
              <a:rPr lang="en-US" altLang="zh-CN" sz="1800" b="1" smtClean="0"/>
              <a:t>B</a:t>
            </a:r>
            <a:r>
              <a:rPr lang="zh-CN" altLang="en-US" sz="1800" b="1" smtClean="0"/>
              <a:t>、</a:t>
            </a:r>
            <a:r>
              <a:rPr lang="en-US" altLang="zh-CN" sz="1800" b="1" smtClean="0"/>
              <a:t>C</a:t>
            </a:r>
            <a:r>
              <a:rPr lang="zh-CN" altLang="en-US" sz="1800" b="1" smtClean="0"/>
              <a:t>，其抽象结构如下图</a:t>
            </a:r>
            <a:r>
              <a:rPr lang="en-US" altLang="zh-CN" sz="1800" b="1" smtClean="0"/>
              <a:t>1</a:t>
            </a:r>
            <a:r>
              <a:rPr lang="zh-CN" altLang="en-US" sz="1800" b="1" smtClean="0"/>
              <a:t>：</a:t>
            </a:r>
          </a:p>
          <a:p>
            <a:pPr eaLnBrk="1" hangingPunct="1"/>
            <a:endParaRPr lang="en-US" altLang="zh-CN" sz="1800" b="1" smtClean="0"/>
          </a:p>
        </p:txBody>
      </p:sp>
      <p:sp>
        <p:nvSpPr>
          <p:cNvPr id="29699" name="Rectangle 3"/>
          <p:cNvSpPr>
            <a:spLocks noGrp="1" noChangeArrowheads="1"/>
          </p:cNvSpPr>
          <p:nvPr>
            <p:ph type="title"/>
          </p:nvPr>
        </p:nvSpPr>
        <p:spPr/>
        <p:txBody>
          <a:bodyPr/>
          <a:lstStyle/>
          <a:p>
            <a:pPr eaLnBrk="1" hangingPunct="1"/>
            <a:r>
              <a:rPr lang="en-US" altLang="zh-CN" b="1" smtClean="0"/>
              <a:t>2.2 </a:t>
            </a:r>
            <a:r>
              <a:rPr lang="zh-CN" altLang="en-US" b="1" smtClean="0"/>
              <a:t>求解步骤：</a:t>
            </a:r>
            <a:r>
              <a:rPr lang="zh-CN" altLang="en-US" smtClean="0"/>
              <a:t> </a:t>
            </a:r>
          </a:p>
        </p:txBody>
      </p:sp>
      <p:sp>
        <p:nvSpPr>
          <p:cNvPr id="29700"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pic>
        <p:nvPicPr>
          <p:cNvPr id="29701" name="Picture 7"/>
          <p:cNvPicPr>
            <a:picLocks noChangeAspect="1" noChangeArrowheads="1"/>
          </p:cNvPicPr>
          <p:nvPr/>
        </p:nvPicPr>
        <p:blipFill>
          <a:blip r:embed="rId2" cstate="print"/>
          <a:srcRect/>
          <a:stretch>
            <a:fillRect/>
          </a:stretch>
        </p:blipFill>
        <p:spPr bwMode="auto">
          <a:xfrm>
            <a:off x="2411413" y="3789363"/>
            <a:ext cx="3962400" cy="2638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xfrm>
            <a:off x="457200" y="836613"/>
            <a:ext cx="8229600" cy="5111750"/>
          </a:xfrm>
        </p:spPr>
        <p:txBody>
          <a:bodyPr/>
          <a:lstStyle/>
          <a:p>
            <a:pPr eaLnBrk="1" hangingPunct="1"/>
            <a:r>
              <a:rPr lang="en-US" altLang="zh-CN" sz="1600" b="1" smtClean="0"/>
              <a:t>2</a:t>
            </a:r>
            <a:r>
              <a:rPr lang="zh-CN" altLang="en-US" sz="1600" b="1" smtClean="0"/>
              <a:t>）我们用矩阵表示连通图：</a:t>
            </a:r>
          </a:p>
          <a:p>
            <a:pPr eaLnBrk="1" hangingPunct="1"/>
            <a:r>
              <a:rPr lang="zh-CN" altLang="en-US" sz="1600" b="1" smtClean="0"/>
              <a:t>用邻接矩阵 </a:t>
            </a:r>
            <a:r>
              <a:rPr lang="en-US" altLang="zh-CN" sz="1600" b="1" smtClean="0"/>
              <a:t>P</a:t>
            </a:r>
            <a:r>
              <a:rPr lang="zh-CN" altLang="en-US" sz="1600" b="1" smtClean="0"/>
              <a:t>表示这个图中顶点关系 ，如果顶（页面）</a:t>
            </a:r>
            <a:r>
              <a:rPr lang="en-US" altLang="zh-CN" sz="1600" b="1" smtClean="0"/>
              <a:t>i</a:t>
            </a:r>
            <a:r>
              <a:rPr lang="zh-CN" altLang="en-US" sz="1600" b="1" smtClean="0"/>
              <a:t>向顶点（页面）</a:t>
            </a:r>
            <a:r>
              <a:rPr lang="en-US" altLang="zh-CN" sz="1600" b="1" smtClean="0"/>
              <a:t>j</a:t>
            </a:r>
            <a:r>
              <a:rPr lang="zh-CN" altLang="en-US" sz="1600" b="1" smtClean="0"/>
              <a:t>有链接情况 ，则</a:t>
            </a:r>
            <a:r>
              <a:rPr lang="en-US" altLang="zh-CN" sz="1600" b="1" smtClean="0">
                <a:solidFill>
                  <a:srgbClr val="FF0000"/>
                </a:solidFill>
              </a:rPr>
              <a:t>pij = 1 </a:t>
            </a:r>
            <a:r>
              <a:rPr lang="zh-CN" altLang="en-US" sz="1600" b="1" smtClean="0"/>
              <a:t>，否则</a:t>
            </a:r>
            <a:r>
              <a:rPr lang="en-US" altLang="zh-CN" sz="1600" b="1" smtClean="0"/>
              <a:t>pij = 0 </a:t>
            </a:r>
            <a:r>
              <a:rPr lang="zh-CN" altLang="en-US" sz="1600" b="1" smtClean="0"/>
              <a:t>。如图</a:t>
            </a:r>
            <a:r>
              <a:rPr lang="en-US" altLang="zh-CN" sz="1600" b="1" smtClean="0"/>
              <a:t>2</a:t>
            </a:r>
            <a:r>
              <a:rPr lang="zh-CN" altLang="en-US" sz="1600" b="1" smtClean="0"/>
              <a:t>所示。如果网页文件总数为</a:t>
            </a:r>
            <a:r>
              <a:rPr lang="en-US" altLang="zh-CN" sz="1600" b="1" smtClean="0"/>
              <a:t>N </a:t>
            </a:r>
            <a:r>
              <a:rPr lang="zh-CN" altLang="en-US" sz="1600" b="1" smtClean="0"/>
              <a:t>， 那么这个网页链接矩阵就是一个</a:t>
            </a:r>
            <a:r>
              <a:rPr lang="en-US" altLang="zh-CN" sz="1600" b="1" smtClean="0"/>
              <a:t>N x N </a:t>
            </a:r>
            <a:r>
              <a:rPr lang="zh-CN" altLang="en-US" sz="1600" b="1" smtClean="0"/>
              <a:t>的矩 阵 。 </a:t>
            </a:r>
          </a:p>
          <a:p>
            <a:pPr eaLnBrk="1" hangingPunct="1"/>
            <a:r>
              <a:rPr lang="en-US" altLang="zh-CN" sz="1600" b="1" smtClean="0"/>
              <a:t>3</a:t>
            </a:r>
            <a:r>
              <a:rPr lang="zh-CN" altLang="en-US" sz="1600" b="1" smtClean="0"/>
              <a:t>）网页链接概率矩阵</a:t>
            </a:r>
          </a:p>
          <a:p>
            <a:pPr eaLnBrk="1" hangingPunct="1"/>
            <a:r>
              <a:rPr lang="zh-CN" altLang="en-US" sz="1600" b="1" smtClean="0"/>
              <a:t>然后将</a:t>
            </a:r>
            <a:r>
              <a:rPr lang="zh-CN" altLang="en-US" sz="1600" b="1" smtClean="0">
                <a:solidFill>
                  <a:srgbClr val="FF0000"/>
                </a:solidFill>
              </a:rPr>
              <a:t>每一行除以该行非零数字之和</a:t>
            </a:r>
            <a:r>
              <a:rPr lang="zh-CN" altLang="en-US" sz="1600" b="1" smtClean="0"/>
              <a:t>，即（每行非</a:t>
            </a:r>
            <a:r>
              <a:rPr lang="en-US" altLang="zh-CN" sz="1600" b="1" smtClean="0"/>
              <a:t>0</a:t>
            </a:r>
            <a:r>
              <a:rPr lang="zh-CN" altLang="en-US" sz="1600" b="1" smtClean="0"/>
              <a:t>数之和就是链接网个数）则得到新矩阵</a:t>
            </a:r>
            <a:r>
              <a:rPr lang="en-US" altLang="zh-CN" sz="1600" b="1" smtClean="0"/>
              <a:t>P’</a:t>
            </a:r>
            <a:r>
              <a:rPr lang="zh-CN" altLang="en-US" sz="1600" b="1" smtClean="0"/>
              <a:t>，如图</a:t>
            </a:r>
            <a:r>
              <a:rPr lang="en-US" altLang="zh-CN" sz="1600" b="1" smtClean="0"/>
              <a:t>3</a:t>
            </a:r>
            <a:r>
              <a:rPr lang="zh-CN" altLang="en-US" sz="1600" b="1" smtClean="0"/>
              <a:t>所示。 这个矩阵记录了 每个网页跳转到其他网页的概率，即其中</a:t>
            </a:r>
            <a:r>
              <a:rPr lang="en-US" altLang="zh-CN" sz="1600" b="1" smtClean="0"/>
              <a:t>i</a:t>
            </a:r>
            <a:r>
              <a:rPr lang="zh-CN" altLang="en-US" sz="1600" b="1" smtClean="0"/>
              <a:t>行</a:t>
            </a:r>
            <a:r>
              <a:rPr lang="en-US" altLang="zh-CN" sz="1600" b="1" smtClean="0"/>
              <a:t>j</a:t>
            </a:r>
            <a:r>
              <a:rPr lang="zh-CN" altLang="en-US" sz="1600" b="1" smtClean="0"/>
              <a:t>列的值表示用户从页面</a:t>
            </a:r>
            <a:r>
              <a:rPr lang="en-US" altLang="zh-CN" sz="1600" b="1" smtClean="0"/>
              <a:t>i </a:t>
            </a:r>
            <a:r>
              <a:rPr lang="zh-CN" altLang="en-US" sz="1600" b="1" smtClean="0"/>
              <a:t>转到页面</a:t>
            </a:r>
            <a:r>
              <a:rPr lang="en-US" altLang="zh-CN" sz="1600" b="1" smtClean="0"/>
              <a:t>j</a:t>
            </a:r>
            <a:r>
              <a:rPr lang="zh-CN" altLang="en-US" sz="1600" b="1" smtClean="0"/>
              <a:t>的概率。图</a:t>
            </a:r>
            <a:r>
              <a:rPr lang="en-US" altLang="zh-CN" sz="1600" b="1" smtClean="0"/>
              <a:t>1 </a:t>
            </a:r>
            <a:r>
              <a:rPr lang="zh-CN" altLang="en-US" sz="1600" b="1" smtClean="0"/>
              <a:t>中</a:t>
            </a:r>
            <a:r>
              <a:rPr lang="en-US" altLang="zh-CN" sz="1600" b="1" smtClean="0"/>
              <a:t>A</a:t>
            </a:r>
            <a:r>
              <a:rPr lang="zh-CN" altLang="en-US" sz="1600" b="1" smtClean="0"/>
              <a:t>页面链向</a:t>
            </a:r>
            <a:r>
              <a:rPr lang="en-US" altLang="zh-CN" sz="1600" b="1" smtClean="0"/>
              <a:t>B</a:t>
            </a:r>
            <a:r>
              <a:rPr lang="zh-CN" altLang="en-US" sz="1600" b="1" smtClean="0"/>
              <a:t>、</a:t>
            </a:r>
            <a:r>
              <a:rPr lang="en-US" altLang="zh-CN" sz="1600" b="1" smtClean="0"/>
              <a:t>C</a:t>
            </a:r>
            <a:r>
              <a:rPr lang="zh-CN" altLang="en-US" sz="1600" b="1" smtClean="0"/>
              <a:t>，所以一个用户从</a:t>
            </a:r>
            <a:r>
              <a:rPr lang="en-US" altLang="zh-CN" sz="1600" b="1" smtClean="0"/>
              <a:t>A</a:t>
            </a:r>
            <a:r>
              <a:rPr lang="zh-CN" altLang="en-US" sz="1600" b="1" smtClean="0"/>
              <a:t>跳转到</a:t>
            </a:r>
            <a:r>
              <a:rPr lang="en-US" altLang="zh-CN" sz="1600" b="1" smtClean="0"/>
              <a:t>B</a:t>
            </a:r>
            <a:r>
              <a:rPr lang="zh-CN" altLang="en-US" sz="1600" b="1" smtClean="0"/>
              <a:t>、</a:t>
            </a:r>
            <a:r>
              <a:rPr lang="en-US" altLang="zh-CN" sz="1600" b="1" smtClean="0"/>
              <a:t>C</a:t>
            </a:r>
            <a:r>
              <a:rPr lang="zh-CN" altLang="en-US" sz="1600" b="1" smtClean="0"/>
              <a:t>的概率各为</a:t>
            </a:r>
            <a:r>
              <a:rPr lang="en-US" altLang="zh-CN" sz="1600" b="1" smtClean="0"/>
              <a:t>1/2</a:t>
            </a:r>
            <a:r>
              <a:rPr lang="zh-CN" altLang="en-US" sz="1600" b="1" smtClean="0"/>
              <a:t>。</a:t>
            </a:r>
          </a:p>
          <a:p>
            <a:pPr eaLnBrk="1" hangingPunct="1"/>
            <a:r>
              <a:rPr lang="en-US" altLang="zh-CN" sz="1600" b="1" smtClean="0"/>
              <a:t>4</a:t>
            </a:r>
            <a:r>
              <a:rPr lang="zh-CN" altLang="en-US" sz="1600" b="1" smtClean="0"/>
              <a:t>）概率转移矩阵</a:t>
            </a:r>
            <a:r>
              <a:rPr lang="en-US" altLang="zh-CN" sz="1600" b="1" smtClean="0"/>
              <a:t>P</a:t>
            </a:r>
          </a:p>
          <a:p>
            <a:pPr eaLnBrk="1" hangingPunct="1"/>
            <a:r>
              <a:rPr lang="zh-CN" altLang="en-US" sz="1600" b="1" smtClean="0"/>
              <a:t>采用</a:t>
            </a:r>
            <a:r>
              <a:rPr lang="en-US" altLang="zh-CN" sz="1600" b="1" smtClean="0"/>
              <a:t>P’ </a:t>
            </a:r>
            <a:r>
              <a:rPr lang="zh-CN" altLang="en-US" sz="1600" b="1" smtClean="0"/>
              <a:t>的转置矩 阵进行计算， 也就是上面提到的概率转移矩阵</a:t>
            </a:r>
            <a:r>
              <a:rPr lang="en-US" altLang="zh-CN" sz="1600" b="1" smtClean="0"/>
              <a:t>P </a:t>
            </a:r>
            <a:r>
              <a:rPr lang="zh-CN" altLang="en-US" sz="1600" b="1" smtClean="0"/>
              <a:t>。 如图</a:t>
            </a:r>
            <a:r>
              <a:rPr lang="en-US" altLang="zh-CN" sz="1600" b="1" smtClean="0"/>
              <a:t>4</a:t>
            </a:r>
            <a:r>
              <a:rPr lang="zh-CN" altLang="en-US" sz="1600" b="1" smtClean="0"/>
              <a:t>所示：</a:t>
            </a:r>
          </a:p>
          <a:p>
            <a:pPr eaLnBrk="1" hangingPunct="1">
              <a:buFont typeface="Wingdings" pitchFamily="2" charset="2"/>
              <a:buNone/>
            </a:pPr>
            <a:r>
              <a:rPr lang="zh-CN" altLang="en-US" sz="1600" b="1" smtClean="0"/>
              <a:t>   </a:t>
            </a:r>
          </a:p>
        </p:txBody>
      </p:sp>
      <p:pic>
        <p:nvPicPr>
          <p:cNvPr id="30723" name="Picture 6"/>
          <p:cNvPicPr>
            <a:picLocks noChangeAspect="1" noChangeArrowheads="1"/>
          </p:cNvPicPr>
          <p:nvPr/>
        </p:nvPicPr>
        <p:blipFill>
          <a:blip r:embed="rId2" cstate="print"/>
          <a:srcRect/>
          <a:stretch>
            <a:fillRect/>
          </a:stretch>
        </p:blipFill>
        <p:spPr bwMode="auto">
          <a:xfrm>
            <a:off x="1619250" y="4005263"/>
            <a:ext cx="6624638" cy="2246312"/>
          </a:xfrm>
          <a:prstGeom prst="rect">
            <a:avLst/>
          </a:prstGeom>
          <a:noFill/>
          <a:ln w="9525">
            <a:noFill/>
            <a:miter lim="800000"/>
            <a:headEnd/>
            <a:tailEnd/>
          </a:ln>
        </p:spPr>
      </p:pic>
      <p:sp>
        <p:nvSpPr>
          <p:cNvPr id="3072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xfrm>
            <a:off x="468313" y="1989138"/>
            <a:ext cx="8229600" cy="4464050"/>
          </a:xfrm>
        </p:spPr>
        <p:txBody>
          <a:bodyPr/>
          <a:lstStyle/>
          <a:p>
            <a:pPr eaLnBrk="1" hangingPunct="1"/>
            <a:endParaRPr lang="en-US" altLang="zh-CN" sz="1800" b="1" smtClean="0"/>
          </a:p>
          <a:p>
            <a:pPr eaLnBrk="1" hangingPunct="1"/>
            <a:endParaRPr lang="en-US" altLang="zh-CN" sz="1800" b="1" smtClean="0"/>
          </a:p>
        </p:txBody>
      </p:sp>
      <p:sp>
        <p:nvSpPr>
          <p:cNvPr id="31747" name="Rectangle 3"/>
          <p:cNvSpPr>
            <a:spLocks noGrp="1" noChangeArrowheads="1"/>
          </p:cNvSpPr>
          <p:nvPr>
            <p:ph type="title"/>
          </p:nvPr>
        </p:nvSpPr>
        <p:spPr/>
        <p:txBody>
          <a:bodyPr/>
          <a:lstStyle/>
          <a:p>
            <a:pPr eaLnBrk="1" hangingPunct="1"/>
            <a:r>
              <a:rPr lang="en-US" altLang="zh-CN" b="1" smtClean="0"/>
              <a:t>2.3  A</a:t>
            </a:r>
            <a:r>
              <a:rPr lang="zh-CN" altLang="en-US" b="1" smtClean="0"/>
              <a:t>矩阵计算过程。</a:t>
            </a:r>
            <a:r>
              <a:rPr lang="zh-CN" altLang="en-US" smtClean="0"/>
              <a:t> </a:t>
            </a:r>
          </a:p>
        </p:txBody>
      </p:sp>
      <p:sp>
        <p:nvSpPr>
          <p:cNvPr id="3174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pic>
        <p:nvPicPr>
          <p:cNvPr id="31749" name="Picture 7"/>
          <p:cNvPicPr>
            <a:picLocks noChangeAspect="1" noChangeArrowheads="1"/>
          </p:cNvPicPr>
          <p:nvPr/>
        </p:nvPicPr>
        <p:blipFill>
          <a:blip r:embed="rId2" cstate="print"/>
          <a:srcRect/>
          <a:stretch>
            <a:fillRect/>
          </a:stretch>
        </p:blipFill>
        <p:spPr bwMode="auto">
          <a:xfrm>
            <a:off x="1692275" y="1628775"/>
            <a:ext cx="4743450" cy="4829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xfrm>
            <a:off x="468313" y="1989138"/>
            <a:ext cx="8229600" cy="4464050"/>
          </a:xfrm>
        </p:spPr>
        <p:txBody>
          <a:bodyPr/>
          <a:lstStyle/>
          <a:p>
            <a:pPr eaLnBrk="1" hangingPunct="1"/>
            <a:endParaRPr lang="en-US" altLang="zh-CN" sz="1800" b="1" smtClean="0"/>
          </a:p>
          <a:p>
            <a:pPr eaLnBrk="1" hangingPunct="1"/>
            <a:endParaRPr lang="en-US" altLang="zh-CN" sz="1800" b="1" smtClean="0"/>
          </a:p>
        </p:txBody>
      </p:sp>
      <p:sp>
        <p:nvSpPr>
          <p:cNvPr id="32771" name="Rectangle 3"/>
          <p:cNvSpPr>
            <a:spLocks noGrp="1" noChangeArrowheads="1"/>
          </p:cNvSpPr>
          <p:nvPr>
            <p:ph type="title"/>
          </p:nvPr>
        </p:nvSpPr>
        <p:spPr>
          <a:xfrm>
            <a:off x="457200" y="457200"/>
            <a:ext cx="8229600" cy="739775"/>
          </a:xfrm>
        </p:spPr>
        <p:txBody>
          <a:bodyPr/>
          <a:lstStyle/>
          <a:p>
            <a:pPr eaLnBrk="1" hangingPunct="1"/>
            <a:r>
              <a:rPr lang="en-US" altLang="zh-CN" sz="2400" b="1" smtClean="0"/>
              <a:t>2.4  </a:t>
            </a:r>
            <a:r>
              <a:rPr lang="zh-CN" altLang="en-US" sz="2400" b="1" smtClean="0"/>
              <a:t>循环迭代计算</a:t>
            </a:r>
            <a:r>
              <a:rPr lang="en-US" altLang="zh-CN" sz="2400" b="1" smtClean="0"/>
              <a:t>PageRank</a:t>
            </a:r>
            <a:r>
              <a:rPr lang="zh-CN" altLang="en-US" sz="2400" b="1" smtClean="0"/>
              <a:t>的过程</a:t>
            </a:r>
            <a:r>
              <a:rPr lang="zh-CN" altLang="en-US" sz="4000" smtClean="0"/>
              <a:t> </a:t>
            </a:r>
          </a:p>
        </p:txBody>
      </p:sp>
      <p:sp>
        <p:nvSpPr>
          <p:cNvPr id="3277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pic>
        <p:nvPicPr>
          <p:cNvPr id="32773" name="Picture 6"/>
          <p:cNvPicPr>
            <a:picLocks noChangeAspect="1" noChangeArrowheads="1"/>
          </p:cNvPicPr>
          <p:nvPr/>
        </p:nvPicPr>
        <p:blipFill>
          <a:blip r:embed="rId2" cstate="print"/>
          <a:srcRect/>
          <a:stretch>
            <a:fillRect/>
          </a:stretch>
        </p:blipFill>
        <p:spPr bwMode="auto">
          <a:xfrm>
            <a:off x="1042988" y="1196975"/>
            <a:ext cx="7105650" cy="4652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xfrm>
            <a:off x="468313" y="1989138"/>
            <a:ext cx="8229600" cy="4464050"/>
          </a:xfrm>
        </p:spPr>
        <p:txBody>
          <a:bodyPr/>
          <a:lstStyle/>
          <a:p>
            <a:pPr eaLnBrk="1" hangingPunct="1"/>
            <a:endParaRPr lang="en-US" altLang="zh-CN" sz="1800" b="1" smtClean="0"/>
          </a:p>
          <a:p>
            <a:pPr eaLnBrk="1" hangingPunct="1"/>
            <a:endParaRPr lang="en-US" altLang="zh-CN" sz="1800" b="1" smtClean="0"/>
          </a:p>
        </p:txBody>
      </p:sp>
      <p:sp>
        <p:nvSpPr>
          <p:cNvPr id="33795" name="Rectangle 3"/>
          <p:cNvSpPr>
            <a:spLocks noGrp="1" noChangeArrowheads="1"/>
          </p:cNvSpPr>
          <p:nvPr>
            <p:ph type="title"/>
          </p:nvPr>
        </p:nvSpPr>
        <p:spPr/>
        <p:txBody>
          <a:bodyPr/>
          <a:lstStyle/>
          <a:p>
            <a:pPr eaLnBrk="1" hangingPunct="1"/>
            <a:r>
              <a:rPr lang="en-US" altLang="zh-CN" b="1" smtClean="0"/>
              <a:t>2.5  </a:t>
            </a:r>
            <a:r>
              <a:rPr lang="zh-CN" altLang="en-US" b="1" smtClean="0"/>
              <a:t>改 进</a:t>
            </a:r>
            <a:r>
              <a:rPr lang="zh-CN" altLang="en-US" smtClean="0"/>
              <a:t> </a:t>
            </a:r>
          </a:p>
        </p:txBody>
      </p:sp>
      <p:sp>
        <p:nvSpPr>
          <p:cNvPr id="33796"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eaLnBrk="1" hangingPunct="1"/>
            <a:endParaRPr lang="zh-CN" altLang="en-US"/>
          </a:p>
        </p:txBody>
      </p:sp>
      <p:sp>
        <p:nvSpPr>
          <p:cNvPr id="33797" name="Rectangle 6"/>
          <p:cNvSpPr>
            <a:spLocks noChangeArrowheads="1"/>
          </p:cNvSpPr>
          <p:nvPr/>
        </p:nvSpPr>
        <p:spPr bwMode="auto">
          <a:xfrm>
            <a:off x="630238" y="2349500"/>
            <a:ext cx="7883525" cy="2954338"/>
          </a:xfrm>
          <a:prstGeom prst="rect">
            <a:avLst/>
          </a:prstGeom>
          <a:noFill/>
          <a:ln w="9525">
            <a:noFill/>
            <a:miter lim="800000"/>
            <a:headEnd/>
            <a:tailEnd/>
          </a:ln>
        </p:spPr>
        <p:txBody>
          <a:bodyPr lIns="0" tIns="0" rIns="0" bIns="0" anchor="ctr">
            <a:spAutoFit/>
          </a:bodyPr>
          <a:lstStyle/>
          <a:p>
            <a:pPr eaLnBrk="1" hangingPunct="1"/>
            <a:r>
              <a:rPr lang="en-US" altLang="zh-CN" sz="2400" b="1"/>
              <a:t>    Larry Page</a:t>
            </a:r>
            <a:r>
              <a:rPr lang="zh-CN" altLang="en-US" sz="2400" b="1"/>
              <a:t>和</a:t>
            </a:r>
            <a:r>
              <a:rPr lang="en-US" altLang="zh-CN" sz="2400" b="1"/>
              <a:t>Sergey Brin </a:t>
            </a:r>
            <a:r>
              <a:rPr lang="zh-CN" altLang="en-US" sz="2400" b="1"/>
              <a:t>两人从理论上证明了不论初始值如何选取，这种算法都保证了网页排名的估计值能收敛到他们的真实值。</a:t>
            </a:r>
            <a:endParaRPr lang="zh-CN" altLang="en-US" sz="2400"/>
          </a:p>
          <a:p>
            <a:pPr eaLnBrk="1" hangingPunct="1"/>
            <a:r>
              <a:rPr lang="zh-CN" altLang="en-US" sz="2400" b="1"/>
              <a:t>    由于互联网上网页的数量是巨大的，上面提到的二维矩阵从理论上讲有网页数目平方之多个元素。如果我们假定有十亿个网页，那么这个矩阵 就有一百亿亿个元素。这样大的矩阵相乘，计算量是非常大的。</a:t>
            </a:r>
            <a:r>
              <a:rPr lang="en-US" altLang="zh-CN" sz="2400" b="1"/>
              <a:t>Larry Page</a:t>
            </a:r>
            <a:r>
              <a:rPr lang="zh-CN" altLang="en-US" sz="2400" b="1"/>
              <a:t>和</a:t>
            </a:r>
            <a:r>
              <a:rPr lang="en-US" altLang="zh-CN" sz="2400" b="1"/>
              <a:t>Sergey Brin</a:t>
            </a:r>
            <a:r>
              <a:rPr lang="zh-CN" altLang="en-US" sz="2400" b="1"/>
              <a:t>两人利用稀疏矩阵计算的技巧，大大的简化了计算量。</a:t>
            </a:r>
          </a:p>
        </p:txBody>
      </p:sp>
    </p:spTree>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68313" y="260350"/>
            <a:ext cx="8229600" cy="1139825"/>
          </a:xfrm>
        </p:spPr>
        <p:txBody>
          <a:bodyPr/>
          <a:lstStyle/>
          <a:p>
            <a:pPr eaLnBrk="1" hangingPunct="1"/>
            <a:r>
              <a:rPr lang="en-US" altLang="zh-CN" smtClean="0"/>
              <a:t>3    PageRank</a:t>
            </a:r>
            <a:r>
              <a:rPr lang="zh-CN" altLang="en-US" smtClean="0"/>
              <a:t>算法的应用</a:t>
            </a:r>
          </a:p>
        </p:txBody>
      </p:sp>
      <p:sp>
        <p:nvSpPr>
          <p:cNvPr id="34819" name="Rectangle 3"/>
          <p:cNvSpPr>
            <a:spLocks noGrp="1" noChangeArrowheads="1"/>
          </p:cNvSpPr>
          <p:nvPr>
            <p:ph type="body" idx="1"/>
          </p:nvPr>
        </p:nvSpPr>
        <p:spPr/>
        <p:txBody>
          <a:bodyPr/>
          <a:lstStyle/>
          <a:p>
            <a:pPr eaLnBrk="1" hangingPunct="1">
              <a:lnSpc>
                <a:spcPct val="80000"/>
              </a:lnSpc>
            </a:pPr>
            <a:r>
              <a:rPr lang="zh-CN" altLang="en-US" sz="2800" smtClean="0"/>
              <a:t>学术论文的重要性排序</a:t>
            </a:r>
          </a:p>
          <a:p>
            <a:pPr eaLnBrk="1" hangingPunct="1">
              <a:lnSpc>
                <a:spcPct val="80000"/>
              </a:lnSpc>
            </a:pPr>
            <a:r>
              <a:rPr lang="zh-CN" altLang="en-US" sz="2800" smtClean="0"/>
              <a:t>学术论文的作者的重要性排序</a:t>
            </a:r>
          </a:p>
          <a:p>
            <a:pPr lvl="1" eaLnBrk="1" hangingPunct="1">
              <a:lnSpc>
                <a:spcPct val="80000"/>
              </a:lnSpc>
            </a:pPr>
            <a:r>
              <a:rPr lang="zh-CN" altLang="en-US" sz="2400" smtClean="0"/>
              <a:t>某作者引用了其它作者的文献，则该作者认为其它作者是“重要”的。</a:t>
            </a:r>
          </a:p>
          <a:p>
            <a:pPr eaLnBrk="1" hangingPunct="1">
              <a:lnSpc>
                <a:spcPct val="80000"/>
              </a:lnSpc>
            </a:pPr>
            <a:r>
              <a:rPr lang="zh-CN" altLang="en-US" sz="2800" smtClean="0"/>
              <a:t>网络爬虫</a:t>
            </a:r>
            <a:r>
              <a:rPr lang="en-US" altLang="zh-CN" sz="2800" smtClean="0"/>
              <a:t>(Web Crawler)</a:t>
            </a:r>
          </a:p>
          <a:p>
            <a:pPr lvl="1" eaLnBrk="1" hangingPunct="1">
              <a:lnSpc>
                <a:spcPct val="80000"/>
              </a:lnSpc>
            </a:pPr>
            <a:r>
              <a:rPr lang="zh-CN" altLang="en-US" sz="2400" smtClean="0"/>
              <a:t>可以利用</a:t>
            </a:r>
            <a:r>
              <a:rPr lang="en-US" altLang="zh-CN" sz="2400" smtClean="0"/>
              <a:t>PR</a:t>
            </a:r>
            <a:r>
              <a:rPr lang="zh-CN" altLang="en-US" sz="2400" smtClean="0"/>
              <a:t>值，决定某个</a:t>
            </a:r>
            <a:r>
              <a:rPr lang="en-US" altLang="zh-CN" sz="2400" smtClean="0"/>
              <a:t>URL</a:t>
            </a:r>
            <a:r>
              <a:rPr lang="zh-CN" altLang="en-US" sz="2400" smtClean="0"/>
              <a:t>，所需要抓取的网页数量和深度</a:t>
            </a:r>
          </a:p>
          <a:p>
            <a:pPr lvl="1" eaLnBrk="1" hangingPunct="1">
              <a:lnSpc>
                <a:spcPct val="80000"/>
              </a:lnSpc>
            </a:pPr>
            <a:r>
              <a:rPr lang="zh-CN" altLang="en-US" sz="2400" smtClean="0"/>
              <a:t>重要性高的网页抓取的页面数量相对多一些，反之，则少一些</a:t>
            </a:r>
          </a:p>
          <a:p>
            <a:pPr eaLnBrk="1" hangingPunct="1">
              <a:lnSpc>
                <a:spcPct val="80000"/>
              </a:lnSpc>
            </a:pPr>
            <a:r>
              <a:rPr lang="zh-CN" altLang="en-US" sz="2800" smtClean="0"/>
              <a:t>关键词与句子的抽取（节点与边）</a:t>
            </a:r>
          </a:p>
          <a:p>
            <a:pPr lvl="1" eaLnBrk="1" hangingPunct="1">
              <a:lnSpc>
                <a:spcPct val="80000"/>
              </a:lnSpc>
              <a:buFont typeface="Wingdings" pitchFamily="2" charset="2"/>
              <a:buNone/>
            </a:pPr>
            <a:endParaRPr lang="zh-CN" altLang="en-US" sz="2400" smtClean="0"/>
          </a:p>
          <a:p>
            <a:pPr eaLnBrk="1" hangingPunct="1">
              <a:lnSpc>
                <a:spcPct val="80000"/>
              </a:lnSpc>
            </a:pPr>
            <a:endParaRPr lang="zh-CN" altLang="en-US" sz="2800" smtClean="0"/>
          </a:p>
          <a:p>
            <a:pPr eaLnBrk="1" hangingPunct="1">
              <a:lnSpc>
                <a:spcPct val="80000"/>
              </a:lnSpc>
            </a:pPr>
            <a:endParaRPr lang="zh-CN" altLang="en-US" sz="2800" smtClean="0"/>
          </a:p>
          <a:p>
            <a:pPr eaLnBrk="1" hangingPunct="1">
              <a:lnSpc>
                <a:spcPct val="80000"/>
              </a:lnSpc>
            </a:pPr>
            <a:endParaRPr lang="en-US" altLang="zh-CN" sz="280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smtClean="0"/>
              <a:t>小结</a:t>
            </a:r>
          </a:p>
        </p:txBody>
      </p:sp>
      <p:sp>
        <p:nvSpPr>
          <p:cNvPr id="35843" name="Rectangle 3"/>
          <p:cNvSpPr>
            <a:spLocks noGrp="1" noChangeArrowheads="1"/>
          </p:cNvSpPr>
          <p:nvPr>
            <p:ph type="body" idx="1"/>
          </p:nvPr>
        </p:nvSpPr>
        <p:spPr>
          <a:xfrm>
            <a:off x="457200" y="1628775"/>
            <a:ext cx="8229600" cy="4238625"/>
          </a:xfrm>
        </p:spPr>
        <p:txBody>
          <a:bodyPr/>
          <a:lstStyle/>
          <a:p>
            <a:pPr eaLnBrk="1" hangingPunct="1">
              <a:lnSpc>
                <a:spcPct val="80000"/>
              </a:lnSpc>
            </a:pPr>
            <a:r>
              <a:rPr lang="zh-CN" altLang="en-US" sz="2000" smtClean="0"/>
              <a:t>优点： </a:t>
            </a:r>
          </a:p>
          <a:p>
            <a:pPr eaLnBrk="1" hangingPunct="1">
              <a:lnSpc>
                <a:spcPct val="80000"/>
              </a:lnSpc>
              <a:buFont typeface="Wingdings" pitchFamily="2" charset="2"/>
              <a:buNone/>
            </a:pPr>
            <a:r>
              <a:rPr lang="zh-CN" altLang="en-US" sz="2000" smtClean="0"/>
              <a:t>        是一个与查询无关的静态算法，所有网页的</a:t>
            </a:r>
            <a:r>
              <a:rPr lang="en-US" altLang="zh-CN" sz="2000" smtClean="0"/>
              <a:t>PageRank</a:t>
            </a:r>
            <a:r>
              <a:rPr lang="zh-CN" altLang="en-US" sz="2000" smtClean="0"/>
              <a:t>值通过离线计算获得；有效减少在线查询时的计算量，极大降低了查询响应时间。</a:t>
            </a:r>
          </a:p>
          <a:p>
            <a:pPr eaLnBrk="1" hangingPunct="1">
              <a:lnSpc>
                <a:spcPct val="80000"/>
              </a:lnSpc>
            </a:pPr>
            <a:r>
              <a:rPr lang="en-US" altLang="zh-CN" sz="2000" smtClean="0"/>
              <a:t>PageRank</a:t>
            </a:r>
            <a:r>
              <a:rPr lang="zh-CN" altLang="en-US" sz="2000" smtClean="0"/>
              <a:t>的缺点</a:t>
            </a:r>
          </a:p>
          <a:p>
            <a:pPr lvl="1" eaLnBrk="1" hangingPunct="1">
              <a:lnSpc>
                <a:spcPct val="80000"/>
              </a:lnSpc>
            </a:pPr>
            <a:r>
              <a:rPr lang="zh-CN" altLang="en-US" sz="1800" smtClean="0"/>
              <a:t>过分相信链接关系</a:t>
            </a:r>
          </a:p>
          <a:p>
            <a:pPr lvl="2" eaLnBrk="1" hangingPunct="1">
              <a:lnSpc>
                <a:spcPct val="80000"/>
              </a:lnSpc>
            </a:pPr>
            <a:r>
              <a:rPr lang="zh-CN" altLang="en-US" sz="1600" smtClean="0"/>
              <a:t>一些权威网页往往是相互不链接的，比如新浪、搜狐、网易以及腾讯这些大的门户之间，基本是不相互链接的，学术领域也是这样。</a:t>
            </a:r>
          </a:p>
          <a:p>
            <a:pPr lvl="2" eaLnBrk="1" hangingPunct="1">
              <a:lnSpc>
                <a:spcPct val="80000"/>
              </a:lnSpc>
            </a:pPr>
            <a:r>
              <a:rPr lang="zh-CN" altLang="en-US" sz="1600" smtClean="0"/>
              <a:t>人们的查询具有主题特征，</a:t>
            </a:r>
            <a:r>
              <a:rPr lang="en-US" altLang="zh-CN" sz="1600" smtClean="0"/>
              <a:t>PageRank</a:t>
            </a:r>
            <a:r>
              <a:rPr lang="zh-CN" altLang="en-US" sz="1600" smtClean="0"/>
              <a:t>忽略了主题相关性，导致结果的相关性和主题性降低 </a:t>
            </a:r>
          </a:p>
          <a:p>
            <a:pPr lvl="2" eaLnBrk="1" hangingPunct="1">
              <a:lnSpc>
                <a:spcPct val="80000"/>
              </a:lnSpc>
            </a:pPr>
            <a:r>
              <a:rPr lang="zh-CN" altLang="en-US" sz="1600" smtClean="0"/>
              <a:t>旧的页面等级会比新页面高。因为即使是非常好的新页面也不会有很多上游链接，除非它是某个站点的子站点。</a:t>
            </a:r>
            <a:endParaRPr lang="en-US" altLang="zh-CN" sz="1600" smtClean="0"/>
          </a:p>
          <a:p>
            <a:pPr lvl="2" eaLnBrk="1" hangingPunct="1">
              <a:lnSpc>
                <a:spcPct val="80000"/>
              </a:lnSpc>
            </a:pPr>
            <a:r>
              <a:rPr lang="zh-CN" altLang="en-US" sz="1600" b="1" smtClean="0"/>
              <a:t>没有区分站内导航链接</a:t>
            </a:r>
            <a:r>
              <a:rPr lang="zh-CN" altLang="en-US" sz="1600" smtClean="0"/>
              <a:t>。很多网站的首页都有很多对站内其他页面的链接，称为站内导航链接。这些链接与不同网站之间的链接相比，肯定是后者更能体现</a:t>
            </a:r>
            <a:r>
              <a:rPr lang="en-US" altLang="zh-CN" sz="1600" smtClean="0"/>
              <a:t>PageRank</a:t>
            </a:r>
            <a:r>
              <a:rPr lang="zh-CN" altLang="en-US" sz="1600" smtClean="0"/>
              <a:t>值的传递关系</a:t>
            </a:r>
            <a:endParaRPr lang="en-US" altLang="zh-CN" sz="1600" smtClean="0"/>
          </a:p>
          <a:p>
            <a:pPr lvl="2" eaLnBrk="1" hangingPunct="1">
              <a:lnSpc>
                <a:spcPct val="80000"/>
              </a:lnSpc>
            </a:pPr>
            <a:r>
              <a:rPr lang="zh-CN" altLang="en-US" sz="1600" b="1" smtClean="0"/>
              <a:t>没有过滤广告链接和功能链接</a:t>
            </a:r>
            <a:r>
              <a:rPr lang="zh-CN" altLang="en-US" sz="1600" smtClean="0"/>
              <a:t>（例如常见的“分享到微博”）。这些链接通常没有什么实际价值，前者链接到广告页面，后者常常链接到某个社交网站首页。</a:t>
            </a:r>
          </a:p>
          <a:p>
            <a:pPr eaLnBrk="1" hangingPunct="1">
              <a:lnSpc>
                <a:spcPct val="80000"/>
              </a:lnSpc>
            </a:pPr>
            <a:r>
              <a:rPr lang="zh-CN" altLang="en-US" sz="2000" smtClean="0"/>
              <a:t>排序技术是搜索引擎的绝密</a:t>
            </a:r>
          </a:p>
          <a:p>
            <a:pPr lvl="1" eaLnBrk="1" hangingPunct="1">
              <a:lnSpc>
                <a:spcPct val="80000"/>
              </a:lnSpc>
            </a:pPr>
            <a:r>
              <a:rPr lang="en-US" altLang="zh-CN" sz="1800" smtClean="0"/>
              <a:t>Google</a:t>
            </a:r>
            <a:r>
              <a:rPr lang="zh-CN" altLang="en-US" sz="1800" smtClean="0"/>
              <a:t>目前所使用的排序技术，已经不再是简单的</a:t>
            </a:r>
            <a:r>
              <a:rPr lang="en-US" altLang="zh-CN" sz="1800" smtClean="0"/>
              <a:t>PageRank</a:t>
            </a:r>
          </a:p>
          <a:p>
            <a:pPr lvl="1" eaLnBrk="1" hangingPunct="1">
              <a:lnSpc>
                <a:spcPct val="80000"/>
              </a:lnSpc>
            </a:pPr>
            <a:endParaRPr lang="en-US" altLang="zh-CN" sz="1800" smtClean="0"/>
          </a:p>
          <a:p>
            <a:pPr lvl="1" eaLnBrk="1" hangingPunct="1">
              <a:lnSpc>
                <a:spcPct val="80000"/>
              </a:lnSpc>
            </a:pPr>
            <a:endParaRPr lang="en-US" altLang="zh-CN" sz="1800"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1258888" y="2708275"/>
            <a:ext cx="6913562" cy="1016000"/>
          </a:xfrm>
          <a:prstGeom prst="rect">
            <a:avLst/>
          </a:prstGeom>
          <a:noFill/>
          <a:ln w="9525" algn="ctr">
            <a:noFill/>
            <a:miter lim="800000"/>
            <a:headEnd/>
            <a:tailEnd/>
          </a:ln>
        </p:spPr>
        <p:txBody>
          <a:bodyPr>
            <a:spAutoFit/>
          </a:bodyPr>
          <a:lstStyle/>
          <a:p>
            <a:pPr algn="ctr" eaLnBrk="1" hangingPunct="1">
              <a:spcBef>
                <a:spcPct val="50000"/>
              </a:spcBef>
            </a:pPr>
            <a:r>
              <a:rPr lang="zh-CN" altLang="en-US" sz="6000">
                <a:solidFill>
                  <a:schemeClr val="hlink"/>
                </a:solidFill>
                <a:ea typeface="华文楷体" pitchFamily="2" charset="-122"/>
              </a:rPr>
              <a:t>谢谢大家</a:t>
            </a:r>
            <a:r>
              <a:rPr lang="en-US" altLang="zh-CN" sz="6000">
                <a:solidFill>
                  <a:schemeClr val="hlink"/>
                </a:solidFill>
                <a:ea typeface="华文楷体" pitchFamily="2" charset="-122"/>
              </a:rPr>
              <a:t>!</a:t>
            </a:r>
            <a:endParaRPr lang="en-US" altLang="zh-CN" sz="600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1633</TotalTime>
  <Words>2198</Words>
  <Application>Microsoft Office PowerPoint</Application>
  <PresentationFormat>全屏显示(4:3)</PresentationFormat>
  <Paragraphs>186</Paragraphs>
  <Slides>34</Slides>
  <Notes>8</Notes>
  <HiddenSlides>8</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34</vt:i4>
      </vt:variant>
    </vt:vector>
  </HeadingPairs>
  <TitlesOfParts>
    <vt:vector size="42" baseType="lpstr">
      <vt:lpstr>Arial</vt:lpstr>
      <vt:lpstr>宋体</vt:lpstr>
      <vt:lpstr>Wingdings</vt:lpstr>
      <vt:lpstr>Arial Black</vt:lpstr>
      <vt:lpstr>Times New Roman</vt:lpstr>
      <vt:lpstr>Helvetica Neue</vt:lpstr>
      <vt:lpstr>华文楷体</vt:lpstr>
      <vt:lpstr>Pixel</vt:lpstr>
      <vt:lpstr>PageRank算法介绍</vt:lpstr>
      <vt:lpstr>目录</vt:lpstr>
      <vt:lpstr>Google的网页排序</vt:lpstr>
      <vt:lpstr>Google的网页排序</vt:lpstr>
      <vt:lpstr>幻灯片 5</vt:lpstr>
      <vt:lpstr>Google的网页排序</vt:lpstr>
      <vt:lpstr>Google的网页排序</vt:lpstr>
      <vt:lpstr>Google的网页排序</vt:lpstr>
      <vt:lpstr>Google的网页排序</vt:lpstr>
      <vt:lpstr>Pagerank算法简介</vt:lpstr>
      <vt:lpstr>Google的网页排序</vt:lpstr>
      <vt:lpstr>Pagerank算法原理：</vt:lpstr>
      <vt:lpstr>Google的网页排序</vt:lpstr>
      <vt:lpstr>Pagerank算法相关概念</vt:lpstr>
      <vt:lpstr>Pagerank核心思想</vt:lpstr>
      <vt:lpstr>PageRank简单计算： </vt:lpstr>
      <vt:lpstr>幻灯片 17</vt:lpstr>
      <vt:lpstr>幻灯片 18</vt:lpstr>
      <vt:lpstr>PR值计算公式：</vt:lpstr>
      <vt:lpstr>PR值的取决因素：</vt:lpstr>
      <vt:lpstr>PR值的计算（1）</vt:lpstr>
      <vt:lpstr>PR值的计算（2）</vt:lpstr>
      <vt:lpstr>(1-d)/n+d(PR(t1)/C(t1)+...+PR(tn)/C(tn))</vt:lpstr>
      <vt:lpstr>2.2 使用幂法求PageRank </vt:lpstr>
      <vt:lpstr>幻灯片 25</vt:lpstr>
      <vt:lpstr>幻灯片 26</vt:lpstr>
      <vt:lpstr>2.2 求解步骤： </vt:lpstr>
      <vt:lpstr>幻灯片 28</vt:lpstr>
      <vt:lpstr>2.3  A矩阵计算过程。 </vt:lpstr>
      <vt:lpstr>2.4  循环迭代计算PageRank的过程 </vt:lpstr>
      <vt:lpstr>2.5  改 进 </vt:lpstr>
      <vt:lpstr>3    PageRank算法的应用</vt:lpstr>
      <vt:lpstr>小结</vt:lpstr>
      <vt:lpstr>幻灯片 34</vt:lpstr>
    </vt:vector>
  </TitlesOfParts>
  <Company>PKU</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PageRank算法解析</dc:title>
  <dc:creator>blueidea</dc:creator>
  <cp:lastModifiedBy>samsung</cp:lastModifiedBy>
  <cp:revision>36</cp:revision>
  <dcterms:created xsi:type="dcterms:W3CDTF">2004-09-09T01:53:09Z</dcterms:created>
  <dcterms:modified xsi:type="dcterms:W3CDTF">2019-08-27T07:50:24Z</dcterms:modified>
</cp:coreProperties>
</file>