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14" r:id="rId2"/>
    <p:sldId id="378" r:id="rId3"/>
    <p:sldId id="393" r:id="rId4"/>
    <p:sldId id="395" r:id="rId5"/>
    <p:sldId id="417" r:id="rId6"/>
    <p:sldId id="404" r:id="rId7"/>
    <p:sldId id="400" r:id="rId8"/>
    <p:sldId id="341" r:id="rId9"/>
    <p:sldId id="388" r:id="rId10"/>
    <p:sldId id="418" r:id="rId11"/>
    <p:sldId id="402" r:id="rId12"/>
    <p:sldId id="406" r:id="rId13"/>
    <p:sldId id="415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91" userDrawn="1">
          <p15:clr>
            <a:srgbClr val="A4A3A4"/>
          </p15:clr>
        </p15:guide>
        <p15:guide id="4" pos="3817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34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  <p:clrMru>
    <a:srgbClr val="595959"/>
    <a:srgbClr val="C0C0C0"/>
    <a:srgbClr val="212121"/>
    <a:srgbClr val="283339"/>
    <a:srgbClr val="FFFFFF"/>
    <a:srgbClr val="264457"/>
    <a:srgbClr val="EFEFEF"/>
    <a:srgbClr val="5C5C5C"/>
    <a:srgbClr val="05ABDF"/>
    <a:srgbClr val="08A1BB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1150" autoAdjust="0"/>
  </p:normalViewPr>
  <p:slideViewPr>
    <p:cSldViewPr snapToGrid="0" showGuides="1">
      <p:cViewPr varScale="1">
        <p:scale>
          <a:sx n="76" d="100"/>
          <a:sy n="76" d="100"/>
        </p:scale>
        <p:origin x="-504" y="-90"/>
      </p:cViewPr>
      <p:guideLst>
        <p:guide orient="horz" pos="391"/>
        <p:guide orient="horz" pos="2160"/>
        <p:guide orient="horz" pos="3407"/>
        <p:guide pos="381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D8F48-F448-498C-BC5E-BE0E68EB1BB6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0441E-D7CC-4F7E-8F33-8F60A988A42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5703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88883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620941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24647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202307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FE6F1F-924D-4DA8-A19F-377E61A1DA5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937606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FE6F1F-924D-4DA8-A19F-377E61A1DA5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937606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65392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28130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2704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27046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278566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80759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30441E-D7CC-4F7E-8F33-8F60A988A428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4046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1497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8804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6719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6552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7639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55060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2192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6943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7159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6428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096000" y="0"/>
            <a:ext cx="0" cy="41656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6096000" y="6441440"/>
            <a:ext cx="0" cy="41656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1209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567881" y="0"/>
            <a:ext cx="5251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65000"/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75080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456593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03043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64802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6920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48F1-D5C3-4CDE-9323-4FFA7423F811}" type="datetimeFigureOut">
              <a:rPr lang="zh-CN" altLang="en-US" smtClean="0"/>
              <a:pPr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1931F-014B-431B-B64B-61A8EF77B87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894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3" r:id="rId7"/>
    <p:sldLayoutId id="2147483697" r:id="rId8"/>
    <p:sldLayoutId id="2147483694" r:id="rId9"/>
    <p:sldLayoutId id="2147483698" r:id="rId10"/>
    <p:sldLayoutId id="2147483695" r:id="rId11"/>
    <p:sldLayoutId id="2147483660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84302" y="544297"/>
            <a:ext cx="5402077" cy="5407025"/>
          </a:xfrm>
          <a:prstGeom prst="rect">
            <a:avLst/>
          </a:prstGeom>
          <a:noFill/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/>
        </p:nvSpPr>
        <p:spPr>
          <a:xfrm>
            <a:off x="3258683" y="2157639"/>
            <a:ext cx="5479142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方正姚体" panose="02010601030101010101" pitchFamily="2" charset="-122"/>
              </a:rPr>
              <a:t>Claude Elwood Shannon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方正姚体" panose="02010601030101010101" pitchFamily="2" charset="-122"/>
            </a:endParaRPr>
          </a:p>
        </p:txBody>
      </p:sp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3871005" y="4123156"/>
            <a:ext cx="43052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汇报人</a:t>
            </a:r>
            <a:r>
              <a:rPr lang="en-US" altLang="zh-CN" sz="14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sz="14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王杰</a:t>
            </a:r>
            <a:endParaRPr lang="zh-CN" altLang="en-US" sz="14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3585695" y="774016"/>
            <a:ext cx="4947586" cy="4947586"/>
          </a:xfrm>
          <a:custGeom>
            <a:avLst/>
            <a:gdLst>
              <a:gd name="connsiteX0" fmla="*/ 2296648 w 4593296"/>
              <a:gd name="connsiteY0" fmla="*/ 308397 h 4593296"/>
              <a:gd name="connsiteX1" fmla="*/ 308397 w 4593296"/>
              <a:gd name="connsiteY1" fmla="*/ 2296648 h 4593296"/>
              <a:gd name="connsiteX2" fmla="*/ 2296648 w 4593296"/>
              <a:gd name="connsiteY2" fmla="*/ 4284899 h 4593296"/>
              <a:gd name="connsiteX3" fmla="*/ 4284899 w 4593296"/>
              <a:gd name="connsiteY3" fmla="*/ 2296648 h 4593296"/>
              <a:gd name="connsiteX4" fmla="*/ 2296648 w 4593296"/>
              <a:gd name="connsiteY4" fmla="*/ 308397 h 4593296"/>
              <a:gd name="connsiteX5" fmla="*/ 2296648 w 4593296"/>
              <a:gd name="connsiteY5" fmla="*/ 0 h 4593296"/>
              <a:gd name="connsiteX6" fmla="*/ 4593296 w 4593296"/>
              <a:gd name="connsiteY6" fmla="*/ 2296648 h 4593296"/>
              <a:gd name="connsiteX7" fmla="*/ 2296648 w 4593296"/>
              <a:gd name="connsiteY7" fmla="*/ 4593296 h 4593296"/>
              <a:gd name="connsiteX8" fmla="*/ 0 w 4593296"/>
              <a:gd name="connsiteY8" fmla="*/ 2296648 h 4593296"/>
              <a:gd name="connsiteX9" fmla="*/ 2296648 w 4593296"/>
              <a:gd name="connsiteY9" fmla="*/ 0 h 45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296" h="4593296">
                <a:moveTo>
                  <a:pt x="2296648" y="308397"/>
                </a:moveTo>
                <a:cubicBezTo>
                  <a:pt x="1198567" y="308397"/>
                  <a:pt x="308397" y="1198567"/>
                  <a:pt x="308397" y="2296648"/>
                </a:cubicBezTo>
                <a:cubicBezTo>
                  <a:pt x="308397" y="3394729"/>
                  <a:pt x="1198567" y="4284899"/>
                  <a:pt x="2296648" y="4284899"/>
                </a:cubicBezTo>
                <a:cubicBezTo>
                  <a:pt x="3394729" y="4284899"/>
                  <a:pt x="4284899" y="3394729"/>
                  <a:pt x="4284899" y="2296648"/>
                </a:cubicBezTo>
                <a:cubicBezTo>
                  <a:pt x="4284899" y="1198567"/>
                  <a:pt x="3394729" y="308397"/>
                  <a:pt x="2296648" y="308397"/>
                </a:cubicBezTo>
                <a:close/>
                <a:moveTo>
                  <a:pt x="2296648" y="0"/>
                </a:moveTo>
                <a:cubicBezTo>
                  <a:pt x="3565052" y="0"/>
                  <a:pt x="4593296" y="1028244"/>
                  <a:pt x="4593296" y="2296648"/>
                </a:cubicBezTo>
                <a:cubicBezTo>
                  <a:pt x="4593296" y="3565052"/>
                  <a:pt x="3565052" y="4593296"/>
                  <a:pt x="2296648" y="4593296"/>
                </a:cubicBezTo>
                <a:cubicBezTo>
                  <a:pt x="1028244" y="4593296"/>
                  <a:pt x="0" y="3565052"/>
                  <a:pt x="0" y="2296648"/>
                </a:cubicBezTo>
                <a:cubicBezTo>
                  <a:pt x="0" y="1028244"/>
                  <a:pt x="1028244" y="0"/>
                  <a:pt x="2296648" y="0"/>
                </a:cubicBezTo>
                <a:close/>
              </a:path>
            </a:pathLst>
          </a:custGeom>
          <a:blipFill dpi="0" rotWithShape="1">
            <a:blip r:embed="rId5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16618" r="-16618"/>
            </a:stretch>
          </a:blipFill>
          <a:ln>
            <a:noFill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642140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13"/>
          <p:cNvSpPr txBox="1">
            <a:spLocks noChangeArrowheads="1"/>
          </p:cNvSpPr>
          <p:nvPr/>
        </p:nvSpPr>
        <p:spPr bwMode="auto">
          <a:xfrm>
            <a:off x="1533671" y="2477587"/>
            <a:ext cx="469872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fontAlgn="auto" hangingPunct="1">
              <a:spcBef>
                <a:spcPts val="0"/>
              </a:spcBef>
              <a:spcAft>
                <a:spcPts val="0"/>
              </a:spcAft>
              <a:defRPr sz="700">
                <a:latin typeface="Helvetica" panose="020B0604020202020204" pitchFamily="34" charset="0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9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-Roman-SemiB" pitchFamily="2" charset="0"/>
              </a:rPr>
              <a:t>CONTENT</a:t>
            </a:r>
            <a:endParaRPr lang="zh-CN" altLang="en-US" sz="9600" spc="300" dirty="0">
              <a:solidFill>
                <a:schemeClr val="tx1">
                  <a:lumMod val="75000"/>
                  <a:lumOff val="25000"/>
                </a:schemeClr>
              </a:solidFill>
              <a:latin typeface="Helvetica-Roman-SemiB" pitchFamily="2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59139" y="3262417"/>
            <a:ext cx="550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2000" spc="50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</a:rPr>
              <a:t>content</a:t>
            </a:r>
            <a:endParaRPr lang="zh-CN" altLang="en-US" b="1" kern="2000" spc="5000" dirty="0">
              <a:solidFill>
                <a:schemeClr val="bg1">
                  <a:lumMod val="75000"/>
                </a:schemeClr>
              </a:solidFill>
              <a:latin typeface="Helvetica" panose="020B0604020202020204" pitchFamily="34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152441" y="1452284"/>
            <a:ext cx="1572866" cy="960223"/>
            <a:chOff x="5991298" y="654444"/>
            <a:chExt cx="1572866" cy="960223"/>
          </a:xfrm>
        </p:grpSpPr>
        <p:sp>
          <p:nvSpPr>
            <p:cNvPr id="63" name="矩形 62"/>
            <p:cNvSpPr/>
            <p:nvPr/>
          </p:nvSpPr>
          <p:spPr>
            <a:xfrm>
              <a:off x="5991298" y="1153002"/>
              <a:ext cx="157286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anose="020B0604020202020204" pitchFamily="34" charset="0"/>
                </a:rPr>
                <a:t>Biography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095999" y="654444"/>
              <a:ext cx="942975" cy="523220"/>
              <a:chOff x="6095999" y="654444"/>
              <a:chExt cx="942975" cy="523220"/>
            </a:xfrm>
          </p:grpSpPr>
          <p:sp>
            <p:nvSpPr>
              <p:cNvPr id="58" name="矩形: 圆角 31"/>
              <p:cNvSpPr/>
              <p:nvPr/>
            </p:nvSpPr>
            <p:spPr>
              <a:xfrm>
                <a:off x="6095999" y="752475"/>
                <a:ext cx="942975" cy="352425"/>
              </a:xfrm>
              <a:prstGeom prst="roundRect">
                <a:avLst>
                  <a:gd name="adj" fmla="val 50000"/>
                </a:avLst>
              </a:prstGeom>
              <a:solidFill>
                <a:srgbClr val="5959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6107209" y="654444"/>
                <a:ext cx="729943" cy="523220"/>
                <a:chOff x="943942" y="2688081"/>
                <a:chExt cx="729943" cy="523220"/>
              </a:xfrm>
            </p:grpSpPr>
            <p:sp>
              <p:nvSpPr>
                <p:cNvPr id="60" name="文本框 59"/>
                <p:cNvSpPr txBox="1"/>
                <p:nvPr/>
              </p:nvSpPr>
              <p:spPr>
                <a:xfrm>
                  <a:off x="943942" y="2688081"/>
                  <a:ext cx="5854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kern="2000" dirty="0">
                      <a:solidFill>
                        <a:schemeClr val="bg1"/>
                      </a:solidFill>
                      <a:latin typeface="Helvetica" panose="020B0604020202020204" pitchFamily="34" charset="0"/>
                    </a:rPr>
                    <a:t>01</a:t>
                  </a:r>
                  <a:endParaRPr lang="zh-CN" altLang="en-US" sz="2800" b="1" kern="2000" dirty="0">
                    <a:solidFill>
                      <a:schemeClr val="bg1"/>
                    </a:solidFill>
                    <a:latin typeface="Helvetica" panose="020B0604020202020204" pitchFamily="34" charset="0"/>
                  </a:endParaRPr>
                </a:p>
              </p:txBody>
            </p:sp>
            <p:cxnSp>
              <p:nvCxnSpPr>
                <p:cNvPr id="61" name="直接连接符 60"/>
                <p:cNvCxnSpPr>
                  <a:cxnSpLocks/>
                </p:cNvCxnSpPr>
                <p:nvPr/>
              </p:nvCxnSpPr>
              <p:spPr>
                <a:xfrm flipH="1">
                  <a:off x="1533600" y="2844000"/>
                  <a:ext cx="140285" cy="22320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4" name="组合 63"/>
          <p:cNvGrpSpPr/>
          <p:nvPr/>
        </p:nvGrpSpPr>
        <p:grpSpPr>
          <a:xfrm>
            <a:off x="7152441" y="2611080"/>
            <a:ext cx="1965603" cy="935746"/>
            <a:chOff x="5991298" y="2071235"/>
            <a:chExt cx="1965603" cy="935746"/>
          </a:xfrm>
        </p:grpSpPr>
        <p:sp>
          <p:nvSpPr>
            <p:cNvPr id="72" name="矩形 71"/>
            <p:cNvSpPr/>
            <p:nvPr/>
          </p:nvSpPr>
          <p:spPr>
            <a:xfrm>
              <a:off x="5991298" y="2545316"/>
              <a:ext cx="19656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anose="020B0604020202020204" pitchFamily="34" charset="0"/>
                </a:rPr>
                <a:t>A</a:t>
              </a:r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anose="020B0604020202020204" pitchFamily="34" charset="0"/>
                </a:rPr>
                <a:t>chievement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6095999" y="2071235"/>
              <a:ext cx="942975" cy="523220"/>
              <a:chOff x="6095999" y="2071235"/>
              <a:chExt cx="942975" cy="523220"/>
            </a:xfrm>
          </p:grpSpPr>
          <p:sp>
            <p:nvSpPr>
              <p:cNvPr id="67" name="矩形: 圆角 39"/>
              <p:cNvSpPr/>
              <p:nvPr/>
            </p:nvSpPr>
            <p:spPr>
              <a:xfrm>
                <a:off x="6095999" y="2162175"/>
                <a:ext cx="942975" cy="352425"/>
              </a:xfrm>
              <a:prstGeom prst="roundRect">
                <a:avLst>
                  <a:gd name="adj" fmla="val 50000"/>
                </a:avLst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6107209" y="2071235"/>
                <a:ext cx="765564" cy="523220"/>
                <a:chOff x="3673121" y="2688081"/>
                <a:chExt cx="765564" cy="523220"/>
              </a:xfrm>
            </p:grpSpPr>
            <p:sp>
              <p:nvSpPr>
                <p:cNvPr id="69" name="文本框 68"/>
                <p:cNvSpPr txBox="1"/>
                <p:nvPr/>
              </p:nvSpPr>
              <p:spPr>
                <a:xfrm>
                  <a:off x="3673121" y="2688081"/>
                  <a:ext cx="5854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2800" b="1" kern="2000">
                      <a:solidFill>
                        <a:schemeClr val="tx2"/>
                      </a:solidFill>
                      <a:latin typeface="Helvetica" panose="020B0604020202020204" pitchFamily="34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70" name="直接连接符 69"/>
                <p:cNvCxnSpPr>
                  <a:cxnSpLocks/>
                </p:cNvCxnSpPr>
                <p:nvPr/>
              </p:nvCxnSpPr>
              <p:spPr>
                <a:xfrm flipH="1">
                  <a:off x="4298400" y="2844000"/>
                  <a:ext cx="140285" cy="22320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2" name="组合 81"/>
          <p:cNvGrpSpPr/>
          <p:nvPr/>
        </p:nvGrpSpPr>
        <p:grpSpPr>
          <a:xfrm>
            <a:off x="7165320" y="3816547"/>
            <a:ext cx="1710725" cy="917417"/>
            <a:chOff x="6004177" y="3498928"/>
            <a:chExt cx="1710725" cy="917417"/>
          </a:xfrm>
        </p:grpSpPr>
        <p:sp>
          <p:nvSpPr>
            <p:cNvPr id="90" name="矩形 89"/>
            <p:cNvSpPr/>
            <p:nvPr/>
          </p:nvSpPr>
          <p:spPr>
            <a:xfrm>
              <a:off x="6004177" y="3954680"/>
              <a:ext cx="17107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anose="020B0604020202020204" pitchFamily="34" charset="0"/>
                </a:rPr>
                <a:t>C</a:t>
              </a:r>
              <a:r>
                <a:rPr lang="en-US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anose="020B0604020202020204" pitchFamily="34" charset="0"/>
                </a:rPr>
                <a:t>onclusion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6095999" y="3498928"/>
              <a:ext cx="942975" cy="523220"/>
              <a:chOff x="6095999" y="3498928"/>
              <a:chExt cx="942975" cy="523220"/>
            </a:xfrm>
          </p:grpSpPr>
          <p:sp>
            <p:nvSpPr>
              <p:cNvPr id="85" name="矩形: 圆角 41"/>
              <p:cNvSpPr/>
              <p:nvPr/>
            </p:nvSpPr>
            <p:spPr>
              <a:xfrm>
                <a:off x="6095999" y="3581400"/>
                <a:ext cx="942975" cy="352425"/>
              </a:xfrm>
              <a:prstGeom prst="roundRect">
                <a:avLst>
                  <a:gd name="adj" fmla="val 50000"/>
                </a:avLst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6" name="组合 85"/>
              <p:cNvGrpSpPr/>
              <p:nvPr/>
            </p:nvGrpSpPr>
            <p:grpSpPr>
              <a:xfrm>
                <a:off x="6107209" y="3498928"/>
                <a:ext cx="721873" cy="523220"/>
                <a:chOff x="6380812" y="2688081"/>
                <a:chExt cx="721873" cy="523220"/>
              </a:xfrm>
            </p:grpSpPr>
            <p:sp>
              <p:nvSpPr>
                <p:cNvPr id="87" name="文本框 86"/>
                <p:cNvSpPr txBox="1"/>
                <p:nvPr/>
              </p:nvSpPr>
              <p:spPr>
                <a:xfrm>
                  <a:off x="6380812" y="2688081"/>
                  <a:ext cx="5854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2800" b="1" kern="2000">
                      <a:solidFill>
                        <a:schemeClr val="tx2"/>
                      </a:solidFill>
                      <a:latin typeface="Helvetica" panose="020B0604020202020204" pitchFamily="34" charset="0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8" name="直接连接符 87"/>
                <p:cNvCxnSpPr>
                  <a:cxnSpLocks/>
                </p:cNvCxnSpPr>
                <p:nvPr/>
              </p:nvCxnSpPr>
              <p:spPr>
                <a:xfrm flipH="1">
                  <a:off x="6962400" y="2844000"/>
                  <a:ext cx="140285" cy="22320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2930476336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9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84302" y="544297"/>
            <a:ext cx="5402077" cy="5407025"/>
          </a:xfrm>
          <a:prstGeom prst="rect">
            <a:avLst/>
          </a:prstGeom>
          <a:noFill/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12" name="文本框 11"/>
          <p:cNvSpPr txBox="1"/>
          <p:nvPr/>
        </p:nvSpPr>
        <p:spPr>
          <a:xfrm>
            <a:off x="4158343" y="1604986"/>
            <a:ext cx="35705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华康俪金黑W8(P)" panose="020B0800000000000000" pitchFamily="34" charset="-122"/>
                <a:cs typeface="+mn-ea"/>
                <a:sym typeface="+mn-lt"/>
              </a:rPr>
              <a:t>1</a:t>
            </a:r>
            <a:endParaRPr lang="zh-CN" altLang="en-US" sz="199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华康俪金黑W8(P)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89727" y="2881783"/>
            <a:ext cx="3917942" cy="646331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Biography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585695" y="774016"/>
            <a:ext cx="4947586" cy="4947586"/>
          </a:xfrm>
          <a:custGeom>
            <a:avLst/>
            <a:gdLst>
              <a:gd name="connsiteX0" fmla="*/ 2296648 w 4593296"/>
              <a:gd name="connsiteY0" fmla="*/ 308397 h 4593296"/>
              <a:gd name="connsiteX1" fmla="*/ 308397 w 4593296"/>
              <a:gd name="connsiteY1" fmla="*/ 2296648 h 4593296"/>
              <a:gd name="connsiteX2" fmla="*/ 2296648 w 4593296"/>
              <a:gd name="connsiteY2" fmla="*/ 4284899 h 4593296"/>
              <a:gd name="connsiteX3" fmla="*/ 4284899 w 4593296"/>
              <a:gd name="connsiteY3" fmla="*/ 2296648 h 4593296"/>
              <a:gd name="connsiteX4" fmla="*/ 2296648 w 4593296"/>
              <a:gd name="connsiteY4" fmla="*/ 308397 h 4593296"/>
              <a:gd name="connsiteX5" fmla="*/ 2296648 w 4593296"/>
              <a:gd name="connsiteY5" fmla="*/ 0 h 4593296"/>
              <a:gd name="connsiteX6" fmla="*/ 4593296 w 4593296"/>
              <a:gd name="connsiteY6" fmla="*/ 2296648 h 4593296"/>
              <a:gd name="connsiteX7" fmla="*/ 2296648 w 4593296"/>
              <a:gd name="connsiteY7" fmla="*/ 4593296 h 4593296"/>
              <a:gd name="connsiteX8" fmla="*/ 0 w 4593296"/>
              <a:gd name="connsiteY8" fmla="*/ 2296648 h 4593296"/>
              <a:gd name="connsiteX9" fmla="*/ 2296648 w 4593296"/>
              <a:gd name="connsiteY9" fmla="*/ 0 h 45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296" h="4593296">
                <a:moveTo>
                  <a:pt x="2296648" y="308397"/>
                </a:moveTo>
                <a:cubicBezTo>
                  <a:pt x="1198567" y="308397"/>
                  <a:pt x="308397" y="1198567"/>
                  <a:pt x="308397" y="2296648"/>
                </a:cubicBezTo>
                <a:cubicBezTo>
                  <a:pt x="308397" y="3394729"/>
                  <a:pt x="1198567" y="4284899"/>
                  <a:pt x="2296648" y="4284899"/>
                </a:cubicBezTo>
                <a:cubicBezTo>
                  <a:pt x="3394729" y="4284899"/>
                  <a:pt x="4284899" y="3394729"/>
                  <a:pt x="4284899" y="2296648"/>
                </a:cubicBezTo>
                <a:cubicBezTo>
                  <a:pt x="4284899" y="1198567"/>
                  <a:pt x="3394729" y="308397"/>
                  <a:pt x="2296648" y="308397"/>
                </a:cubicBezTo>
                <a:close/>
                <a:moveTo>
                  <a:pt x="2296648" y="0"/>
                </a:moveTo>
                <a:cubicBezTo>
                  <a:pt x="3565052" y="0"/>
                  <a:pt x="4593296" y="1028244"/>
                  <a:pt x="4593296" y="2296648"/>
                </a:cubicBezTo>
                <a:cubicBezTo>
                  <a:pt x="4593296" y="3565052"/>
                  <a:pt x="3565052" y="4593296"/>
                  <a:pt x="2296648" y="4593296"/>
                </a:cubicBezTo>
                <a:cubicBezTo>
                  <a:pt x="1028244" y="4593296"/>
                  <a:pt x="0" y="3565052"/>
                  <a:pt x="0" y="2296648"/>
                </a:cubicBezTo>
                <a:cubicBezTo>
                  <a:pt x="0" y="1028244"/>
                  <a:pt x="1028244" y="0"/>
                  <a:pt x="2296648" y="0"/>
                </a:cubicBezTo>
                <a:close/>
              </a:path>
            </a:pathLst>
          </a:custGeom>
          <a:blipFill dpi="0" rotWithShape="1">
            <a:blip r:embed="rId5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16618" r="-16618"/>
            </a:stretch>
          </a:blipFill>
          <a:ln>
            <a:noFill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64683725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accel="6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8"/>
          <p:cNvSpPr>
            <a:spLocks/>
          </p:cNvSpPr>
          <p:nvPr/>
        </p:nvSpPr>
        <p:spPr bwMode="auto">
          <a:xfrm>
            <a:off x="6297300" y="1589156"/>
            <a:ext cx="1143995" cy="18978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sz="11733" b="1" kern="2000" dirty="0">
                <a:solidFill>
                  <a:srgbClr val="595959"/>
                </a:solidFill>
                <a:latin typeface="Helvetica" panose="020B0604020202020204" pitchFamily="34" charset="0"/>
                <a:sym typeface="Bebas Neue" charset="0"/>
              </a:rPr>
              <a:t>,,</a:t>
            </a:r>
          </a:p>
        </p:txBody>
      </p:sp>
      <p:sp>
        <p:nvSpPr>
          <p:cNvPr id="9" name="文本框 66"/>
          <p:cNvSpPr txBox="1">
            <a:spLocks noChangeArrowheads="1"/>
          </p:cNvSpPr>
          <p:nvPr/>
        </p:nvSpPr>
        <p:spPr bwMode="auto">
          <a:xfrm>
            <a:off x="6351948" y="1223134"/>
            <a:ext cx="302815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700"/>
              </a:lnSpc>
              <a:defRPr sz="500">
                <a:solidFill>
                  <a:schemeClr val="bg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 smtClean="0">
                <a:solidFill>
                  <a:srgbClr val="595959"/>
                </a:solidFill>
              </a:rPr>
              <a:t>Claude Elwood Shannon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(1916--2001)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American mathematician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electrical engineer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Cryptographer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the father of information theory</a:t>
            </a:r>
            <a:endParaRPr lang="zh-CN" altLang="en-US" sz="1600" dirty="0">
              <a:solidFill>
                <a:srgbClr val="595959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3650" y="1133550"/>
            <a:ext cx="1920000" cy="42875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0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Biography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pic>
        <p:nvPicPr>
          <p:cNvPr id="21" name="图片 20" descr="shann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2368" y="1123776"/>
            <a:ext cx="3462893" cy="5101659"/>
          </a:xfrm>
          <a:prstGeom prst="rect">
            <a:avLst/>
          </a:prstGeom>
        </p:spPr>
      </p:pic>
      <p:sp>
        <p:nvSpPr>
          <p:cNvPr id="22" name="文本框 66"/>
          <p:cNvSpPr txBox="1">
            <a:spLocks noChangeArrowheads="1"/>
          </p:cNvSpPr>
          <p:nvPr/>
        </p:nvSpPr>
        <p:spPr bwMode="auto">
          <a:xfrm>
            <a:off x="6416666" y="3454850"/>
            <a:ext cx="30281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700"/>
              </a:lnSpc>
              <a:defRPr sz="500">
                <a:solidFill>
                  <a:schemeClr val="bg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B</a:t>
            </a:r>
            <a:r>
              <a:rPr lang="en-US" altLang="zh-CN" sz="1600" dirty="0" smtClean="0">
                <a:solidFill>
                  <a:srgbClr val="595959"/>
                </a:solidFill>
              </a:rPr>
              <a:t>orn </a:t>
            </a:r>
            <a:r>
              <a:rPr lang="en-US" altLang="zh-CN" sz="1600" dirty="0" smtClean="0">
                <a:solidFill>
                  <a:srgbClr val="595959"/>
                </a:solidFill>
              </a:rPr>
              <a:t>in Petoskey, Michigan </a:t>
            </a:r>
            <a:r>
              <a:rPr lang="en-US" altLang="zh-CN" sz="1600" dirty="0" smtClean="0">
                <a:solidFill>
                  <a:srgbClr val="595959"/>
                </a:solidFill>
              </a:rPr>
              <a:t>Grew </a:t>
            </a:r>
            <a:r>
              <a:rPr lang="en-US" altLang="zh-CN" sz="1600" dirty="0" smtClean="0">
                <a:solidFill>
                  <a:srgbClr val="595959"/>
                </a:solidFill>
              </a:rPr>
              <a:t>up in Gaylord, </a:t>
            </a:r>
            <a:r>
              <a:rPr lang="en-US" altLang="zh-CN" sz="1600" dirty="0" smtClean="0">
                <a:solidFill>
                  <a:srgbClr val="595959"/>
                </a:solidFill>
              </a:rPr>
              <a:t>Michigan</a:t>
            </a: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rgbClr val="595959"/>
                </a:solidFill>
              </a:rPr>
              <a:t>Aged 84</a:t>
            </a:r>
            <a:endParaRPr lang="zh-CN" altLang="en-US" sz="16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928326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6"/>
          <p:cNvSpPr/>
          <p:nvPr/>
        </p:nvSpPr>
        <p:spPr>
          <a:xfrm>
            <a:off x="5191823" y="1638104"/>
            <a:ext cx="870776" cy="86710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28" name="Oval 4"/>
          <p:cNvSpPr/>
          <p:nvPr/>
        </p:nvSpPr>
        <p:spPr>
          <a:xfrm>
            <a:off x="7208838" y="3397250"/>
            <a:ext cx="819150" cy="819150"/>
          </a:xfrm>
          <a:prstGeom prst="ellipse">
            <a:avLst/>
          </a:prstGeom>
          <a:solidFill>
            <a:srgbClr val="212121"/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29" name="Oval 12"/>
          <p:cNvSpPr/>
          <p:nvPr/>
        </p:nvSpPr>
        <p:spPr>
          <a:xfrm>
            <a:off x="2455863" y="2786063"/>
            <a:ext cx="819150" cy="817562"/>
          </a:xfrm>
          <a:prstGeom prst="ellipse">
            <a:avLst/>
          </a:prstGeom>
          <a:solidFill>
            <a:srgbClr val="212121"/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30" name="Oval 13"/>
          <p:cNvSpPr/>
          <p:nvPr/>
        </p:nvSpPr>
        <p:spPr>
          <a:xfrm>
            <a:off x="1331934" y="4608534"/>
            <a:ext cx="819150" cy="8191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31" name="Oval 15"/>
          <p:cNvSpPr/>
          <p:nvPr/>
        </p:nvSpPr>
        <p:spPr>
          <a:xfrm>
            <a:off x="8186738" y="5160963"/>
            <a:ext cx="531812" cy="531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2268559" y="4762913"/>
            <a:ext cx="2390775" cy="604042"/>
            <a:chOff x="0" y="0"/>
            <a:chExt cx="2391371" cy="603910"/>
          </a:xfrm>
        </p:grpSpPr>
        <p:sp>
          <p:nvSpPr>
            <p:cNvPr id="33" name="TextBox 17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1932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34" name="Rectangle 18"/>
            <p:cNvSpPr/>
            <p:nvPr/>
          </p:nvSpPr>
          <p:spPr>
            <a:xfrm>
              <a:off x="0" y="357743"/>
              <a:ext cx="2391371" cy="24616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endParaRPr lang="en-US" altLang="zh-CN" sz="1000" dirty="0">
                <a:solidFill>
                  <a:srgbClr val="595959"/>
                </a:solidFill>
                <a:latin typeface="Open Sans" panose="020B0606030504020204" pitchFamily="2" charset="0"/>
                <a:ea typeface="宋体" panose="02010600030101010101" pitchFamily="2" charset="-122"/>
                <a:sym typeface="Open Sans" panose="020B0606030504020204" pitchFamily="2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3425825" y="2740025"/>
            <a:ext cx="2987501" cy="942596"/>
            <a:chOff x="0" y="0"/>
            <a:chExt cx="2988246" cy="942390"/>
          </a:xfrm>
        </p:grpSpPr>
        <p:sp>
          <p:nvSpPr>
            <p:cNvPr id="36" name="TextBox 21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1936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37" name="Rectangle 22"/>
            <p:cNvSpPr/>
            <p:nvPr/>
          </p:nvSpPr>
          <p:spPr>
            <a:xfrm>
              <a:off x="0" y="357743"/>
              <a:ext cx="2988246" cy="5846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kern="2000" dirty="0" smtClean="0">
                  <a:solidFill>
                    <a:srgbClr val="595959"/>
                  </a:solidFill>
                  <a:latin typeface="Helvetica" panose="020B0604020202020204" pitchFamily="34" charset="0"/>
                </a:rPr>
                <a:t>electrical engineering</a:t>
              </a:r>
            </a:p>
            <a:p>
              <a:r>
                <a:rPr lang="en-US" altLang="zh-CN" sz="1600" kern="2000" dirty="0" smtClean="0">
                  <a:solidFill>
                    <a:srgbClr val="595959"/>
                  </a:solidFill>
                  <a:latin typeface="Helvetica" panose="020B0604020202020204" pitchFamily="34" charset="0"/>
                </a:rPr>
                <a:t>mathematics</a:t>
              </a:r>
              <a:endPara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6103787" y="1544638"/>
            <a:ext cx="3466100" cy="942926"/>
            <a:chOff x="0" y="0"/>
            <a:chExt cx="3466964" cy="941848"/>
          </a:xfrm>
        </p:grpSpPr>
        <p:sp>
          <p:nvSpPr>
            <p:cNvPr id="39" name="TextBox 24"/>
            <p:cNvSpPr/>
            <p:nvPr/>
          </p:nvSpPr>
          <p:spPr>
            <a:xfrm>
              <a:off x="0" y="0"/>
              <a:ext cx="755523" cy="3689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1936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0" name="Rectangle 25"/>
            <p:cNvSpPr/>
            <p:nvPr/>
          </p:nvSpPr>
          <p:spPr>
            <a:xfrm>
              <a:off x="0" y="357742"/>
              <a:ext cx="3466964" cy="584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kern="2000" dirty="0" smtClean="0">
                  <a:solidFill>
                    <a:srgbClr val="595959"/>
                  </a:solidFill>
                </a:rPr>
                <a:t>began his graduate studies</a:t>
              </a:r>
            </a:p>
            <a:p>
              <a:r>
                <a:rPr lang="en-US" altLang="zh-CN" sz="1600" kern="2000" dirty="0" smtClean="0">
                  <a:solidFill>
                    <a:srgbClr val="595959"/>
                  </a:solidFill>
                </a:rPr>
                <a:t>in electrical engineering</a:t>
              </a:r>
              <a:endPara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" name="Group 26"/>
          <p:cNvGrpSpPr/>
          <p:nvPr/>
        </p:nvGrpSpPr>
        <p:grpSpPr>
          <a:xfrm>
            <a:off x="8123238" y="3351213"/>
            <a:ext cx="2974822" cy="942596"/>
            <a:chOff x="0" y="0"/>
            <a:chExt cx="2975564" cy="942390"/>
          </a:xfrm>
        </p:grpSpPr>
        <p:sp>
          <p:nvSpPr>
            <p:cNvPr id="42" name="TextBox 27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1938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3" name="Rectangle 28"/>
            <p:cNvSpPr/>
            <p:nvPr/>
          </p:nvSpPr>
          <p:spPr>
            <a:xfrm>
              <a:off x="0" y="357743"/>
              <a:ext cx="2975564" cy="5846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kern="2000" dirty="0" smtClean="0">
                  <a:solidFill>
                    <a:srgbClr val="FF0000"/>
                  </a:solidFill>
                  <a:latin typeface="Helvetica" panose="020B0604020202020204" pitchFamily="34" charset="0"/>
                </a:rPr>
                <a:t>A Symbolic Analysis of Relay and Switching Circuits</a:t>
              </a:r>
              <a:endParaRPr lang="en-US" altLang="zh-CN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29"/>
          <p:cNvGrpSpPr/>
          <p:nvPr/>
        </p:nvGrpSpPr>
        <p:grpSpPr>
          <a:xfrm>
            <a:off x="8839200" y="4972050"/>
            <a:ext cx="2390775" cy="942596"/>
            <a:chOff x="0" y="0"/>
            <a:chExt cx="2391371" cy="942391"/>
          </a:xfrm>
        </p:grpSpPr>
        <p:sp>
          <p:nvSpPr>
            <p:cNvPr id="45" name="TextBox 30"/>
            <p:cNvSpPr/>
            <p:nvPr/>
          </p:nvSpPr>
          <p:spPr>
            <a:xfrm>
              <a:off x="0" y="0"/>
              <a:ext cx="755523" cy="369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1940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8" name="Rectangle 31"/>
            <p:cNvSpPr/>
            <p:nvPr/>
          </p:nvSpPr>
          <p:spPr>
            <a:xfrm>
              <a:off x="0" y="357743"/>
              <a:ext cx="2391371" cy="5846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600" kern="2000" dirty="0" smtClean="0">
                  <a:solidFill>
                    <a:srgbClr val="595959"/>
                  </a:solidFill>
                  <a:latin typeface="Helvetica" panose="020B0604020202020204" pitchFamily="34" charset="0"/>
                </a:rPr>
                <a:t>received his Ph.D. degree</a:t>
              </a:r>
            </a:p>
          </p:txBody>
        </p:sp>
      </p:grpSp>
      <p:cxnSp>
        <p:nvCxnSpPr>
          <p:cNvPr id="49" name="Curved Connector 33"/>
          <p:cNvCxnSpPr>
            <a:stCxn id="32" idx="0"/>
          </p:cNvCxnSpPr>
          <p:nvPr/>
        </p:nvCxnSpPr>
        <p:spPr>
          <a:xfrm rot="5400000" flipH="1" flipV="1">
            <a:off x="1647843" y="3672295"/>
            <a:ext cx="997317" cy="867721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cxnSp>
        <p:nvCxnSpPr>
          <p:cNvPr id="51" name="Curved Connector 39"/>
          <p:cNvCxnSpPr>
            <a:stCxn id="27" idx="4"/>
            <a:endCxn id="28" idx="0"/>
          </p:cNvCxnSpPr>
          <p:nvPr/>
        </p:nvCxnSpPr>
        <p:spPr>
          <a:xfrm rot="16200000" flipH="1">
            <a:off x="6176790" y="1955627"/>
            <a:ext cx="892044" cy="1991202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cxnSp>
        <p:nvCxnSpPr>
          <p:cNvPr id="52" name="Curved Connector 41"/>
          <p:cNvCxnSpPr>
            <a:endCxn id="28" idx="0"/>
          </p:cNvCxnSpPr>
          <p:nvPr/>
        </p:nvCxnSpPr>
        <p:spPr>
          <a:xfrm rot="-5400000" flipH="1">
            <a:off x="7607300" y="4227513"/>
            <a:ext cx="881063" cy="858837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229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Biography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46" name="Rectangle 22"/>
          <p:cNvSpPr/>
          <p:nvPr/>
        </p:nvSpPr>
        <p:spPr>
          <a:xfrm>
            <a:off x="2313096" y="5154202"/>
            <a:ext cx="3148252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1600" kern="2000" dirty="0" smtClean="0">
                <a:solidFill>
                  <a:srgbClr val="595959"/>
                </a:solidFill>
              </a:rPr>
              <a:t>introduced to the </a:t>
            </a:r>
            <a:r>
              <a:rPr lang="en-US" altLang="zh-CN" sz="1600" kern="2000" dirty="0" smtClean="0">
                <a:solidFill>
                  <a:srgbClr val="595959"/>
                </a:solidFill>
              </a:rPr>
              <a:t>work of </a:t>
            </a:r>
            <a:r>
              <a:rPr lang="en-US" altLang="zh-CN" sz="1600" kern="2000" dirty="0" smtClean="0">
                <a:solidFill>
                  <a:srgbClr val="595959"/>
                </a:solidFill>
              </a:rPr>
              <a:t>George Boole</a:t>
            </a:r>
            <a:endParaRPr lang="en-US" altLang="zh-CN" sz="1600" dirty="0">
              <a:solidFill>
                <a:srgbClr val="595959"/>
              </a:solidFill>
              <a:ea typeface="宋体" panose="02010600030101010101" pitchFamily="2" charset="-122"/>
              <a:sym typeface="Open Sans" panose="020B0606030504020204" pitchFamily="2" charset="0"/>
            </a:endParaRPr>
          </a:p>
        </p:txBody>
      </p:sp>
      <p:cxnSp>
        <p:nvCxnSpPr>
          <p:cNvPr id="58" name="Curved Connector 41"/>
          <p:cNvCxnSpPr/>
          <p:nvPr/>
        </p:nvCxnSpPr>
        <p:spPr>
          <a:xfrm rot="10800000" flipV="1">
            <a:off x="6864264" y="5639944"/>
            <a:ext cx="1375307" cy="635595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62" name="Rectangle 68"/>
          <p:cNvSpPr>
            <a:spLocks/>
          </p:cNvSpPr>
          <p:nvPr/>
        </p:nvSpPr>
        <p:spPr bwMode="auto">
          <a:xfrm>
            <a:off x="5740584" y="4752812"/>
            <a:ext cx="1143995" cy="18978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sz="11733" b="1" kern="2000" dirty="0">
                <a:solidFill>
                  <a:srgbClr val="595959"/>
                </a:solidFill>
                <a:latin typeface="Helvetica" panose="020B0604020202020204" pitchFamily="34" charset="0"/>
                <a:sym typeface="Bebas Neue" charset="0"/>
              </a:rPr>
              <a:t>,,</a:t>
            </a:r>
          </a:p>
        </p:txBody>
      </p:sp>
      <p:pic>
        <p:nvPicPr>
          <p:cNvPr id="32" name="图片 31" descr="145px-University_of_Michigan_seal.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9321" y="4604813"/>
            <a:ext cx="906639" cy="906639"/>
          </a:xfrm>
          <a:prstGeom prst="rect">
            <a:avLst/>
          </a:prstGeom>
        </p:spPr>
      </p:pic>
      <p:pic>
        <p:nvPicPr>
          <p:cNvPr id="35" name="图片 34" descr="146px-MIT_Seal.sv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50156" y="1611095"/>
            <a:ext cx="938114" cy="931689"/>
          </a:xfrm>
          <a:prstGeom prst="rect">
            <a:avLst/>
          </a:prstGeom>
        </p:spPr>
      </p:pic>
      <p:cxnSp>
        <p:nvCxnSpPr>
          <p:cNvPr id="41" name="Curved Connector 39"/>
          <p:cNvCxnSpPr>
            <a:stCxn id="29" idx="7"/>
            <a:endCxn id="27" idx="2"/>
          </p:cNvCxnSpPr>
          <p:nvPr/>
        </p:nvCxnSpPr>
        <p:spPr>
          <a:xfrm rot="5400000" flipH="1" flipV="1">
            <a:off x="3756369" y="1470338"/>
            <a:ext cx="834137" cy="2036772"/>
          </a:xfrm>
          <a:prstGeom prst="curvedConnector2">
            <a:avLst/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pic>
        <p:nvPicPr>
          <p:cNvPr id="66" name="图片 65" descr="145px-University_of_Michigan_seal.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8751" y="2765575"/>
            <a:ext cx="906639" cy="906639"/>
          </a:xfrm>
          <a:prstGeom prst="rect">
            <a:avLst/>
          </a:prstGeom>
        </p:spPr>
      </p:pic>
      <p:pic>
        <p:nvPicPr>
          <p:cNvPr id="67" name="图片 66" descr="146px-MIT_Seal.sv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68932" y="3354300"/>
            <a:ext cx="938114" cy="931689"/>
          </a:xfrm>
          <a:prstGeom prst="rect">
            <a:avLst/>
          </a:prstGeom>
        </p:spPr>
      </p:pic>
      <p:pic>
        <p:nvPicPr>
          <p:cNvPr id="68" name="图片 67" descr="146px-MIT_Seal.sv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58072" y="4982684"/>
            <a:ext cx="938114" cy="931689"/>
          </a:xfrm>
          <a:prstGeom prst="rect">
            <a:avLst/>
          </a:prstGeom>
        </p:spPr>
      </p:pic>
      <p:cxnSp>
        <p:nvCxnSpPr>
          <p:cNvPr id="69" name="Curved Connector 41"/>
          <p:cNvCxnSpPr>
            <a:stCxn id="32" idx="2"/>
            <a:endCxn id="71" idx="0"/>
          </p:cNvCxnSpPr>
          <p:nvPr/>
        </p:nvCxnSpPr>
        <p:spPr>
          <a:xfrm rot="5400000">
            <a:off x="1050580" y="5418173"/>
            <a:ext cx="568782" cy="755340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71" name="TextBox 17"/>
          <p:cNvSpPr/>
          <p:nvPr/>
        </p:nvSpPr>
        <p:spPr>
          <a:xfrm>
            <a:off x="579633" y="6080234"/>
            <a:ext cx="755335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US" altLang="zh-CN" b="1" dirty="0" smtClean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rPr>
              <a:t>1916</a:t>
            </a:r>
            <a:endParaRPr lang="en-US" altLang="zh-CN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361524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6"/>
          <p:cNvSpPr/>
          <p:nvPr/>
        </p:nvSpPr>
        <p:spPr>
          <a:xfrm>
            <a:off x="6156325" y="1738313"/>
            <a:ext cx="531813" cy="531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28" name="Oval 4"/>
          <p:cNvSpPr/>
          <p:nvPr/>
        </p:nvSpPr>
        <p:spPr>
          <a:xfrm>
            <a:off x="7208838" y="3397250"/>
            <a:ext cx="819150" cy="819150"/>
          </a:xfrm>
          <a:prstGeom prst="ellipse">
            <a:avLst/>
          </a:prstGeom>
          <a:solidFill>
            <a:srgbClr val="212121"/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29" name="Oval 12"/>
          <p:cNvSpPr/>
          <p:nvPr/>
        </p:nvSpPr>
        <p:spPr>
          <a:xfrm>
            <a:off x="2455863" y="2786063"/>
            <a:ext cx="819150" cy="817562"/>
          </a:xfrm>
          <a:prstGeom prst="ellipse">
            <a:avLst/>
          </a:prstGeom>
          <a:solidFill>
            <a:srgbClr val="212121"/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30" name="Oval 13"/>
          <p:cNvSpPr/>
          <p:nvPr/>
        </p:nvSpPr>
        <p:spPr>
          <a:xfrm>
            <a:off x="1219200" y="4495800"/>
            <a:ext cx="819150" cy="8191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sp>
        <p:nvSpPr>
          <p:cNvPr id="31" name="Oval 15"/>
          <p:cNvSpPr/>
          <p:nvPr/>
        </p:nvSpPr>
        <p:spPr>
          <a:xfrm>
            <a:off x="8186738" y="5160963"/>
            <a:ext cx="531812" cy="531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txBody>
          <a:bodyPr anchor="ctr"/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altLang="zh-CN" dirty="0">
              <a:solidFill>
                <a:srgbClr val="F2F2F2"/>
              </a:solidFill>
              <a:latin typeface="FontAwesome" pitchFamily="2" charset="0"/>
              <a:ea typeface="宋体" panose="02010600030101010101" pitchFamily="2" charset="-122"/>
              <a:sym typeface="FontAwesome" pitchFamily="2" charset="0"/>
            </a:endParaRPr>
          </a:p>
        </p:txBody>
      </p:sp>
      <p:grpSp>
        <p:nvGrpSpPr>
          <p:cNvPr id="32" name="Group 19"/>
          <p:cNvGrpSpPr/>
          <p:nvPr/>
        </p:nvGrpSpPr>
        <p:grpSpPr>
          <a:xfrm>
            <a:off x="2155825" y="4650179"/>
            <a:ext cx="2531912" cy="604042"/>
            <a:chOff x="0" y="0"/>
            <a:chExt cx="2532543" cy="603910"/>
          </a:xfrm>
        </p:grpSpPr>
        <p:sp>
          <p:nvSpPr>
            <p:cNvPr id="33" name="TextBox 17"/>
            <p:cNvSpPr/>
            <p:nvPr/>
          </p:nvSpPr>
          <p:spPr>
            <a:xfrm>
              <a:off x="0" y="0"/>
              <a:ext cx="253254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During World War II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34" name="Rectangle 18"/>
            <p:cNvSpPr/>
            <p:nvPr/>
          </p:nvSpPr>
          <p:spPr>
            <a:xfrm>
              <a:off x="0" y="357743"/>
              <a:ext cx="2391371" cy="24616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endParaRPr lang="en-US" altLang="zh-CN" sz="1000" dirty="0">
                <a:solidFill>
                  <a:srgbClr val="595959"/>
                </a:solidFill>
                <a:latin typeface="Open Sans" panose="020B0606030504020204" pitchFamily="2" charset="0"/>
                <a:ea typeface="宋体" panose="02010600030101010101" pitchFamily="2" charset="-122"/>
                <a:sym typeface="Open Sans" panose="020B0606030504020204" pitchFamily="2" charset="0"/>
              </a:endParaRPr>
            </a:p>
          </p:txBody>
        </p:sp>
      </p:grpSp>
      <p:grpSp>
        <p:nvGrpSpPr>
          <p:cNvPr id="35" name="Group 20"/>
          <p:cNvGrpSpPr/>
          <p:nvPr/>
        </p:nvGrpSpPr>
        <p:grpSpPr>
          <a:xfrm>
            <a:off x="3425825" y="2740025"/>
            <a:ext cx="2987501" cy="1188818"/>
            <a:chOff x="0" y="0"/>
            <a:chExt cx="2988246" cy="1188558"/>
          </a:xfrm>
        </p:grpSpPr>
        <p:sp>
          <p:nvSpPr>
            <p:cNvPr id="36" name="TextBox 21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1942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37" name="Rectangle 22"/>
            <p:cNvSpPr/>
            <p:nvPr/>
          </p:nvSpPr>
          <p:spPr>
            <a:xfrm>
              <a:off x="0" y="357743"/>
              <a:ext cx="2988246" cy="8308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invented </a:t>
              </a: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of signal-flow </a:t>
              </a: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graphs</a:t>
              </a:r>
            </a:p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discovered the topological gain formula</a:t>
              </a:r>
              <a:endPara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8" name="Group 23"/>
          <p:cNvGrpSpPr/>
          <p:nvPr/>
        </p:nvGrpSpPr>
        <p:grpSpPr>
          <a:xfrm>
            <a:off x="6892925" y="1544638"/>
            <a:ext cx="3466100" cy="1096816"/>
            <a:chOff x="0" y="0"/>
            <a:chExt cx="3466964" cy="1095562"/>
          </a:xfrm>
        </p:grpSpPr>
        <p:sp>
          <p:nvSpPr>
            <p:cNvPr id="39" name="TextBox 24"/>
            <p:cNvSpPr/>
            <p:nvPr/>
          </p:nvSpPr>
          <p:spPr>
            <a:xfrm>
              <a:off x="0" y="0"/>
              <a:ext cx="755523" cy="3689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1945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0" name="Rectangle 25"/>
            <p:cNvSpPr/>
            <p:nvPr/>
          </p:nvSpPr>
          <p:spPr>
            <a:xfrm>
              <a:off x="0" y="357743"/>
              <a:ext cx="3466964" cy="7378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 Smoothing and Prediction in Fire-Control </a:t>
              </a: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Systems</a:t>
              </a:r>
            </a:p>
            <a:p>
              <a:pPr lvl="0" indent="0">
                <a:buFont typeface="Arial" panose="020B0604020202020204" pitchFamily="34" charset="0"/>
                <a:buNone/>
              </a:pPr>
              <a:endPara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1" name="Group 26"/>
          <p:cNvGrpSpPr/>
          <p:nvPr/>
        </p:nvGrpSpPr>
        <p:grpSpPr>
          <a:xfrm>
            <a:off x="8123238" y="3351213"/>
            <a:ext cx="2974822" cy="942596"/>
            <a:chOff x="0" y="0"/>
            <a:chExt cx="2975564" cy="942390"/>
          </a:xfrm>
        </p:grpSpPr>
        <p:sp>
          <p:nvSpPr>
            <p:cNvPr id="42" name="TextBox 27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1948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3" name="Rectangle 28"/>
            <p:cNvSpPr/>
            <p:nvPr/>
          </p:nvSpPr>
          <p:spPr>
            <a:xfrm>
              <a:off x="0" y="357743"/>
              <a:ext cx="2975564" cy="5846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dirty="0" smtClean="0">
                  <a:solidFill>
                    <a:srgbClr val="FF0000"/>
                  </a:solidFill>
                </a:rPr>
                <a:t>A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Mathematical Theory of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Communication</a:t>
              </a:r>
              <a:endParaRPr lang="en-US" altLang="zh-CN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29"/>
          <p:cNvGrpSpPr/>
          <p:nvPr/>
        </p:nvGrpSpPr>
        <p:grpSpPr>
          <a:xfrm>
            <a:off x="8839200" y="4972050"/>
            <a:ext cx="2390775" cy="942596"/>
            <a:chOff x="0" y="0"/>
            <a:chExt cx="2391371" cy="942391"/>
          </a:xfrm>
        </p:grpSpPr>
        <p:sp>
          <p:nvSpPr>
            <p:cNvPr id="45" name="TextBox 30"/>
            <p:cNvSpPr/>
            <p:nvPr/>
          </p:nvSpPr>
          <p:spPr>
            <a:xfrm>
              <a:off x="0" y="0"/>
              <a:ext cx="755523" cy="369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b="1" dirty="0" smtClean="0">
                  <a:solidFill>
                    <a:srgbClr val="3F3F3F"/>
                  </a:solidFill>
                  <a:latin typeface="微软雅黑" panose="020B0503020204020204" charset="-122"/>
                  <a:ea typeface="微软雅黑" panose="020B0503020204020204" charset="-122"/>
                  <a:sym typeface="Open Sans" panose="020B0606030504020204" pitchFamily="2" charset="0"/>
                </a:rPr>
                <a:t>1949</a:t>
              </a:r>
              <a:endPara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Open Sans" panose="020B0606030504020204" pitchFamily="2" charset="0"/>
              </a:endParaRPr>
            </a:p>
          </p:txBody>
        </p:sp>
        <p:sp>
          <p:nvSpPr>
            <p:cNvPr id="48" name="Rectangle 31"/>
            <p:cNvSpPr/>
            <p:nvPr/>
          </p:nvSpPr>
          <p:spPr>
            <a:xfrm>
              <a:off x="0" y="357743"/>
              <a:ext cx="2391371" cy="5846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 indent="0">
                <a:buFont typeface="Arial" panose="020B0604020202020204" pitchFamily="34" charset="0"/>
                <a:buNone/>
              </a:pPr>
              <a:r>
                <a:rPr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Communication Theory of Secrecy Systems</a:t>
              </a:r>
            </a:p>
          </p:txBody>
        </p:sp>
      </p:grpSp>
      <p:cxnSp>
        <p:nvCxnSpPr>
          <p:cNvPr id="49" name="Curved Connector 33"/>
          <p:cNvCxnSpPr/>
          <p:nvPr/>
        </p:nvCxnSpPr>
        <p:spPr>
          <a:xfrm rot="5400000" flipH="1" flipV="1">
            <a:off x="1506538" y="3546475"/>
            <a:ext cx="1066800" cy="827088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50" name="Freeform 37"/>
          <p:cNvSpPr/>
          <p:nvPr/>
        </p:nvSpPr>
        <p:spPr>
          <a:xfrm>
            <a:off x="3221038" y="2005013"/>
            <a:ext cx="2955925" cy="844550"/>
          </a:xfrm>
          <a:custGeom>
            <a:avLst/>
            <a:gdLst/>
            <a:ahLst/>
            <a:cxnLst>
              <a:cxn ang="0">
                <a:pos x="0" y="844008"/>
              </a:cxn>
              <a:cxn ang="0">
                <a:pos x="935711" y="58208"/>
              </a:cxn>
              <a:cxn ang="0">
                <a:pos x="2955999" y="58208"/>
              </a:cxn>
            </a:cxnLst>
            <a:rect l="0" t="0" r="0" b="0"/>
            <a:pathLst>
              <a:path w="2955851" h="845092">
                <a:moveTo>
                  <a:pt x="0" y="845092"/>
                </a:moveTo>
                <a:cubicBezTo>
                  <a:pt x="221511" y="517254"/>
                  <a:pt x="443023" y="189417"/>
                  <a:pt x="935665" y="58282"/>
                </a:cubicBezTo>
                <a:cubicBezTo>
                  <a:pt x="1428307" y="-72853"/>
                  <a:pt x="2955851" y="58282"/>
                  <a:pt x="2955851" y="58282"/>
                </a:cubicBezTo>
              </a:path>
            </a:pathLst>
          </a:custGeom>
          <a:noFill/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51" name="Curved Connector 39"/>
          <p:cNvCxnSpPr>
            <a:endCxn id="28" idx="0"/>
          </p:cNvCxnSpPr>
          <p:nvPr/>
        </p:nvCxnSpPr>
        <p:spPr>
          <a:xfrm rot="10800000" flipH="1" flipV="1">
            <a:off x="6632575" y="2251075"/>
            <a:ext cx="985838" cy="1146175"/>
          </a:xfrm>
          <a:prstGeom prst="curvedConnector4">
            <a:avLst>
              <a:gd name="adj1" fmla="val -23181"/>
              <a:gd name="adj2" fmla="val 53343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cxnSp>
        <p:nvCxnSpPr>
          <p:cNvPr id="52" name="Curved Connector 41"/>
          <p:cNvCxnSpPr>
            <a:endCxn id="28" idx="0"/>
          </p:cNvCxnSpPr>
          <p:nvPr/>
        </p:nvCxnSpPr>
        <p:spPr>
          <a:xfrm rot="-5400000" flipH="1">
            <a:off x="7607300" y="4227513"/>
            <a:ext cx="881063" cy="858837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229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Biography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46" name="Rectangle 22"/>
          <p:cNvSpPr/>
          <p:nvPr/>
        </p:nvSpPr>
        <p:spPr>
          <a:xfrm>
            <a:off x="2200362" y="5041468"/>
            <a:ext cx="341129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joined Bell Labs to work on fire-control systems and cryptography</a:t>
            </a:r>
            <a:endParaRPr lang="en-US" altLang="zh-CN" sz="1600" dirty="0">
              <a:solidFill>
                <a:srgbClr val="595959"/>
              </a:solidFill>
              <a:latin typeface="Open Sans" panose="020B0606030504020204" pitchFamily="2" charset="0"/>
              <a:ea typeface="宋体" panose="02010600030101010101" pitchFamily="2" charset="-122"/>
              <a:sym typeface="Open Sans" panose="020B0606030504020204" pitchFamily="2" charset="0"/>
            </a:endParaRPr>
          </a:p>
        </p:txBody>
      </p:sp>
      <p:cxnSp>
        <p:nvCxnSpPr>
          <p:cNvPr id="58" name="Curved Connector 41"/>
          <p:cNvCxnSpPr/>
          <p:nvPr/>
        </p:nvCxnSpPr>
        <p:spPr>
          <a:xfrm rot="10800000" flipV="1">
            <a:off x="6864264" y="5639944"/>
            <a:ext cx="1375307" cy="635595"/>
          </a:xfrm>
          <a:prstGeom prst="curvedConnector3">
            <a:avLst>
              <a:gd name="adj1" fmla="val 50000"/>
            </a:avLst>
          </a:prstGeom>
          <a:ln w="25400" cap="flat" cmpd="sng">
            <a:solidFill>
              <a:srgbClr val="262626"/>
            </a:solidFill>
            <a:prstDash val="sysDot"/>
            <a:bevel/>
            <a:headEnd type="none" w="med" len="med"/>
            <a:tailEnd type="none" w="med" len="med"/>
          </a:ln>
        </p:spPr>
      </p:cxnSp>
      <p:sp>
        <p:nvSpPr>
          <p:cNvPr id="62" name="Rectangle 68"/>
          <p:cNvSpPr>
            <a:spLocks/>
          </p:cNvSpPr>
          <p:nvPr/>
        </p:nvSpPr>
        <p:spPr bwMode="auto">
          <a:xfrm>
            <a:off x="5740584" y="4752812"/>
            <a:ext cx="1143995" cy="18978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sz="11733" b="1" kern="2000" dirty="0">
                <a:solidFill>
                  <a:srgbClr val="595959"/>
                </a:solidFill>
                <a:latin typeface="Helvetica" panose="020B0604020202020204" pitchFamily="34" charset="0"/>
                <a:sym typeface="Bebas Neue" charset="0"/>
              </a:rPr>
              <a:t>,,</a:t>
            </a:r>
          </a:p>
        </p:txBody>
      </p:sp>
    </p:spTree>
    <p:extLst>
      <p:ext uri="{BB962C8B-B14F-4D97-AF65-F5344CB8AC3E}">
        <p14:creationId xmlns="" xmlns:p14="http://schemas.microsoft.com/office/powerpoint/2010/main" val="417361524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50" grpId="0" animBg="1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84302" y="544297"/>
            <a:ext cx="5402077" cy="5407025"/>
          </a:xfrm>
          <a:prstGeom prst="rect">
            <a:avLst/>
          </a:prstGeom>
          <a:noFill/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11" name="文本框 10"/>
          <p:cNvSpPr txBox="1"/>
          <p:nvPr/>
        </p:nvSpPr>
        <p:spPr>
          <a:xfrm>
            <a:off x="4158343" y="1682260"/>
            <a:ext cx="35705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华康俪金黑W8(P)" panose="020B0800000000000000" pitchFamily="34" charset="-122"/>
                <a:cs typeface="+mn-ea"/>
                <a:sym typeface="+mn-lt"/>
              </a:rPr>
              <a:t>2</a:t>
            </a:r>
            <a:endParaRPr lang="zh-CN" altLang="en-US" sz="199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华康俪金黑W8(P)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28364" y="2959057"/>
            <a:ext cx="3917942" cy="646331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Achievement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3585695" y="774016"/>
            <a:ext cx="4947586" cy="4947586"/>
          </a:xfrm>
          <a:custGeom>
            <a:avLst/>
            <a:gdLst>
              <a:gd name="connsiteX0" fmla="*/ 2296648 w 4593296"/>
              <a:gd name="connsiteY0" fmla="*/ 308397 h 4593296"/>
              <a:gd name="connsiteX1" fmla="*/ 308397 w 4593296"/>
              <a:gd name="connsiteY1" fmla="*/ 2296648 h 4593296"/>
              <a:gd name="connsiteX2" fmla="*/ 2296648 w 4593296"/>
              <a:gd name="connsiteY2" fmla="*/ 4284899 h 4593296"/>
              <a:gd name="connsiteX3" fmla="*/ 4284899 w 4593296"/>
              <a:gd name="connsiteY3" fmla="*/ 2296648 h 4593296"/>
              <a:gd name="connsiteX4" fmla="*/ 2296648 w 4593296"/>
              <a:gd name="connsiteY4" fmla="*/ 308397 h 4593296"/>
              <a:gd name="connsiteX5" fmla="*/ 2296648 w 4593296"/>
              <a:gd name="connsiteY5" fmla="*/ 0 h 4593296"/>
              <a:gd name="connsiteX6" fmla="*/ 4593296 w 4593296"/>
              <a:gd name="connsiteY6" fmla="*/ 2296648 h 4593296"/>
              <a:gd name="connsiteX7" fmla="*/ 2296648 w 4593296"/>
              <a:gd name="connsiteY7" fmla="*/ 4593296 h 4593296"/>
              <a:gd name="connsiteX8" fmla="*/ 0 w 4593296"/>
              <a:gd name="connsiteY8" fmla="*/ 2296648 h 4593296"/>
              <a:gd name="connsiteX9" fmla="*/ 2296648 w 4593296"/>
              <a:gd name="connsiteY9" fmla="*/ 0 h 45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296" h="4593296">
                <a:moveTo>
                  <a:pt x="2296648" y="308397"/>
                </a:moveTo>
                <a:cubicBezTo>
                  <a:pt x="1198567" y="308397"/>
                  <a:pt x="308397" y="1198567"/>
                  <a:pt x="308397" y="2296648"/>
                </a:cubicBezTo>
                <a:cubicBezTo>
                  <a:pt x="308397" y="3394729"/>
                  <a:pt x="1198567" y="4284899"/>
                  <a:pt x="2296648" y="4284899"/>
                </a:cubicBezTo>
                <a:cubicBezTo>
                  <a:pt x="3394729" y="4284899"/>
                  <a:pt x="4284899" y="3394729"/>
                  <a:pt x="4284899" y="2296648"/>
                </a:cubicBezTo>
                <a:cubicBezTo>
                  <a:pt x="4284899" y="1198567"/>
                  <a:pt x="3394729" y="308397"/>
                  <a:pt x="2296648" y="308397"/>
                </a:cubicBezTo>
                <a:close/>
                <a:moveTo>
                  <a:pt x="2296648" y="0"/>
                </a:moveTo>
                <a:cubicBezTo>
                  <a:pt x="3565052" y="0"/>
                  <a:pt x="4593296" y="1028244"/>
                  <a:pt x="4593296" y="2296648"/>
                </a:cubicBezTo>
                <a:cubicBezTo>
                  <a:pt x="4593296" y="3565052"/>
                  <a:pt x="3565052" y="4593296"/>
                  <a:pt x="2296648" y="4593296"/>
                </a:cubicBezTo>
                <a:cubicBezTo>
                  <a:pt x="1028244" y="4593296"/>
                  <a:pt x="0" y="3565052"/>
                  <a:pt x="0" y="2296648"/>
                </a:cubicBezTo>
                <a:cubicBezTo>
                  <a:pt x="0" y="1028244"/>
                  <a:pt x="1028244" y="0"/>
                  <a:pt x="2296648" y="0"/>
                </a:cubicBezTo>
                <a:close/>
              </a:path>
            </a:pathLst>
          </a:custGeom>
          <a:blipFill dpi="0" rotWithShape="1">
            <a:blip r:embed="rId5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16618" r="-16618"/>
            </a:stretch>
          </a:blipFill>
          <a:ln>
            <a:noFill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306161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accel="6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3002761" y="561613"/>
            <a:ext cx="5778847" cy="5777048"/>
            <a:chOff x="2252070" y="421210"/>
            <a:chExt cx="4334135" cy="4332786"/>
          </a:xfrm>
        </p:grpSpPr>
        <p:grpSp>
          <p:nvGrpSpPr>
            <p:cNvPr id="26" name="Group 53"/>
            <p:cNvGrpSpPr/>
            <p:nvPr/>
          </p:nvGrpSpPr>
          <p:grpSpPr>
            <a:xfrm>
              <a:off x="5684002" y="3201555"/>
              <a:ext cx="400994" cy="277003"/>
              <a:chOff x="3092451" y="1625601"/>
              <a:chExt cx="241300" cy="166688"/>
            </a:xfrm>
            <a:solidFill>
              <a:srgbClr val="DDDBDB"/>
            </a:solidFill>
          </p:grpSpPr>
          <p:sp>
            <p:nvSpPr>
              <p:cNvPr id="161" name="Freeform 112"/>
              <p:cNvSpPr>
                <a:spLocks/>
              </p:cNvSpPr>
              <p:nvPr/>
            </p:nvSpPr>
            <p:spPr bwMode="auto">
              <a:xfrm>
                <a:off x="3092451" y="1625601"/>
                <a:ext cx="165100" cy="166688"/>
              </a:xfrm>
              <a:custGeom>
                <a:avLst/>
                <a:gdLst>
                  <a:gd name="T0" fmla="*/ 40 w 44"/>
                  <a:gd name="T1" fmla="*/ 0 h 44"/>
                  <a:gd name="T2" fmla="*/ 4 w 44"/>
                  <a:gd name="T3" fmla="*/ 0 h 44"/>
                  <a:gd name="T4" fmla="*/ 0 w 44"/>
                  <a:gd name="T5" fmla="*/ 4 h 44"/>
                  <a:gd name="T6" fmla="*/ 0 w 44"/>
                  <a:gd name="T7" fmla="*/ 40 h 44"/>
                  <a:gd name="T8" fmla="*/ 4 w 44"/>
                  <a:gd name="T9" fmla="*/ 44 h 44"/>
                  <a:gd name="T10" fmla="*/ 40 w 44"/>
                  <a:gd name="T11" fmla="*/ 44 h 44"/>
                  <a:gd name="T12" fmla="*/ 44 w 44"/>
                  <a:gd name="T13" fmla="*/ 40 h 44"/>
                  <a:gd name="T14" fmla="*/ 44 w 44"/>
                  <a:gd name="T15" fmla="*/ 4 h 44"/>
                  <a:gd name="T16" fmla="*/ 40 w 44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44">
                    <a:moveTo>
                      <a:pt x="4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42" y="44"/>
                      <a:pt x="44" y="42"/>
                      <a:pt x="44" y="40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62" name="Freeform 113"/>
              <p:cNvSpPr>
                <a:spLocks/>
              </p:cNvSpPr>
              <p:nvPr/>
            </p:nvSpPr>
            <p:spPr bwMode="auto">
              <a:xfrm>
                <a:off x="3273426" y="1649413"/>
                <a:ext cx="60325" cy="119063"/>
              </a:xfrm>
              <a:custGeom>
                <a:avLst/>
                <a:gdLst>
                  <a:gd name="T0" fmla="*/ 13 w 16"/>
                  <a:gd name="T1" fmla="*/ 1 h 32"/>
                  <a:gd name="T2" fmla="*/ 5 w 16"/>
                  <a:gd name="T3" fmla="*/ 5 h 32"/>
                  <a:gd name="T4" fmla="*/ 0 w 16"/>
                  <a:gd name="T5" fmla="*/ 8 h 32"/>
                  <a:gd name="T6" fmla="*/ 0 w 16"/>
                  <a:gd name="T7" fmla="*/ 23 h 32"/>
                  <a:gd name="T8" fmla="*/ 5 w 16"/>
                  <a:gd name="T9" fmla="*/ 27 h 32"/>
                  <a:gd name="T10" fmla="*/ 13 w 16"/>
                  <a:gd name="T11" fmla="*/ 31 h 32"/>
                  <a:gd name="T12" fmla="*/ 16 w 16"/>
                  <a:gd name="T13" fmla="*/ 29 h 32"/>
                  <a:gd name="T14" fmla="*/ 16 w 16"/>
                  <a:gd name="T15" fmla="*/ 3 h 32"/>
                  <a:gd name="T16" fmla="*/ 13 w 16"/>
                  <a:gd name="T17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32">
                    <a:moveTo>
                      <a:pt x="13" y="1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4" y="6"/>
                      <a:pt x="2" y="7"/>
                      <a:pt x="0" y="8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" y="24"/>
                      <a:pt x="4" y="26"/>
                      <a:pt x="5" y="27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4" y="32"/>
                      <a:pt x="16" y="31"/>
                      <a:pt x="16" y="29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1"/>
                      <a:pt x="14" y="0"/>
                      <a:pt x="1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27" name="Group 56"/>
            <p:cNvGrpSpPr/>
            <p:nvPr/>
          </p:nvGrpSpPr>
          <p:grpSpPr>
            <a:xfrm>
              <a:off x="6032202" y="3435956"/>
              <a:ext cx="288126" cy="286230"/>
              <a:chOff x="2611438" y="6434138"/>
              <a:chExt cx="241301" cy="239713"/>
            </a:xfrm>
            <a:solidFill>
              <a:srgbClr val="DDDBDB"/>
            </a:solidFill>
          </p:grpSpPr>
          <p:sp>
            <p:nvSpPr>
              <p:cNvPr id="156" name="Freeform 240"/>
              <p:cNvSpPr>
                <a:spLocks noEditPoints="1"/>
              </p:cNvSpPr>
              <p:nvPr/>
            </p:nvSpPr>
            <p:spPr bwMode="auto">
              <a:xfrm>
                <a:off x="2682876" y="6434138"/>
                <a:ext cx="169863" cy="168275"/>
              </a:xfrm>
              <a:custGeom>
                <a:avLst/>
                <a:gdLst>
                  <a:gd name="T0" fmla="*/ 31 w 45"/>
                  <a:gd name="T1" fmla="*/ 5 h 45"/>
                  <a:gd name="T2" fmla="*/ 18 w 45"/>
                  <a:gd name="T3" fmla="*/ 13 h 45"/>
                  <a:gd name="T4" fmla="*/ 1 w 45"/>
                  <a:gd name="T5" fmla="*/ 30 h 45"/>
                  <a:gd name="T6" fmla="*/ 1 w 45"/>
                  <a:gd name="T7" fmla="*/ 35 h 45"/>
                  <a:gd name="T8" fmla="*/ 10 w 45"/>
                  <a:gd name="T9" fmla="*/ 44 h 45"/>
                  <a:gd name="T10" fmla="*/ 15 w 45"/>
                  <a:gd name="T11" fmla="*/ 44 h 45"/>
                  <a:gd name="T12" fmla="*/ 32 w 45"/>
                  <a:gd name="T13" fmla="*/ 27 h 45"/>
                  <a:gd name="T14" fmla="*/ 40 w 45"/>
                  <a:gd name="T15" fmla="*/ 14 h 45"/>
                  <a:gd name="T16" fmla="*/ 45 w 45"/>
                  <a:gd name="T17" fmla="*/ 0 h 45"/>
                  <a:gd name="T18" fmla="*/ 31 w 45"/>
                  <a:gd name="T19" fmla="*/ 5 h 45"/>
                  <a:gd name="T20" fmla="*/ 20 w 45"/>
                  <a:gd name="T21" fmla="*/ 34 h 45"/>
                  <a:gd name="T22" fmla="*/ 11 w 45"/>
                  <a:gd name="T23" fmla="*/ 34 h 45"/>
                  <a:gd name="T24" fmla="*/ 11 w 45"/>
                  <a:gd name="T25" fmla="*/ 25 h 45"/>
                  <a:gd name="T26" fmla="*/ 20 w 45"/>
                  <a:gd name="T27" fmla="*/ 25 h 45"/>
                  <a:gd name="T28" fmla="*/ 20 w 45"/>
                  <a:gd name="T29" fmla="*/ 34 h 45"/>
                  <a:gd name="T30" fmla="*/ 31 w 45"/>
                  <a:gd name="T31" fmla="*/ 23 h 45"/>
                  <a:gd name="T32" fmla="*/ 22 w 45"/>
                  <a:gd name="T33" fmla="*/ 23 h 45"/>
                  <a:gd name="T34" fmla="*/ 22 w 45"/>
                  <a:gd name="T35" fmla="*/ 14 h 45"/>
                  <a:gd name="T36" fmla="*/ 31 w 45"/>
                  <a:gd name="T37" fmla="*/ 14 h 45"/>
                  <a:gd name="T38" fmla="*/ 31 w 45"/>
                  <a:gd name="T39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5" h="45">
                    <a:moveTo>
                      <a:pt x="31" y="5"/>
                    </a:moveTo>
                    <a:cubicBezTo>
                      <a:pt x="27" y="6"/>
                      <a:pt x="21" y="10"/>
                      <a:pt x="18" y="13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1"/>
                      <a:pt x="0" y="34"/>
                      <a:pt x="1" y="35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5"/>
                      <a:pt x="14" y="45"/>
                      <a:pt x="15" y="4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24"/>
                      <a:pt x="39" y="18"/>
                      <a:pt x="40" y="14"/>
                    </a:cubicBezTo>
                    <a:cubicBezTo>
                      <a:pt x="45" y="0"/>
                      <a:pt x="45" y="0"/>
                      <a:pt x="45" y="0"/>
                    </a:cubicBezTo>
                    <a:lnTo>
                      <a:pt x="31" y="5"/>
                    </a:lnTo>
                    <a:close/>
                    <a:moveTo>
                      <a:pt x="20" y="34"/>
                    </a:moveTo>
                    <a:cubicBezTo>
                      <a:pt x="17" y="36"/>
                      <a:pt x="13" y="36"/>
                      <a:pt x="11" y="34"/>
                    </a:cubicBezTo>
                    <a:cubicBezTo>
                      <a:pt x="9" y="32"/>
                      <a:pt x="9" y="28"/>
                      <a:pt x="11" y="25"/>
                    </a:cubicBezTo>
                    <a:cubicBezTo>
                      <a:pt x="13" y="23"/>
                      <a:pt x="17" y="23"/>
                      <a:pt x="20" y="25"/>
                    </a:cubicBezTo>
                    <a:cubicBezTo>
                      <a:pt x="22" y="28"/>
                      <a:pt x="22" y="32"/>
                      <a:pt x="20" y="34"/>
                    </a:cubicBezTo>
                    <a:close/>
                    <a:moveTo>
                      <a:pt x="31" y="23"/>
                    </a:moveTo>
                    <a:cubicBezTo>
                      <a:pt x="29" y="25"/>
                      <a:pt x="25" y="25"/>
                      <a:pt x="22" y="23"/>
                    </a:cubicBezTo>
                    <a:cubicBezTo>
                      <a:pt x="20" y="20"/>
                      <a:pt x="20" y="16"/>
                      <a:pt x="22" y="14"/>
                    </a:cubicBezTo>
                    <a:cubicBezTo>
                      <a:pt x="25" y="12"/>
                      <a:pt x="29" y="12"/>
                      <a:pt x="31" y="14"/>
                    </a:cubicBezTo>
                    <a:cubicBezTo>
                      <a:pt x="33" y="16"/>
                      <a:pt x="33" y="20"/>
                      <a:pt x="31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7" name="Freeform 241"/>
              <p:cNvSpPr>
                <a:spLocks/>
              </p:cNvSpPr>
              <p:nvPr/>
            </p:nvSpPr>
            <p:spPr bwMode="auto">
              <a:xfrm>
                <a:off x="2619376" y="6500813"/>
                <a:ext cx="79375" cy="71438"/>
              </a:xfrm>
              <a:custGeom>
                <a:avLst/>
                <a:gdLst>
                  <a:gd name="T0" fmla="*/ 7 w 21"/>
                  <a:gd name="T1" fmla="*/ 17 h 19"/>
                  <a:gd name="T2" fmla="*/ 21 w 21"/>
                  <a:gd name="T3" fmla="*/ 3 h 19"/>
                  <a:gd name="T4" fmla="*/ 10 w 21"/>
                  <a:gd name="T5" fmla="*/ 3 h 19"/>
                  <a:gd name="T6" fmla="*/ 1 w 21"/>
                  <a:gd name="T7" fmla="*/ 12 h 19"/>
                  <a:gd name="T8" fmla="*/ 1 w 21"/>
                  <a:gd name="T9" fmla="*/ 17 h 19"/>
                  <a:gd name="T10" fmla="*/ 7 w 21"/>
                  <a:gd name="T11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9">
                    <a:moveTo>
                      <a:pt x="7" y="17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8" y="0"/>
                      <a:pt x="13" y="0"/>
                      <a:pt x="10" y="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0" y="16"/>
                      <a:pt x="1" y="17"/>
                    </a:cubicBezTo>
                    <a:cubicBezTo>
                      <a:pt x="3" y="19"/>
                      <a:pt x="5" y="19"/>
                      <a:pt x="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8" name="Freeform 242"/>
              <p:cNvSpPr>
                <a:spLocks/>
              </p:cNvSpPr>
              <p:nvPr/>
            </p:nvSpPr>
            <p:spPr bwMode="auto">
              <a:xfrm>
                <a:off x="2713038" y="6588126"/>
                <a:ext cx="71438" cy="77788"/>
              </a:xfrm>
              <a:custGeom>
                <a:avLst/>
                <a:gdLst>
                  <a:gd name="T0" fmla="*/ 2 w 19"/>
                  <a:gd name="T1" fmla="*/ 14 h 21"/>
                  <a:gd name="T2" fmla="*/ 2 w 19"/>
                  <a:gd name="T3" fmla="*/ 20 h 21"/>
                  <a:gd name="T4" fmla="*/ 7 w 19"/>
                  <a:gd name="T5" fmla="*/ 20 h 21"/>
                  <a:gd name="T6" fmla="*/ 16 w 19"/>
                  <a:gd name="T7" fmla="*/ 11 h 21"/>
                  <a:gd name="T8" fmla="*/ 16 w 19"/>
                  <a:gd name="T9" fmla="*/ 0 h 21"/>
                  <a:gd name="T10" fmla="*/ 2 w 19"/>
                  <a:gd name="T1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21">
                    <a:moveTo>
                      <a:pt x="2" y="14"/>
                    </a:moveTo>
                    <a:cubicBezTo>
                      <a:pt x="0" y="16"/>
                      <a:pt x="0" y="18"/>
                      <a:pt x="2" y="20"/>
                    </a:cubicBezTo>
                    <a:cubicBezTo>
                      <a:pt x="3" y="21"/>
                      <a:pt x="6" y="21"/>
                      <a:pt x="7" y="20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9" y="8"/>
                      <a:pt x="19" y="3"/>
                      <a:pt x="16" y="0"/>
                    </a:cubicBezTo>
                    <a:lnTo>
                      <a:pt x="2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9" name="Freeform 243"/>
              <p:cNvSpPr>
                <a:spLocks/>
              </p:cNvSpPr>
              <p:nvPr/>
            </p:nvSpPr>
            <p:spPr bwMode="auto">
              <a:xfrm>
                <a:off x="2668588" y="6577013"/>
                <a:ext cx="41275" cy="41275"/>
              </a:xfrm>
              <a:custGeom>
                <a:avLst/>
                <a:gdLst>
                  <a:gd name="T0" fmla="*/ 1 w 11"/>
                  <a:gd name="T1" fmla="*/ 2 h 11"/>
                  <a:gd name="T2" fmla="*/ 1 w 11"/>
                  <a:gd name="T3" fmla="*/ 4 h 11"/>
                  <a:gd name="T4" fmla="*/ 7 w 11"/>
                  <a:gd name="T5" fmla="*/ 10 h 11"/>
                  <a:gd name="T6" fmla="*/ 9 w 11"/>
                  <a:gd name="T7" fmla="*/ 10 h 11"/>
                  <a:gd name="T8" fmla="*/ 11 w 11"/>
                  <a:gd name="T9" fmla="*/ 9 h 11"/>
                  <a:gd name="T10" fmla="*/ 2 w 11"/>
                  <a:gd name="T11" fmla="*/ 0 h 11"/>
                  <a:gd name="T12" fmla="*/ 1 w 11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1">
                    <a:moveTo>
                      <a:pt x="1" y="2"/>
                    </a:moveTo>
                    <a:cubicBezTo>
                      <a:pt x="0" y="2"/>
                      <a:pt x="0" y="4"/>
                      <a:pt x="1" y="4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11"/>
                      <a:pt x="9" y="11"/>
                      <a:pt x="9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60" name="Freeform 244"/>
              <p:cNvSpPr>
                <a:spLocks/>
              </p:cNvSpPr>
              <p:nvPr/>
            </p:nvSpPr>
            <p:spPr bwMode="auto">
              <a:xfrm>
                <a:off x="2611438" y="6599238"/>
                <a:ext cx="76200" cy="74613"/>
              </a:xfrm>
              <a:custGeom>
                <a:avLst/>
                <a:gdLst>
                  <a:gd name="T0" fmla="*/ 0 w 20"/>
                  <a:gd name="T1" fmla="*/ 20 h 20"/>
                  <a:gd name="T2" fmla="*/ 16 w 20"/>
                  <a:gd name="T3" fmla="*/ 4 h 20"/>
                  <a:gd name="T4" fmla="*/ 0 w 20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20">
                    <a:moveTo>
                      <a:pt x="0" y="20"/>
                    </a:moveTo>
                    <a:cubicBezTo>
                      <a:pt x="8" y="16"/>
                      <a:pt x="20" y="8"/>
                      <a:pt x="16" y="4"/>
                    </a:cubicBezTo>
                    <a:cubicBezTo>
                      <a:pt x="12" y="0"/>
                      <a:pt x="4" y="12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28" name="Freeform 269"/>
            <p:cNvSpPr>
              <a:spLocks/>
            </p:cNvSpPr>
            <p:nvPr/>
          </p:nvSpPr>
          <p:spPr bwMode="auto">
            <a:xfrm>
              <a:off x="6087824" y="2916765"/>
              <a:ext cx="406954" cy="432747"/>
            </a:xfrm>
            <a:custGeom>
              <a:avLst/>
              <a:gdLst>
                <a:gd name="T0" fmla="*/ 59 w 60"/>
                <a:gd name="T1" fmla="*/ 40 h 64"/>
                <a:gd name="T2" fmla="*/ 36 w 60"/>
                <a:gd name="T3" fmla="*/ 23 h 64"/>
                <a:gd name="T4" fmla="*/ 36 w 60"/>
                <a:gd name="T5" fmla="*/ 12 h 64"/>
                <a:gd name="T6" fmla="*/ 30 w 60"/>
                <a:gd name="T7" fmla="*/ 0 h 64"/>
                <a:gd name="T8" fmla="*/ 24 w 60"/>
                <a:gd name="T9" fmla="*/ 12 h 64"/>
                <a:gd name="T10" fmla="*/ 24 w 60"/>
                <a:gd name="T11" fmla="*/ 23 h 64"/>
                <a:gd name="T12" fmla="*/ 1 w 60"/>
                <a:gd name="T13" fmla="*/ 40 h 64"/>
                <a:gd name="T14" fmla="*/ 0 w 60"/>
                <a:gd name="T15" fmla="*/ 42 h 64"/>
                <a:gd name="T16" fmla="*/ 0 w 60"/>
                <a:gd name="T17" fmla="*/ 42 h 64"/>
                <a:gd name="T18" fmla="*/ 1 w 60"/>
                <a:gd name="T19" fmla="*/ 44 h 64"/>
                <a:gd name="T20" fmla="*/ 2 w 60"/>
                <a:gd name="T21" fmla="*/ 44 h 64"/>
                <a:gd name="T22" fmla="*/ 24 w 60"/>
                <a:gd name="T23" fmla="*/ 38 h 64"/>
                <a:gd name="T24" fmla="*/ 24 w 60"/>
                <a:gd name="T25" fmla="*/ 42 h 64"/>
                <a:gd name="T26" fmla="*/ 24 w 60"/>
                <a:gd name="T27" fmla="*/ 55 h 64"/>
                <a:gd name="T28" fmla="*/ 17 w 60"/>
                <a:gd name="T29" fmla="*/ 60 h 64"/>
                <a:gd name="T30" fmla="*/ 16 w 60"/>
                <a:gd name="T31" fmla="*/ 62 h 64"/>
                <a:gd name="T32" fmla="*/ 16 w 60"/>
                <a:gd name="T33" fmla="*/ 62 h 64"/>
                <a:gd name="T34" fmla="*/ 17 w 60"/>
                <a:gd name="T35" fmla="*/ 64 h 64"/>
                <a:gd name="T36" fmla="*/ 19 w 60"/>
                <a:gd name="T37" fmla="*/ 64 h 64"/>
                <a:gd name="T38" fmla="*/ 30 w 60"/>
                <a:gd name="T39" fmla="*/ 60 h 64"/>
                <a:gd name="T40" fmla="*/ 41 w 60"/>
                <a:gd name="T41" fmla="*/ 64 h 64"/>
                <a:gd name="T42" fmla="*/ 43 w 60"/>
                <a:gd name="T43" fmla="*/ 64 h 64"/>
                <a:gd name="T44" fmla="*/ 44 w 60"/>
                <a:gd name="T45" fmla="*/ 62 h 64"/>
                <a:gd name="T46" fmla="*/ 44 w 60"/>
                <a:gd name="T47" fmla="*/ 62 h 64"/>
                <a:gd name="T48" fmla="*/ 43 w 60"/>
                <a:gd name="T49" fmla="*/ 60 h 64"/>
                <a:gd name="T50" fmla="*/ 36 w 60"/>
                <a:gd name="T51" fmla="*/ 55 h 64"/>
                <a:gd name="T52" fmla="*/ 36 w 60"/>
                <a:gd name="T53" fmla="*/ 42 h 64"/>
                <a:gd name="T54" fmla="*/ 36 w 60"/>
                <a:gd name="T55" fmla="*/ 38 h 64"/>
                <a:gd name="T56" fmla="*/ 58 w 60"/>
                <a:gd name="T57" fmla="*/ 44 h 64"/>
                <a:gd name="T58" fmla="*/ 59 w 60"/>
                <a:gd name="T59" fmla="*/ 44 h 64"/>
                <a:gd name="T60" fmla="*/ 60 w 60"/>
                <a:gd name="T61" fmla="*/ 42 h 64"/>
                <a:gd name="T62" fmla="*/ 60 w 60"/>
                <a:gd name="T63" fmla="*/ 42 h 64"/>
                <a:gd name="T64" fmla="*/ 59 w 60"/>
                <a:gd name="T65" fmla="*/ 4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" h="64">
                  <a:moveTo>
                    <a:pt x="59" y="40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9"/>
                    <a:pt x="33" y="0"/>
                    <a:pt x="30" y="0"/>
                  </a:cubicBezTo>
                  <a:cubicBezTo>
                    <a:pt x="27" y="0"/>
                    <a:pt x="24" y="9"/>
                    <a:pt x="24" y="12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1" y="44"/>
                  </a:cubicBezTo>
                  <a:cubicBezTo>
                    <a:pt x="1" y="44"/>
                    <a:pt x="2" y="44"/>
                    <a:pt x="2" y="4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6" y="60"/>
                    <a:pt x="16" y="61"/>
                    <a:pt x="16" y="62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6" y="63"/>
                    <a:pt x="16" y="63"/>
                    <a:pt x="17" y="64"/>
                  </a:cubicBezTo>
                  <a:cubicBezTo>
                    <a:pt x="17" y="64"/>
                    <a:pt x="18" y="64"/>
                    <a:pt x="19" y="64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2" y="64"/>
                    <a:pt x="43" y="64"/>
                    <a:pt x="43" y="64"/>
                  </a:cubicBezTo>
                  <a:cubicBezTo>
                    <a:pt x="44" y="63"/>
                    <a:pt x="44" y="63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1"/>
                    <a:pt x="44" y="60"/>
                    <a:pt x="43" y="6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4"/>
                    <a:pt x="59" y="44"/>
                    <a:pt x="59" y="44"/>
                  </a:cubicBezTo>
                  <a:cubicBezTo>
                    <a:pt x="60" y="43"/>
                    <a:pt x="60" y="43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29" name="Freeform 184"/>
            <p:cNvSpPr>
              <a:spLocks/>
            </p:cNvSpPr>
            <p:nvPr/>
          </p:nvSpPr>
          <p:spPr bwMode="auto">
            <a:xfrm>
              <a:off x="5783010" y="2952364"/>
              <a:ext cx="249191" cy="186894"/>
            </a:xfrm>
            <a:custGeom>
              <a:avLst/>
              <a:gdLst>
                <a:gd name="T0" fmla="*/ 67 w 152"/>
                <a:gd name="T1" fmla="*/ 19 h 114"/>
                <a:gd name="T2" fmla="*/ 50 w 152"/>
                <a:gd name="T3" fmla="*/ 0 h 114"/>
                <a:gd name="T4" fmla="*/ 0 w 152"/>
                <a:gd name="T5" fmla="*/ 0 h 114"/>
                <a:gd name="T6" fmla="*/ 0 w 152"/>
                <a:gd name="T7" fmla="*/ 114 h 114"/>
                <a:gd name="T8" fmla="*/ 152 w 152"/>
                <a:gd name="T9" fmla="*/ 114 h 114"/>
                <a:gd name="T10" fmla="*/ 152 w 152"/>
                <a:gd name="T11" fmla="*/ 19 h 114"/>
                <a:gd name="T12" fmla="*/ 67 w 152"/>
                <a:gd name="T13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14">
                  <a:moveTo>
                    <a:pt x="67" y="19"/>
                  </a:moveTo>
                  <a:lnTo>
                    <a:pt x="50" y="0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152" y="114"/>
                  </a:lnTo>
                  <a:lnTo>
                    <a:pt x="152" y="19"/>
                  </a:lnTo>
                  <a:lnTo>
                    <a:pt x="67" y="19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30" name="Freeform 170"/>
            <p:cNvSpPr>
              <a:spLocks/>
            </p:cNvSpPr>
            <p:nvPr/>
          </p:nvSpPr>
          <p:spPr bwMode="auto">
            <a:xfrm>
              <a:off x="6273604" y="2676475"/>
              <a:ext cx="300364" cy="300364"/>
            </a:xfrm>
            <a:custGeom>
              <a:avLst/>
              <a:gdLst>
                <a:gd name="T0" fmla="*/ 56 w 64"/>
                <a:gd name="T1" fmla="*/ 17 h 64"/>
                <a:gd name="T2" fmla="*/ 56 w 64"/>
                <a:gd name="T3" fmla="*/ 16 h 64"/>
                <a:gd name="T4" fmla="*/ 45 w 64"/>
                <a:gd name="T5" fmla="*/ 4 h 64"/>
                <a:gd name="T6" fmla="*/ 36 w 64"/>
                <a:gd name="T7" fmla="*/ 0 h 64"/>
                <a:gd name="T8" fmla="*/ 26 w 64"/>
                <a:gd name="T9" fmla="*/ 6 h 64"/>
                <a:gd name="T10" fmla="*/ 20 w 64"/>
                <a:gd name="T11" fmla="*/ 4 h 64"/>
                <a:gd name="T12" fmla="*/ 8 w 64"/>
                <a:gd name="T13" fmla="*/ 16 h 64"/>
                <a:gd name="T14" fmla="*/ 8 w 64"/>
                <a:gd name="T15" fmla="*/ 17 h 64"/>
                <a:gd name="T16" fmla="*/ 0 w 64"/>
                <a:gd name="T17" fmla="*/ 28 h 64"/>
                <a:gd name="T18" fmla="*/ 12 w 64"/>
                <a:gd name="T19" fmla="*/ 40 h 64"/>
                <a:gd name="T20" fmla="*/ 18 w 64"/>
                <a:gd name="T21" fmla="*/ 38 h 64"/>
                <a:gd name="T22" fmla="*/ 24 w 64"/>
                <a:gd name="T23" fmla="*/ 40 h 64"/>
                <a:gd name="T24" fmla="*/ 28 w 64"/>
                <a:gd name="T25" fmla="*/ 39 h 64"/>
                <a:gd name="T26" fmla="*/ 28 w 64"/>
                <a:gd name="T27" fmla="*/ 60 h 64"/>
                <a:gd name="T28" fmla="*/ 24 w 64"/>
                <a:gd name="T29" fmla="*/ 60 h 64"/>
                <a:gd name="T30" fmla="*/ 24 w 64"/>
                <a:gd name="T31" fmla="*/ 64 h 64"/>
                <a:gd name="T32" fmla="*/ 40 w 64"/>
                <a:gd name="T33" fmla="*/ 64 h 64"/>
                <a:gd name="T34" fmla="*/ 40 w 64"/>
                <a:gd name="T35" fmla="*/ 60 h 64"/>
                <a:gd name="T36" fmla="*/ 36 w 64"/>
                <a:gd name="T37" fmla="*/ 60 h 64"/>
                <a:gd name="T38" fmla="*/ 36 w 64"/>
                <a:gd name="T39" fmla="*/ 40 h 64"/>
                <a:gd name="T40" fmla="*/ 38 w 64"/>
                <a:gd name="T41" fmla="*/ 40 h 64"/>
                <a:gd name="T42" fmla="*/ 40 w 64"/>
                <a:gd name="T43" fmla="*/ 40 h 64"/>
                <a:gd name="T44" fmla="*/ 46 w 64"/>
                <a:gd name="T45" fmla="*/ 38 h 64"/>
                <a:gd name="T46" fmla="*/ 52 w 64"/>
                <a:gd name="T47" fmla="*/ 40 h 64"/>
                <a:gd name="T48" fmla="*/ 64 w 64"/>
                <a:gd name="T49" fmla="*/ 28 h 64"/>
                <a:gd name="T50" fmla="*/ 56 w 64"/>
                <a:gd name="T51" fmla="*/ 1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6" y="17"/>
                  </a:moveTo>
                  <a:cubicBezTo>
                    <a:pt x="56" y="16"/>
                    <a:pt x="56" y="16"/>
                    <a:pt x="56" y="16"/>
                  </a:cubicBezTo>
                  <a:cubicBezTo>
                    <a:pt x="56" y="10"/>
                    <a:pt x="51" y="5"/>
                    <a:pt x="45" y="4"/>
                  </a:cubicBezTo>
                  <a:cubicBezTo>
                    <a:pt x="43" y="2"/>
                    <a:pt x="40" y="0"/>
                    <a:pt x="36" y="0"/>
                  </a:cubicBezTo>
                  <a:cubicBezTo>
                    <a:pt x="32" y="0"/>
                    <a:pt x="28" y="2"/>
                    <a:pt x="26" y="6"/>
                  </a:cubicBezTo>
                  <a:cubicBezTo>
                    <a:pt x="24" y="5"/>
                    <a:pt x="22" y="4"/>
                    <a:pt x="20" y="4"/>
                  </a:cubicBezTo>
                  <a:cubicBezTo>
                    <a:pt x="13" y="4"/>
                    <a:pt x="8" y="9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3" y="18"/>
                    <a:pt x="0" y="23"/>
                    <a:pt x="0" y="28"/>
                  </a:cubicBezTo>
                  <a:cubicBezTo>
                    <a:pt x="0" y="35"/>
                    <a:pt x="5" y="40"/>
                    <a:pt x="12" y="40"/>
                  </a:cubicBezTo>
                  <a:cubicBezTo>
                    <a:pt x="14" y="40"/>
                    <a:pt x="16" y="39"/>
                    <a:pt x="18" y="38"/>
                  </a:cubicBezTo>
                  <a:cubicBezTo>
                    <a:pt x="20" y="39"/>
                    <a:pt x="22" y="40"/>
                    <a:pt x="24" y="40"/>
                  </a:cubicBezTo>
                  <a:cubicBezTo>
                    <a:pt x="25" y="40"/>
                    <a:pt x="27" y="40"/>
                    <a:pt x="28" y="3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2" y="40"/>
                    <a:pt x="44" y="39"/>
                    <a:pt x="46" y="38"/>
                  </a:cubicBezTo>
                  <a:cubicBezTo>
                    <a:pt x="48" y="39"/>
                    <a:pt x="50" y="40"/>
                    <a:pt x="52" y="40"/>
                  </a:cubicBezTo>
                  <a:cubicBezTo>
                    <a:pt x="59" y="40"/>
                    <a:pt x="64" y="35"/>
                    <a:pt x="64" y="28"/>
                  </a:cubicBezTo>
                  <a:cubicBezTo>
                    <a:pt x="64" y="23"/>
                    <a:pt x="61" y="18"/>
                    <a:pt x="56" y="17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31" name="Group 65"/>
            <p:cNvGrpSpPr/>
            <p:nvPr/>
          </p:nvGrpSpPr>
          <p:grpSpPr>
            <a:xfrm>
              <a:off x="6106736" y="2743592"/>
              <a:ext cx="101235" cy="269958"/>
              <a:chOff x="3724276" y="2106613"/>
              <a:chExt cx="90488" cy="241300"/>
            </a:xfrm>
            <a:solidFill>
              <a:srgbClr val="DDDBDB"/>
            </a:solidFill>
          </p:grpSpPr>
          <p:sp>
            <p:nvSpPr>
              <p:cNvPr id="154" name="Freeform 121"/>
              <p:cNvSpPr>
                <a:spLocks/>
              </p:cNvSpPr>
              <p:nvPr/>
            </p:nvSpPr>
            <p:spPr bwMode="auto">
              <a:xfrm>
                <a:off x="3724276" y="2166938"/>
                <a:ext cx="90488" cy="180975"/>
              </a:xfrm>
              <a:custGeom>
                <a:avLst/>
                <a:gdLst>
                  <a:gd name="T0" fmla="*/ 16 w 24"/>
                  <a:gd name="T1" fmla="*/ 0 h 48"/>
                  <a:gd name="T2" fmla="*/ 8 w 24"/>
                  <a:gd name="T3" fmla="*/ 0 h 48"/>
                  <a:gd name="T4" fmla="*/ 0 w 24"/>
                  <a:gd name="T5" fmla="*/ 8 h 48"/>
                  <a:gd name="T6" fmla="*/ 0 w 24"/>
                  <a:gd name="T7" fmla="*/ 24 h 48"/>
                  <a:gd name="T8" fmla="*/ 4 w 24"/>
                  <a:gd name="T9" fmla="*/ 24 h 48"/>
                  <a:gd name="T10" fmla="*/ 4 w 24"/>
                  <a:gd name="T11" fmla="*/ 48 h 48"/>
                  <a:gd name="T12" fmla="*/ 20 w 24"/>
                  <a:gd name="T13" fmla="*/ 48 h 48"/>
                  <a:gd name="T14" fmla="*/ 20 w 24"/>
                  <a:gd name="T15" fmla="*/ 24 h 48"/>
                  <a:gd name="T16" fmla="*/ 24 w 24"/>
                  <a:gd name="T17" fmla="*/ 24 h 48"/>
                  <a:gd name="T18" fmla="*/ 24 w 24"/>
                  <a:gd name="T19" fmla="*/ 8 h 48"/>
                  <a:gd name="T20" fmla="*/ 16 w 24"/>
                  <a:gd name="T21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48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5" name="Oval 122"/>
              <p:cNvSpPr>
                <a:spLocks noChangeArrowheads="1"/>
              </p:cNvSpPr>
              <p:nvPr/>
            </p:nvSpPr>
            <p:spPr bwMode="auto">
              <a:xfrm>
                <a:off x="3746501" y="21066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32" name="Freeform 60"/>
            <p:cNvSpPr>
              <a:spLocks noEditPoints="1"/>
            </p:cNvSpPr>
            <p:nvPr/>
          </p:nvSpPr>
          <p:spPr bwMode="auto">
            <a:xfrm>
              <a:off x="5801922" y="2614177"/>
              <a:ext cx="277003" cy="277003"/>
            </a:xfrm>
            <a:custGeom>
              <a:avLst/>
              <a:gdLst>
                <a:gd name="T0" fmla="*/ 55 w 64"/>
                <a:gd name="T1" fmla="*/ 26 h 64"/>
                <a:gd name="T2" fmla="*/ 36 w 64"/>
                <a:gd name="T3" fmla="*/ 46 h 64"/>
                <a:gd name="T4" fmla="*/ 18 w 64"/>
                <a:gd name="T5" fmla="*/ 46 h 64"/>
                <a:gd name="T6" fmla="*/ 18 w 64"/>
                <a:gd name="T7" fmla="*/ 28 h 64"/>
                <a:gd name="T8" fmla="*/ 38 w 64"/>
                <a:gd name="T9" fmla="*/ 9 h 64"/>
                <a:gd name="T10" fmla="*/ 29 w 64"/>
                <a:gd name="T11" fmla="*/ 0 h 64"/>
                <a:gd name="T12" fmla="*/ 10 w 64"/>
                <a:gd name="T13" fmla="*/ 20 h 64"/>
                <a:gd name="T14" fmla="*/ 10 w 64"/>
                <a:gd name="T15" fmla="*/ 54 h 64"/>
                <a:gd name="T16" fmla="*/ 44 w 64"/>
                <a:gd name="T17" fmla="*/ 54 h 64"/>
                <a:gd name="T18" fmla="*/ 64 w 64"/>
                <a:gd name="T19" fmla="*/ 35 h 64"/>
                <a:gd name="T20" fmla="*/ 55 w 64"/>
                <a:gd name="T21" fmla="*/ 26 h 64"/>
                <a:gd name="T22" fmla="*/ 29 w 64"/>
                <a:gd name="T23" fmla="*/ 4 h 64"/>
                <a:gd name="T24" fmla="*/ 33 w 64"/>
                <a:gd name="T25" fmla="*/ 9 h 64"/>
                <a:gd name="T26" fmla="*/ 27 w 64"/>
                <a:gd name="T27" fmla="*/ 15 h 64"/>
                <a:gd name="T28" fmla="*/ 23 w 64"/>
                <a:gd name="T29" fmla="*/ 11 h 64"/>
                <a:gd name="T30" fmla="*/ 29 w 64"/>
                <a:gd name="T31" fmla="*/ 4 h 64"/>
                <a:gd name="T32" fmla="*/ 49 w 64"/>
                <a:gd name="T33" fmla="*/ 37 h 64"/>
                <a:gd name="T34" fmla="*/ 55 w 64"/>
                <a:gd name="T35" fmla="*/ 31 h 64"/>
                <a:gd name="T36" fmla="*/ 60 w 64"/>
                <a:gd name="T37" fmla="*/ 35 h 64"/>
                <a:gd name="T38" fmla="*/ 53 w 64"/>
                <a:gd name="T39" fmla="*/ 41 h 64"/>
                <a:gd name="T40" fmla="*/ 49 w 64"/>
                <a:gd name="T41" fmla="*/ 3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4">
                  <a:moveTo>
                    <a:pt x="55" y="26"/>
                  </a:moveTo>
                  <a:cubicBezTo>
                    <a:pt x="36" y="46"/>
                    <a:pt x="36" y="46"/>
                    <a:pt x="36" y="46"/>
                  </a:cubicBezTo>
                  <a:cubicBezTo>
                    <a:pt x="31" y="51"/>
                    <a:pt x="23" y="51"/>
                    <a:pt x="18" y="46"/>
                  </a:cubicBezTo>
                  <a:cubicBezTo>
                    <a:pt x="13" y="41"/>
                    <a:pt x="13" y="33"/>
                    <a:pt x="18" y="28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0" y="29"/>
                    <a:pt x="0" y="45"/>
                    <a:pt x="10" y="54"/>
                  </a:cubicBezTo>
                  <a:cubicBezTo>
                    <a:pt x="19" y="64"/>
                    <a:pt x="35" y="64"/>
                    <a:pt x="44" y="54"/>
                  </a:cubicBezTo>
                  <a:cubicBezTo>
                    <a:pt x="64" y="35"/>
                    <a:pt x="64" y="35"/>
                    <a:pt x="64" y="35"/>
                  </a:cubicBezTo>
                  <a:lnTo>
                    <a:pt x="55" y="26"/>
                  </a:lnTo>
                  <a:close/>
                  <a:moveTo>
                    <a:pt x="29" y="4"/>
                  </a:moveTo>
                  <a:cubicBezTo>
                    <a:pt x="33" y="9"/>
                    <a:pt x="33" y="9"/>
                    <a:pt x="33" y="9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3" y="11"/>
                    <a:pt x="23" y="11"/>
                    <a:pt x="23" y="11"/>
                  </a:cubicBezTo>
                  <a:lnTo>
                    <a:pt x="29" y="4"/>
                  </a:lnTo>
                  <a:close/>
                  <a:moveTo>
                    <a:pt x="49" y="37"/>
                  </a:moveTo>
                  <a:cubicBezTo>
                    <a:pt x="55" y="31"/>
                    <a:pt x="55" y="31"/>
                    <a:pt x="55" y="31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49" y="37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33" name="Freeform 322"/>
            <p:cNvSpPr>
              <a:spLocks/>
            </p:cNvSpPr>
            <p:nvPr/>
          </p:nvSpPr>
          <p:spPr bwMode="auto">
            <a:xfrm>
              <a:off x="5806373" y="2172682"/>
              <a:ext cx="323119" cy="343599"/>
            </a:xfrm>
            <a:custGeom>
              <a:avLst/>
              <a:gdLst>
                <a:gd name="T0" fmla="*/ 32 w 60"/>
                <a:gd name="T1" fmla="*/ 4 h 64"/>
                <a:gd name="T2" fmla="*/ 32 w 60"/>
                <a:gd name="T3" fmla="*/ 2 h 64"/>
                <a:gd name="T4" fmla="*/ 30 w 60"/>
                <a:gd name="T5" fmla="*/ 0 h 64"/>
                <a:gd name="T6" fmla="*/ 28 w 60"/>
                <a:gd name="T7" fmla="*/ 2 h 64"/>
                <a:gd name="T8" fmla="*/ 28 w 60"/>
                <a:gd name="T9" fmla="*/ 4 h 64"/>
                <a:gd name="T10" fmla="*/ 0 w 60"/>
                <a:gd name="T11" fmla="*/ 34 h 64"/>
                <a:gd name="T12" fmla="*/ 0 w 60"/>
                <a:gd name="T13" fmla="*/ 36 h 64"/>
                <a:gd name="T14" fmla="*/ 0 w 60"/>
                <a:gd name="T15" fmla="*/ 36 h 64"/>
                <a:gd name="T16" fmla="*/ 10 w 60"/>
                <a:gd name="T17" fmla="*/ 28 h 64"/>
                <a:gd name="T18" fmla="*/ 20 w 60"/>
                <a:gd name="T19" fmla="*/ 36 h 64"/>
                <a:gd name="T20" fmla="*/ 20 w 60"/>
                <a:gd name="T21" fmla="*/ 36 h 64"/>
                <a:gd name="T22" fmla="*/ 28 w 60"/>
                <a:gd name="T23" fmla="*/ 28 h 64"/>
                <a:gd name="T24" fmla="*/ 28 w 60"/>
                <a:gd name="T25" fmla="*/ 50 h 64"/>
                <a:gd name="T26" fmla="*/ 22 w 60"/>
                <a:gd name="T27" fmla="*/ 60 h 64"/>
                <a:gd name="T28" fmla="*/ 16 w 60"/>
                <a:gd name="T29" fmla="*/ 54 h 64"/>
                <a:gd name="T30" fmla="*/ 14 w 60"/>
                <a:gd name="T31" fmla="*/ 52 h 64"/>
                <a:gd name="T32" fmla="*/ 12 w 60"/>
                <a:gd name="T33" fmla="*/ 54 h 64"/>
                <a:gd name="T34" fmla="*/ 22 w 60"/>
                <a:gd name="T35" fmla="*/ 64 h 64"/>
                <a:gd name="T36" fmla="*/ 32 w 60"/>
                <a:gd name="T37" fmla="*/ 50 h 64"/>
                <a:gd name="T38" fmla="*/ 32 w 60"/>
                <a:gd name="T39" fmla="*/ 28 h 64"/>
                <a:gd name="T40" fmla="*/ 40 w 60"/>
                <a:gd name="T41" fmla="*/ 36 h 64"/>
                <a:gd name="T42" fmla="*/ 40 w 60"/>
                <a:gd name="T43" fmla="*/ 36 h 64"/>
                <a:gd name="T44" fmla="*/ 50 w 60"/>
                <a:gd name="T45" fmla="*/ 28 h 64"/>
                <a:gd name="T46" fmla="*/ 60 w 60"/>
                <a:gd name="T47" fmla="*/ 36 h 64"/>
                <a:gd name="T48" fmla="*/ 60 w 60"/>
                <a:gd name="T49" fmla="*/ 36 h 64"/>
                <a:gd name="T50" fmla="*/ 60 w 60"/>
                <a:gd name="T51" fmla="*/ 34 h 64"/>
                <a:gd name="T52" fmla="*/ 32 w 60"/>
                <a:gd name="T53" fmla="*/ 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64">
                  <a:moveTo>
                    <a:pt x="32" y="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12" y="5"/>
                    <a:pt x="0" y="18"/>
                    <a:pt x="0" y="34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1"/>
                    <a:pt x="5" y="28"/>
                    <a:pt x="10" y="28"/>
                  </a:cubicBezTo>
                  <a:cubicBezTo>
                    <a:pt x="15" y="28"/>
                    <a:pt x="19" y="31"/>
                    <a:pt x="20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2"/>
                    <a:pt x="24" y="29"/>
                    <a:pt x="28" y="28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60"/>
                    <a:pt x="26" y="60"/>
                    <a:pt x="22" y="60"/>
                  </a:cubicBezTo>
                  <a:cubicBezTo>
                    <a:pt x="16" y="60"/>
                    <a:pt x="16" y="58"/>
                    <a:pt x="16" y="54"/>
                  </a:cubicBezTo>
                  <a:cubicBezTo>
                    <a:pt x="16" y="53"/>
                    <a:pt x="15" y="52"/>
                    <a:pt x="14" y="52"/>
                  </a:cubicBezTo>
                  <a:cubicBezTo>
                    <a:pt x="13" y="52"/>
                    <a:pt x="12" y="53"/>
                    <a:pt x="12" y="54"/>
                  </a:cubicBezTo>
                  <a:cubicBezTo>
                    <a:pt x="12" y="58"/>
                    <a:pt x="12" y="64"/>
                    <a:pt x="22" y="64"/>
                  </a:cubicBezTo>
                  <a:cubicBezTo>
                    <a:pt x="27" y="64"/>
                    <a:pt x="32" y="63"/>
                    <a:pt x="32" y="50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6" y="29"/>
                    <a:pt x="39" y="32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1"/>
                    <a:pt x="45" y="28"/>
                    <a:pt x="50" y="28"/>
                  </a:cubicBezTo>
                  <a:cubicBezTo>
                    <a:pt x="55" y="28"/>
                    <a:pt x="59" y="31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5"/>
                    <a:pt x="60" y="35"/>
                    <a:pt x="60" y="34"/>
                  </a:cubicBezTo>
                  <a:cubicBezTo>
                    <a:pt x="60" y="18"/>
                    <a:pt x="48" y="5"/>
                    <a:pt x="32" y="4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34" name="Group 70"/>
            <p:cNvGrpSpPr/>
            <p:nvPr/>
          </p:nvGrpSpPr>
          <p:grpSpPr>
            <a:xfrm>
              <a:off x="6035539" y="2484277"/>
              <a:ext cx="247859" cy="216671"/>
              <a:chOff x="4054476" y="5502276"/>
              <a:chExt cx="239712" cy="209550"/>
            </a:xfrm>
            <a:solidFill>
              <a:srgbClr val="DDDBDB"/>
            </a:solidFill>
          </p:grpSpPr>
          <p:sp>
            <p:nvSpPr>
              <p:cNvPr id="151" name="Freeform 323"/>
              <p:cNvSpPr>
                <a:spLocks/>
              </p:cNvSpPr>
              <p:nvPr/>
            </p:nvSpPr>
            <p:spPr bwMode="auto">
              <a:xfrm>
                <a:off x="4054476" y="5546726"/>
                <a:ext cx="30163" cy="165100"/>
              </a:xfrm>
              <a:custGeom>
                <a:avLst/>
                <a:gdLst>
                  <a:gd name="T0" fmla="*/ 0 w 8"/>
                  <a:gd name="T1" fmla="*/ 8 h 44"/>
                  <a:gd name="T2" fmla="*/ 0 w 8"/>
                  <a:gd name="T3" fmla="*/ 36 h 44"/>
                  <a:gd name="T4" fmla="*/ 8 w 8"/>
                  <a:gd name="T5" fmla="*/ 44 h 44"/>
                  <a:gd name="T6" fmla="*/ 8 w 8"/>
                  <a:gd name="T7" fmla="*/ 0 h 44"/>
                  <a:gd name="T8" fmla="*/ 0 w 8"/>
                  <a:gd name="T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4">
                    <a:moveTo>
                      <a:pt x="0" y="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2" name="Freeform 324"/>
              <p:cNvSpPr>
                <a:spLocks noEditPoints="1"/>
              </p:cNvSpPr>
              <p:nvPr/>
            </p:nvSpPr>
            <p:spPr bwMode="auto">
              <a:xfrm>
                <a:off x="4098926" y="5502276"/>
                <a:ext cx="150813" cy="209550"/>
              </a:xfrm>
              <a:custGeom>
                <a:avLst/>
                <a:gdLst>
                  <a:gd name="T0" fmla="*/ 32 w 40"/>
                  <a:gd name="T1" fmla="*/ 4 h 56"/>
                  <a:gd name="T2" fmla="*/ 28 w 40"/>
                  <a:gd name="T3" fmla="*/ 0 h 56"/>
                  <a:gd name="T4" fmla="*/ 12 w 40"/>
                  <a:gd name="T5" fmla="*/ 0 h 56"/>
                  <a:gd name="T6" fmla="*/ 8 w 40"/>
                  <a:gd name="T7" fmla="*/ 4 h 56"/>
                  <a:gd name="T8" fmla="*/ 8 w 40"/>
                  <a:gd name="T9" fmla="*/ 12 h 56"/>
                  <a:gd name="T10" fmla="*/ 0 w 40"/>
                  <a:gd name="T11" fmla="*/ 12 h 56"/>
                  <a:gd name="T12" fmla="*/ 0 w 40"/>
                  <a:gd name="T13" fmla="*/ 56 h 56"/>
                  <a:gd name="T14" fmla="*/ 40 w 40"/>
                  <a:gd name="T15" fmla="*/ 56 h 56"/>
                  <a:gd name="T16" fmla="*/ 40 w 40"/>
                  <a:gd name="T17" fmla="*/ 12 h 56"/>
                  <a:gd name="T18" fmla="*/ 32 w 40"/>
                  <a:gd name="T19" fmla="*/ 12 h 56"/>
                  <a:gd name="T20" fmla="*/ 32 w 40"/>
                  <a:gd name="T21" fmla="*/ 4 h 56"/>
                  <a:gd name="T22" fmla="*/ 28 w 40"/>
                  <a:gd name="T23" fmla="*/ 12 h 56"/>
                  <a:gd name="T24" fmla="*/ 12 w 40"/>
                  <a:gd name="T25" fmla="*/ 12 h 56"/>
                  <a:gd name="T26" fmla="*/ 12 w 40"/>
                  <a:gd name="T27" fmla="*/ 4 h 56"/>
                  <a:gd name="T28" fmla="*/ 28 w 40"/>
                  <a:gd name="T29" fmla="*/ 4 h 56"/>
                  <a:gd name="T30" fmla="*/ 28 w 40"/>
                  <a:gd name="T31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56">
                    <a:moveTo>
                      <a:pt x="32" y="4"/>
                    </a:moveTo>
                    <a:cubicBezTo>
                      <a:pt x="32" y="2"/>
                      <a:pt x="30" y="0"/>
                      <a:pt x="28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2"/>
                      <a:pt x="8" y="4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32" y="12"/>
                      <a:pt x="32" y="12"/>
                      <a:pt x="32" y="12"/>
                    </a:cubicBezTo>
                    <a:lnTo>
                      <a:pt x="32" y="4"/>
                    </a:lnTo>
                    <a:close/>
                    <a:moveTo>
                      <a:pt x="28" y="12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3" name="Freeform 325"/>
              <p:cNvSpPr>
                <a:spLocks/>
              </p:cNvSpPr>
              <p:nvPr/>
            </p:nvSpPr>
            <p:spPr bwMode="auto">
              <a:xfrm>
                <a:off x="4265613" y="5546726"/>
                <a:ext cx="28575" cy="165100"/>
              </a:xfrm>
              <a:custGeom>
                <a:avLst/>
                <a:gdLst>
                  <a:gd name="T0" fmla="*/ 0 w 8"/>
                  <a:gd name="T1" fmla="*/ 0 h 44"/>
                  <a:gd name="T2" fmla="*/ 0 w 8"/>
                  <a:gd name="T3" fmla="*/ 44 h 44"/>
                  <a:gd name="T4" fmla="*/ 8 w 8"/>
                  <a:gd name="T5" fmla="*/ 36 h 44"/>
                  <a:gd name="T6" fmla="*/ 8 w 8"/>
                  <a:gd name="T7" fmla="*/ 8 h 44"/>
                  <a:gd name="T8" fmla="*/ 0 w 8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4">
                    <a:moveTo>
                      <a:pt x="0" y="0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4" y="44"/>
                      <a:pt x="8" y="40"/>
                      <a:pt x="8" y="3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4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35" name="Group 74"/>
            <p:cNvGrpSpPr/>
            <p:nvPr/>
          </p:nvGrpSpPr>
          <p:grpSpPr>
            <a:xfrm>
              <a:off x="6320328" y="2339235"/>
              <a:ext cx="265877" cy="282730"/>
              <a:chOff x="4535488" y="4030663"/>
              <a:chExt cx="225425" cy="239713"/>
            </a:xfrm>
            <a:solidFill>
              <a:srgbClr val="DDDBDB"/>
            </a:solidFill>
          </p:grpSpPr>
          <p:sp>
            <p:nvSpPr>
              <p:cNvPr id="148" name="Rectangle 431"/>
              <p:cNvSpPr>
                <a:spLocks noChangeArrowheads="1"/>
              </p:cNvSpPr>
              <p:nvPr/>
            </p:nvSpPr>
            <p:spPr bwMode="auto">
              <a:xfrm>
                <a:off x="4549776" y="4179888"/>
                <a:ext cx="90488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9" name="Rectangle 432"/>
              <p:cNvSpPr>
                <a:spLocks noChangeArrowheads="1"/>
              </p:cNvSpPr>
              <p:nvPr/>
            </p:nvSpPr>
            <p:spPr bwMode="auto">
              <a:xfrm>
                <a:off x="4656138" y="4179888"/>
                <a:ext cx="88900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50" name="Freeform 433"/>
              <p:cNvSpPr>
                <a:spLocks noEditPoints="1"/>
              </p:cNvSpPr>
              <p:nvPr/>
            </p:nvSpPr>
            <p:spPr bwMode="auto">
              <a:xfrm>
                <a:off x="4535488" y="4030663"/>
                <a:ext cx="225425" cy="134938"/>
              </a:xfrm>
              <a:custGeom>
                <a:avLst/>
                <a:gdLst>
                  <a:gd name="T0" fmla="*/ 36 w 60"/>
                  <a:gd name="T1" fmla="*/ 20 h 36"/>
                  <a:gd name="T2" fmla="*/ 36 w 60"/>
                  <a:gd name="T3" fmla="*/ 20 h 36"/>
                  <a:gd name="T4" fmla="*/ 52 w 60"/>
                  <a:gd name="T5" fmla="*/ 10 h 36"/>
                  <a:gd name="T6" fmla="*/ 42 w 60"/>
                  <a:gd name="T7" fmla="*/ 0 h 36"/>
                  <a:gd name="T8" fmla="*/ 32 w 60"/>
                  <a:gd name="T9" fmla="*/ 16 h 36"/>
                  <a:gd name="T10" fmla="*/ 32 w 60"/>
                  <a:gd name="T11" fmla="*/ 16 h 36"/>
                  <a:gd name="T12" fmla="*/ 28 w 60"/>
                  <a:gd name="T13" fmla="*/ 16 h 36"/>
                  <a:gd name="T14" fmla="*/ 28 w 60"/>
                  <a:gd name="T15" fmla="*/ 16 h 36"/>
                  <a:gd name="T16" fmla="*/ 18 w 60"/>
                  <a:gd name="T17" fmla="*/ 0 h 36"/>
                  <a:gd name="T18" fmla="*/ 8 w 60"/>
                  <a:gd name="T19" fmla="*/ 10 h 36"/>
                  <a:gd name="T20" fmla="*/ 24 w 60"/>
                  <a:gd name="T21" fmla="*/ 20 h 36"/>
                  <a:gd name="T22" fmla="*/ 24 w 60"/>
                  <a:gd name="T23" fmla="*/ 20 h 36"/>
                  <a:gd name="T24" fmla="*/ 0 w 60"/>
                  <a:gd name="T25" fmla="*/ 20 h 36"/>
                  <a:gd name="T26" fmla="*/ 0 w 60"/>
                  <a:gd name="T27" fmla="*/ 36 h 36"/>
                  <a:gd name="T28" fmla="*/ 28 w 60"/>
                  <a:gd name="T29" fmla="*/ 36 h 36"/>
                  <a:gd name="T30" fmla="*/ 28 w 60"/>
                  <a:gd name="T31" fmla="*/ 20 h 36"/>
                  <a:gd name="T32" fmla="*/ 32 w 60"/>
                  <a:gd name="T33" fmla="*/ 20 h 36"/>
                  <a:gd name="T34" fmla="*/ 32 w 60"/>
                  <a:gd name="T35" fmla="*/ 36 h 36"/>
                  <a:gd name="T36" fmla="*/ 60 w 60"/>
                  <a:gd name="T37" fmla="*/ 36 h 36"/>
                  <a:gd name="T38" fmla="*/ 60 w 60"/>
                  <a:gd name="T39" fmla="*/ 20 h 36"/>
                  <a:gd name="T40" fmla="*/ 36 w 60"/>
                  <a:gd name="T41" fmla="*/ 20 h 36"/>
                  <a:gd name="T42" fmla="*/ 12 w 60"/>
                  <a:gd name="T43" fmla="*/ 10 h 36"/>
                  <a:gd name="T44" fmla="*/ 18 w 60"/>
                  <a:gd name="T45" fmla="*/ 4 h 36"/>
                  <a:gd name="T46" fmla="*/ 24 w 60"/>
                  <a:gd name="T47" fmla="*/ 16 h 36"/>
                  <a:gd name="T48" fmla="*/ 12 w 60"/>
                  <a:gd name="T49" fmla="*/ 10 h 36"/>
                  <a:gd name="T50" fmla="*/ 42 w 60"/>
                  <a:gd name="T51" fmla="*/ 4 h 36"/>
                  <a:gd name="T52" fmla="*/ 48 w 60"/>
                  <a:gd name="T53" fmla="*/ 10 h 36"/>
                  <a:gd name="T54" fmla="*/ 36 w 60"/>
                  <a:gd name="T55" fmla="*/ 16 h 36"/>
                  <a:gd name="T56" fmla="*/ 42 w 60"/>
                  <a:gd name="T5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0" h="36">
                    <a:moveTo>
                      <a:pt x="36" y="20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2" y="19"/>
                      <a:pt x="52" y="17"/>
                      <a:pt x="52" y="10"/>
                    </a:cubicBezTo>
                    <a:cubicBezTo>
                      <a:pt x="52" y="5"/>
                      <a:pt x="47" y="0"/>
                      <a:pt x="42" y="0"/>
                    </a:cubicBezTo>
                    <a:cubicBezTo>
                      <a:pt x="37" y="0"/>
                      <a:pt x="33" y="4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7" y="4"/>
                      <a:pt x="23" y="0"/>
                      <a:pt x="18" y="0"/>
                    </a:cubicBezTo>
                    <a:cubicBezTo>
                      <a:pt x="13" y="0"/>
                      <a:pt x="8" y="5"/>
                      <a:pt x="8" y="10"/>
                    </a:cubicBezTo>
                    <a:cubicBezTo>
                      <a:pt x="8" y="17"/>
                      <a:pt x="18" y="19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20"/>
                      <a:pt x="60" y="20"/>
                      <a:pt x="60" y="20"/>
                    </a:cubicBezTo>
                    <a:lnTo>
                      <a:pt x="36" y="20"/>
                    </a:lnTo>
                    <a:close/>
                    <a:moveTo>
                      <a:pt x="12" y="10"/>
                    </a:moveTo>
                    <a:cubicBezTo>
                      <a:pt x="12" y="7"/>
                      <a:pt x="15" y="4"/>
                      <a:pt x="18" y="4"/>
                    </a:cubicBezTo>
                    <a:cubicBezTo>
                      <a:pt x="21" y="4"/>
                      <a:pt x="23" y="8"/>
                      <a:pt x="24" y="16"/>
                    </a:cubicBezTo>
                    <a:cubicBezTo>
                      <a:pt x="18" y="15"/>
                      <a:pt x="12" y="13"/>
                      <a:pt x="12" y="10"/>
                    </a:cubicBezTo>
                    <a:close/>
                    <a:moveTo>
                      <a:pt x="42" y="4"/>
                    </a:moveTo>
                    <a:cubicBezTo>
                      <a:pt x="45" y="4"/>
                      <a:pt x="48" y="7"/>
                      <a:pt x="48" y="10"/>
                    </a:cubicBezTo>
                    <a:cubicBezTo>
                      <a:pt x="48" y="13"/>
                      <a:pt x="42" y="15"/>
                      <a:pt x="36" y="16"/>
                    </a:cubicBezTo>
                    <a:cubicBezTo>
                      <a:pt x="37" y="8"/>
                      <a:pt x="39" y="4"/>
                      <a:pt x="4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36" name="Group 78"/>
            <p:cNvGrpSpPr/>
            <p:nvPr/>
          </p:nvGrpSpPr>
          <p:grpSpPr>
            <a:xfrm>
              <a:off x="6187945" y="1973401"/>
              <a:ext cx="312075" cy="364887"/>
              <a:chOff x="4535488" y="1625601"/>
              <a:chExt cx="206376" cy="241300"/>
            </a:xfrm>
            <a:solidFill>
              <a:srgbClr val="DDDBDB"/>
            </a:solidFill>
          </p:grpSpPr>
          <p:sp>
            <p:nvSpPr>
              <p:cNvPr id="146" name="Freeform 68"/>
              <p:cNvSpPr>
                <a:spLocks/>
              </p:cNvSpPr>
              <p:nvPr/>
            </p:nvSpPr>
            <p:spPr bwMode="auto">
              <a:xfrm>
                <a:off x="4543426" y="1625601"/>
                <a:ext cx="198438" cy="188913"/>
              </a:xfrm>
              <a:custGeom>
                <a:avLst/>
                <a:gdLst>
                  <a:gd name="T0" fmla="*/ 49 w 53"/>
                  <a:gd name="T1" fmla="*/ 8 h 50"/>
                  <a:gd name="T2" fmla="*/ 53 w 53"/>
                  <a:gd name="T3" fmla="*/ 4 h 50"/>
                  <a:gd name="T4" fmla="*/ 49 w 53"/>
                  <a:gd name="T5" fmla="*/ 0 h 50"/>
                  <a:gd name="T6" fmla="*/ 45 w 53"/>
                  <a:gd name="T7" fmla="*/ 4 h 50"/>
                  <a:gd name="T8" fmla="*/ 45 w 53"/>
                  <a:gd name="T9" fmla="*/ 6 h 50"/>
                  <a:gd name="T10" fmla="*/ 25 w 53"/>
                  <a:gd name="T11" fmla="*/ 20 h 50"/>
                  <a:gd name="T12" fmla="*/ 7 w 53"/>
                  <a:gd name="T13" fmla="*/ 2 h 50"/>
                  <a:gd name="T14" fmla="*/ 3 w 53"/>
                  <a:gd name="T15" fmla="*/ 1 h 50"/>
                  <a:gd name="T16" fmla="*/ 0 w 53"/>
                  <a:gd name="T17" fmla="*/ 4 h 50"/>
                  <a:gd name="T18" fmla="*/ 14 w 53"/>
                  <a:gd name="T19" fmla="*/ 37 h 50"/>
                  <a:gd name="T20" fmla="*/ 46 w 53"/>
                  <a:gd name="T21" fmla="*/ 50 h 50"/>
                  <a:gd name="T22" fmla="*/ 50 w 53"/>
                  <a:gd name="T23" fmla="*/ 48 h 50"/>
                  <a:gd name="T24" fmla="*/ 49 w 53"/>
                  <a:gd name="T25" fmla="*/ 43 h 50"/>
                  <a:gd name="T26" fmla="*/ 33 w 53"/>
                  <a:gd name="T27" fmla="*/ 27 h 50"/>
                  <a:gd name="T28" fmla="*/ 46 w 53"/>
                  <a:gd name="T29" fmla="*/ 7 h 50"/>
                  <a:gd name="T30" fmla="*/ 49 w 53"/>
                  <a:gd name="T31" fmla="*/ 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3" h="50">
                    <a:moveTo>
                      <a:pt x="49" y="8"/>
                    </a:moveTo>
                    <a:cubicBezTo>
                      <a:pt x="51" y="8"/>
                      <a:pt x="53" y="6"/>
                      <a:pt x="53" y="4"/>
                    </a:cubicBezTo>
                    <a:cubicBezTo>
                      <a:pt x="53" y="2"/>
                      <a:pt x="51" y="0"/>
                      <a:pt x="49" y="0"/>
                    </a:cubicBezTo>
                    <a:cubicBezTo>
                      <a:pt x="46" y="0"/>
                      <a:pt x="45" y="2"/>
                      <a:pt x="45" y="4"/>
                    </a:cubicBezTo>
                    <a:cubicBezTo>
                      <a:pt x="45" y="5"/>
                      <a:pt x="45" y="6"/>
                      <a:pt x="45" y="6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0"/>
                      <a:pt x="4" y="0"/>
                      <a:pt x="3" y="1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16"/>
                      <a:pt x="5" y="28"/>
                      <a:pt x="14" y="37"/>
                    </a:cubicBezTo>
                    <a:cubicBezTo>
                      <a:pt x="22" y="46"/>
                      <a:pt x="34" y="50"/>
                      <a:pt x="46" y="50"/>
                    </a:cubicBezTo>
                    <a:cubicBezTo>
                      <a:pt x="48" y="50"/>
                      <a:pt x="49" y="49"/>
                      <a:pt x="50" y="48"/>
                    </a:cubicBezTo>
                    <a:cubicBezTo>
                      <a:pt x="51" y="46"/>
                      <a:pt x="50" y="44"/>
                      <a:pt x="49" y="43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7" y="8"/>
                      <a:pt x="48" y="8"/>
                      <a:pt x="4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7" name="Freeform 69"/>
              <p:cNvSpPr>
                <a:spLocks/>
              </p:cNvSpPr>
              <p:nvPr/>
            </p:nvSpPr>
            <p:spPr bwMode="auto">
              <a:xfrm>
                <a:off x="4535488" y="1779588"/>
                <a:ext cx="96838" cy="87313"/>
              </a:xfrm>
              <a:custGeom>
                <a:avLst/>
                <a:gdLst>
                  <a:gd name="T0" fmla="*/ 23 w 26"/>
                  <a:gd name="T1" fmla="*/ 9 h 23"/>
                  <a:gd name="T2" fmla="*/ 22 w 26"/>
                  <a:gd name="T3" fmla="*/ 8 h 23"/>
                  <a:gd name="T4" fmla="*/ 12 w 26"/>
                  <a:gd name="T5" fmla="*/ 0 h 23"/>
                  <a:gd name="T6" fmla="*/ 11 w 26"/>
                  <a:gd name="T7" fmla="*/ 0 h 23"/>
                  <a:gd name="T8" fmla="*/ 11 w 26"/>
                  <a:gd name="T9" fmla="*/ 0 h 23"/>
                  <a:gd name="T10" fmla="*/ 0 w 26"/>
                  <a:gd name="T11" fmla="*/ 20 h 23"/>
                  <a:gd name="T12" fmla="*/ 0 w 26"/>
                  <a:gd name="T13" fmla="*/ 22 h 23"/>
                  <a:gd name="T14" fmla="*/ 2 w 26"/>
                  <a:gd name="T15" fmla="*/ 23 h 23"/>
                  <a:gd name="T16" fmla="*/ 24 w 26"/>
                  <a:gd name="T17" fmla="*/ 23 h 23"/>
                  <a:gd name="T18" fmla="*/ 26 w 26"/>
                  <a:gd name="T19" fmla="*/ 22 h 23"/>
                  <a:gd name="T20" fmla="*/ 26 w 26"/>
                  <a:gd name="T21" fmla="*/ 20 h 23"/>
                  <a:gd name="T22" fmla="*/ 23 w 26"/>
                  <a:gd name="T23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23">
                    <a:moveTo>
                      <a:pt x="23" y="9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18" y="6"/>
                      <a:pt x="15" y="3"/>
                      <a:pt x="1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0" y="21"/>
                      <a:pt x="0" y="22"/>
                    </a:cubicBezTo>
                    <a:cubicBezTo>
                      <a:pt x="1" y="23"/>
                      <a:pt x="1" y="23"/>
                      <a:pt x="2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5" y="23"/>
                      <a:pt x="25" y="23"/>
                      <a:pt x="26" y="22"/>
                    </a:cubicBezTo>
                    <a:cubicBezTo>
                      <a:pt x="26" y="22"/>
                      <a:pt x="26" y="21"/>
                      <a:pt x="26" y="20"/>
                    </a:cubicBezTo>
                    <a:lnTo>
                      <a:pt x="23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37" name="Freeform 248"/>
            <p:cNvSpPr>
              <a:spLocks noEditPoints="1"/>
            </p:cNvSpPr>
            <p:nvPr/>
          </p:nvSpPr>
          <p:spPr bwMode="auto">
            <a:xfrm>
              <a:off x="5732950" y="1670712"/>
              <a:ext cx="387136" cy="442861"/>
            </a:xfrm>
            <a:custGeom>
              <a:avLst/>
              <a:gdLst>
                <a:gd name="T0" fmla="*/ 48 w 56"/>
                <a:gd name="T1" fmla="*/ 60 h 64"/>
                <a:gd name="T2" fmla="*/ 45 w 56"/>
                <a:gd name="T3" fmla="*/ 60 h 64"/>
                <a:gd name="T4" fmla="*/ 56 w 56"/>
                <a:gd name="T5" fmla="*/ 40 h 64"/>
                <a:gd name="T6" fmla="*/ 38 w 56"/>
                <a:gd name="T7" fmla="*/ 17 h 64"/>
                <a:gd name="T8" fmla="*/ 42 w 56"/>
                <a:gd name="T9" fmla="*/ 8 h 64"/>
                <a:gd name="T10" fmla="*/ 42 w 56"/>
                <a:gd name="T11" fmla="*/ 5 h 64"/>
                <a:gd name="T12" fmla="*/ 31 w 56"/>
                <a:gd name="T13" fmla="*/ 0 h 64"/>
                <a:gd name="T14" fmla="*/ 29 w 56"/>
                <a:gd name="T15" fmla="*/ 0 h 64"/>
                <a:gd name="T16" fmla="*/ 28 w 56"/>
                <a:gd name="T17" fmla="*/ 1 h 64"/>
                <a:gd name="T18" fmla="*/ 15 w 56"/>
                <a:gd name="T19" fmla="*/ 25 h 64"/>
                <a:gd name="T20" fmla="*/ 17 w 56"/>
                <a:gd name="T21" fmla="*/ 31 h 64"/>
                <a:gd name="T22" fmla="*/ 15 w 56"/>
                <a:gd name="T23" fmla="*/ 35 h 64"/>
                <a:gd name="T24" fmla="*/ 22 w 56"/>
                <a:gd name="T25" fmla="*/ 38 h 64"/>
                <a:gd name="T26" fmla="*/ 24 w 56"/>
                <a:gd name="T27" fmla="*/ 35 h 64"/>
                <a:gd name="T28" fmla="*/ 24 w 56"/>
                <a:gd name="T29" fmla="*/ 35 h 64"/>
                <a:gd name="T30" fmla="*/ 30 w 56"/>
                <a:gd name="T31" fmla="*/ 32 h 64"/>
                <a:gd name="T32" fmla="*/ 34 w 56"/>
                <a:gd name="T33" fmla="*/ 24 h 64"/>
                <a:gd name="T34" fmla="*/ 48 w 56"/>
                <a:gd name="T35" fmla="*/ 40 h 64"/>
                <a:gd name="T36" fmla="*/ 32 w 56"/>
                <a:gd name="T37" fmla="*/ 56 h 64"/>
                <a:gd name="T38" fmla="*/ 20 w 56"/>
                <a:gd name="T39" fmla="*/ 52 h 64"/>
                <a:gd name="T40" fmla="*/ 20 w 56"/>
                <a:gd name="T41" fmla="*/ 50 h 64"/>
                <a:gd name="T42" fmla="*/ 22 w 56"/>
                <a:gd name="T43" fmla="*/ 48 h 64"/>
                <a:gd name="T44" fmla="*/ 32 w 56"/>
                <a:gd name="T45" fmla="*/ 48 h 64"/>
                <a:gd name="T46" fmla="*/ 32 w 56"/>
                <a:gd name="T47" fmla="*/ 44 h 64"/>
                <a:gd name="T48" fmla="*/ 17 w 56"/>
                <a:gd name="T49" fmla="*/ 44 h 64"/>
                <a:gd name="T50" fmla="*/ 8 w 56"/>
                <a:gd name="T51" fmla="*/ 44 h 64"/>
                <a:gd name="T52" fmla="*/ 0 w 56"/>
                <a:gd name="T53" fmla="*/ 44 h 64"/>
                <a:gd name="T54" fmla="*/ 0 w 56"/>
                <a:gd name="T55" fmla="*/ 48 h 64"/>
                <a:gd name="T56" fmla="*/ 9 w 56"/>
                <a:gd name="T57" fmla="*/ 48 h 64"/>
                <a:gd name="T58" fmla="*/ 10 w 56"/>
                <a:gd name="T59" fmla="*/ 48 h 64"/>
                <a:gd name="T60" fmla="*/ 12 w 56"/>
                <a:gd name="T61" fmla="*/ 50 h 64"/>
                <a:gd name="T62" fmla="*/ 12 w 56"/>
                <a:gd name="T63" fmla="*/ 52 h 64"/>
                <a:gd name="T64" fmla="*/ 12 w 56"/>
                <a:gd name="T65" fmla="*/ 60 h 64"/>
                <a:gd name="T66" fmla="*/ 4 w 56"/>
                <a:gd name="T67" fmla="*/ 64 h 64"/>
                <a:gd name="T68" fmla="*/ 56 w 56"/>
                <a:gd name="T69" fmla="*/ 64 h 64"/>
                <a:gd name="T70" fmla="*/ 48 w 56"/>
                <a:gd name="T71" fmla="*/ 60 h 64"/>
                <a:gd name="T72" fmla="*/ 34 w 56"/>
                <a:gd name="T73" fmla="*/ 5 h 64"/>
                <a:gd name="T74" fmla="*/ 33 w 56"/>
                <a:gd name="T75" fmla="*/ 7 h 64"/>
                <a:gd name="T76" fmla="*/ 24 w 56"/>
                <a:gd name="T77" fmla="*/ 24 h 64"/>
                <a:gd name="T78" fmla="*/ 20 w 56"/>
                <a:gd name="T79" fmla="*/ 22 h 64"/>
                <a:gd name="T80" fmla="*/ 20 w 56"/>
                <a:gd name="T81" fmla="*/ 22 h 64"/>
                <a:gd name="T82" fmla="*/ 29 w 56"/>
                <a:gd name="T83" fmla="*/ 5 h 64"/>
                <a:gd name="T84" fmla="*/ 30 w 56"/>
                <a:gd name="T85" fmla="*/ 4 h 64"/>
                <a:gd name="T86" fmla="*/ 32 w 56"/>
                <a:gd name="T87" fmla="*/ 4 h 64"/>
                <a:gd name="T88" fmla="*/ 34 w 56"/>
                <a:gd name="T89" fmla="*/ 5 h 64"/>
                <a:gd name="T90" fmla="*/ 34 w 56"/>
                <a:gd name="T91" fmla="*/ 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64">
                  <a:moveTo>
                    <a:pt x="48" y="60"/>
                  </a:moveTo>
                  <a:cubicBezTo>
                    <a:pt x="45" y="60"/>
                    <a:pt x="45" y="60"/>
                    <a:pt x="45" y="60"/>
                  </a:cubicBezTo>
                  <a:cubicBezTo>
                    <a:pt x="52" y="56"/>
                    <a:pt x="56" y="48"/>
                    <a:pt x="56" y="40"/>
                  </a:cubicBezTo>
                  <a:cubicBezTo>
                    <a:pt x="56" y="29"/>
                    <a:pt x="48" y="19"/>
                    <a:pt x="38" y="17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3" y="7"/>
                    <a:pt x="43" y="6"/>
                    <a:pt x="42" y="5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30" y="0"/>
                    <a:pt x="29" y="0"/>
                  </a:cubicBezTo>
                  <a:cubicBezTo>
                    <a:pt x="29" y="0"/>
                    <a:pt x="28" y="1"/>
                    <a:pt x="28" y="1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8"/>
                    <a:pt x="15" y="30"/>
                    <a:pt x="17" y="31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6" y="35"/>
                    <a:pt x="29" y="35"/>
                    <a:pt x="30" y="32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42" y="25"/>
                    <a:pt x="48" y="32"/>
                    <a:pt x="48" y="40"/>
                  </a:cubicBezTo>
                  <a:cubicBezTo>
                    <a:pt x="48" y="49"/>
                    <a:pt x="41" y="56"/>
                    <a:pt x="32" y="56"/>
                  </a:cubicBezTo>
                  <a:cubicBezTo>
                    <a:pt x="28" y="56"/>
                    <a:pt x="23" y="54"/>
                    <a:pt x="20" y="52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9"/>
                    <a:pt x="21" y="48"/>
                    <a:pt x="2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8" y="60"/>
                    <a:pt x="4" y="60"/>
                    <a:pt x="4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60"/>
                    <a:pt x="52" y="60"/>
                    <a:pt x="48" y="60"/>
                  </a:cubicBezTo>
                  <a:close/>
                  <a:moveTo>
                    <a:pt x="34" y="5"/>
                  </a:moveTo>
                  <a:cubicBezTo>
                    <a:pt x="33" y="6"/>
                    <a:pt x="33" y="6"/>
                    <a:pt x="33" y="7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30" y="4"/>
                    <a:pt x="30" y="4"/>
                  </a:cubicBezTo>
                  <a:cubicBezTo>
                    <a:pt x="31" y="4"/>
                    <a:pt x="31" y="4"/>
                    <a:pt x="32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38" name="Group 85"/>
            <p:cNvGrpSpPr/>
            <p:nvPr/>
          </p:nvGrpSpPr>
          <p:grpSpPr>
            <a:xfrm>
              <a:off x="6121198" y="1608515"/>
              <a:ext cx="279323" cy="297027"/>
              <a:chOff x="6954838" y="184151"/>
              <a:chExt cx="225425" cy="239712"/>
            </a:xfrm>
            <a:solidFill>
              <a:srgbClr val="DDDBDB"/>
            </a:solidFill>
          </p:grpSpPr>
          <p:sp>
            <p:nvSpPr>
              <p:cNvPr id="144" name="Freeform 9"/>
              <p:cNvSpPr>
                <a:spLocks/>
              </p:cNvSpPr>
              <p:nvPr/>
            </p:nvSpPr>
            <p:spPr bwMode="auto">
              <a:xfrm>
                <a:off x="6985001" y="274638"/>
                <a:ext cx="165100" cy="149225"/>
              </a:xfrm>
              <a:custGeom>
                <a:avLst/>
                <a:gdLst>
                  <a:gd name="T0" fmla="*/ 36 w 44"/>
                  <a:gd name="T1" fmla="*/ 32 h 40"/>
                  <a:gd name="T2" fmla="*/ 32 w 44"/>
                  <a:gd name="T3" fmla="*/ 32 h 40"/>
                  <a:gd name="T4" fmla="*/ 32 w 44"/>
                  <a:gd name="T5" fmla="*/ 0 h 40"/>
                  <a:gd name="T6" fmla="*/ 24 w 44"/>
                  <a:gd name="T7" fmla="*/ 0 h 40"/>
                  <a:gd name="T8" fmla="*/ 24 w 44"/>
                  <a:gd name="T9" fmla="*/ 32 h 40"/>
                  <a:gd name="T10" fmla="*/ 20 w 44"/>
                  <a:gd name="T11" fmla="*/ 32 h 40"/>
                  <a:gd name="T12" fmla="*/ 20 w 44"/>
                  <a:gd name="T13" fmla="*/ 0 h 40"/>
                  <a:gd name="T14" fmla="*/ 12 w 44"/>
                  <a:gd name="T15" fmla="*/ 0 h 40"/>
                  <a:gd name="T16" fmla="*/ 12 w 44"/>
                  <a:gd name="T17" fmla="*/ 32 h 40"/>
                  <a:gd name="T18" fmla="*/ 8 w 44"/>
                  <a:gd name="T19" fmla="*/ 32 h 40"/>
                  <a:gd name="T20" fmla="*/ 8 w 44"/>
                  <a:gd name="T21" fmla="*/ 0 h 40"/>
                  <a:gd name="T22" fmla="*/ 0 w 44"/>
                  <a:gd name="T23" fmla="*/ 0 h 40"/>
                  <a:gd name="T24" fmla="*/ 0 w 44"/>
                  <a:gd name="T25" fmla="*/ 38 h 40"/>
                  <a:gd name="T26" fmla="*/ 2 w 44"/>
                  <a:gd name="T27" fmla="*/ 40 h 40"/>
                  <a:gd name="T28" fmla="*/ 42 w 44"/>
                  <a:gd name="T29" fmla="*/ 40 h 40"/>
                  <a:gd name="T30" fmla="*/ 44 w 44"/>
                  <a:gd name="T31" fmla="*/ 38 h 40"/>
                  <a:gd name="T32" fmla="*/ 44 w 44"/>
                  <a:gd name="T33" fmla="*/ 0 h 40"/>
                  <a:gd name="T34" fmla="*/ 36 w 44"/>
                  <a:gd name="T35" fmla="*/ 0 h 40"/>
                  <a:gd name="T36" fmla="*/ 36 w 44"/>
                  <a:gd name="T37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" h="40">
                    <a:moveTo>
                      <a:pt x="36" y="32"/>
                    </a:move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1" y="40"/>
                      <a:pt x="2" y="40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40"/>
                      <a:pt x="44" y="39"/>
                      <a:pt x="44" y="38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6" y="0"/>
                      <a:pt x="36" y="0"/>
                      <a:pt x="36" y="0"/>
                    </a:cubicBezTo>
                    <a:lnTo>
                      <a:pt x="36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5" name="Freeform 10"/>
              <p:cNvSpPr>
                <a:spLocks noEditPoints="1"/>
              </p:cNvSpPr>
              <p:nvPr/>
            </p:nvSpPr>
            <p:spPr bwMode="auto">
              <a:xfrm>
                <a:off x="6954838" y="184151"/>
                <a:ext cx="225425" cy="74613"/>
              </a:xfrm>
              <a:custGeom>
                <a:avLst/>
                <a:gdLst>
                  <a:gd name="T0" fmla="*/ 56 w 60"/>
                  <a:gd name="T1" fmla="*/ 8 h 20"/>
                  <a:gd name="T2" fmla="*/ 40 w 60"/>
                  <a:gd name="T3" fmla="*/ 8 h 20"/>
                  <a:gd name="T4" fmla="*/ 40 w 60"/>
                  <a:gd name="T5" fmla="*/ 2 h 20"/>
                  <a:gd name="T6" fmla="*/ 38 w 60"/>
                  <a:gd name="T7" fmla="*/ 0 h 20"/>
                  <a:gd name="T8" fmla="*/ 22 w 60"/>
                  <a:gd name="T9" fmla="*/ 0 h 20"/>
                  <a:gd name="T10" fmla="*/ 20 w 60"/>
                  <a:gd name="T11" fmla="*/ 2 h 20"/>
                  <a:gd name="T12" fmla="*/ 20 w 60"/>
                  <a:gd name="T13" fmla="*/ 8 h 20"/>
                  <a:gd name="T14" fmla="*/ 4 w 60"/>
                  <a:gd name="T15" fmla="*/ 8 h 20"/>
                  <a:gd name="T16" fmla="*/ 0 w 60"/>
                  <a:gd name="T17" fmla="*/ 12 h 20"/>
                  <a:gd name="T18" fmla="*/ 0 w 60"/>
                  <a:gd name="T19" fmla="*/ 16 h 20"/>
                  <a:gd name="T20" fmla="*/ 4 w 60"/>
                  <a:gd name="T21" fmla="*/ 20 h 20"/>
                  <a:gd name="T22" fmla="*/ 56 w 60"/>
                  <a:gd name="T23" fmla="*/ 20 h 20"/>
                  <a:gd name="T24" fmla="*/ 60 w 60"/>
                  <a:gd name="T25" fmla="*/ 16 h 20"/>
                  <a:gd name="T26" fmla="*/ 60 w 60"/>
                  <a:gd name="T27" fmla="*/ 12 h 20"/>
                  <a:gd name="T28" fmla="*/ 56 w 60"/>
                  <a:gd name="T29" fmla="*/ 8 h 20"/>
                  <a:gd name="T30" fmla="*/ 24 w 60"/>
                  <a:gd name="T31" fmla="*/ 8 h 20"/>
                  <a:gd name="T32" fmla="*/ 24 w 60"/>
                  <a:gd name="T33" fmla="*/ 4 h 20"/>
                  <a:gd name="T34" fmla="*/ 36 w 60"/>
                  <a:gd name="T35" fmla="*/ 4 h 20"/>
                  <a:gd name="T36" fmla="*/ 36 w 60"/>
                  <a:gd name="T37" fmla="*/ 8 h 20"/>
                  <a:gd name="T38" fmla="*/ 24 w 60"/>
                  <a:gd name="T39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20">
                    <a:moveTo>
                      <a:pt x="56" y="8"/>
                    </a:moveTo>
                    <a:cubicBezTo>
                      <a:pt x="40" y="8"/>
                      <a:pt x="40" y="8"/>
                      <a:pt x="40" y="8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0"/>
                      <a:pt x="20" y="1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0"/>
                      <a:pt x="60" y="18"/>
                      <a:pt x="60" y="16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0" y="10"/>
                      <a:pt x="58" y="8"/>
                      <a:pt x="56" y="8"/>
                    </a:cubicBezTo>
                    <a:close/>
                    <a:moveTo>
                      <a:pt x="24" y="8"/>
                    </a:moveTo>
                    <a:cubicBezTo>
                      <a:pt x="24" y="4"/>
                      <a:pt x="24" y="4"/>
                      <a:pt x="24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8"/>
                      <a:pt x="36" y="8"/>
                      <a:pt x="36" y="8"/>
                    </a:cubicBezTo>
                    <a:lnTo>
                      <a:pt x="24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39" name="Freeform 81"/>
            <p:cNvSpPr>
              <a:spLocks/>
            </p:cNvSpPr>
            <p:nvPr/>
          </p:nvSpPr>
          <p:spPr bwMode="auto">
            <a:xfrm>
              <a:off x="5839746" y="1239457"/>
              <a:ext cx="350756" cy="340564"/>
            </a:xfrm>
            <a:custGeom>
              <a:avLst/>
              <a:gdLst>
                <a:gd name="T0" fmla="*/ 94 w 97"/>
                <a:gd name="T1" fmla="*/ 16 h 94"/>
                <a:gd name="T2" fmla="*/ 81 w 97"/>
                <a:gd name="T3" fmla="*/ 27 h 94"/>
                <a:gd name="T4" fmla="*/ 73 w 97"/>
                <a:gd name="T5" fmla="*/ 12 h 94"/>
                <a:gd name="T6" fmla="*/ 82 w 97"/>
                <a:gd name="T7" fmla="*/ 2 h 94"/>
                <a:gd name="T8" fmla="*/ 77 w 97"/>
                <a:gd name="T9" fmla="*/ 2 h 94"/>
                <a:gd name="T10" fmla="*/ 64 w 97"/>
                <a:gd name="T11" fmla="*/ 5 h 94"/>
                <a:gd name="T12" fmla="*/ 61 w 97"/>
                <a:gd name="T13" fmla="*/ 14 h 94"/>
                <a:gd name="T14" fmla="*/ 63 w 97"/>
                <a:gd name="T15" fmla="*/ 27 h 94"/>
                <a:gd name="T16" fmla="*/ 52 w 97"/>
                <a:gd name="T17" fmla="*/ 42 h 94"/>
                <a:gd name="T18" fmla="*/ 43 w 97"/>
                <a:gd name="T19" fmla="*/ 39 h 94"/>
                <a:gd name="T20" fmla="*/ 35 w 97"/>
                <a:gd name="T21" fmla="*/ 33 h 94"/>
                <a:gd name="T22" fmla="*/ 34 w 97"/>
                <a:gd name="T23" fmla="*/ 31 h 94"/>
                <a:gd name="T24" fmla="*/ 33 w 97"/>
                <a:gd name="T25" fmla="*/ 27 h 94"/>
                <a:gd name="T26" fmla="*/ 31 w 97"/>
                <a:gd name="T27" fmla="*/ 23 h 94"/>
                <a:gd name="T28" fmla="*/ 47 w 97"/>
                <a:gd name="T29" fmla="*/ 17 h 94"/>
                <a:gd name="T30" fmla="*/ 45 w 97"/>
                <a:gd name="T31" fmla="*/ 12 h 94"/>
                <a:gd name="T32" fmla="*/ 44 w 97"/>
                <a:gd name="T33" fmla="*/ 10 h 94"/>
                <a:gd name="T34" fmla="*/ 11 w 97"/>
                <a:gd name="T35" fmla="*/ 23 h 94"/>
                <a:gd name="T36" fmla="*/ 11 w 97"/>
                <a:gd name="T37" fmla="*/ 24 h 94"/>
                <a:gd name="T38" fmla="*/ 9 w 97"/>
                <a:gd name="T39" fmla="*/ 33 h 94"/>
                <a:gd name="T40" fmla="*/ 0 w 97"/>
                <a:gd name="T41" fmla="*/ 38 h 94"/>
                <a:gd name="T42" fmla="*/ 17 w 97"/>
                <a:gd name="T43" fmla="*/ 41 h 94"/>
                <a:gd name="T44" fmla="*/ 16 w 97"/>
                <a:gd name="T45" fmla="*/ 36 h 94"/>
                <a:gd name="T46" fmla="*/ 24 w 97"/>
                <a:gd name="T47" fmla="*/ 37 h 94"/>
                <a:gd name="T48" fmla="*/ 27 w 97"/>
                <a:gd name="T49" fmla="*/ 39 h 94"/>
                <a:gd name="T50" fmla="*/ 29 w 97"/>
                <a:gd name="T51" fmla="*/ 39 h 94"/>
                <a:gd name="T52" fmla="*/ 36 w 97"/>
                <a:gd name="T53" fmla="*/ 49 h 94"/>
                <a:gd name="T54" fmla="*/ 15 w 97"/>
                <a:gd name="T55" fmla="*/ 84 h 94"/>
                <a:gd name="T56" fmla="*/ 23 w 97"/>
                <a:gd name="T57" fmla="*/ 93 h 94"/>
                <a:gd name="T58" fmla="*/ 77 w 97"/>
                <a:gd name="T59" fmla="*/ 89 h 94"/>
                <a:gd name="T60" fmla="*/ 85 w 97"/>
                <a:gd name="T61" fmla="*/ 81 h 94"/>
                <a:gd name="T62" fmla="*/ 59 w 97"/>
                <a:gd name="T63" fmla="*/ 53 h 94"/>
                <a:gd name="T64" fmla="*/ 69 w 97"/>
                <a:gd name="T65" fmla="*/ 42 h 94"/>
                <a:gd name="T66" fmla="*/ 77 w 97"/>
                <a:gd name="T67" fmla="*/ 38 h 94"/>
                <a:gd name="T68" fmla="*/ 96 w 97"/>
                <a:gd name="T69" fmla="*/ 28 h 94"/>
                <a:gd name="T70" fmla="*/ 97 w 97"/>
                <a:gd name="T71" fmla="*/ 1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7" h="94">
                  <a:moveTo>
                    <a:pt x="96" y="16"/>
                  </a:moveTo>
                  <a:cubicBezTo>
                    <a:pt x="95" y="16"/>
                    <a:pt x="94" y="16"/>
                    <a:pt x="94" y="16"/>
                  </a:cubicBezTo>
                  <a:cubicBezTo>
                    <a:pt x="94" y="16"/>
                    <a:pt x="94" y="16"/>
                    <a:pt x="87" y="27"/>
                  </a:cubicBezTo>
                  <a:cubicBezTo>
                    <a:pt x="87" y="27"/>
                    <a:pt x="87" y="27"/>
                    <a:pt x="81" y="27"/>
                  </a:cubicBezTo>
                  <a:cubicBezTo>
                    <a:pt x="81" y="27"/>
                    <a:pt x="81" y="27"/>
                    <a:pt x="73" y="19"/>
                  </a:cubicBezTo>
                  <a:cubicBezTo>
                    <a:pt x="73" y="19"/>
                    <a:pt x="73" y="19"/>
                    <a:pt x="73" y="12"/>
                  </a:cubicBezTo>
                  <a:cubicBezTo>
                    <a:pt x="73" y="12"/>
                    <a:pt x="73" y="12"/>
                    <a:pt x="83" y="4"/>
                  </a:cubicBezTo>
                  <a:cubicBezTo>
                    <a:pt x="83" y="3"/>
                    <a:pt x="83" y="2"/>
                    <a:pt x="82" y="2"/>
                  </a:cubicBezTo>
                  <a:cubicBezTo>
                    <a:pt x="82" y="2"/>
                    <a:pt x="82" y="2"/>
                    <a:pt x="81" y="2"/>
                  </a:cubicBezTo>
                  <a:cubicBezTo>
                    <a:pt x="81" y="2"/>
                    <a:pt x="79" y="2"/>
                    <a:pt x="77" y="2"/>
                  </a:cubicBezTo>
                  <a:cubicBezTo>
                    <a:pt x="77" y="1"/>
                    <a:pt x="76" y="1"/>
                    <a:pt x="75" y="1"/>
                  </a:cubicBezTo>
                  <a:cubicBezTo>
                    <a:pt x="69" y="0"/>
                    <a:pt x="66" y="3"/>
                    <a:pt x="64" y="5"/>
                  </a:cubicBezTo>
                  <a:cubicBezTo>
                    <a:pt x="62" y="8"/>
                    <a:pt x="61" y="10"/>
                    <a:pt x="61" y="10"/>
                  </a:cubicBezTo>
                  <a:cubicBezTo>
                    <a:pt x="61" y="10"/>
                    <a:pt x="61" y="11"/>
                    <a:pt x="61" y="14"/>
                  </a:cubicBezTo>
                  <a:cubicBezTo>
                    <a:pt x="61" y="18"/>
                    <a:pt x="61" y="23"/>
                    <a:pt x="62" y="26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2" y="30"/>
                    <a:pt x="59" y="35"/>
                    <a:pt x="59" y="35"/>
                  </a:cubicBezTo>
                  <a:cubicBezTo>
                    <a:pt x="59" y="35"/>
                    <a:pt x="59" y="35"/>
                    <a:pt x="52" y="42"/>
                  </a:cubicBezTo>
                  <a:cubicBezTo>
                    <a:pt x="52" y="42"/>
                    <a:pt x="52" y="42"/>
                    <a:pt x="50" y="45"/>
                  </a:cubicBezTo>
                  <a:cubicBezTo>
                    <a:pt x="50" y="45"/>
                    <a:pt x="50" y="45"/>
                    <a:pt x="43" y="39"/>
                  </a:cubicBezTo>
                  <a:cubicBezTo>
                    <a:pt x="43" y="40"/>
                    <a:pt x="42" y="41"/>
                    <a:pt x="42" y="41"/>
                  </a:cubicBezTo>
                  <a:cubicBezTo>
                    <a:pt x="42" y="41"/>
                    <a:pt x="42" y="41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5" y="33"/>
                    <a:pt x="34" y="31"/>
                  </a:cubicBezTo>
                  <a:cubicBezTo>
                    <a:pt x="34" y="31"/>
                    <a:pt x="34" y="31"/>
                    <a:pt x="31" y="29"/>
                  </a:cubicBezTo>
                  <a:cubicBezTo>
                    <a:pt x="31" y="29"/>
                    <a:pt x="31" y="29"/>
                    <a:pt x="33" y="27"/>
                  </a:cubicBezTo>
                  <a:cubicBezTo>
                    <a:pt x="33" y="27"/>
                    <a:pt x="33" y="27"/>
                    <a:pt x="31" y="26"/>
                  </a:cubicBezTo>
                  <a:cubicBezTo>
                    <a:pt x="31" y="25"/>
                    <a:pt x="31" y="24"/>
                    <a:pt x="31" y="23"/>
                  </a:cubicBezTo>
                  <a:cubicBezTo>
                    <a:pt x="32" y="22"/>
                    <a:pt x="39" y="20"/>
                    <a:pt x="45" y="18"/>
                  </a:cubicBezTo>
                  <a:cubicBezTo>
                    <a:pt x="45" y="18"/>
                    <a:pt x="45" y="18"/>
                    <a:pt x="47" y="17"/>
                  </a:cubicBezTo>
                  <a:cubicBezTo>
                    <a:pt x="47" y="17"/>
                    <a:pt x="47" y="17"/>
                    <a:pt x="46" y="15"/>
                  </a:cubicBezTo>
                  <a:cubicBezTo>
                    <a:pt x="46" y="15"/>
                    <a:pt x="46" y="15"/>
                    <a:pt x="45" y="12"/>
                  </a:cubicBezTo>
                  <a:cubicBezTo>
                    <a:pt x="45" y="12"/>
                    <a:pt x="45" y="12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3" y="10"/>
                    <a:pt x="38" y="10"/>
                    <a:pt x="32" y="11"/>
                  </a:cubicBezTo>
                  <a:cubicBezTo>
                    <a:pt x="23" y="13"/>
                    <a:pt x="17" y="17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4"/>
                  </a:cubicBezTo>
                  <a:cubicBezTo>
                    <a:pt x="11" y="27"/>
                    <a:pt x="11" y="29"/>
                    <a:pt x="11" y="30"/>
                  </a:cubicBezTo>
                  <a:cubicBezTo>
                    <a:pt x="11" y="31"/>
                    <a:pt x="11" y="33"/>
                    <a:pt x="9" y="33"/>
                  </a:cubicBezTo>
                  <a:cubicBezTo>
                    <a:pt x="9" y="33"/>
                    <a:pt x="9" y="33"/>
                    <a:pt x="6" y="31"/>
                  </a:cubicBezTo>
                  <a:cubicBezTo>
                    <a:pt x="6" y="31"/>
                    <a:pt x="6" y="31"/>
                    <a:pt x="0" y="38"/>
                  </a:cubicBezTo>
                  <a:cubicBezTo>
                    <a:pt x="0" y="38"/>
                    <a:pt x="0" y="38"/>
                    <a:pt x="10" y="48"/>
                  </a:cubicBezTo>
                  <a:cubicBezTo>
                    <a:pt x="10" y="48"/>
                    <a:pt x="10" y="48"/>
                    <a:pt x="17" y="41"/>
                  </a:cubicBezTo>
                  <a:cubicBezTo>
                    <a:pt x="17" y="41"/>
                    <a:pt x="17" y="41"/>
                    <a:pt x="13" y="37"/>
                  </a:cubicBezTo>
                  <a:cubicBezTo>
                    <a:pt x="14" y="37"/>
                    <a:pt x="15" y="37"/>
                    <a:pt x="16" y="36"/>
                  </a:cubicBezTo>
                  <a:cubicBezTo>
                    <a:pt x="17" y="35"/>
                    <a:pt x="21" y="35"/>
                    <a:pt x="23" y="36"/>
                  </a:cubicBezTo>
                  <a:cubicBezTo>
                    <a:pt x="23" y="36"/>
                    <a:pt x="23" y="36"/>
                    <a:pt x="24" y="37"/>
                  </a:cubicBezTo>
                  <a:cubicBezTo>
                    <a:pt x="24" y="37"/>
                    <a:pt x="24" y="37"/>
                    <a:pt x="25" y="36"/>
                  </a:cubicBezTo>
                  <a:cubicBezTo>
                    <a:pt x="25" y="36"/>
                    <a:pt x="25" y="36"/>
                    <a:pt x="27" y="39"/>
                  </a:cubicBezTo>
                  <a:cubicBezTo>
                    <a:pt x="27" y="39"/>
                    <a:pt x="27" y="39"/>
                    <a:pt x="29" y="40"/>
                  </a:cubicBezTo>
                  <a:cubicBezTo>
                    <a:pt x="29" y="40"/>
                    <a:pt x="29" y="40"/>
                    <a:pt x="29" y="39"/>
                  </a:cubicBezTo>
                  <a:cubicBezTo>
                    <a:pt x="29" y="39"/>
                    <a:pt x="29" y="39"/>
                    <a:pt x="37" y="47"/>
                  </a:cubicBezTo>
                  <a:cubicBezTo>
                    <a:pt x="36" y="48"/>
                    <a:pt x="36" y="48"/>
                    <a:pt x="36" y="49"/>
                  </a:cubicBezTo>
                  <a:cubicBezTo>
                    <a:pt x="36" y="49"/>
                    <a:pt x="36" y="49"/>
                    <a:pt x="42" y="55"/>
                  </a:cubicBezTo>
                  <a:cubicBezTo>
                    <a:pt x="42" y="55"/>
                    <a:pt x="42" y="55"/>
                    <a:pt x="15" y="84"/>
                  </a:cubicBezTo>
                  <a:cubicBezTo>
                    <a:pt x="13" y="86"/>
                    <a:pt x="14" y="89"/>
                    <a:pt x="17" y="91"/>
                  </a:cubicBezTo>
                  <a:cubicBezTo>
                    <a:pt x="19" y="93"/>
                    <a:pt x="22" y="94"/>
                    <a:pt x="23" y="93"/>
                  </a:cubicBezTo>
                  <a:cubicBezTo>
                    <a:pt x="23" y="93"/>
                    <a:pt x="23" y="93"/>
                    <a:pt x="50" y="63"/>
                  </a:cubicBezTo>
                  <a:cubicBezTo>
                    <a:pt x="50" y="63"/>
                    <a:pt x="50" y="63"/>
                    <a:pt x="77" y="89"/>
                  </a:cubicBezTo>
                  <a:cubicBezTo>
                    <a:pt x="79" y="91"/>
                    <a:pt x="82" y="90"/>
                    <a:pt x="84" y="88"/>
                  </a:cubicBezTo>
                  <a:cubicBezTo>
                    <a:pt x="86" y="85"/>
                    <a:pt x="87" y="82"/>
                    <a:pt x="85" y="81"/>
                  </a:cubicBezTo>
                  <a:cubicBezTo>
                    <a:pt x="85" y="81"/>
                    <a:pt x="85" y="81"/>
                    <a:pt x="58" y="54"/>
                  </a:cubicBezTo>
                  <a:cubicBezTo>
                    <a:pt x="58" y="54"/>
                    <a:pt x="58" y="54"/>
                    <a:pt x="59" y="53"/>
                  </a:cubicBezTo>
                  <a:cubicBezTo>
                    <a:pt x="59" y="53"/>
                    <a:pt x="59" y="53"/>
                    <a:pt x="59" y="52"/>
                  </a:cubicBezTo>
                  <a:cubicBezTo>
                    <a:pt x="59" y="52"/>
                    <a:pt x="65" y="45"/>
                    <a:pt x="69" y="42"/>
                  </a:cubicBezTo>
                  <a:cubicBezTo>
                    <a:pt x="71" y="40"/>
                    <a:pt x="73" y="39"/>
                    <a:pt x="74" y="38"/>
                  </a:cubicBezTo>
                  <a:cubicBezTo>
                    <a:pt x="75" y="38"/>
                    <a:pt x="77" y="38"/>
                    <a:pt x="77" y="38"/>
                  </a:cubicBezTo>
                  <a:cubicBezTo>
                    <a:pt x="77" y="38"/>
                    <a:pt x="83" y="39"/>
                    <a:pt x="83" y="39"/>
                  </a:cubicBezTo>
                  <a:cubicBezTo>
                    <a:pt x="92" y="39"/>
                    <a:pt x="96" y="28"/>
                    <a:pt x="96" y="28"/>
                  </a:cubicBezTo>
                  <a:cubicBezTo>
                    <a:pt x="96" y="28"/>
                    <a:pt x="96" y="27"/>
                    <a:pt x="97" y="21"/>
                  </a:cubicBezTo>
                  <a:cubicBezTo>
                    <a:pt x="97" y="19"/>
                    <a:pt x="97" y="18"/>
                    <a:pt x="97" y="17"/>
                  </a:cubicBezTo>
                  <a:cubicBezTo>
                    <a:pt x="96" y="16"/>
                    <a:pt x="96" y="16"/>
                    <a:pt x="96" y="16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40" name="Freeform 33"/>
            <p:cNvSpPr>
              <a:spLocks noEditPoints="1"/>
            </p:cNvSpPr>
            <p:nvPr/>
          </p:nvSpPr>
          <p:spPr bwMode="auto">
            <a:xfrm rot="21545399">
              <a:off x="5592923" y="937672"/>
              <a:ext cx="361144" cy="337625"/>
            </a:xfrm>
            <a:custGeom>
              <a:avLst/>
              <a:gdLst>
                <a:gd name="T0" fmla="*/ 159 w 282"/>
                <a:gd name="T1" fmla="*/ 0 h 264"/>
                <a:gd name="T2" fmla="*/ 0 w 282"/>
                <a:gd name="T3" fmla="*/ 176 h 264"/>
                <a:gd name="T4" fmla="*/ 53 w 282"/>
                <a:gd name="T5" fmla="*/ 176 h 264"/>
                <a:gd name="T6" fmla="*/ 106 w 282"/>
                <a:gd name="T7" fmla="*/ 194 h 264"/>
                <a:gd name="T8" fmla="*/ 159 w 282"/>
                <a:gd name="T9" fmla="*/ 264 h 264"/>
                <a:gd name="T10" fmla="*/ 282 w 282"/>
                <a:gd name="T11" fmla="*/ 124 h 264"/>
                <a:gd name="T12" fmla="*/ 159 w 282"/>
                <a:gd name="T13" fmla="*/ 0 h 264"/>
                <a:gd name="T14" fmla="*/ 71 w 282"/>
                <a:gd name="T15" fmla="*/ 128 h 264"/>
                <a:gd name="T16" fmla="*/ 49 w 282"/>
                <a:gd name="T17" fmla="*/ 106 h 264"/>
                <a:gd name="T18" fmla="*/ 71 w 282"/>
                <a:gd name="T19" fmla="*/ 84 h 264"/>
                <a:gd name="T20" fmla="*/ 93 w 282"/>
                <a:gd name="T21" fmla="*/ 106 h 264"/>
                <a:gd name="T22" fmla="*/ 71 w 282"/>
                <a:gd name="T23" fmla="*/ 128 h 264"/>
                <a:gd name="T24" fmla="*/ 110 w 282"/>
                <a:gd name="T25" fmla="*/ 62 h 264"/>
                <a:gd name="T26" fmla="*/ 132 w 282"/>
                <a:gd name="T27" fmla="*/ 40 h 264"/>
                <a:gd name="T28" fmla="*/ 154 w 282"/>
                <a:gd name="T29" fmla="*/ 62 h 264"/>
                <a:gd name="T30" fmla="*/ 132 w 282"/>
                <a:gd name="T31" fmla="*/ 84 h 264"/>
                <a:gd name="T32" fmla="*/ 110 w 282"/>
                <a:gd name="T33" fmla="*/ 62 h 264"/>
                <a:gd name="T34" fmla="*/ 167 w 282"/>
                <a:gd name="T35" fmla="*/ 216 h 264"/>
                <a:gd name="T36" fmla="*/ 137 w 282"/>
                <a:gd name="T37" fmla="*/ 185 h 264"/>
                <a:gd name="T38" fmla="*/ 167 w 282"/>
                <a:gd name="T39" fmla="*/ 154 h 264"/>
                <a:gd name="T40" fmla="*/ 198 w 282"/>
                <a:gd name="T41" fmla="*/ 185 h 264"/>
                <a:gd name="T42" fmla="*/ 167 w 282"/>
                <a:gd name="T43" fmla="*/ 216 h 264"/>
                <a:gd name="T44" fmla="*/ 220 w 282"/>
                <a:gd name="T45" fmla="*/ 163 h 264"/>
                <a:gd name="T46" fmla="*/ 207 w 282"/>
                <a:gd name="T47" fmla="*/ 150 h 264"/>
                <a:gd name="T48" fmla="*/ 220 w 282"/>
                <a:gd name="T49" fmla="*/ 137 h 264"/>
                <a:gd name="T50" fmla="*/ 233 w 282"/>
                <a:gd name="T51" fmla="*/ 150 h 264"/>
                <a:gd name="T52" fmla="*/ 220 w 282"/>
                <a:gd name="T53" fmla="*/ 163 h 264"/>
                <a:gd name="T54" fmla="*/ 203 w 282"/>
                <a:gd name="T55" fmla="*/ 110 h 264"/>
                <a:gd name="T56" fmla="*/ 172 w 282"/>
                <a:gd name="T57" fmla="*/ 80 h 264"/>
                <a:gd name="T58" fmla="*/ 203 w 282"/>
                <a:gd name="T59" fmla="*/ 49 h 264"/>
                <a:gd name="T60" fmla="*/ 233 w 282"/>
                <a:gd name="T61" fmla="*/ 80 h 264"/>
                <a:gd name="T62" fmla="*/ 203 w 282"/>
                <a:gd name="T63" fmla="*/ 11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2" h="264">
                  <a:moveTo>
                    <a:pt x="159" y="0"/>
                  </a:moveTo>
                  <a:cubicBezTo>
                    <a:pt x="53" y="0"/>
                    <a:pt x="0" y="106"/>
                    <a:pt x="0" y="176"/>
                  </a:cubicBezTo>
                  <a:cubicBezTo>
                    <a:pt x="0" y="194"/>
                    <a:pt x="35" y="229"/>
                    <a:pt x="53" y="176"/>
                  </a:cubicBezTo>
                  <a:cubicBezTo>
                    <a:pt x="61" y="153"/>
                    <a:pt x="106" y="159"/>
                    <a:pt x="106" y="194"/>
                  </a:cubicBezTo>
                  <a:cubicBezTo>
                    <a:pt x="106" y="233"/>
                    <a:pt x="123" y="264"/>
                    <a:pt x="159" y="264"/>
                  </a:cubicBezTo>
                  <a:cubicBezTo>
                    <a:pt x="264" y="264"/>
                    <a:pt x="282" y="176"/>
                    <a:pt x="282" y="124"/>
                  </a:cubicBezTo>
                  <a:cubicBezTo>
                    <a:pt x="282" y="71"/>
                    <a:pt x="264" y="0"/>
                    <a:pt x="159" y="0"/>
                  </a:cubicBezTo>
                  <a:close/>
                  <a:moveTo>
                    <a:pt x="71" y="128"/>
                  </a:moveTo>
                  <a:cubicBezTo>
                    <a:pt x="58" y="128"/>
                    <a:pt x="49" y="118"/>
                    <a:pt x="49" y="106"/>
                  </a:cubicBezTo>
                  <a:cubicBezTo>
                    <a:pt x="49" y="94"/>
                    <a:pt x="58" y="84"/>
                    <a:pt x="71" y="84"/>
                  </a:cubicBezTo>
                  <a:cubicBezTo>
                    <a:pt x="83" y="84"/>
                    <a:pt x="93" y="94"/>
                    <a:pt x="93" y="106"/>
                  </a:cubicBezTo>
                  <a:cubicBezTo>
                    <a:pt x="93" y="118"/>
                    <a:pt x="83" y="128"/>
                    <a:pt x="71" y="128"/>
                  </a:cubicBezTo>
                  <a:close/>
                  <a:moveTo>
                    <a:pt x="110" y="62"/>
                  </a:moveTo>
                  <a:cubicBezTo>
                    <a:pt x="110" y="50"/>
                    <a:pt x="120" y="40"/>
                    <a:pt x="132" y="40"/>
                  </a:cubicBezTo>
                  <a:cubicBezTo>
                    <a:pt x="144" y="40"/>
                    <a:pt x="154" y="50"/>
                    <a:pt x="154" y="62"/>
                  </a:cubicBezTo>
                  <a:cubicBezTo>
                    <a:pt x="154" y="74"/>
                    <a:pt x="144" y="84"/>
                    <a:pt x="132" y="84"/>
                  </a:cubicBezTo>
                  <a:cubicBezTo>
                    <a:pt x="120" y="84"/>
                    <a:pt x="110" y="74"/>
                    <a:pt x="110" y="62"/>
                  </a:cubicBezTo>
                  <a:close/>
                  <a:moveTo>
                    <a:pt x="167" y="216"/>
                  </a:moveTo>
                  <a:cubicBezTo>
                    <a:pt x="150" y="216"/>
                    <a:pt x="137" y="202"/>
                    <a:pt x="137" y="185"/>
                  </a:cubicBezTo>
                  <a:cubicBezTo>
                    <a:pt x="137" y="168"/>
                    <a:pt x="150" y="154"/>
                    <a:pt x="167" y="154"/>
                  </a:cubicBezTo>
                  <a:cubicBezTo>
                    <a:pt x="184" y="154"/>
                    <a:pt x="198" y="168"/>
                    <a:pt x="198" y="185"/>
                  </a:cubicBezTo>
                  <a:cubicBezTo>
                    <a:pt x="198" y="202"/>
                    <a:pt x="184" y="216"/>
                    <a:pt x="167" y="216"/>
                  </a:cubicBezTo>
                  <a:close/>
                  <a:moveTo>
                    <a:pt x="220" y="163"/>
                  </a:moveTo>
                  <a:cubicBezTo>
                    <a:pt x="213" y="163"/>
                    <a:pt x="207" y="157"/>
                    <a:pt x="207" y="150"/>
                  </a:cubicBezTo>
                  <a:cubicBezTo>
                    <a:pt x="207" y="143"/>
                    <a:pt x="213" y="137"/>
                    <a:pt x="220" y="137"/>
                  </a:cubicBezTo>
                  <a:cubicBezTo>
                    <a:pt x="227" y="137"/>
                    <a:pt x="233" y="143"/>
                    <a:pt x="233" y="150"/>
                  </a:cubicBezTo>
                  <a:cubicBezTo>
                    <a:pt x="233" y="157"/>
                    <a:pt x="227" y="163"/>
                    <a:pt x="220" y="163"/>
                  </a:cubicBezTo>
                  <a:close/>
                  <a:moveTo>
                    <a:pt x="203" y="110"/>
                  </a:moveTo>
                  <a:cubicBezTo>
                    <a:pt x="186" y="110"/>
                    <a:pt x="172" y="97"/>
                    <a:pt x="172" y="80"/>
                  </a:cubicBezTo>
                  <a:cubicBezTo>
                    <a:pt x="172" y="63"/>
                    <a:pt x="186" y="49"/>
                    <a:pt x="203" y="49"/>
                  </a:cubicBezTo>
                  <a:cubicBezTo>
                    <a:pt x="220" y="49"/>
                    <a:pt x="233" y="63"/>
                    <a:pt x="233" y="80"/>
                  </a:cubicBezTo>
                  <a:cubicBezTo>
                    <a:pt x="233" y="97"/>
                    <a:pt x="220" y="110"/>
                    <a:pt x="203" y="110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41" name="Freeform 104"/>
            <p:cNvSpPr>
              <a:spLocks noEditPoints="1"/>
            </p:cNvSpPr>
            <p:nvPr/>
          </p:nvSpPr>
          <p:spPr bwMode="auto">
            <a:xfrm rot="21545399">
              <a:off x="5259014" y="1152373"/>
              <a:ext cx="309720" cy="341323"/>
            </a:xfrm>
            <a:custGeom>
              <a:avLst/>
              <a:gdLst>
                <a:gd name="T0" fmla="*/ 132 w 145"/>
                <a:gd name="T1" fmla="*/ 0 h 160"/>
                <a:gd name="T2" fmla="*/ 13 w 145"/>
                <a:gd name="T3" fmla="*/ 0 h 160"/>
                <a:gd name="T4" fmla="*/ 0 w 145"/>
                <a:gd name="T5" fmla="*/ 13 h 160"/>
                <a:gd name="T6" fmla="*/ 0 w 145"/>
                <a:gd name="T7" fmla="*/ 147 h 160"/>
                <a:gd name="T8" fmla="*/ 13 w 145"/>
                <a:gd name="T9" fmla="*/ 160 h 160"/>
                <a:gd name="T10" fmla="*/ 132 w 145"/>
                <a:gd name="T11" fmla="*/ 160 h 160"/>
                <a:gd name="T12" fmla="*/ 145 w 145"/>
                <a:gd name="T13" fmla="*/ 147 h 160"/>
                <a:gd name="T14" fmla="*/ 145 w 145"/>
                <a:gd name="T15" fmla="*/ 13 h 160"/>
                <a:gd name="T16" fmla="*/ 132 w 145"/>
                <a:gd name="T17" fmla="*/ 0 h 160"/>
                <a:gd name="T18" fmla="*/ 10 w 145"/>
                <a:gd name="T19" fmla="*/ 147 h 160"/>
                <a:gd name="T20" fmla="*/ 10 w 145"/>
                <a:gd name="T21" fmla="*/ 13 h 160"/>
                <a:gd name="T22" fmla="*/ 13 w 145"/>
                <a:gd name="T23" fmla="*/ 10 h 160"/>
                <a:gd name="T24" fmla="*/ 36 w 145"/>
                <a:gd name="T25" fmla="*/ 10 h 160"/>
                <a:gd name="T26" fmla="*/ 36 w 145"/>
                <a:gd name="T27" fmla="*/ 150 h 160"/>
                <a:gd name="T28" fmla="*/ 13 w 145"/>
                <a:gd name="T29" fmla="*/ 150 h 160"/>
                <a:gd name="T30" fmla="*/ 10 w 145"/>
                <a:gd name="T31" fmla="*/ 147 h 160"/>
                <a:gd name="T32" fmla="*/ 134 w 145"/>
                <a:gd name="T33" fmla="*/ 147 h 160"/>
                <a:gd name="T34" fmla="*/ 132 w 145"/>
                <a:gd name="T35" fmla="*/ 150 h 160"/>
                <a:gd name="T36" fmla="*/ 41 w 145"/>
                <a:gd name="T37" fmla="*/ 150 h 160"/>
                <a:gd name="T38" fmla="*/ 41 w 145"/>
                <a:gd name="T39" fmla="*/ 10 h 160"/>
                <a:gd name="T40" fmla="*/ 85 w 145"/>
                <a:gd name="T41" fmla="*/ 10 h 160"/>
                <a:gd name="T42" fmla="*/ 85 w 145"/>
                <a:gd name="T43" fmla="*/ 48 h 160"/>
                <a:gd name="T44" fmla="*/ 98 w 145"/>
                <a:gd name="T45" fmla="*/ 36 h 160"/>
                <a:gd name="T46" fmla="*/ 111 w 145"/>
                <a:gd name="T47" fmla="*/ 48 h 160"/>
                <a:gd name="T48" fmla="*/ 111 w 145"/>
                <a:gd name="T49" fmla="*/ 10 h 160"/>
                <a:gd name="T50" fmla="*/ 132 w 145"/>
                <a:gd name="T51" fmla="*/ 10 h 160"/>
                <a:gd name="T52" fmla="*/ 134 w 145"/>
                <a:gd name="T53" fmla="*/ 13 h 160"/>
                <a:gd name="T54" fmla="*/ 134 w 145"/>
                <a:gd name="T55" fmla="*/ 147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5" h="160">
                  <a:moveTo>
                    <a:pt x="132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55"/>
                    <a:pt x="6" y="160"/>
                    <a:pt x="13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9" y="160"/>
                    <a:pt x="145" y="155"/>
                    <a:pt x="145" y="147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5" y="6"/>
                    <a:pt x="139" y="0"/>
                    <a:pt x="132" y="0"/>
                  </a:cubicBezTo>
                  <a:close/>
                  <a:moveTo>
                    <a:pt x="10" y="147"/>
                  </a:move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2" y="10"/>
                    <a:pt x="13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50"/>
                    <a:pt x="36" y="150"/>
                    <a:pt x="36" y="150"/>
                  </a:cubicBezTo>
                  <a:cubicBezTo>
                    <a:pt x="13" y="150"/>
                    <a:pt x="13" y="150"/>
                    <a:pt x="13" y="150"/>
                  </a:cubicBezTo>
                  <a:cubicBezTo>
                    <a:pt x="12" y="150"/>
                    <a:pt x="10" y="149"/>
                    <a:pt x="10" y="147"/>
                  </a:cubicBezTo>
                  <a:close/>
                  <a:moveTo>
                    <a:pt x="134" y="147"/>
                  </a:moveTo>
                  <a:cubicBezTo>
                    <a:pt x="134" y="149"/>
                    <a:pt x="133" y="150"/>
                    <a:pt x="132" y="150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3" y="10"/>
                    <a:pt x="134" y="12"/>
                    <a:pt x="134" y="13"/>
                  </a:cubicBezTo>
                  <a:lnTo>
                    <a:pt x="134" y="147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42" name="Freeform 19"/>
            <p:cNvSpPr>
              <a:spLocks/>
            </p:cNvSpPr>
            <p:nvPr/>
          </p:nvSpPr>
          <p:spPr bwMode="auto">
            <a:xfrm rot="21545399">
              <a:off x="5245943" y="653550"/>
              <a:ext cx="442326" cy="427155"/>
            </a:xfrm>
            <a:custGeom>
              <a:avLst/>
              <a:gdLst>
                <a:gd name="T0" fmla="*/ 118 w 224"/>
                <a:gd name="T1" fmla="*/ 199 h 217"/>
                <a:gd name="T2" fmla="*/ 116 w 224"/>
                <a:gd name="T3" fmla="*/ 185 h 217"/>
                <a:gd name="T4" fmla="*/ 93 w 224"/>
                <a:gd name="T5" fmla="*/ 164 h 217"/>
                <a:gd name="T6" fmla="*/ 112 w 224"/>
                <a:gd name="T7" fmla="*/ 126 h 217"/>
                <a:gd name="T8" fmla="*/ 151 w 224"/>
                <a:gd name="T9" fmla="*/ 145 h 217"/>
                <a:gd name="T10" fmla="*/ 144 w 224"/>
                <a:gd name="T11" fmla="*/ 176 h 217"/>
                <a:gd name="T12" fmla="*/ 149 w 224"/>
                <a:gd name="T13" fmla="*/ 185 h 217"/>
                <a:gd name="T14" fmla="*/ 175 w 224"/>
                <a:gd name="T15" fmla="*/ 173 h 217"/>
                <a:gd name="T16" fmla="*/ 180 w 224"/>
                <a:gd name="T17" fmla="*/ 162 h 217"/>
                <a:gd name="T18" fmla="*/ 163 w 224"/>
                <a:gd name="T19" fmla="*/ 121 h 217"/>
                <a:gd name="T20" fmla="*/ 169 w 224"/>
                <a:gd name="T21" fmla="*/ 117 h 217"/>
                <a:gd name="T22" fmla="*/ 200 w 224"/>
                <a:gd name="T23" fmla="*/ 124 h 217"/>
                <a:gd name="T24" fmla="*/ 219 w 224"/>
                <a:gd name="T25" fmla="*/ 86 h 217"/>
                <a:gd name="T26" fmla="*/ 181 w 224"/>
                <a:gd name="T27" fmla="*/ 66 h 217"/>
                <a:gd name="T28" fmla="*/ 160 w 224"/>
                <a:gd name="T29" fmla="*/ 90 h 217"/>
                <a:gd name="T30" fmla="*/ 152 w 224"/>
                <a:gd name="T31" fmla="*/ 91 h 217"/>
                <a:gd name="T32" fmla="*/ 142 w 224"/>
                <a:gd name="T33" fmla="*/ 46 h 217"/>
                <a:gd name="T34" fmla="*/ 131 w 224"/>
                <a:gd name="T35" fmla="*/ 40 h 217"/>
                <a:gd name="T36" fmla="*/ 84 w 224"/>
                <a:gd name="T37" fmla="*/ 60 h 217"/>
                <a:gd name="T38" fmla="*/ 81 w 224"/>
                <a:gd name="T39" fmla="*/ 55 h 217"/>
                <a:gd name="T40" fmla="*/ 89 w 224"/>
                <a:gd name="T41" fmla="*/ 24 h 217"/>
                <a:gd name="T42" fmla="*/ 50 w 224"/>
                <a:gd name="T43" fmla="*/ 5 h 217"/>
                <a:gd name="T44" fmla="*/ 31 w 224"/>
                <a:gd name="T45" fmla="*/ 43 h 217"/>
                <a:gd name="T46" fmla="*/ 54 w 224"/>
                <a:gd name="T47" fmla="*/ 64 h 217"/>
                <a:gd name="T48" fmla="*/ 55 w 224"/>
                <a:gd name="T49" fmla="*/ 71 h 217"/>
                <a:gd name="T50" fmla="*/ 6 w 224"/>
                <a:gd name="T51" fmla="*/ 81 h 217"/>
                <a:gd name="T52" fmla="*/ 1 w 224"/>
                <a:gd name="T53" fmla="*/ 92 h 217"/>
                <a:gd name="T54" fmla="*/ 11 w 224"/>
                <a:gd name="T55" fmla="*/ 140 h 217"/>
                <a:gd name="T56" fmla="*/ 22 w 224"/>
                <a:gd name="T57" fmla="*/ 139 h 217"/>
                <a:gd name="T58" fmla="*/ 42 w 224"/>
                <a:gd name="T59" fmla="*/ 115 h 217"/>
                <a:gd name="T60" fmla="*/ 81 w 224"/>
                <a:gd name="T61" fmla="*/ 135 h 217"/>
                <a:gd name="T62" fmla="*/ 61 w 224"/>
                <a:gd name="T63" fmla="*/ 173 h 217"/>
                <a:gd name="T64" fmla="*/ 30 w 224"/>
                <a:gd name="T65" fmla="*/ 166 h 217"/>
                <a:gd name="T66" fmla="*/ 23 w 224"/>
                <a:gd name="T67" fmla="*/ 171 h 217"/>
                <a:gd name="T68" fmla="*/ 39 w 224"/>
                <a:gd name="T69" fmla="*/ 208 h 217"/>
                <a:gd name="T70" fmla="*/ 50 w 224"/>
                <a:gd name="T71" fmla="*/ 214 h 217"/>
                <a:gd name="T72" fmla="*/ 118 w 224"/>
                <a:gd name="T73" fmla="*/ 19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17">
                  <a:moveTo>
                    <a:pt x="118" y="199"/>
                  </a:moveTo>
                  <a:cubicBezTo>
                    <a:pt x="116" y="185"/>
                    <a:pt x="116" y="185"/>
                    <a:pt x="116" y="185"/>
                  </a:cubicBezTo>
                  <a:cubicBezTo>
                    <a:pt x="106" y="183"/>
                    <a:pt x="97" y="175"/>
                    <a:pt x="93" y="164"/>
                  </a:cubicBezTo>
                  <a:cubicBezTo>
                    <a:pt x="88" y="148"/>
                    <a:pt x="96" y="131"/>
                    <a:pt x="112" y="126"/>
                  </a:cubicBezTo>
                  <a:cubicBezTo>
                    <a:pt x="129" y="121"/>
                    <a:pt x="146" y="129"/>
                    <a:pt x="151" y="145"/>
                  </a:cubicBezTo>
                  <a:cubicBezTo>
                    <a:pt x="155" y="157"/>
                    <a:pt x="151" y="169"/>
                    <a:pt x="144" y="176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64" y="178"/>
                    <a:pt x="175" y="173"/>
                    <a:pt x="175" y="173"/>
                  </a:cubicBezTo>
                  <a:cubicBezTo>
                    <a:pt x="179" y="171"/>
                    <a:pt x="182" y="166"/>
                    <a:pt x="180" y="162"/>
                  </a:cubicBezTo>
                  <a:cubicBezTo>
                    <a:pt x="180" y="162"/>
                    <a:pt x="172" y="143"/>
                    <a:pt x="163" y="121"/>
                  </a:cubicBezTo>
                  <a:cubicBezTo>
                    <a:pt x="169" y="117"/>
                    <a:pt x="169" y="117"/>
                    <a:pt x="169" y="117"/>
                  </a:cubicBezTo>
                  <a:cubicBezTo>
                    <a:pt x="176" y="125"/>
                    <a:pt x="188" y="128"/>
                    <a:pt x="200" y="124"/>
                  </a:cubicBezTo>
                  <a:cubicBezTo>
                    <a:pt x="216" y="119"/>
                    <a:pt x="224" y="102"/>
                    <a:pt x="219" y="86"/>
                  </a:cubicBezTo>
                  <a:cubicBezTo>
                    <a:pt x="214" y="70"/>
                    <a:pt x="197" y="61"/>
                    <a:pt x="181" y="66"/>
                  </a:cubicBezTo>
                  <a:cubicBezTo>
                    <a:pt x="170" y="70"/>
                    <a:pt x="162" y="79"/>
                    <a:pt x="160" y="90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47" y="74"/>
                    <a:pt x="143" y="57"/>
                    <a:pt x="142" y="46"/>
                  </a:cubicBezTo>
                  <a:cubicBezTo>
                    <a:pt x="139" y="42"/>
                    <a:pt x="136" y="38"/>
                    <a:pt x="131" y="40"/>
                  </a:cubicBezTo>
                  <a:cubicBezTo>
                    <a:pt x="131" y="40"/>
                    <a:pt x="110" y="50"/>
                    <a:pt x="84" y="60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9" y="48"/>
                    <a:pt x="92" y="36"/>
                    <a:pt x="89" y="24"/>
                  </a:cubicBezTo>
                  <a:cubicBezTo>
                    <a:pt x="83" y="8"/>
                    <a:pt x="66" y="0"/>
                    <a:pt x="50" y="5"/>
                  </a:cubicBezTo>
                  <a:cubicBezTo>
                    <a:pt x="34" y="10"/>
                    <a:pt x="25" y="27"/>
                    <a:pt x="31" y="43"/>
                  </a:cubicBezTo>
                  <a:cubicBezTo>
                    <a:pt x="34" y="54"/>
                    <a:pt x="44" y="62"/>
                    <a:pt x="54" y="64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35" y="78"/>
                    <a:pt x="16" y="83"/>
                    <a:pt x="6" y="81"/>
                  </a:cubicBezTo>
                  <a:cubicBezTo>
                    <a:pt x="2" y="84"/>
                    <a:pt x="0" y="88"/>
                    <a:pt x="1" y="92"/>
                  </a:cubicBezTo>
                  <a:cubicBezTo>
                    <a:pt x="0" y="103"/>
                    <a:pt x="5" y="121"/>
                    <a:pt x="11" y="140"/>
                  </a:cubicBezTo>
                  <a:cubicBezTo>
                    <a:pt x="22" y="139"/>
                    <a:pt x="22" y="139"/>
                    <a:pt x="22" y="139"/>
                  </a:cubicBezTo>
                  <a:cubicBezTo>
                    <a:pt x="24" y="128"/>
                    <a:pt x="31" y="119"/>
                    <a:pt x="42" y="115"/>
                  </a:cubicBezTo>
                  <a:cubicBezTo>
                    <a:pt x="58" y="110"/>
                    <a:pt x="75" y="119"/>
                    <a:pt x="81" y="135"/>
                  </a:cubicBezTo>
                  <a:cubicBezTo>
                    <a:pt x="86" y="151"/>
                    <a:pt x="77" y="168"/>
                    <a:pt x="61" y="173"/>
                  </a:cubicBezTo>
                  <a:cubicBezTo>
                    <a:pt x="50" y="177"/>
                    <a:pt x="38" y="174"/>
                    <a:pt x="30" y="166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31" y="192"/>
                    <a:pt x="39" y="208"/>
                    <a:pt x="39" y="208"/>
                  </a:cubicBezTo>
                  <a:cubicBezTo>
                    <a:pt x="40" y="213"/>
                    <a:pt x="40" y="212"/>
                    <a:pt x="50" y="214"/>
                  </a:cubicBezTo>
                  <a:cubicBezTo>
                    <a:pt x="65" y="217"/>
                    <a:pt x="93" y="209"/>
                    <a:pt x="118" y="199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43" name="Group 98"/>
            <p:cNvGrpSpPr/>
            <p:nvPr/>
          </p:nvGrpSpPr>
          <p:grpSpPr>
            <a:xfrm rot="21545399">
              <a:off x="4898391" y="985893"/>
              <a:ext cx="297556" cy="338937"/>
              <a:chOff x="966788" y="2762251"/>
              <a:chExt cx="479425" cy="546100"/>
            </a:xfrm>
            <a:solidFill>
              <a:srgbClr val="DDDBDB"/>
            </a:solidFill>
          </p:grpSpPr>
          <p:sp>
            <p:nvSpPr>
              <p:cNvPr id="141" name="Freeform 34"/>
              <p:cNvSpPr>
                <a:spLocks noEditPoints="1"/>
              </p:cNvSpPr>
              <p:nvPr/>
            </p:nvSpPr>
            <p:spPr bwMode="auto">
              <a:xfrm>
                <a:off x="966788" y="2863851"/>
                <a:ext cx="479425" cy="444500"/>
              </a:xfrm>
              <a:custGeom>
                <a:avLst/>
                <a:gdLst>
                  <a:gd name="T0" fmla="*/ 90 w 179"/>
                  <a:gd name="T1" fmla="*/ 25 h 166"/>
                  <a:gd name="T2" fmla="*/ 0 w 179"/>
                  <a:gd name="T3" fmla="*/ 76 h 166"/>
                  <a:gd name="T4" fmla="*/ 64 w 179"/>
                  <a:gd name="T5" fmla="*/ 166 h 166"/>
                  <a:gd name="T6" fmla="*/ 90 w 179"/>
                  <a:gd name="T7" fmla="*/ 153 h 166"/>
                  <a:gd name="T8" fmla="*/ 115 w 179"/>
                  <a:gd name="T9" fmla="*/ 166 h 166"/>
                  <a:gd name="T10" fmla="*/ 179 w 179"/>
                  <a:gd name="T11" fmla="*/ 76 h 166"/>
                  <a:gd name="T12" fmla="*/ 90 w 179"/>
                  <a:gd name="T13" fmla="*/ 25 h 166"/>
                  <a:gd name="T14" fmla="*/ 39 w 179"/>
                  <a:gd name="T15" fmla="*/ 127 h 166"/>
                  <a:gd name="T16" fmla="*/ 39 w 179"/>
                  <a:gd name="T17" fmla="*/ 38 h 166"/>
                  <a:gd name="T18" fmla="*/ 64 w 179"/>
                  <a:gd name="T19" fmla="*/ 38 h 166"/>
                  <a:gd name="T20" fmla="*/ 39 w 179"/>
                  <a:gd name="T21" fmla="*/ 12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9" h="166">
                    <a:moveTo>
                      <a:pt x="90" y="25"/>
                    </a:moveTo>
                    <a:cubicBezTo>
                      <a:pt x="23" y="0"/>
                      <a:pt x="0" y="38"/>
                      <a:pt x="0" y="76"/>
                    </a:cubicBezTo>
                    <a:cubicBezTo>
                      <a:pt x="0" y="115"/>
                      <a:pt x="46" y="166"/>
                      <a:pt x="64" y="166"/>
                    </a:cubicBezTo>
                    <a:cubicBezTo>
                      <a:pt x="90" y="166"/>
                      <a:pt x="90" y="153"/>
                      <a:pt x="90" y="153"/>
                    </a:cubicBezTo>
                    <a:cubicBezTo>
                      <a:pt x="90" y="153"/>
                      <a:pt x="89" y="166"/>
                      <a:pt x="115" y="166"/>
                    </a:cubicBezTo>
                    <a:cubicBezTo>
                      <a:pt x="134" y="166"/>
                      <a:pt x="179" y="115"/>
                      <a:pt x="179" y="76"/>
                    </a:cubicBezTo>
                    <a:cubicBezTo>
                      <a:pt x="179" y="38"/>
                      <a:pt x="157" y="0"/>
                      <a:pt x="90" y="25"/>
                    </a:cubicBezTo>
                    <a:close/>
                    <a:moveTo>
                      <a:pt x="39" y="127"/>
                    </a:moveTo>
                    <a:cubicBezTo>
                      <a:pt x="0" y="76"/>
                      <a:pt x="39" y="38"/>
                      <a:pt x="39" y="38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64" y="38"/>
                      <a:pt x="39" y="64"/>
                      <a:pt x="39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2" name="Freeform 35"/>
              <p:cNvSpPr>
                <a:spLocks/>
              </p:cNvSpPr>
              <p:nvPr/>
            </p:nvSpPr>
            <p:spPr bwMode="auto">
              <a:xfrm>
                <a:off x="1071563" y="2762251"/>
                <a:ext cx="136525" cy="136525"/>
              </a:xfrm>
              <a:custGeom>
                <a:avLst/>
                <a:gdLst>
                  <a:gd name="T0" fmla="*/ 51 w 51"/>
                  <a:gd name="T1" fmla="*/ 51 h 51"/>
                  <a:gd name="T2" fmla="*/ 25 w 51"/>
                  <a:gd name="T3" fmla="*/ 0 h 51"/>
                  <a:gd name="T4" fmla="*/ 0 w 51"/>
                  <a:gd name="T5" fmla="*/ 0 h 51"/>
                  <a:gd name="T6" fmla="*/ 38 w 51"/>
                  <a:gd name="T7" fmla="*/ 51 h 51"/>
                  <a:gd name="T8" fmla="*/ 51 w 51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1">
                    <a:moveTo>
                      <a:pt x="51" y="51"/>
                    </a:moveTo>
                    <a:cubicBezTo>
                      <a:pt x="38" y="25"/>
                      <a:pt x="25" y="0"/>
                      <a:pt x="2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8" y="51"/>
                      <a:pt x="38" y="51"/>
                      <a:pt x="38" y="51"/>
                    </a:cubicBezTo>
                    <a:lnTo>
                      <a:pt x="51" y="5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3" name="Freeform 36"/>
              <p:cNvSpPr>
                <a:spLocks/>
              </p:cNvSpPr>
              <p:nvPr/>
            </p:nvSpPr>
            <p:spPr bwMode="auto">
              <a:xfrm>
                <a:off x="1208088" y="2762251"/>
                <a:ext cx="169862" cy="136525"/>
              </a:xfrm>
              <a:custGeom>
                <a:avLst/>
                <a:gdLst>
                  <a:gd name="T0" fmla="*/ 63 w 63"/>
                  <a:gd name="T1" fmla="*/ 0 h 51"/>
                  <a:gd name="T2" fmla="*/ 0 w 63"/>
                  <a:gd name="T3" fmla="*/ 51 h 51"/>
                  <a:gd name="T4" fmla="*/ 63 w 63"/>
                  <a:gd name="T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" h="51">
                    <a:moveTo>
                      <a:pt x="63" y="0"/>
                    </a:moveTo>
                    <a:cubicBezTo>
                      <a:pt x="63" y="0"/>
                      <a:pt x="0" y="0"/>
                      <a:pt x="0" y="51"/>
                    </a:cubicBezTo>
                    <a:cubicBezTo>
                      <a:pt x="0" y="51"/>
                      <a:pt x="63" y="51"/>
                      <a:pt x="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44" name="Freeform 30"/>
            <p:cNvSpPr>
              <a:spLocks noEditPoints="1"/>
            </p:cNvSpPr>
            <p:nvPr/>
          </p:nvSpPr>
          <p:spPr bwMode="auto">
            <a:xfrm>
              <a:off x="4816285" y="495338"/>
              <a:ext cx="412722" cy="426792"/>
            </a:xfrm>
            <a:custGeom>
              <a:avLst/>
              <a:gdLst>
                <a:gd name="T0" fmla="*/ 186 w 186"/>
                <a:gd name="T1" fmla="*/ 108 h 192"/>
                <a:gd name="T2" fmla="*/ 170 w 186"/>
                <a:gd name="T3" fmla="*/ 89 h 192"/>
                <a:gd name="T4" fmla="*/ 171 w 186"/>
                <a:gd name="T5" fmla="*/ 77 h 192"/>
                <a:gd name="T6" fmla="*/ 94 w 186"/>
                <a:gd name="T7" fmla="*/ 0 h 192"/>
                <a:gd name="T8" fmla="*/ 17 w 186"/>
                <a:gd name="T9" fmla="*/ 77 h 192"/>
                <a:gd name="T10" fmla="*/ 18 w 186"/>
                <a:gd name="T11" fmla="*/ 87 h 192"/>
                <a:gd name="T12" fmla="*/ 0 w 186"/>
                <a:gd name="T13" fmla="*/ 106 h 192"/>
                <a:gd name="T14" fmla="*/ 19 w 186"/>
                <a:gd name="T15" fmla="*/ 125 h 192"/>
                <a:gd name="T16" fmla="*/ 22 w 186"/>
                <a:gd name="T17" fmla="*/ 125 h 192"/>
                <a:gd name="T18" fmla="*/ 22 w 186"/>
                <a:gd name="T19" fmla="*/ 133 h 192"/>
                <a:gd name="T20" fmla="*/ 30 w 186"/>
                <a:gd name="T21" fmla="*/ 141 h 192"/>
                <a:gd name="T22" fmla="*/ 43 w 186"/>
                <a:gd name="T23" fmla="*/ 141 h 192"/>
                <a:gd name="T24" fmla="*/ 51 w 186"/>
                <a:gd name="T25" fmla="*/ 133 h 192"/>
                <a:gd name="T26" fmla="*/ 51 w 186"/>
                <a:gd name="T27" fmla="*/ 81 h 192"/>
                <a:gd name="T28" fmla="*/ 43 w 186"/>
                <a:gd name="T29" fmla="*/ 73 h 192"/>
                <a:gd name="T30" fmla="*/ 30 w 186"/>
                <a:gd name="T31" fmla="*/ 73 h 192"/>
                <a:gd name="T32" fmla="*/ 26 w 186"/>
                <a:gd name="T33" fmla="*/ 74 h 192"/>
                <a:gd name="T34" fmla="*/ 94 w 186"/>
                <a:gd name="T35" fmla="*/ 18 h 192"/>
                <a:gd name="T36" fmla="*/ 162 w 186"/>
                <a:gd name="T37" fmla="*/ 76 h 192"/>
                <a:gd name="T38" fmla="*/ 156 w 186"/>
                <a:gd name="T39" fmla="*/ 73 h 192"/>
                <a:gd name="T40" fmla="*/ 143 w 186"/>
                <a:gd name="T41" fmla="*/ 73 h 192"/>
                <a:gd name="T42" fmla="*/ 135 w 186"/>
                <a:gd name="T43" fmla="*/ 81 h 192"/>
                <a:gd name="T44" fmla="*/ 135 w 186"/>
                <a:gd name="T45" fmla="*/ 133 h 192"/>
                <a:gd name="T46" fmla="*/ 143 w 186"/>
                <a:gd name="T47" fmla="*/ 141 h 192"/>
                <a:gd name="T48" fmla="*/ 156 w 186"/>
                <a:gd name="T49" fmla="*/ 141 h 192"/>
                <a:gd name="T50" fmla="*/ 159 w 186"/>
                <a:gd name="T51" fmla="*/ 140 h 192"/>
                <a:gd name="T52" fmla="*/ 122 w 186"/>
                <a:gd name="T53" fmla="*/ 174 h 192"/>
                <a:gd name="T54" fmla="*/ 106 w 186"/>
                <a:gd name="T55" fmla="*/ 163 h 192"/>
                <a:gd name="T56" fmla="*/ 89 w 186"/>
                <a:gd name="T57" fmla="*/ 178 h 192"/>
                <a:gd name="T58" fmla="*/ 106 w 186"/>
                <a:gd name="T59" fmla="*/ 192 h 192"/>
                <a:gd name="T60" fmla="*/ 122 w 186"/>
                <a:gd name="T61" fmla="*/ 183 h 192"/>
                <a:gd name="T62" fmla="*/ 171 w 186"/>
                <a:gd name="T63" fmla="*/ 126 h 192"/>
                <a:gd name="T64" fmla="*/ 186 w 186"/>
                <a:gd name="T65" fmla="*/ 108 h 192"/>
                <a:gd name="T66" fmla="*/ 164 w 186"/>
                <a:gd name="T67" fmla="*/ 126 h 192"/>
                <a:gd name="T68" fmla="*/ 164 w 186"/>
                <a:gd name="T69" fmla="*/ 126 h 192"/>
                <a:gd name="T70" fmla="*/ 164 w 186"/>
                <a:gd name="T71" fmla="*/ 127 h 192"/>
                <a:gd name="T72" fmla="*/ 164 w 186"/>
                <a:gd name="T73" fmla="*/ 12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6" h="192">
                  <a:moveTo>
                    <a:pt x="186" y="108"/>
                  </a:moveTo>
                  <a:cubicBezTo>
                    <a:pt x="186" y="99"/>
                    <a:pt x="179" y="91"/>
                    <a:pt x="170" y="89"/>
                  </a:cubicBezTo>
                  <a:cubicBezTo>
                    <a:pt x="171" y="85"/>
                    <a:pt x="171" y="81"/>
                    <a:pt x="171" y="77"/>
                  </a:cubicBezTo>
                  <a:cubicBezTo>
                    <a:pt x="171" y="35"/>
                    <a:pt x="137" y="0"/>
                    <a:pt x="94" y="0"/>
                  </a:cubicBezTo>
                  <a:cubicBezTo>
                    <a:pt x="51" y="0"/>
                    <a:pt x="17" y="35"/>
                    <a:pt x="17" y="77"/>
                  </a:cubicBezTo>
                  <a:cubicBezTo>
                    <a:pt x="17" y="81"/>
                    <a:pt x="17" y="84"/>
                    <a:pt x="18" y="87"/>
                  </a:cubicBezTo>
                  <a:cubicBezTo>
                    <a:pt x="8" y="88"/>
                    <a:pt x="0" y="96"/>
                    <a:pt x="0" y="106"/>
                  </a:cubicBezTo>
                  <a:cubicBezTo>
                    <a:pt x="0" y="117"/>
                    <a:pt x="8" y="125"/>
                    <a:pt x="19" y="125"/>
                  </a:cubicBezTo>
                  <a:cubicBezTo>
                    <a:pt x="20" y="125"/>
                    <a:pt x="21" y="125"/>
                    <a:pt x="22" y="125"/>
                  </a:cubicBezTo>
                  <a:cubicBezTo>
                    <a:pt x="22" y="133"/>
                    <a:pt x="22" y="133"/>
                    <a:pt x="22" y="133"/>
                  </a:cubicBezTo>
                  <a:cubicBezTo>
                    <a:pt x="22" y="137"/>
                    <a:pt x="25" y="141"/>
                    <a:pt x="30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8" y="141"/>
                    <a:pt x="51" y="137"/>
                    <a:pt x="51" y="133"/>
                  </a:cubicBezTo>
                  <a:cubicBezTo>
                    <a:pt x="51" y="81"/>
                    <a:pt x="51" y="81"/>
                    <a:pt x="51" y="81"/>
                  </a:cubicBezTo>
                  <a:cubicBezTo>
                    <a:pt x="51" y="77"/>
                    <a:pt x="48" y="73"/>
                    <a:pt x="43" y="73"/>
                  </a:cubicBezTo>
                  <a:cubicBezTo>
                    <a:pt x="30" y="73"/>
                    <a:pt x="30" y="73"/>
                    <a:pt x="30" y="73"/>
                  </a:cubicBezTo>
                  <a:cubicBezTo>
                    <a:pt x="29" y="73"/>
                    <a:pt x="27" y="74"/>
                    <a:pt x="26" y="74"/>
                  </a:cubicBezTo>
                  <a:cubicBezTo>
                    <a:pt x="32" y="42"/>
                    <a:pt x="60" y="18"/>
                    <a:pt x="94" y="18"/>
                  </a:cubicBezTo>
                  <a:cubicBezTo>
                    <a:pt x="129" y="18"/>
                    <a:pt x="157" y="43"/>
                    <a:pt x="162" y="76"/>
                  </a:cubicBezTo>
                  <a:cubicBezTo>
                    <a:pt x="161" y="74"/>
                    <a:pt x="159" y="73"/>
                    <a:pt x="156" y="73"/>
                  </a:cubicBezTo>
                  <a:cubicBezTo>
                    <a:pt x="143" y="73"/>
                    <a:pt x="143" y="73"/>
                    <a:pt x="143" y="73"/>
                  </a:cubicBezTo>
                  <a:cubicBezTo>
                    <a:pt x="138" y="73"/>
                    <a:pt x="135" y="77"/>
                    <a:pt x="135" y="81"/>
                  </a:cubicBezTo>
                  <a:cubicBezTo>
                    <a:pt x="135" y="133"/>
                    <a:pt x="135" y="133"/>
                    <a:pt x="135" y="133"/>
                  </a:cubicBezTo>
                  <a:cubicBezTo>
                    <a:pt x="135" y="137"/>
                    <a:pt x="138" y="141"/>
                    <a:pt x="143" y="141"/>
                  </a:cubicBezTo>
                  <a:cubicBezTo>
                    <a:pt x="156" y="141"/>
                    <a:pt x="156" y="141"/>
                    <a:pt x="156" y="141"/>
                  </a:cubicBezTo>
                  <a:cubicBezTo>
                    <a:pt x="157" y="141"/>
                    <a:pt x="158" y="141"/>
                    <a:pt x="159" y="140"/>
                  </a:cubicBezTo>
                  <a:cubicBezTo>
                    <a:pt x="151" y="157"/>
                    <a:pt x="138" y="169"/>
                    <a:pt x="122" y="174"/>
                  </a:cubicBezTo>
                  <a:cubicBezTo>
                    <a:pt x="120" y="168"/>
                    <a:pt x="114" y="163"/>
                    <a:pt x="106" y="163"/>
                  </a:cubicBezTo>
                  <a:cubicBezTo>
                    <a:pt x="97" y="163"/>
                    <a:pt x="89" y="170"/>
                    <a:pt x="89" y="178"/>
                  </a:cubicBezTo>
                  <a:cubicBezTo>
                    <a:pt x="89" y="186"/>
                    <a:pt x="97" y="192"/>
                    <a:pt x="106" y="192"/>
                  </a:cubicBezTo>
                  <a:cubicBezTo>
                    <a:pt x="113" y="192"/>
                    <a:pt x="119" y="188"/>
                    <a:pt x="122" y="183"/>
                  </a:cubicBezTo>
                  <a:cubicBezTo>
                    <a:pt x="146" y="178"/>
                    <a:pt x="166" y="156"/>
                    <a:pt x="171" y="126"/>
                  </a:cubicBezTo>
                  <a:cubicBezTo>
                    <a:pt x="179" y="125"/>
                    <a:pt x="186" y="117"/>
                    <a:pt x="186" y="108"/>
                  </a:cubicBezTo>
                  <a:close/>
                  <a:moveTo>
                    <a:pt x="164" y="126"/>
                  </a:moveTo>
                  <a:cubicBezTo>
                    <a:pt x="164" y="126"/>
                    <a:pt x="164" y="126"/>
                    <a:pt x="164" y="126"/>
                  </a:cubicBezTo>
                  <a:cubicBezTo>
                    <a:pt x="164" y="127"/>
                    <a:pt x="164" y="127"/>
                    <a:pt x="164" y="127"/>
                  </a:cubicBezTo>
                  <a:lnTo>
                    <a:pt x="164" y="126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45" name="Group 103"/>
            <p:cNvGrpSpPr/>
            <p:nvPr/>
          </p:nvGrpSpPr>
          <p:grpSpPr>
            <a:xfrm>
              <a:off x="4310940" y="421210"/>
              <a:ext cx="494221" cy="493132"/>
              <a:chOff x="3114675" y="4859338"/>
              <a:chExt cx="720725" cy="719138"/>
            </a:xfrm>
            <a:solidFill>
              <a:srgbClr val="DDDBDB"/>
            </a:solidFill>
          </p:grpSpPr>
          <p:sp>
            <p:nvSpPr>
              <p:cNvPr id="138" name="Freeform 49"/>
              <p:cNvSpPr>
                <a:spLocks/>
              </p:cNvSpPr>
              <p:nvPr/>
            </p:nvSpPr>
            <p:spPr bwMode="auto">
              <a:xfrm>
                <a:off x="3114675" y="4953001"/>
                <a:ext cx="622300" cy="625475"/>
              </a:xfrm>
              <a:custGeom>
                <a:avLst/>
                <a:gdLst>
                  <a:gd name="T0" fmla="*/ 158 w 166"/>
                  <a:gd name="T1" fmla="*/ 51 h 166"/>
                  <a:gd name="T2" fmla="*/ 144 w 166"/>
                  <a:gd name="T3" fmla="*/ 45 h 166"/>
                  <a:gd name="T4" fmla="*/ 133 w 166"/>
                  <a:gd name="T5" fmla="*/ 55 h 166"/>
                  <a:gd name="T6" fmla="*/ 140 w 166"/>
                  <a:gd name="T7" fmla="*/ 83 h 166"/>
                  <a:gd name="T8" fmla="*/ 83 w 166"/>
                  <a:gd name="T9" fmla="*/ 140 h 166"/>
                  <a:gd name="T10" fmla="*/ 26 w 166"/>
                  <a:gd name="T11" fmla="*/ 83 h 166"/>
                  <a:gd name="T12" fmla="*/ 83 w 166"/>
                  <a:gd name="T13" fmla="*/ 26 h 166"/>
                  <a:gd name="T14" fmla="*/ 112 w 166"/>
                  <a:gd name="T15" fmla="*/ 34 h 166"/>
                  <a:gd name="T16" fmla="*/ 122 w 166"/>
                  <a:gd name="T17" fmla="*/ 24 h 166"/>
                  <a:gd name="T18" fmla="*/ 116 w 166"/>
                  <a:gd name="T19" fmla="*/ 9 h 166"/>
                  <a:gd name="T20" fmla="*/ 115 w 166"/>
                  <a:gd name="T21" fmla="*/ 6 h 166"/>
                  <a:gd name="T22" fmla="*/ 83 w 166"/>
                  <a:gd name="T23" fmla="*/ 0 h 166"/>
                  <a:gd name="T24" fmla="*/ 0 w 166"/>
                  <a:gd name="T25" fmla="*/ 83 h 166"/>
                  <a:gd name="T26" fmla="*/ 83 w 166"/>
                  <a:gd name="T27" fmla="*/ 166 h 166"/>
                  <a:gd name="T28" fmla="*/ 166 w 166"/>
                  <a:gd name="T29" fmla="*/ 83 h 166"/>
                  <a:gd name="T30" fmla="*/ 160 w 166"/>
                  <a:gd name="T31" fmla="*/ 52 h 166"/>
                  <a:gd name="T32" fmla="*/ 158 w 166"/>
                  <a:gd name="T33" fmla="*/ 51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6" h="166">
                    <a:moveTo>
                      <a:pt x="158" y="51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33" y="55"/>
                      <a:pt x="133" y="55"/>
                      <a:pt x="133" y="55"/>
                    </a:cubicBezTo>
                    <a:cubicBezTo>
                      <a:pt x="137" y="64"/>
                      <a:pt x="140" y="73"/>
                      <a:pt x="140" y="83"/>
                    </a:cubicBezTo>
                    <a:cubicBezTo>
                      <a:pt x="140" y="114"/>
                      <a:pt x="114" y="140"/>
                      <a:pt x="83" y="140"/>
                    </a:cubicBezTo>
                    <a:cubicBezTo>
                      <a:pt x="51" y="140"/>
                      <a:pt x="26" y="114"/>
                      <a:pt x="26" y="83"/>
                    </a:cubicBezTo>
                    <a:cubicBezTo>
                      <a:pt x="26" y="51"/>
                      <a:pt x="51" y="26"/>
                      <a:pt x="83" y="26"/>
                    </a:cubicBezTo>
                    <a:cubicBezTo>
                      <a:pt x="93" y="26"/>
                      <a:pt x="103" y="29"/>
                      <a:pt x="112" y="34"/>
                    </a:cubicBezTo>
                    <a:cubicBezTo>
                      <a:pt x="122" y="24"/>
                      <a:pt x="122" y="24"/>
                      <a:pt x="122" y="24"/>
                    </a:cubicBezTo>
                    <a:cubicBezTo>
                      <a:pt x="116" y="9"/>
                      <a:pt x="116" y="9"/>
                      <a:pt x="116" y="9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05" y="2"/>
                      <a:pt x="94" y="0"/>
                      <a:pt x="83" y="0"/>
                    </a:cubicBezTo>
                    <a:cubicBezTo>
                      <a:pt x="37" y="0"/>
                      <a:pt x="0" y="37"/>
                      <a:pt x="0" y="83"/>
                    </a:cubicBezTo>
                    <a:cubicBezTo>
                      <a:pt x="0" y="129"/>
                      <a:pt x="37" y="166"/>
                      <a:pt x="83" y="166"/>
                    </a:cubicBezTo>
                    <a:cubicBezTo>
                      <a:pt x="129" y="166"/>
                      <a:pt x="166" y="129"/>
                      <a:pt x="166" y="83"/>
                    </a:cubicBezTo>
                    <a:cubicBezTo>
                      <a:pt x="166" y="72"/>
                      <a:pt x="164" y="61"/>
                      <a:pt x="160" y="52"/>
                    </a:cubicBezTo>
                    <a:lnTo>
                      <a:pt x="158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9" name="Freeform 50"/>
              <p:cNvSpPr>
                <a:spLocks/>
              </p:cNvSpPr>
              <p:nvPr/>
            </p:nvSpPr>
            <p:spPr bwMode="auto">
              <a:xfrm>
                <a:off x="3409950" y="4859338"/>
                <a:ext cx="425450" cy="425450"/>
              </a:xfrm>
              <a:custGeom>
                <a:avLst/>
                <a:gdLst>
                  <a:gd name="T0" fmla="*/ 97 w 113"/>
                  <a:gd name="T1" fmla="*/ 16 h 113"/>
                  <a:gd name="T2" fmla="*/ 88 w 113"/>
                  <a:gd name="T3" fmla="*/ 16 h 113"/>
                  <a:gd name="T4" fmla="*/ 84 w 113"/>
                  <a:gd name="T5" fmla="*/ 20 h 113"/>
                  <a:gd name="T6" fmla="*/ 75 w 113"/>
                  <a:gd name="T7" fmla="*/ 0 h 113"/>
                  <a:gd name="T8" fmla="*/ 45 w 113"/>
                  <a:gd name="T9" fmla="*/ 31 h 113"/>
                  <a:gd name="T10" fmla="*/ 53 w 113"/>
                  <a:gd name="T11" fmla="*/ 51 h 113"/>
                  <a:gd name="T12" fmla="*/ 2 w 113"/>
                  <a:gd name="T13" fmla="*/ 102 h 113"/>
                  <a:gd name="T14" fmla="*/ 2 w 113"/>
                  <a:gd name="T15" fmla="*/ 111 h 113"/>
                  <a:gd name="T16" fmla="*/ 11 w 113"/>
                  <a:gd name="T17" fmla="*/ 111 h 113"/>
                  <a:gd name="T18" fmla="*/ 63 w 113"/>
                  <a:gd name="T19" fmla="*/ 60 h 113"/>
                  <a:gd name="T20" fmla="*/ 82 w 113"/>
                  <a:gd name="T21" fmla="*/ 68 h 113"/>
                  <a:gd name="T22" fmla="*/ 113 w 113"/>
                  <a:gd name="T23" fmla="*/ 38 h 113"/>
                  <a:gd name="T24" fmla="*/ 93 w 113"/>
                  <a:gd name="T25" fmla="*/ 29 h 113"/>
                  <a:gd name="T26" fmla="*/ 97 w 113"/>
                  <a:gd name="T27" fmla="*/ 25 h 113"/>
                  <a:gd name="T28" fmla="*/ 97 w 113"/>
                  <a:gd name="T29" fmla="*/ 16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3" h="113">
                    <a:moveTo>
                      <a:pt x="97" y="16"/>
                    </a:moveTo>
                    <a:cubicBezTo>
                      <a:pt x="95" y="13"/>
                      <a:pt x="91" y="13"/>
                      <a:pt x="88" y="16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53" y="51"/>
                      <a:pt x="53" y="51"/>
                      <a:pt x="53" y="51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0" y="104"/>
                      <a:pt x="0" y="108"/>
                      <a:pt x="2" y="111"/>
                    </a:cubicBezTo>
                    <a:cubicBezTo>
                      <a:pt x="5" y="113"/>
                      <a:pt x="9" y="113"/>
                      <a:pt x="11" y="111"/>
                    </a:cubicBezTo>
                    <a:cubicBezTo>
                      <a:pt x="63" y="60"/>
                      <a:pt x="63" y="60"/>
                      <a:pt x="63" y="60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113" y="38"/>
                      <a:pt x="113" y="38"/>
                      <a:pt x="113" y="38"/>
                    </a:cubicBezTo>
                    <a:cubicBezTo>
                      <a:pt x="93" y="29"/>
                      <a:pt x="93" y="29"/>
                      <a:pt x="93" y="29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100" y="22"/>
                      <a:pt x="100" y="18"/>
                      <a:pt x="97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40" name="Freeform 51"/>
              <p:cNvSpPr>
                <a:spLocks/>
              </p:cNvSpPr>
              <p:nvPr/>
            </p:nvSpPr>
            <p:spPr bwMode="auto">
              <a:xfrm>
                <a:off x="3271838" y="5111751"/>
                <a:ext cx="307975" cy="307975"/>
              </a:xfrm>
              <a:custGeom>
                <a:avLst/>
                <a:gdLst>
                  <a:gd name="T0" fmla="*/ 55 w 82"/>
                  <a:gd name="T1" fmla="*/ 50 h 82"/>
                  <a:gd name="T2" fmla="*/ 33 w 82"/>
                  <a:gd name="T3" fmla="*/ 50 h 82"/>
                  <a:gd name="T4" fmla="*/ 33 w 82"/>
                  <a:gd name="T5" fmla="*/ 28 h 82"/>
                  <a:gd name="T6" fmla="*/ 58 w 82"/>
                  <a:gd name="T7" fmla="*/ 4 h 82"/>
                  <a:gd name="T8" fmla="*/ 41 w 82"/>
                  <a:gd name="T9" fmla="*/ 0 h 82"/>
                  <a:gd name="T10" fmla="*/ 0 w 82"/>
                  <a:gd name="T11" fmla="*/ 41 h 82"/>
                  <a:gd name="T12" fmla="*/ 41 w 82"/>
                  <a:gd name="T13" fmla="*/ 82 h 82"/>
                  <a:gd name="T14" fmla="*/ 82 w 82"/>
                  <a:gd name="T15" fmla="*/ 41 h 82"/>
                  <a:gd name="T16" fmla="*/ 79 w 82"/>
                  <a:gd name="T17" fmla="*/ 26 h 82"/>
                  <a:gd name="T18" fmla="*/ 55 w 82"/>
                  <a:gd name="T19" fmla="*/ 5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2" h="82">
                    <a:moveTo>
                      <a:pt x="55" y="50"/>
                    </a:moveTo>
                    <a:cubicBezTo>
                      <a:pt x="49" y="56"/>
                      <a:pt x="39" y="56"/>
                      <a:pt x="33" y="50"/>
                    </a:cubicBezTo>
                    <a:cubicBezTo>
                      <a:pt x="27" y="44"/>
                      <a:pt x="27" y="34"/>
                      <a:pt x="33" y="28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3" y="1"/>
                      <a:pt x="47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3"/>
                      <a:pt x="18" y="82"/>
                      <a:pt x="41" y="82"/>
                    </a:cubicBezTo>
                    <a:cubicBezTo>
                      <a:pt x="63" y="82"/>
                      <a:pt x="82" y="63"/>
                      <a:pt x="82" y="41"/>
                    </a:cubicBezTo>
                    <a:cubicBezTo>
                      <a:pt x="82" y="35"/>
                      <a:pt x="81" y="30"/>
                      <a:pt x="79" y="26"/>
                    </a:cubicBezTo>
                    <a:lnTo>
                      <a:pt x="55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46" name="Group 107"/>
            <p:cNvGrpSpPr/>
            <p:nvPr/>
          </p:nvGrpSpPr>
          <p:grpSpPr>
            <a:xfrm>
              <a:off x="4540395" y="932141"/>
              <a:ext cx="306403" cy="268104"/>
              <a:chOff x="3573463" y="2617788"/>
              <a:chExt cx="241300" cy="211138"/>
            </a:xfrm>
            <a:solidFill>
              <a:srgbClr val="DDDBDB"/>
            </a:solidFill>
          </p:grpSpPr>
          <p:sp>
            <p:nvSpPr>
              <p:cNvPr id="135" name="Oval 154"/>
              <p:cNvSpPr>
                <a:spLocks noChangeArrowheads="1"/>
              </p:cNvSpPr>
              <p:nvPr/>
            </p:nvSpPr>
            <p:spPr bwMode="auto">
              <a:xfrm>
                <a:off x="3603626" y="2768601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6" name="Oval 155"/>
              <p:cNvSpPr>
                <a:spLocks noChangeArrowheads="1"/>
              </p:cNvSpPr>
              <p:nvPr/>
            </p:nvSpPr>
            <p:spPr bwMode="auto">
              <a:xfrm>
                <a:off x="3738563" y="2768601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7" name="Freeform 156"/>
              <p:cNvSpPr>
                <a:spLocks noEditPoints="1"/>
              </p:cNvSpPr>
              <p:nvPr/>
            </p:nvSpPr>
            <p:spPr bwMode="auto">
              <a:xfrm>
                <a:off x="3573463" y="2617788"/>
                <a:ext cx="241300" cy="165100"/>
              </a:xfrm>
              <a:custGeom>
                <a:avLst/>
                <a:gdLst>
                  <a:gd name="T0" fmla="*/ 62 w 64"/>
                  <a:gd name="T1" fmla="*/ 0 h 44"/>
                  <a:gd name="T2" fmla="*/ 22 w 64"/>
                  <a:gd name="T3" fmla="*/ 0 h 44"/>
                  <a:gd name="T4" fmla="*/ 20 w 64"/>
                  <a:gd name="T5" fmla="*/ 2 h 44"/>
                  <a:gd name="T6" fmla="*/ 20 w 64"/>
                  <a:gd name="T7" fmla="*/ 8 h 44"/>
                  <a:gd name="T8" fmla="*/ 10 w 64"/>
                  <a:gd name="T9" fmla="*/ 8 h 44"/>
                  <a:gd name="T10" fmla="*/ 7 w 64"/>
                  <a:gd name="T11" fmla="*/ 10 h 44"/>
                  <a:gd name="T12" fmla="*/ 1 w 64"/>
                  <a:gd name="T13" fmla="*/ 22 h 44"/>
                  <a:gd name="T14" fmla="*/ 0 w 64"/>
                  <a:gd name="T15" fmla="*/ 26 h 44"/>
                  <a:gd name="T16" fmla="*/ 0 w 64"/>
                  <a:gd name="T17" fmla="*/ 38 h 44"/>
                  <a:gd name="T18" fmla="*/ 1 w 64"/>
                  <a:gd name="T19" fmla="*/ 41 h 44"/>
                  <a:gd name="T20" fmla="*/ 3 w 64"/>
                  <a:gd name="T21" fmla="*/ 43 h 44"/>
                  <a:gd name="T22" fmla="*/ 5 w 64"/>
                  <a:gd name="T23" fmla="*/ 44 h 44"/>
                  <a:gd name="T24" fmla="*/ 16 w 64"/>
                  <a:gd name="T25" fmla="*/ 36 h 44"/>
                  <a:gd name="T26" fmla="*/ 27 w 64"/>
                  <a:gd name="T27" fmla="*/ 44 h 44"/>
                  <a:gd name="T28" fmla="*/ 41 w 64"/>
                  <a:gd name="T29" fmla="*/ 44 h 44"/>
                  <a:gd name="T30" fmla="*/ 52 w 64"/>
                  <a:gd name="T31" fmla="*/ 36 h 44"/>
                  <a:gd name="T32" fmla="*/ 63 w 64"/>
                  <a:gd name="T33" fmla="*/ 44 h 44"/>
                  <a:gd name="T34" fmla="*/ 64 w 64"/>
                  <a:gd name="T35" fmla="*/ 42 h 44"/>
                  <a:gd name="T36" fmla="*/ 64 w 64"/>
                  <a:gd name="T37" fmla="*/ 2 h 44"/>
                  <a:gd name="T38" fmla="*/ 62 w 64"/>
                  <a:gd name="T39" fmla="*/ 0 h 44"/>
                  <a:gd name="T40" fmla="*/ 20 w 64"/>
                  <a:gd name="T41" fmla="*/ 24 h 44"/>
                  <a:gd name="T42" fmla="*/ 8 w 64"/>
                  <a:gd name="T43" fmla="*/ 24 h 44"/>
                  <a:gd name="T44" fmla="*/ 12 w 64"/>
                  <a:gd name="T45" fmla="*/ 12 h 44"/>
                  <a:gd name="T46" fmla="*/ 20 w 64"/>
                  <a:gd name="T47" fmla="*/ 12 h 44"/>
                  <a:gd name="T48" fmla="*/ 20 w 64"/>
                  <a:gd name="T49" fmla="*/ 2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4" h="44">
                    <a:moveTo>
                      <a:pt x="6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1" y="0"/>
                      <a:pt x="20" y="1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9" y="8"/>
                      <a:pt x="8" y="9"/>
                      <a:pt x="7" y="10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3"/>
                      <a:pt x="0" y="25"/>
                      <a:pt x="0" y="26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1" y="41"/>
                      <a:pt x="1" y="41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4" y="44"/>
                      <a:pt x="5" y="44"/>
                    </a:cubicBezTo>
                    <a:cubicBezTo>
                      <a:pt x="7" y="39"/>
                      <a:pt x="11" y="36"/>
                      <a:pt x="16" y="36"/>
                    </a:cubicBezTo>
                    <a:cubicBezTo>
                      <a:pt x="21" y="36"/>
                      <a:pt x="26" y="39"/>
                      <a:pt x="27" y="44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2" y="39"/>
                      <a:pt x="47" y="36"/>
                      <a:pt x="52" y="36"/>
                    </a:cubicBezTo>
                    <a:cubicBezTo>
                      <a:pt x="57" y="36"/>
                      <a:pt x="61" y="39"/>
                      <a:pt x="63" y="44"/>
                    </a:cubicBezTo>
                    <a:cubicBezTo>
                      <a:pt x="64" y="43"/>
                      <a:pt x="64" y="43"/>
                      <a:pt x="64" y="42"/>
                    </a:cubicBezTo>
                    <a:cubicBezTo>
                      <a:pt x="64" y="2"/>
                      <a:pt x="64" y="2"/>
                      <a:pt x="64" y="2"/>
                    </a:cubicBezTo>
                    <a:cubicBezTo>
                      <a:pt x="64" y="1"/>
                      <a:pt x="63" y="0"/>
                      <a:pt x="62" y="0"/>
                    </a:cubicBezTo>
                    <a:close/>
                    <a:moveTo>
                      <a:pt x="20" y="24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20" y="12"/>
                      <a:pt x="20" y="12"/>
                      <a:pt x="20" y="12"/>
                    </a:cubicBezTo>
                    <a:lnTo>
                      <a:pt x="20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47" name="Group 111"/>
            <p:cNvGrpSpPr/>
            <p:nvPr/>
          </p:nvGrpSpPr>
          <p:grpSpPr>
            <a:xfrm>
              <a:off x="4184850" y="878743"/>
              <a:ext cx="239850" cy="274373"/>
              <a:chOff x="5016501" y="1146176"/>
              <a:chExt cx="209550" cy="239712"/>
            </a:xfrm>
            <a:solidFill>
              <a:srgbClr val="DDDBDB"/>
            </a:solidFill>
          </p:grpSpPr>
          <p:sp>
            <p:nvSpPr>
              <p:cNvPr id="133" name="Freeform 56"/>
              <p:cNvSpPr>
                <a:spLocks noEditPoints="1"/>
              </p:cNvSpPr>
              <p:nvPr/>
            </p:nvSpPr>
            <p:spPr bwMode="auto">
              <a:xfrm>
                <a:off x="5016501" y="1146176"/>
                <a:ext cx="209550" cy="119063"/>
              </a:xfrm>
              <a:custGeom>
                <a:avLst/>
                <a:gdLst>
                  <a:gd name="T0" fmla="*/ 4 w 56"/>
                  <a:gd name="T1" fmla="*/ 32 h 32"/>
                  <a:gd name="T2" fmla="*/ 52 w 56"/>
                  <a:gd name="T3" fmla="*/ 32 h 32"/>
                  <a:gd name="T4" fmla="*/ 56 w 56"/>
                  <a:gd name="T5" fmla="*/ 28 h 32"/>
                  <a:gd name="T6" fmla="*/ 52 w 56"/>
                  <a:gd name="T7" fmla="*/ 24 h 32"/>
                  <a:gd name="T8" fmla="*/ 40 w 56"/>
                  <a:gd name="T9" fmla="*/ 24 h 32"/>
                  <a:gd name="T10" fmla="*/ 36 w 56"/>
                  <a:gd name="T11" fmla="*/ 20 h 32"/>
                  <a:gd name="T12" fmla="*/ 36 w 56"/>
                  <a:gd name="T13" fmla="*/ 4 h 32"/>
                  <a:gd name="T14" fmla="*/ 32 w 56"/>
                  <a:gd name="T15" fmla="*/ 0 h 32"/>
                  <a:gd name="T16" fmla="*/ 24 w 56"/>
                  <a:gd name="T17" fmla="*/ 0 h 32"/>
                  <a:gd name="T18" fmla="*/ 20 w 56"/>
                  <a:gd name="T19" fmla="*/ 4 h 32"/>
                  <a:gd name="T20" fmla="*/ 20 w 56"/>
                  <a:gd name="T21" fmla="*/ 20 h 32"/>
                  <a:gd name="T22" fmla="*/ 16 w 56"/>
                  <a:gd name="T23" fmla="*/ 24 h 32"/>
                  <a:gd name="T24" fmla="*/ 4 w 56"/>
                  <a:gd name="T25" fmla="*/ 24 h 32"/>
                  <a:gd name="T26" fmla="*/ 0 w 56"/>
                  <a:gd name="T27" fmla="*/ 28 h 32"/>
                  <a:gd name="T28" fmla="*/ 4 w 56"/>
                  <a:gd name="T29" fmla="*/ 32 h 32"/>
                  <a:gd name="T30" fmla="*/ 26 w 56"/>
                  <a:gd name="T31" fmla="*/ 4 h 32"/>
                  <a:gd name="T32" fmla="*/ 30 w 56"/>
                  <a:gd name="T33" fmla="*/ 4 h 32"/>
                  <a:gd name="T34" fmla="*/ 32 w 56"/>
                  <a:gd name="T35" fmla="*/ 6 h 32"/>
                  <a:gd name="T36" fmla="*/ 30 w 56"/>
                  <a:gd name="T37" fmla="*/ 8 h 32"/>
                  <a:gd name="T38" fmla="*/ 26 w 56"/>
                  <a:gd name="T39" fmla="*/ 8 h 32"/>
                  <a:gd name="T40" fmla="*/ 24 w 56"/>
                  <a:gd name="T41" fmla="*/ 6 h 32"/>
                  <a:gd name="T42" fmla="*/ 26 w 56"/>
                  <a:gd name="T43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32">
                    <a:moveTo>
                      <a:pt x="4" y="32"/>
                    </a:moveTo>
                    <a:cubicBezTo>
                      <a:pt x="52" y="32"/>
                      <a:pt x="52" y="32"/>
                      <a:pt x="52" y="32"/>
                    </a:cubicBezTo>
                    <a:cubicBezTo>
                      <a:pt x="54" y="32"/>
                      <a:pt x="56" y="30"/>
                      <a:pt x="56" y="28"/>
                    </a:cubicBezTo>
                    <a:cubicBezTo>
                      <a:pt x="56" y="26"/>
                      <a:pt x="54" y="24"/>
                      <a:pt x="52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8" y="24"/>
                      <a:pt x="36" y="22"/>
                      <a:pt x="36" y="2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0" y="2"/>
                      <a:pt x="20" y="4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18" y="24"/>
                      <a:pt x="16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4"/>
                      <a:pt x="0" y="26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lose/>
                    <a:moveTo>
                      <a:pt x="26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5"/>
                      <a:pt x="32" y="6"/>
                    </a:cubicBezTo>
                    <a:cubicBezTo>
                      <a:pt x="32" y="7"/>
                      <a:pt x="31" y="8"/>
                      <a:pt x="30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5" y="8"/>
                      <a:pt x="24" y="7"/>
                      <a:pt x="24" y="6"/>
                    </a:cubicBezTo>
                    <a:cubicBezTo>
                      <a:pt x="24" y="5"/>
                      <a:pt x="25" y="4"/>
                      <a:pt x="2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4" name="Freeform 57"/>
              <p:cNvSpPr>
                <a:spLocks/>
              </p:cNvSpPr>
              <p:nvPr/>
            </p:nvSpPr>
            <p:spPr bwMode="auto">
              <a:xfrm>
                <a:off x="5016501" y="1281113"/>
                <a:ext cx="209550" cy="104775"/>
              </a:xfrm>
              <a:custGeom>
                <a:avLst/>
                <a:gdLst>
                  <a:gd name="T0" fmla="*/ 50 w 56"/>
                  <a:gd name="T1" fmla="*/ 0 h 28"/>
                  <a:gd name="T2" fmla="*/ 6 w 56"/>
                  <a:gd name="T3" fmla="*/ 0 h 28"/>
                  <a:gd name="T4" fmla="*/ 4 w 56"/>
                  <a:gd name="T5" fmla="*/ 2 h 28"/>
                  <a:gd name="T6" fmla="*/ 0 w 56"/>
                  <a:gd name="T7" fmla="*/ 28 h 28"/>
                  <a:gd name="T8" fmla="*/ 12 w 56"/>
                  <a:gd name="T9" fmla="*/ 28 h 28"/>
                  <a:gd name="T10" fmla="*/ 16 w 56"/>
                  <a:gd name="T11" fmla="*/ 16 h 28"/>
                  <a:gd name="T12" fmla="*/ 16 w 56"/>
                  <a:gd name="T13" fmla="*/ 28 h 28"/>
                  <a:gd name="T14" fmla="*/ 40 w 56"/>
                  <a:gd name="T15" fmla="*/ 28 h 28"/>
                  <a:gd name="T16" fmla="*/ 40 w 56"/>
                  <a:gd name="T17" fmla="*/ 16 h 28"/>
                  <a:gd name="T18" fmla="*/ 44 w 56"/>
                  <a:gd name="T19" fmla="*/ 28 h 28"/>
                  <a:gd name="T20" fmla="*/ 56 w 56"/>
                  <a:gd name="T21" fmla="*/ 28 h 28"/>
                  <a:gd name="T22" fmla="*/ 52 w 56"/>
                  <a:gd name="T23" fmla="*/ 2 h 28"/>
                  <a:gd name="T24" fmla="*/ 50 w 56"/>
                  <a:gd name="T2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28">
                    <a:moveTo>
                      <a:pt x="5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2" y="1"/>
                      <a:pt x="51" y="0"/>
                      <a:pt x="5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48" name="Freeform 334"/>
            <p:cNvSpPr>
              <a:spLocks noEditPoints="1"/>
            </p:cNvSpPr>
            <p:nvPr/>
          </p:nvSpPr>
          <p:spPr bwMode="auto">
            <a:xfrm>
              <a:off x="3814004" y="843145"/>
              <a:ext cx="342594" cy="344862"/>
            </a:xfrm>
            <a:custGeom>
              <a:avLst/>
              <a:gdLst>
                <a:gd name="T0" fmla="*/ 0 w 151"/>
                <a:gd name="T1" fmla="*/ 0 h 152"/>
                <a:gd name="T2" fmla="*/ 19 w 151"/>
                <a:gd name="T3" fmla="*/ 133 h 152"/>
                <a:gd name="T4" fmla="*/ 76 w 151"/>
                <a:gd name="T5" fmla="*/ 152 h 152"/>
                <a:gd name="T6" fmla="*/ 132 w 151"/>
                <a:gd name="T7" fmla="*/ 133 h 152"/>
                <a:gd name="T8" fmla="*/ 151 w 151"/>
                <a:gd name="T9" fmla="*/ 0 h 152"/>
                <a:gd name="T10" fmla="*/ 0 w 151"/>
                <a:gd name="T11" fmla="*/ 0 h 152"/>
                <a:gd name="T12" fmla="*/ 121 w 151"/>
                <a:gd name="T13" fmla="*/ 38 h 152"/>
                <a:gd name="T14" fmla="*/ 54 w 151"/>
                <a:gd name="T15" fmla="*/ 38 h 152"/>
                <a:gd name="T16" fmla="*/ 57 w 151"/>
                <a:gd name="T17" fmla="*/ 57 h 152"/>
                <a:gd name="T18" fmla="*/ 118 w 151"/>
                <a:gd name="T19" fmla="*/ 57 h 152"/>
                <a:gd name="T20" fmla="*/ 113 w 151"/>
                <a:gd name="T21" fmla="*/ 114 h 152"/>
                <a:gd name="T22" fmla="*/ 76 w 151"/>
                <a:gd name="T23" fmla="*/ 123 h 152"/>
                <a:gd name="T24" fmla="*/ 38 w 151"/>
                <a:gd name="T25" fmla="*/ 114 h 152"/>
                <a:gd name="T26" fmla="*/ 35 w 151"/>
                <a:gd name="T27" fmla="*/ 85 h 152"/>
                <a:gd name="T28" fmla="*/ 57 w 151"/>
                <a:gd name="T29" fmla="*/ 85 h 152"/>
                <a:gd name="T30" fmla="*/ 59 w 151"/>
                <a:gd name="T31" fmla="*/ 99 h 152"/>
                <a:gd name="T32" fmla="*/ 76 w 151"/>
                <a:gd name="T33" fmla="*/ 104 h 152"/>
                <a:gd name="T34" fmla="*/ 94 w 151"/>
                <a:gd name="T35" fmla="*/ 99 h 152"/>
                <a:gd name="T36" fmla="*/ 97 w 151"/>
                <a:gd name="T37" fmla="*/ 76 h 152"/>
                <a:gd name="T38" fmla="*/ 33 w 151"/>
                <a:gd name="T39" fmla="*/ 76 h 152"/>
                <a:gd name="T40" fmla="*/ 28 w 151"/>
                <a:gd name="T41" fmla="*/ 19 h 152"/>
                <a:gd name="T42" fmla="*/ 123 w 151"/>
                <a:gd name="T43" fmla="*/ 19 h 152"/>
                <a:gd name="T44" fmla="*/ 121 w 151"/>
                <a:gd name="T45" fmla="*/ 3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152">
                  <a:moveTo>
                    <a:pt x="0" y="0"/>
                  </a:moveTo>
                  <a:lnTo>
                    <a:pt x="19" y="133"/>
                  </a:lnTo>
                  <a:lnTo>
                    <a:pt x="76" y="152"/>
                  </a:lnTo>
                  <a:lnTo>
                    <a:pt x="132" y="133"/>
                  </a:lnTo>
                  <a:lnTo>
                    <a:pt x="151" y="0"/>
                  </a:lnTo>
                  <a:lnTo>
                    <a:pt x="0" y="0"/>
                  </a:lnTo>
                  <a:close/>
                  <a:moveTo>
                    <a:pt x="121" y="38"/>
                  </a:moveTo>
                  <a:lnTo>
                    <a:pt x="54" y="38"/>
                  </a:lnTo>
                  <a:lnTo>
                    <a:pt x="57" y="57"/>
                  </a:lnTo>
                  <a:lnTo>
                    <a:pt x="118" y="57"/>
                  </a:lnTo>
                  <a:lnTo>
                    <a:pt x="113" y="114"/>
                  </a:lnTo>
                  <a:lnTo>
                    <a:pt x="76" y="123"/>
                  </a:lnTo>
                  <a:lnTo>
                    <a:pt x="38" y="114"/>
                  </a:lnTo>
                  <a:lnTo>
                    <a:pt x="35" y="85"/>
                  </a:lnTo>
                  <a:lnTo>
                    <a:pt x="57" y="85"/>
                  </a:lnTo>
                  <a:lnTo>
                    <a:pt x="59" y="99"/>
                  </a:lnTo>
                  <a:lnTo>
                    <a:pt x="76" y="104"/>
                  </a:lnTo>
                  <a:lnTo>
                    <a:pt x="94" y="99"/>
                  </a:lnTo>
                  <a:lnTo>
                    <a:pt x="97" y="76"/>
                  </a:lnTo>
                  <a:lnTo>
                    <a:pt x="33" y="76"/>
                  </a:lnTo>
                  <a:lnTo>
                    <a:pt x="28" y="19"/>
                  </a:lnTo>
                  <a:lnTo>
                    <a:pt x="123" y="19"/>
                  </a:lnTo>
                  <a:lnTo>
                    <a:pt x="121" y="38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49" name="Freeform 71"/>
            <p:cNvSpPr>
              <a:spLocks noEditPoints="1"/>
            </p:cNvSpPr>
            <p:nvPr/>
          </p:nvSpPr>
          <p:spPr bwMode="auto">
            <a:xfrm>
              <a:off x="3908520" y="437169"/>
              <a:ext cx="327064" cy="352579"/>
            </a:xfrm>
            <a:custGeom>
              <a:avLst/>
              <a:gdLst>
                <a:gd name="T0" fmla="*/ 56 w 60"/>
                <a:gd name="T1" fmla="*/ 16 h 64"/>
                <a:gd name="T2" fmla="*/ 24 w 60"/>
                <a:gd name="T3" fmla="*/ 16 h 64"/>
                <a:gd name="T4" fmla="*/ 24 w 60"/>
                <a:gd name="T5" fmla="*/ 12 h 64"/>
                <a:gd name="T6" fmla="*/ 30 w 60"/>
                <a:gd name="T7" fmla="*/ 12 h 64"/>
                <a:gd name="T8" fmla="*/ 36 w 60"/>
                <a:gd name="T9" fmla="*/ 6 h 64"/>
                <a:gd name="T10" fmla="*/ 30 w 60"/>
                <a:gd name="T11" fmla="*/ 0 h 64"/>
                <a:gd name="T12" fmla="*/ 20 w 60"/>
                <a:gd name="T13" fmla="*/ 0 h 64"/>
                <a:gd name="T14" fmla="*/ 16 w 60"/>
                <a:gd name="T15" fmla="*/ 4 h 64"/>
                <a:gd name="T16" fmla="*/ 16 w 60"/>
                <a:gd name="T17" fmla="*/ 16 h 64"/>
                <a:gd name="T18" fmla="*/ 4 w 60"/>
                <a:gd name="T19" fmla="*/ 16 h 64"/>
                <a:gd name="T20" fmla="*/ 0 w 60"/>
                <a:gd name="T21" fmla="*/ 20 h 64"/>
                <a:gd name="T22" fmla="*/ 0 w 60"/>
                <a:gd name="T23" fmla="*/ 44 h 64"/>
                <a:gd name="T24" fmla="*/ 4 w 60"/>
                <a:gd name="T25" fmla="*/ 48 h 64"/>
                <a:gd name="T26" fmla="*/ 24 w 60"/>
                <a:gd name="T27" fmla="*/ 48 h 64"/>
                <a:gd name="T28" fmla="*/ 24 w 60"/>
                <a:gd name="T29" fmla="*/ 64 h 64"/>
                <a:gd name="T30" fmla="*/ 40 w 60"/>
                <a:gd name="T31" fmla="*/ 64 h 64"/>
                <a:gd name="T32" fmla="*/ 40 w 60"/>
                <a:gd name="T33" fmla="*/ 48 h 64"/>
                <a:gd name="T34" fmla="*/ 56 w 60"/>
                <a:gd name="T35" fmla="*/ 48 h 64"/>
                <a:gd name="T36" fmla="*/ 60 w 60"/>
                <a:gd name="T37" fmla="*/ 44 h 64"/>
                <a:gd name="T38" fmla="*/ 60 w 60"/>
                <a:gd name="T39" fmla="*/ 20 h 64"/>
                <a:gd name="T40" fmla="*/ 56 w 60"/>
                <a:gd name="T41" fmla="*/ 16 h 64"/>
                <a:gd name="T42" fmla="*/ 32 w 60"/>
                <a:gd name="T43" fmla="*/ 60 h 64"/>
                <a:gd name="T44" fmla="*/ 28 w 60"/>
                <a:gd name="T45" fmla="*/ 60 h 64"/>
                <a:gd name="T46" fmla="*/ 28 w 60"/>
                <a:gd name="T47" fmla="*/ 48 h 64"/>
                <a:gd name="T48" fmla="*/ 32 w 60"/>
                <a:gd name="T49" fmla="*/ 48 h 64"/>
                <a:gd name="T50" fmla="*/ 32 w 60"/>
                <a:gd name="T51" fmla="*/ 60 h 64"/>
                <a:gd name="T52" fmla="*/ 56 w 60"/>
                <a:gd name="T53" fmla="*/ 44 h 64"/>
                <a:gd name="T54" fmla="*/ 4 w 60"/>
                <a:gd name="T55" fmla="*/ 44 h 64"/>
                <a:gd name="T56" fmla="*/ 4 w 60"/>
                <a:gd name="T57" fmla="*/ 20 h 64"/>
                <a:gd name="T58" fmla="*/ 16 w 60"/>
                <a:gd name="T59" fmla="*/ 20 h 64"/>
                <a:gd name="T60" fmla="*/ 16 w 60"/>
                <a:gd name="T61" fmla="*/ 32 h 64"/>
                <a:gd name="T62" fmla="*/ 20 w 60"/>
                <a:gd name="T63" fmla="*/ 36 h 64"/>
                <a:gd name="T64" fmla="*/ 24 w 60"/>
                <a:gd name="T65" fmla="*/ 32 h 64"/>
                <a:gd name="T66" fmla="*/ 24 w 60"/>
                <a:gd name="T67" fmla="*/ 20 h 64"/>
                <a:gd name="T68" fmla="*/ 56 w 60"/>
                <a:gd name="T69" fmla="*/ 20 h 64"/>
                <a:gd name="T70" fmla="*/ 56 w 60"/>
                <a:gd name="T7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" h="64">
                  <a:moveTo>
                    <a:pt x="56" y="16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9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6" y="2"/>
                    <a:pt x="16" y="4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8" y="48"/>
                    <a:pt x="60" y="46"/>
                    <a:pt x="60" y="44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18"/>
                    <a:pt x="58" y="16"/>
                    <a:pt x="56" y="16"/>
                  </a:cubicBezTo>
                  <a:close/>
                  <a:moveTo>
                    <a:pt x="32" y="60"/>
                  </a:moveTo>
                  <a:cubicBezTo>
                    <a:pt x="28" y="60"/>
                    <a:pt x="28" y="60"/>
                    <a:pt x="28" y="6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2" y="48"/>
                    <a:pt x="32" y="48"/>
                    <a:pt x="32" y="48"/>
                  </a:cubicBezTo>
                  <a:lnTo>
                    <a:pt x="32" y="60"/>
                  </a:lnTo>
                  <a:close/>
                  <a:moveTo>
                    <a:pt x="56" y="44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4"/>
                    <a:pt x="18" y="36"/>
                    <a:pt x="20" y="36"/>
                  </a:cubicBezTo>
                  <a:cubicBezTo>
                    <a:pt x="22" y="36"/>
                    <a:pt x="24" y="34"/>
                    <a:pt x="24" y="3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56" y="20"/>
                    <a:pt x="56" y="20"/>
                    <a:pt x="56" y="20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50" name="Freeform 226"/>
            <p:cNvSpPr>
              <a:spLocks noEditPoints="1"/>
            </p:cNvSpPr>
            <p:nvPr/>
          </p:nvSpPr>
          <p:spPr bwMode="auto">
            <a:xfrm>
              <a:off x="3254394" y="678503"/>
              <a:ext cx="271439" cy="271439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28 w 64"/>
                <a:gd name="T11" fmla="*/ 8 h 64"/>
                <a:gd name="T12" fmla="*/ 36 w 64"/>
                <a:gd name="T13" fmla="*/ 8 h 64"/>
                <a:gd name="T14" fmla="*/ 36 w 64"/>
                <a:gd name="T15" fmla="*/ 28 h 64"/>
                <a:gd name="T16" fmla="*/ 28 w 64"/>
                <a:gd name="T17" fmla="*/ 28 h 64"/>
                <a:gd name="T18" fmla="*/ 28 w 64"/>
                <a:gd name="T19" fmla="*/ 8 h 64"/>
                <a:gd name="T20" fmla="*/ 32 w 64"/>
                <a:gd name="T21" fmla="*/ 53 h 64"/>
                <a:gd name="T22" fmla="*/ 11 w 64"/>
                <a:gd name="T23" fmla="*/ 32 h 64"/>
                <a:gd name="T24" fmla="*/ 24 w 64"/>
                <a:gd name="T25" fmla="*/ 13 h 64"/>
                <a:gd name="T26" fmla="*/ 24 w 64"/>
                <a:gd name="T27" fmla="*/ 12 h 64"/>
                <a:gd name="T28" fmla="*/ 24 w 64"/>
                <a:gd name="T29" fmla="*/ 20 h 64"/>
                <a:gd name="T30" fmla="*/ 17 w 64"/>
                <a:gd name="T31" fmla="*/ 32 h 64"/>
                <a:gd name="T32" fmla="*/ 32 w 64"/>
                <a:gd name="T33" fmla="*/ 47 h 64"/>
                <a:gd name="T34" fmla="*/ 47 w 64"/>
                <a:gd name="T35" fmla="*/ 32 h 64"/>
                <a:gd name="T36" fmla="*/ 40 w 64"/>
                <a:gd name="T37" fmla="*/ 20 h 64"/>
                <a:gd name="T38" fmla="*/ 40 w 64"/>
                <a:gd name="T39" fmla="*/ 12 h 64"/>
                <a:gd name="T40" fmla="*/ 40 w 64"/>
                <a:gd name="T41" fmla="*/ 13 h 64"/>
                <a:gd name="T42" fmla="*/ 53 w 64"/>
                <a:gd name="T43" fmla="*/ 32 h 64"/>
                <a:gd name="T44" fmla="*/ 32 w 64"/>
                <a:gd name="T45" fmla="*/ 5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28" y="8"/>
                  </a:lnTo>
                  <a:close/>
                  <a:moveTo>
                    <a:pt x="32" y="53"/>
                  </a:moveTo>
                  <a:cubicBezTo>
                    <a:pt x="20" y="53"/>
                    <a:pt x="11" y="44"/>
                    <a:pt x="11" y="32"/>
                  </a:cubicBezTo>
                  <a:cubicBezTo>
                    <a:pt x="11" y="24"/>
                    <a:pt x="16" y="16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0" y="22"/>
                    <a:pt x="17" y="27"/>
                    <a:pt x="17" y="32"/>
                  </a:cubicBezTo>
                  <a:cubicBezTo>
                    <a:pt x="17" y="40"/>
                    <a:pt x="24" y="47"/>
                    <a:pt x="32" y="47"/>
                  </a:cubicBezTo>
                  <a:cubicBezTo>
                    <a:pt x="40" y="47"/>
                    <a:pt x="47" y="40"/>
                    <a:pt x="47" y="32"/>
                  </a:cubicBezTo>
                  <a:cubicBezTo>
                    <a:pt x="47" y="27"/>
                    <a:pt x="44" y="22"/>
                    <a:pt x="40" y="20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8" y="16"/>
                    <a:pt x="53" y="24"/>
                    <a:pt x="53" y="32"/>
                  </a:cubicBezTo>
                  <a:cubicBezTo>
                    <a:pt x="53" y="44"/>
                    <a:pt x="44" y="53"/>
                    <a:pt x="32" y="53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51" name="Freeform 345"/>
            <p:cNvSpPr>
              <a:spLocks noEditPoints="1"/>
            </p:cNvSpPr>
            <p:nvPr/>
          </p:nvSpPr>
          <p:spPr bwMode="auto">
            <a:xfrm>
              <a:off x="3439108" y="994439"/>
              <a:ext cx="331468" cy="329287"/>
            </a:xfrm>
            <a:custGeom>
              <a:avLst/>
              <a:gdLst>
                <a:gd name="T0" fmla="*/ 0 w 152"/>
                <a:gd name="T1" fmla="*/ 0 h 151"/>
                <a:gd name="T2" fmla="*/ 0 w 152"/>
                <a:gd name="T3" fmla="*/ 151 h 151"/>
                <a:gd name="T4" fmla="*/ 152 w 152"/>
                <a:gd name="T5" fmla="*/ 151 h 151"/>
                <a:gd name="T6" fmla="*/ 152 w 152"/>
                <a:gd name="T7" fmla="*/ 0 h 151"/>
                <a:gd name="T8" fmla="*/ 0 w 152"/>
                <a:gd name="T9" fmla="*/ 0 h 151"/>
                <a:gd name="T10" fmla="*/ 57 w 152"/>
                <a:gd name="T11" fmla="*/ 19 h 151"/>
                <a:gd name="T12" fmla="*/ 67 w 152"/>
                <a:gd name="T13" fmla="*/ 19 h 151"/>
                <a:gd name="T14" fmla="*/ 67 w 152"/>
                <a:gd name="T15" fmla="*/ 28 h 151"/>
                <a:gd name="T16" fmla="*/ 57 w 152"/>
                <a:gd name="T17" fmla="*/ 28 h 151"/>
                <a:gd name="T18" fmla="*/ 57 w 152"/>
                <a:gd name="T19" fmla="*/ 19 h 151"/>
                <a:gd name="T20" fmla="*/ 38 w 152"/>
                <a:gd name="T21" fmla="*/ 19 h 151"/>
                <a:gd name="T22" fmla="*/ 48 w 152"/>
                <a:gd name="T23" fmla="*/ 19 h 151"/>
                <a:gd name="T24" fmla="*/ 48 w 152"/>
                <a:gd name="T25" fmla="*/ 28 h 151"/>
                <a:gd name="T26" fmla="*/ 38 w 152"/>
                <a:gd name="T27" fmla="*/ 28 h 151"/>
                <a:gd name="T28" fmla="*/ 38 w 152"/>
                <a:gd name="T29" fmla="*/ 19 h 151"/>
                <a:gd name="T30" fmla="*/ 19 w 152"/>
                <a:gd name="T31" fmla="*/ 19 h 151"/>
                <a:gd name="T32" fmla="*/ 29 w 152"/>
                <a:gd name="T33" fmla="*/ 19 h 151"/>
                <a:gd name="T34" fmla="*/ 29 w 152"/>
                <a:gd name="T35" fmla="*/ 28 h 151"/>
                <a:gd name="T36" fmla="*/ 19 w 152"/>
                <a:gd name="T37" fmla="*/ 28 h 151"/>
                <a:gd name="T38" fmla="*/ 19 w 152"/>
                <a:gd name="T39" fmla="*/ 19 h 151"/>
                <a:gd name="T40" fmla="*/ 133 w 152"/>
                <a:gd name="T41" fmla="*/ 132 h 151"/>
                <a:gd name="T42" fmla="*/ 19 w 152"/>
                <a:gd name="T43" fmla="*/ 132 h 151"/>
                <a:gd name="T44" fmla="*/ 19 w 152"/>
                <a:gd name="T45" fmla="*/ 38 h 151"/>
                <a:gd name="T46" fmla="*/ 133 w 152"/>
                <a:gd name="T47" fmla="*/ 38 h 151"/>
                <a:gd name="T48" fmla="*/ 133 w 152"/>
                <a:gd name="T49" fmla="*/ 13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51">
                  <a:moveTo>
                    <a:pt x="0" y="0"/>
                  </a:moveTo>
                  <a:lnTo>
                    <a:pt x="0" y="151"/>
                  </a:lnTo>
                  <a:lnTo>
                    <a:pt x="152" y="151"/>
                  </a:lnTo>
                  <a:lnTo>
                    <a:pt x="152" y="0"/>
                  </a:lnTo>
                  <a:lnTo>
                    <a:pt x="0" y="0"/>
                  </a:lnTo>
                  <a:close/>
                  <a:moveTo>
                    <a:pt x="57" y="19"/>
                  </a:moveTo>
                  <a:lnTo>
                    <a:pt x="67" y="19"/>
                  </a:lnTo>
                  <a:lnTo>
                    <a:pt x="67" y="28"/>
                  </a:lnTo>
                  <a:lnTo>
                    <a:pt x="57" y="28"/>
                  </a:lnTo>
                  <a:lnTo>
                    <a:pt x="57" y="19"/>
                  </a:lnTo>
                  <a:close/>
                  <a:moveTo>
                    <a:pt x="38" y="19"/>
                  </a:moveTo>
                  <a:lnTo>
                    <a:pt x="48" y="19"/>
                  </a:lnTo>
                  <a:lnTo>
                    <a:pt x="48" y="28"/>
                  </a:lnTo>
                  <a:lnTo>
                    <a:pt x="38" y="28"/>
                  </a:lnTo>
                  <a:lnTo>
                    <a:pt x="38" y="19"/>
                  </a:lnTo>
                  <a:close/>
                  <a:moveTo>
                    <a:pt x="19" y="19"/>
                  </a:moveTo>
                  <a:lnTo>
                    <a:pt x="29" y="19"/>
                  </a:lnTo>
                  <a:lnTo>
                    <a:pt x="29" y="28"/>
                  </a:lnTo>
                  <a:lnTo>
                    <a:pt x="19" y="28"/>
                  </a:lnTo>
                  <a:lnTo>
                    <a:pt x="19" y="19"/>
                  </a:lnTo>
                  <a:close/>
                  <a:moveTo>
                    <a:pt x="133" y="132"/>
                  </a:moveTo>
                  <a:lnTo>
                    <a:pt x="19" y="132"/>
                  </a:lnTo>
                  <a:lnTo>
                    <a:pt x="19" y="38"/>
                  </a:lnTo>
                  <a:lnTo>
                    <a:pt x="133" y="38"/>
                  </a:lnTo>
                  <a:lnTo>
                    <a:pt x="133" y="132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52" name="Group 118"/>
            <p:cNvGrpSpPr/>
            <p:nvPr/>
          </p:nvGrpSpPr>
          <p:grpSpPr>
            <a:xfrm>
              <a:off x="3587019" y="549456"/>
              <a:ext cx="242516" cy="242516"/>
              <a:chOff x="4054476" y="4030663"/>
              <a:chExt cx="239712" cy="239712"/>
            </a:xfrm>
            <a:solidFill>
              <a:srgbClr val="DDDBDB"/>
            </a:solidFill>
          </p:grpSpPr>
          <p:sp>
            <p:nvSpPr>
              <p:cNvPr id="127" name="Freeform 404"/>
              <p:cNvSpPr>
                <a:spLocks/>
              </p:cNvSpPr>
              <p:nvPr/>
            </p:nvSpPr>
            <p:spPr bwMode="auto">
              <a:xfrm>
                <a:off x="4054476" y="4030663"/>
                <a:ext cx="60325" cy="58738"/>
              </a:xfrm>
              <a:custGeom>
                <a:avLst/>
                <a:gdLst>
                  <a:gd name="T0" fmla="*/ 14 w 16"/>
                  <a:gd name="T1" fmla="*/ 0 h 16"/>
                  <a:gd name="T2" fmla="*/ 2 w 16"/>
                  <a:gd name="T3" fmla="*/ 0 h 16"/>
                  <a:gd name="T4" fmla="*/ 0 w 16"/>
                  <a:gd name="T5" fmla="*/ 2 h 16"/>
                  <a:gd name="T6" fmla="*/ 0 w 16"/>
                  <a:gd name="T7" fmla="*/ 14 h 16"/>
                  <a:gd name="T8" fmla="*/ 2 w 16"/>
                  <a:gd name="T9" fmla="*/ 16 h 16"/>
                  <a:gd name="T10" fmla="*/ 14 w 16"/>
                  <a:gd name="T11" fmla="*/ 16 h 16"/>
                  <a:gd name="T12" fmla="*/ 16 w 16"/>
                  <a:gd name="T13" fmla="*/ 14 h 16"/>
                  <a:gd name="T14" fmla="*/ 16 w 16"/>
                  <a:gd name="T15" fmla="*/ 2 h 16"/>
                  <a:gd name="T16" fmla="*/ 14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6" y="15"/>
                      <a:pt x="16" y="1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8" name="Freeform 405"/>
              <p:cNvSpPr>
                <a:spLocks/>
              </p:cNvSpPr>
              <p:nvPr/>
            </p:nvSpPr>
            <p:spPr bwMode="auto">
              <a:xfrm>
                <a:off x="4054476" y="4119563"/>
                <a:ext cx="60325" cy="60325"/>
              </a:xfrm>
              <a:custGeom>
                <a:avLst/>
                <a:gdLst>
                  <a:gd name="T0" fmla="*/ 14 w 16"/>
                  <a:gd name="T1" fmla="*/ 0 h 16"/>
                  <a:gd name="T2" fmla="*/ 2 w 16"/>
                  <a:gd name="T3" fmla="*/ 0 h 16"/>
                  <a:gd name="T4" fmla="*/ 0 w 16"/>
                  <a:gd name="T5" fmla="*/ 2 h 16"/>
                  <a:gd name="T6" fmla="*/ 0 w 16"/>
                  <a:gd name="T7" fmla="*/ 14 h 16"/>
                  <a:gd name="T8" fmla="*/ 2 w 16"/>
                  <a:gd name="T9" fmla="*/ 16 h 16"/>
                  <a:gd name="T10" fmla="*/ 14 w 16"/>
                  <a:gd name="T11" fmla="*/ 16 h 16"/>
                  <a:gd name="T12" fmla="*/ 16 w 16"/>
                  <a:gd name="T13" fmla="*/ 14 h 16"/>
                  <a:gd name="T14" fmla="*/ 16 w 16"/>
                  <a:gd name="T15" fmla="*/ 2 h 16"/>
                  <a:gd name="T16" fmla="*/ 14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6" y="15"/>
                      <a:pt x="16" y="1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9" name="Freeform 407"/>
              <p:cNvSpPr>
                <a:spLocks/>
              </p:cNvSpPr>
              <p:nvPr/>
            </p:nvSpPr>
            <p:spPr bwMode="auto">
              <a:xfrm>
                <a:off x="4054476" y="4210050"/>
                <a:ext cx="60325" cy="60325"/>
              </a:xfrm>
              <a:custGeom>
                <a:avLst/>
                <a:gdLst>
                  <a:gd name="T0" fmla="*/ 14 w 16"/>
                  <a:gd name="T1" fmla="*/ 0 h 16"/>
                  <a:gd name="T2" fmla="*/ 2 w 16"/>
                  <a:gd name="T3" fmla="*/ 0 h 16"/>
                  <a:gd name="T4" fmla="*/ 0 w 16"/>
                  <a:gd name="T5" fmla="*/ 2 h 16"/>
                  <a:gd name="T6" fmla="*/ 0 w 16"/>
                  <a:gd name="T7" fmla="*/ 14 h 16"/>
                  <a:gd name="T8" fmla="*/ 2 w 16"/>
                  <a:gd name="T9" fmla="*/ 16 h 16"/>
                  <a:gd name="T10" fmla="*/ 14 w 16"/>
                  <a:gd name="T11" fmla="*/ 16 h 16"/>
                  <a:gd name="T12" fmla="*/ 16 w 16"/>
                  <a:gd name="T13" fmla="*/ 14 h 16"/>
                  <a:gd name="T14" fmla="*/ 16 w 16"/>
                  <a:gd name="T15" fmla="*/ 2 h 16"/>
                  <a:gd name="T16" fmla="*/ 14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6" y="15"/>
                      <a:pt x="16" y="1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0" name="Freeform 408"/>
              <p:cNvSpPr>
                <a:spLocks/>
              </p:cNvSpPr>
              <p:nvPr/>
            </p:nvSpPr>
            <p:spPr bwMode="auto">
              <a:xfrm>
                <a:off x="4144963" y="4030663"/>
                <a:ext cx="149225" cy="58738"/>
              </a:xfrm>
              <a:custGeom>
                <a:avLst/>
                <a:gdLst>
                  <a:gd name="T0" fmla="*/ 38 w 40"/>
                  <a:gd name="T1" fmla="*/ 0 h 16"/>
                  <a:gd name="T2" fmla="*/ 2 w 40"/>
                  <a:gd name="T3" fmla="*/ 0 h 16"/>
                  <a:gd name="T4" fmla="*/ 0 w 40"/>
                  <a:gd name="T5" fmla="*/ 2 h 16"/>
                  <a:gd name="T6" fmla="*/ 0 w 40"/>
                  <a:gd name="T7" fmla="*/ 14 h 16"/>
                  <a:gd name="T8" fmla="*/ 2 w 40"/>
                  <a:gd name="T9" fmla="*/ 16 h 16"/>
                  <a:gd name="T10" fmla="*/ 38 w 40"/>
                  <a:gd name="T11" fmla="*/ 16 h 16"/>
                  <a:gd name="T12" fmla="*/ 40 w 40"/>
                  <a:gd name="T13" fmla="*/ 14 h 16"/>
                  <a:gd name="T14" fmla="*/ 40 w 40"/>
                  <a:gd name="T15" fmla="*/ 2 h 16"/>
                  <a:gd name="T16" fmla="*/ 38 w 40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6">
                    <a:moveTo>
                      <a:pt x="3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9" y="16"/>
                      <a:pt x="40" y="15"/>
                      <a:pt x="40" y="14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1" name="Freeform 409"/>
              <p:cNvSpPr>
                <a:spLocks/>
              </p:cNvSpPr>
              <p:nvPr/>
            </p:nvSpPr>
            <p:spPr bwMode="auto">
              <a:xfrm>
                <a:off x="4144963" y="4119563"/>
                <a:ext cx="149225" cy="60325"/>
              </a:xfrm>
              <a:custGeom>
                <a:avLst/>
                <a:gdLst>
                  <a:gd name="T0" fmla="*/ 38 w 40"/>
                  <a:gd name="T1" fmla="*/ 0 h 16"/>
                  <a:gd name="T2" fmla="*/ 2 w 40"/>
                  <a:gd name="T3" fmla="*/ 0 h 16"/>
                  <a:gd name="T4" fmla="*/ 0 w 40"/>
                  <a:gd name="T5" fmla="*/ 2 h 16"/>
                  <a:gd name="T6" fmla="*/ 0 w 40"/>
                  <a:gd name="T7" fmla="*/ 14 h 16"/>
                  <a:gd name="T8" fmla="*/ 2 w 40"/>
                  <a:gd name="T9" fmla="*/ 16 h 16"/>
                  <a:gd name="T10" fmla="*/ 38 w 40"/>
                  <a:gd name="T11" fmla="*/ 16 h 16"/>
                  <a:gd name="T12" fmla="*/ 40 w 40"/>
                  <a:gd name="T13" fmla="*/ 14 h 16"/>
                  <a:gd name="T14" fmla="*/ 40 w 40"/>
                  <a:gd name="T15" fmla="*/ 2 h 16"/>
                  <a:gd name="T16" fmla="*/ 38 w 40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6">
                    <a:moveTo>
                      <a:pt x="3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9" y="16"/>
                      <a:pt x="40" y="15"/>
                      <a:pt x="40" y="14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32" name="Freeform 410"/>
              <p:cNvSpPr>
                <a:spLocks/>
              </p:cNvSpPr>
              <p:nvPr/>
            </p:nvSpPr>
            <p:spPr bwMode="auto">
              <a:xfrm>
                <a:off x="4144963" y="4210050"/>
                <a:ext cx="149225" cy="60325"/>
              </a:xfrm>
              <a:custGeom>
                <a:avLst/>
                <a:gdLst>
                  <a:gd name="T0" fmla="*/ 38 w 40"/>
                  <a:gd name="T1" fmla="*/ 0 h 16"/>
                  <a:gd name="T2" fmla="*/ 2 w 40"/>
                  <a:gd name="T3" fmla="*/ 0 h 16"/>
                  <a:gd name="T4" fmla="*/ 0 w 40"/>
                  <a:gd name="T5" fmla="*/ 2 h 16"/>
                  <a:gd name="T6" fmla="*/ 0 w 40"/>
                  <a:gd name="T7" fmla="*/ 14 h 16"/>
                  <a:gd name="T8" fmla="*/ 2 w 40"/>
                  <a:gd name="T9" fmla="*/ 16 h 16"/>
                  <a:gd name="T10" fmla="*/ 38 w 40"/>
                  <a:gd name="T11" fmla="*/ 16 h 16"/>
                  <a:gd name="T12" fmla="*/ 40 w 40"/>
                  <a:gd name="T13" fmla="*/ 14 h 16"/>
                  <a:gd name="T14" fmla="*/ 40 w 40"/>
                  <a:gd name="T15" fmla="*/ 2 h 16"/>
                  <a:gd name="T16" fmla="*/ 38 w 40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6">
                    <a:moveTo>
                      <a:pt x="3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9" y="16"/>
                      <a:pt x="40" y="15"/>
                      <a:pt x="40" y="14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53" name="Group 125"/>
            <p:cNvGrpSpPr/>
            <p:nvPr/>
          </p:nvGrpSpPr>
          <p:grpSpPr>
            <a:xfrm>
              <a:off x="3065453" y="903312"/>
              <a:ext cx="301301" cy="322519"/>
              <a:chOff x="3573463" y="4510088"/>
              <a:chExt cx="225426" cy="241301"/>
            </a:xfrm>
            <a:solidFill>
              <a:srgbClr val="DDDBDB"/>
            </a:solidFill>
          </p:grpSpPr>
          <p:sp>
            <p:nvSpPr>
              <p:cNvPr id="122" name="Freeform 191"/>
              <p:cNvSpPr>
                <a:spLocks noEditPoints="1"/>
              </p:cNvSpPr>
              <p:nvPr/>
            </p:nvSpPr>
            <p:spPr bwMode="auto">
              <a:xfrm>
                <a:off x="3708401" y="4600576"/>
                <a:ext cx="90488" cy="150813"/>
              </a:xfrm>
              <a:custGeom>
                <a:avLst/>
                <a:gdLst>
                  <a:gd name="T0" fmla="*/ 12 w 24"/>
                  <a:gd name="T1" fmla="*/ 0 h 40"/>
                  <a:gd name="T2" fmla="*/ 0 w 24"/>
                  <a:gd name="T3" fmla="*/ 12 h 40"/>
                  <a:gd name="T4" fmla="*/ 4 w 24"/>
                  <a:gd name="T5" fmla="*/ 21 h 40"/>
                  <a:gd name="T6" fmla="*/ 4 w 24"/>
                  <a:gd name="T7" fmla="*/ 40 h 40"/>
                  <a:gd name="T8" fmla="*/ 12 w 24"/>
                  <a:gd name="T9" fmla="*/ 32 h 40"/>
                  <a:gd name="T10" fmla="*/ 20 w 24"/>
                  <a:gd name="T11" fmla="*/ 40 h 40"/>
                  <a:gd name="T12" fmla="*/ 20 w 24"/>
                  <a:gd name="T13" fmla="*/ 21 h 40"/>
                  <a:gd name="T14" fmla="*/ 24 w 24"/>
                  <a:gd name="T15" fmla="*/ 12 h 40"/>
                  <a:gd name="T16" fmla="*/ 12 w 24"/>
                  <a:gd name="T17" fmla="*/ 0 h 40"/>
                  <a:gd name="T18" fmla="*/ 12 w 24"/>
                  <a:gd name="T19" fmla="*/ 20 h 40"/>
                  <a:gd name="T20" fmla="*/ 4 w 24"/>
                  <a:gd name="T21" fmla="*/ 12 h 40"/>
                  <a:gd name="T22" fmla="*/ 12 w 24"/>
                  <a:gd name="T23" fmla="*/ 4 h 40"/>
                  <a:gd name="T24" fmla="*/ 20 w 24"/>
                  <a:gd name="T25" fmla="*/ 12 h 40"/>
                  <a:gd name="T26" fmla="*/ 12 w 24"/>
                  <a:gd name="T27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40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2" y="19"/>
                      <a:pt x="24" y="16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3" name="Freeform 192"/>
              <p:cNvSpPr>
                <a:spLocks/>
              </p:cNvSpPr>
              <p:nvPr/>
            </p:nvSpPr>
            <p:spPr bwMode="auto">
              <a:xfrm>
                <a:off x="3573463" y="4510088"/>
                <a:ext cx="195263" cy="241300"/>
              </a:xfrm>
              <a:custGeom>
                <a:avLst/>
                <a:gdLst>
                  <a:gd name="T0" fmla="*/ 64 w 123"/>
                  <a:gd name="T1" fmla="*/ 133 h 152"/>
                  <a:gd name="T2" fmla="*/ 19 w 123"/>
                  <a:gd name="T3" fmla="*/ 133 h 152"/>
                  <a:gd name="T4" fmla="*/ 19 w 123"/>
                  <a:gd name="T5" fmla="*/ 19 h 152"/>
                  <a:gd name="T6" fmla="*/ 71 w 123"/>
                  <a:gd name="T7" fmla="*/ 19 h 152"/>
                  <a:gd name="T8" fmla="*/ 100 w 123"/>
                  <a:gd name="T9" fmla="*/ 48 h 152"/>
                  <a:gd name="T10" fmla="*/ 123 w 123"/>
                  <a:gd name="T11" fmla="*/ 48 h 152"/>
                  <a:gd name="T12" fmla="*/ 123 w 123"/>
                  <a:gd name="T13" fmla="*/ 43 h 152"/>
                  <a:gd name="T14" fmla="*/ 81 w 123"/>
                  <a:gd name="T15" fmla="*/ 0 h 152"/>
                  <a:gd name="T16" fmla="*/ 0 w 123"/>
                  <a:gd name="T17" fmla="*/ 0 h 152"/>
                  <a:gd name="T18" fmla="*/ 0 w 123"/>
                  <a:gd name="T19" fmla="*/ 152 h 152"/>
                  <a:gd name="T20" fmla="*/ 81 w 123"/>
                  <a:gd name="T21" fmla="*/ 152 h 152"/>
                  <a:gd name="T22" fmla="*/ 64 w 123"/>
                  <a:gd name="T23" fmla="*/ 133 h 152"/>
                  <a:gd name="T24" fmla="*/ 64 w 123"/>
                  <a:gd name="T25" fmla="*/ 13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152">
                    <a:moveTo>
                      <a:pt x="64" y="133"/>
                    </a:moveTo>
                    <a:lnTo>
                      <a:pt x="19" y="133"/>
                    </a:lnTo>
                    <a:lnTo>
                      <a:pt x="19" y="19"/>
                    </a:lnTo>
                    <a:lnTo>
                      <a:pt x="71" y="19"/>
                    </a:lnTo>
                    <a:lnTo>
                      <a:pt x="100" y="48"/>
                    </a:lnTo>
                    <a:lnTo>
                      <a:pt x="123" y="48"/>
                    </a:lnTo>
                    <a:lnTo>
                      <a:pt x="123" y="43"/>
                    </a:lnTo>
                    <a:lnTo>
                      <a:pt x="81" y="0"/>
                    </a:lnTo>
                    <a:lnTo>
                      <a:pt x="0" y="0"/>
                    </a:lnTo>
                    <a:lnTo>
                      <a:pt x="0" y="152"/>
                    </a:lnTo>
                    <a:lnTo>
                      <a:pt x="81" y="152"/>
                    </a:lnTo>
                    <a:lnTo>
                      <a:pt x="64" y="133"/>
                    </a:lnTo>
                    <a:lnTo>
                      <a:pt x="64" y="1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4" name="Rectangle 193"/>
              <p:cNvSpPr>
                <a:spLocks noChangeArrowheads="1"/>
              </p:cNvSpPr>
              <p:nvPr/>
            </p:nvSpPr>
            <p:spPr bwMode="auto">
              <a:xfrm>
                <a:off x="3619501" y="4586288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5" name="Rectangle 194"/>
              <p:cNvSpPr>
                <a:spLocks noChangeArrowheads="1"/>
              </p:cNvSpPr>
              <p:nvPr/>
            </p:nvSpPr>
            <p:spPr bwMode="auto">
              <a:xfrm>
                <a:off x="3619501" y="4616451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6" name="Rectangle 195"/>
              <p:cNvSpPr>
                <a:spLocks noChangeArrowheads="1"/>
              </p:cNvSpPr>
              <p:nvPr/>
            </p:nvSpPr>
            <p:spPr bwMode="auto">
              <a:xfrm>
                <a:off x="3619501" y="4646613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54" name="Group 131"/>
            <p:cNvGrpSpPr/>
            <p:nvPr/>
          </p:nvGrpSpPr>
          <p:grpSpPr>
            <a:xfrm rot="21346805">
              <a:off x="2641223" y="1022806"/>
              <a:ext cx="358420" cy="370448"/>
              <a:chOff x="4054476" y="1160463"/>
              <a:chExt cx="236537" cy="244475"/>
            </a:xfrm>
            <a:solidFill>
              <a:srgbClr val="DDDBDB"/>
            </a:solidFill>
          </p:grpSpPr>
          <p:sp>
            <p:nvSpPr>
              <p:cNvPr id="120" name="Freeform 58"/>
              <p:cNvSpPr>
                <a:spLocks/>
              </p:cNvSpPr>
              <p:nvPr/>
            </p:nvSpPr>
            <p:spPr bwMode="auto">
              <a:xfrm>
                <a:off x="4144963" y="1160463"/>
                <a:ext cx="146050" cy="146050"/>
              </a:xfrm>
              <a:custGeom>
                <a:avLst/>
                <a:gdLst>
                  <a:gd name="T0" fmla="*/ 37 w 39"/>
                  <a:gd name="T1" fmla="*/ 2 h 39"/>
                  <a:gd name="T2" fmla="*/ 31 w 39"/>
                  <a:gd name="T3" fmla="*/ 3 h 39"/>
                  <a:gd name="T4" fmla="*/ 12 w 39"/>
                  <a:gd name="T5" fmla="*/ 22 h 39"/>
                  <a:gd name="T6" fmla="*/ 0 w 39"/>
                  <a:gd name="T7" fmla="*/ 29 h 39"/>
                  <a:gd name="T8" fmla="*/ 10 w 39"/>
                  <a:gd name="T9" fmla="*/ 39 h 39"/>
                  <a:gd name="T10" fmla="*/ 17 w 39"/>
                  <a:gd name="T11" fmla="*/ 27 h 39"/>
                  <a:gd name="T12" fmla="*/ 36 w 39"/>
                  <a:gd name="T13" fmla="*/ 8 h 39"/>
                  <a:gd name="T14" fmla="*/ 37 w 39"/>
                  <a:gd name="T15" fmla="*/ 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9">
                    <a:moveTo>
                      <a:pt x="37" y="2"/>
                    </a:moveTo>
                    <a:cubicBezTo>
                      <a:pt x="34" y="0"/>
                      <a:pt x="31" y="3"/>
                      <a:pt x="31" y="3"/>
                    </a:cubicBezTo>
                    <a:cubicBezTo>
                      <a:pt x="31" y="3"/>
                      <a:pt x="15" y="19"/>
                      <a:pt x="12" y="22"/>
                    </a:cubicBezTo>
                    <a:cubicBezTo>
                      <a:pt x="9" y="25"/>
                      <a:pt x="0" y="29"/>
                      <a:pt x="0" y="2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0" y="39"/>
                      <a:pt x="14" y="30"/>
                      <a:pt x="17" y="27"/>
                    </a:cubicBezTo>
                    <a:cubicBezTo>
                      <a:pt x="20" y="24"/>
                      <a:pt x="36" y="8"/>
                      <a:pt x="36" y="8"/>
                    </a:cubicBezTo>
                    <a:cubicBezTo>
                      <a:pt x="36" y="8"/>
                      <a:pt x="39" y="5"/>
                      <a:pt x="3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21" name="Freeform 59"/>
              <p:cNvSpPr>
                <a:spLocks noEditPoints="1"/>
              </p:cNvSpPr>
              <p:nvPr/>
            </p:nvSpPr>
            <p:spPr bwMode="auto">
              <a:xfrm>
                <a:off x="4054476" y="1281113"/>
                <a:ext cx="115888" cy="123825"/>
              </a:xfrm>
              <a:custGeom>
                <a:avLst/>
                <a:gdLst>
                  <a:gd name="T0" fmla="*/ 12 w 31"/>
                  <a:gd name="T1" fmla="*/ 7 h 33"/>
                  <a:gd name="T2" fmla="*/ 0 w 31"/>
                  <a:gd name="T3" fmla="*/ 27 h 33"/>
                  <a:gd name="T4" fmla="*/ 31 w 31"/>
                  <a:gd name="T5" fmla="*/ 10 h 33"/>
                  <a:gd name="T6" fmla="*/ 21 w 31"/>
                  <a:gd name="T7" fmla="*/ 0 h 33"/>
                  <a:gd name="T8" fmla="*/ 12 w 31"/>
                  <a:gd name="T9" fmla="*/ 7 h 33"/>
                  <a:gd name="T10" fmla="*/ 9 w 31"/>
                  <a:gd name="T11" fmla="*/ 24 h 33"/>
                  <a:gd name="T12" fmla="*/ 20 w 31"/>
                  <a:gd name="T13" fmla="*/ 4 h 33"/>
                  <a:gd name="T14" fmla="*/ 9 w 31"/>
                  <a:gd name="T15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33">
                    <a:moveTo>
                      <a:pt x="12" y="7"/>
                    </a:moveTo>
                    <a:cubicBezTo>
                      <a:pt x="7" y="19"/>
                      <a:pt x="8" y="25"/>
                      <a:pt x="0" y="27"/>
                    </a:cubicBezTo>
                    <a:cubicBezTo>
                      <a:pt x="31" y="33"/>
                      <a:pt x="31" y="10"/>
                      <a:pt x="31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14" y="2"/>
                      <a:pt x="12" y="7"/>
                    </a:cubicBezTo>
                    <a:close/>
                    <a:moveTo>
                      <a:pt x="9" y="24"/>
                    </a:moveTo>
                    <a:cubicBezTo>
                      <a:pt x="11" y="21"/>
                      <a:pt x="15" y="8"/>
                      <a:pt x="20" y="4"/>
                    </a:cubicBezTo>
                    <a:cubicBezTo>
                      <a:pt x="23" y="7"/>
                      <a:pt x="20" y="17"/>
                      <a:pt x="9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55" name="Freeform 165"/>
            <p:cNvSpPr>
              <a:spLocks noEditPoints="1"/>
            </p:cNvSpPr>
            <p:nvPr/>
          </p:nvSpPr>
          <p:spPr bwMode="auto">
            <a:xfrm>
              <a:off x="2854245" y="1243629"/>
              <a:ext cx="386799" cy="389361"/>
            </a:xfrm>
            <a:custGeom>
              <a:avLst/>
              <a:gdLst>
                <a:gd name="T0" fmla="*/ 76 w 151"/>
                <a:gd name="T1" fmla="*/ 0 h 152"/>
                <a:gd name="T2" fmla="*/ 9 w 151"/>
                <a:gd name="T3" fmla="*/ 142 h 152"/>
                <a:gd name="T4" fmla="*/ 0 w 151"/>
                <a:gd name="T5" fmla="*/ 152 h 152"/>
                <a:gd name="T6" fmla="*/ 151 w 151"/>
                <a:gd name="T7" fmla="*/ 38 h 152"/>
                <a:gd name="T8" fmla="*/ 57 w 151"/>
                <a:gd name="T9" fmla="*/ 142 h 152"/>
                <a:gd name="T10" fmla="*/ 28 w 151"/>
                <a:gd name="T11" fmla="*/ 123 h 152"/>
                <a:gd name="T12" fmla="*/ 57 w 151"/>
                <a:gd name="T13" fmla="*/ 142 h 152"/>
                <a:gd name="T14" fmla="*/ 19 w 151"/>
                <a:gd name="T15" fmla="*/ 104 h 152"/>
                <a:gd name="T16" fmla="*/ 66 w 151"/>
                <a:gd name="T17" fmla="*/ 95 h 152"/>
                <a:gd name="T18" fmla="*/ 66 w 151"/>
                <a:gd name="T19" fmla="*/ 85 h 152"/>
                <a:gd name="T20" fmla="*/ 19 w 151"/>
                <a:gd name="T21" fmla="*/ 76 h 152"/>
                <a:gd name="T22" fmla="*/ 66 w 151"/>
                <a:gd name="T23" fmla="*/ 85 h 152"/>
                <a:gd name="T24" fmla="*/ 19 w 151"/>
                <a:gd name="T25" fmla="*/ 66 h 152"/>
                <a:gd name="T26" fmla="*/ 66 w 151"/>
                <a:gd name="T27" fmla="*/ 57 h 152"/>
                <a:gd name="T28" fmla="*/ 66 w 151"/>
                <a:gd name="T29" fmla="*/ 47 h 152"/>
                <a:gd name="T30" fmla="*/ 19 w 151"/>
                <a:gd name="T31" fmla="*/ 38 h 152"/>
                <a:gd name="T32" fmla="*/ 66 w 151"/>
                <a:gd name="T33" fmla="*/ 47 h 152"/>
                <a:gd name="T34" fmla="*/ 19 w 151"/>
                <a:gd name="T35" fmla="*/ 29 h 152"/>
                <a:gd name="T36" fmla="*/ 66 w 151"/>
                <a:gd name="T37" fmla="*/ 19 h 152"/>
                <a:gd name="T38" fmla="*/ 113 w 151"/>
                <a:gd name="T39" fmla="*/ 133 h 152"/>
                <a:gd name="T40" fmla="*/ 95 w 151"/>
                <a:gd name="T41" fmla="*/ 114 h 152"/>
                <a:gd name="T42" fmla="*/ 113 w 151"/>
                <a:gd name="T43" fmla="*/ 133 h 152"/>
                <a:gd name="T44" fmla="*/ 95 w 151"/>
                <a:gd name="T45" fmla="*/ 104 h 152"/>
                <a:gd name="T46" fmla="*/ 113 w 151"/>
                <a:gd name="T47" fmla="*/ 85 h 152"/>
                <a:gd name="T48" fmla="*/ 113 w 151"/>
                <a:gd name="T49" fmla="*/ 76 h 152"/>
                <a:gd name="T50" fmla="*/ 95 w 151"/>
                <a:gd name="T51" fmla="*/ 57 h 152"/>
                <a:gd name="T52" fmla="*/ 113 w 151"/>
                <a:gd name="T53" fmla="*/ 76 h 152"/>
                <a:gd name="T54" fmla="*/ 123 w 151"/>
                <a:gd name="T55" fmla="*/ 133 h 152"/>
                <a:gd name="T56" fmla="*/ 142 w 151"/>
                <a:gd name="T57" fmla="*/ 114 h 152"/>
                <a:gd name="T58" fmla="*/ 142 w 151"/>
                <a:gd name="T59" fmla="*/ 104 h 152"/>
                <a:gd name="T60" fmla="*/ 123 w 151"/>
                <a:gd name="T61" fmla="*/ 85 h 152"/>
                <a:gd name="T62" fmla="*/ 142 w 151"/>
                <a:gd name="T63" fmla="*/ 104 h 152"/>
                <a:gd name="T64" fmla="*/ 123 w 151"/>
                <a:gd name="T65" fmla="*/ 76 h 152"/>
                <a:gd name="T66" fmla="*/ 142 w 151"/>
                <a:gd name="T67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1" h="152">
                  <a:moveTo>
                    <a:pt x="76" y="38"/>
                  </a:moveTo>
                  <a:lnTo>
                    <a:pt x="76" y="0"/>
                  </a:lnTo>
                  <a:lnTo>
                    <a:pt x="9" y="0"/>
                  </a:lnTo>
                  <a:lnTo>
                    <a:pt x="9" y="142"/>
                  </a:lnTo>
                  <a:lnTo>
                    <a:pt x="0" y="142"/>
                  </a:lnTo>
                  <a:lnTo>
                    <a:pt x="0" y="152"/>
                  </a:lnTo>
                  <a:lnTo>
                    <a:pt x="151" y="152"/>
                  </a:lnTo>
                  <a:lnTo>
                    <a:pt x="151" y="38"/>
                  </a:lnTo>
                  <a:lnTo>
                    <a:pt x="76" y="38"/>
                  </a:lnTo>
                  <a:close/>
                  <a:moveTo>
                    <a:pt x="57" y="142"/>
                  </a:moveTo>
                  <a:lnTo>
                    <a:pt x="28" y="142"/>
                  </a:lnTo>
                  <a:lnTo>
                    <a:pt x="28" y="123"/>
                  </a:lnTo>
                  <a:lnTo>
                    <a:pt x="57" y="123"/>
                  </a:lnTo>
                  <a:lnTo>
                    <a:pt x="57" y="142"/>
                  </a:lnTo>
                  <a:close/>
                  <a:moveTo>
                    <a:pt x="66" y="104"/>
                  </a:moveTo>
                  <a:lnTo>
                    <a:pt x="19" y="104"/>
                  </a:lnTo>
                  <a:lnTo>
                    <a:pt x="19" y="95"/>
                  </a:lnTo>
                  <a:lnTo>
                    <a:pt x="66" y="95"/>
                  </a:lnTo>
                  <a:lnTo>
                    <a:pt x="66" y="104"/>
                  </a:lnTo>
                  <a:close/>
                  <a:moveTo>
                    <a:pt x="66" y="85"/>
                  </a:moveTo>
                  <a:lnTo>
                    <a:pt x="19" y="85"/>
                  </a:lnTo>
                  <a:lnTo>
                    <a:pt x="19" y="76"/>
                  </a:lnTo>
                  <a:lnTo>
                    <a:pt x="66" y="76"/>
                  </a:lnTo>
                  <a:lnTo>
                    <a:pt x="66" y="85"/>
                  </a:lnTo>
                  <a:close/>
                  <a:moveTo>
                    <a:pt x="66" y="66"/>
                  </a:moveTo>
                  <a:lnTo>
                    <a:pt x="19" y="66"/>
                  </a:lnTo>
                  <a:lnTo>
                    <a:pt x="19" y="57"/>
                  </a:lnTo>
                  <a:lnTo>
                    <a:pt x="66" y="57"/>
                  </a:lnTo>
                  <a:lnTo>
                    <a:pt x="66" y="66"/>
                  </a:lnTo>
                  <a:close/>
                  <a:moveTo>
                    <a:pt x="66" y="47"/>
                  </a:moveTo>
                  <a:lnTo>
                    <a:pt x="19" y="47"/>
                  </a:lnTo>
                  <a:lnTo>
                    <a:pt x="19" y="38"/>
                  </a:lnTo>
                  <a:lnTo>
                    <a:pt x="66" y="38"/>
                  </a:lnTo>
                  <a:lnTo>
                    <a:pt x="66" y="47"/>
                  </a:lnTo>
                  <a:close/>
                  <a:moveTo>
                    <a:pt x="66" y="29"/>
                  </a:moveTo>
                  <a:lnTo>
                    <a:pt x="19" y="29"/>
                  </a:lnTo>
                  <a:lnTo>
                    <a:pt x="19" y="19"/>
                  </a:lnTo>
                  <a:lnTo>
                    <a:pt x="66" y="19"/>
                  </a:lnTo>
                  <a:lnTo>
                    <a:pt x="66" y="29"/>
                  </a:lnTo>
                  <a:close/>
                  <a:moveTo>
                    <a:pt x="113" y="133"/>
                  </a:moveTo>
                  <a:lnTo>
                    <a:pt x="95" y="133"/>
                  </a:lnTo>
                  <a:lnTo>
                    <a:pt x="95" y="114"/>
                  </a:lnTo>
                  <a:lnTo>
                    <a:pt x="113" y="114"/>
                  </a:lnTo>
                  <a:lnTo>
                    <a:pt x="113" y="133"/>
                  </a:lnTo>
                  <a:close/>
                  <a:moveTo>
                    <a:pt x="113" y="104"/>
                  </a:moveTo>
                  <a:lnTo>
                    <a:pt x="95" y="104"/>
                  </a:lnTo>
                  <a:lnTo>
                    <a:pt x="95" y="85"/>
                  </a:lnTo>
                  <a:lnTo>
                    <a:pt x="113" y="85"/>
                  </a:lnTo>
                  <a:lnTo>
                    <a:pt x="113" y="104"/>
                  </a:lnTo>
                  <a:close/>
                  <a:moveTo>
                    <a:pt x="113" y="76"/>
                  </a:moveTo>
                  <a:lnTo>
                    <a:pt x="95" y="76"/>
                  </a:lnTo>
                  <a:lnTo>
                    <a:pt x="95" y="57"/>
                  </a:lnTo>
                  <a:lnTo>
                    <a:pt x="113" y="57"/>
                  </a:lnTo>
                  <a:lnTo>
                    <a:pt x="113" y="76"/>
                  </a:lnTo>
                  <a:close/>
                  <a:moveTo>
                    <a:pt x="142" y="133"/>
                  </a:moveTo>
                  <a:lnTo>
                    <a:pt x="123" y="133"/>
                  </a:lnTo>
                  <a:lnTo>
                    <a:pt x="123" y="114"/>
                  </a:lnTo>
                  <a:lnTo>
                    <a:pt x="142" y="114"/>
                  </a:lnTo>
                  <a:lnTo>
                    <a:pt x="142" y="133"/>
                  </a:lnTo>
                  <a:close/>
                  <a:moveTo>
                    <a:pt x="142" y="104"/>
                  </a:moveTo>
                  <a:lnTo>
                    <a:pt x="123" y="104"/>
                  </a:lnTo>
                  <a:lnTo>
                    <a:pt x="123" y="85"/>
                  </a:lnTo>
                  <a:lnTo>
                    <a:pt x="142" y="85"/>
                  </a:lnTo>
                  <a:lnTo>
                    <a:pt x="142" y="104"/>
                  </a:lnTo>
                  <a:close/>
                  <a:moveTo>
                    <a:pt x="142" y="76"/>
                  </a:moveTo>
                  <a:lnTo>
                    <a:pt x="123" y="76"/>
                  </a:lnTo>
                  <a:lnTo>
                    <a:pt x="123" y="57"/>
                  </a:lnTo>
                  <a:lnTo>
                    <a:pt x="142" y="57"/>
                  </a:lnTo>
                  <a:lnTo>
                    <a:pt x="142" y="76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56" name="Freeform 416"/>
            <p:cNvSpPr>
              <a:spLocks noEditPoints="1"/>
            </p:cNvSpPr>
            <p:nvPr/>
          </p:nvSpPr>
          <p:spPr bwMode="auto">
            <a:xfrm>
              <a:off x="2473926" y="1461671"/>
              <a:ext cx="340729" cy="298138"/>
            </a:xfrm>
            <a:custGeom>
              <a:avLst/>
              <a:gdLst>
                <a:gd name="T0" fmla="*/ 48 w 64"/>
                <a:gd name="T1" fmla="*/ 38 h 56"/>
                <a:gd name="T2" fmla="*/ 51 w 64"/>
                <a:gd name="T3" fmla="*/ 6 h 56"/>
                <a:gd name="T4" fmla="*/ 50 w 64"/>
                <a:gd name="T5" fmla="*/ 3 h 56"/>
                <a:gd name="T6" fmla="*/ 32 w 64"/>
                <a:gd name="T7" fmla="*/ 0 h 56"/>
                <a:gd name="T8" fmla="*/ 14 w 64"/>
                <a:gd name="T9" fmla="*/ 3 h 56"/>
                <a:gd name="T10" fmla="*/ 13 w 64"/>
                <a:gd name="T11" fmla="*/ 6 h 56"/>
                <a:gd name="T12" fmla="*/ 16 w 64"/>
                <a:gd name="T13" fmla="*/ 38 h 56"/>
                <a:gd name="T14" fmla="*/ 0 w 64"/>
                <a:gd name="T15" fmla="*/ 40 h 56"/>
                <a:gd name="T16" fmla="*/ 12 w 64"/>
                <a:gd name="T17" fmla="*/ 52 h 56"/>
                <a:gd name="T18" fmla="*/ 32 w 64"/>
                <a:gd name="T19" fmla="*/ 56 h 56"/>
                <a:gd name="T20" fmla="*/ 52 w 64"/>
                <a:gd name="T21" fmla="*/ 52 h 56"/>
                <a:gd name="T22" fmla="*/ 64 w 64"/>
                <a:gd name="T23" fmla="*/ 40 h 56"/>
                <a:gd name="T24" fmla="*/ 48 w 64"/>
                <a:gd name="T25" fmla="*/ 38 h 56"/>
                <a:gd name="T26" fmla="*/ 24 w 64"/>
                <a:gd name="T27" fmla="*/ 7 h 56"/>
                <a:gd name="T28" fmla="*/ 24 w 64"/>
                <a:gd name="T29" fmla="*/ 7 h 56"/>
                <a:gd name="T30" fmla="*/ 27 w 64"/>
                <a:gd name="T31" fmla="*/ 32 h 56"/>
                <a:gd name="T32" fmla="*/ 27 w 64"/>
                <a:gd name="T33" fmla="*/ 40 h 56"/>
                <a:gd name="T34" fmla="*/ 19 w 64"/>
                <a:gd name="T35" fmla="*/ 39 h 56"/>
                <a:gd name="T36" fmla="*/ 19 w 64"/>
                <a:gd name="T37" fmla="*/ 33 h 56"/>
                <a:gd name="T38" fmla="*/ 16 w 64"/>
                <a:gd name="T39" fmla="*/ 7 h 56"/>
                <a:gd name="T40" fmla="*/ 16 w 64"/>
                <a:gd name="T41" fmla="*/ 6 h 56"/>
                <a:gd name="T42" fmla="*/ 24 w 64"/>
                <a:gd name="T43" fmla="*/ 7 h 56"/>
                <a:gd name="T44" fmla="*/ 61 w 64"/>
                <a:gd name="T45" fmla="*/ 42 h 56"/>
                <a:gd name="T46" fmla="*/ 60 w 64"/>
                <a:gd name="T47" fmla="*/ 42 h 56"/>
                <a:gd name="T48" fmla="*/ 52 w 64"/>
                <a:gd name="T49" fmla="*/ 48 h 56"/>
                <a:gd name="T50" fmla="*/ 32 w 64"/>
                <a:gd name="T51" fmla="*/ 52 h 56"/>
                <a:gd name="T52" fmla="*/ 12 w 64"/>
                <a:gd name="T53" fmla="*/ 48 h 56"/>
                <a:gd name="T54" fmla="*/ 4 w 64"/>
                <a:gd name="T55" fmla="*/ 42 h 56"/>
                <a:gd name="T56" fmla="*/ 3 w 64"/>
                <a:gd name="T57" fmla="*/ 42 h 56"/>
                <a:gd name="T58" fmla="*/ 3 w 64"/>
                <a:gd name="T59" fmla="*/ 42 h 56"/>
                <a:gd name="T60" fmla="*/ 5 w 64"/>
                <a:gd name="T61" fmla="*/ 40 h 56"/>
                <a:gd name="T62" fmla="*/ 7 w 64"/>
                <a:gd name="T63" fmla="*/ 40 h 56"/>
                <a:gd name="T64" fmla="*/ 12 w 64"/>
                <a:gd name="T65" fmla="*/ 43 h 56"/>
                <a:gd name="T66" fmla="*/ 32 w 64"/>
                <a:gd name="T67" fmla="*/ 47 h 56"/>
                <a:gd name="T68" fmla="*/ 52 w 64"/>
                <a:gd name="T69" fmla="*/ 43 h 56"/>
                <a:gd name="T70" fmla="*/ 57 w 64"/>
                <a:gd name="T71" fmla="*/ 40 h 56"/>
                <a:gd name="T72" fmla="*/ 59 w 64"/>
                <a:gd name="T73" fmla="*/ 40 h 56"/>
                <a:gd name="T74" fmla="*/ 61 w 64"/>
                <a:gd name="T75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56">
                  <a:moveTo>
                    <a:pt x="48" y="38"/>
                  </a:moveTo>
                  <a:cubicBezTo>
                    <a:pt x="48" y="26"/>
                    <a:pt x="48" y="16"/>
                    <a:pt x="51" y="6"/>
                  </a:cubicBezTo>
                  <a:cubicBezTo>
                    <a:pt x="52" y="5"/>
                    <a:pt x="51" y="4"/>
                    <a:pt x="50" y="3"/>
                  </a:cubicBezTo>
                  <a:cubicBezTo>
                    <a:pt x="47" y="2"/>
                    <a:pt x="41" y="0"/>
                    <a:pt x="32" y="0"/>
                  </a:cubicBezTo>
                  <a:cubicBezTo>
                    <a:pt x="23" y="0"/>
                    <a:pt x="17" y="2"/>
                    <a:pt x="14" y="3"/>
                  </a:cubicBezTo>
                  <a:cubicBezTo>
                    <a:pt x="13" y="4"/>
                    <a:pt x="12" y="5"/>
                    <a:pt x="13" y="6"/>
                  </a:cubicBezTo>
                  <a:cubicBezTo>
                    <a:pt x="16" y="16"/>
                    <a:pt x="16" y="26"/>
                    <a:pt x="16" y="38"/>
                  </a:cubicBezTo>
                  <a:cubicBezTo>
                    <a:pt x="6" y="36"/>
                    <a:pt x="0" y="35"/>
                    <a:pt x="0" y="40"/>
                  </a:cubicBezTo>
                  <a:cubicBezTo>
                    <a:pt x="0" y="43"/>
                    <a:pt x="4" y="48"/>
                    <a:pt x="12" y="52"/>
                  </a:cubicBezTo>
                  <a:cubicBezTo>
                    <a:pt x="17" y="54"/>
                    <a:pt x="24" y="56"/>
                    <a:pt x="32" y="56"/>
                  </a:cubicBezTo>
                  <a:cubicBezTo>
                    <a:pt x="40" y="56"/>
                    <a:pt x="47" y="54"/>
                    <a:pt x="52" y="52"/>
                  </a:cubicBezTo>
                  <a:cubicBezTo>
                    <a:pt x="60" y="48"/>
                    <a:pt x="64" y="43"/>
                    <a:pt x="64" y="40"/>
                  </a:cubicBezTo>
                  <a:cubicBezTo>
                    <a:pt x="64" y="35"/>
                    <a:pt x="58" y="36"/>
                    <a:pt x="48" y="38"/>
                  </a:cubicBezTo>
                  <a:close/>
                  <a:moveTo>
                    <a:pt x="24" y="7"/>
                  </a:moveTo>
                  <a:cubicBezTo>
                    <a:pt x="24" y="7"/>
                    <a:pt x="24" y="7"/>
                    <a:pt x="24" y="7"/>
                  </a:cubicBezTo>
                  <a:cubicBezTo>
                    <a:pt x="26" y="15"/>
                    <a:pt x="27" y="23"/>
                    <a:pt x="27" y="32"/>
                  </a:cubicBezTo>
                  <a:cubicBezTo>
                    <a:pt x="27" y="35"/>
                    <a:pt x="27" y="37"/>
                    <a:pt x="27" y="40"/>
                  </a:cubicBezTo>
                  <a:cubicBezTo>
                    <a:pt x="26" y="39"/>
                    <a:pt x="20" y="39"/>
                    <a:pt x="19" y="39"/>
                  </a:cubicBezTo>
                  <a:cubicBezTo>
                    <a:pt x="19" y="37"/>
                    <a:pt x="19" y="35"/>
                    <a:pt x="19" y="33"/>
                  </a:cubicBezTo>
                  <a:cubicBezTo>
                    <a:pt x="19" y="24"/>
                    <a:pt x="18" y="15"/>
                    <a:pt x="16" y="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7"/>
                    <a:pt x="22" y="7"/>
                    <a:pt x="24" y="7"/>
                  </a:cubicBezTo>
                  <a:close/>
                  <a:moveTo>
                    <a:pt x="61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58" y="45"/>
                    <a:pt x="55" y="46"/>
                    <a:pt x="52" y="48"/>
                  </a:cubicBezTo>
                  <a:cubicBezTo>
                    <a:pt x="47" y="51"/>
                    <a:pt x="40" y="52"/>
                    <a:pt x="32" y="52"/>
                  </a:cubicBezTo>
                  <a:cubicBezTo>
                    <a:pt x="25" y="52"/>
                    <a:pt x="17" y="51"/>
                    <a:pt x="12" y="48"/>
                  </a:cubicBezTo>
                  <a:cubicBezTo>
                    <a:pt x="9" y="46"/>
                    <a:pt x="6" y="45"/>
                    <a:pt x="4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4" y="40"/>
                    <a:pt x="5" y="40"/>
                  </a:cubicBezTo>
                  <a:cubicBezTo>
                    <a:pt x="6" y="39"/>
                    <a:pt x="7" y="39"/>
                    <a:pt x="7" y="40"/>
                  </a:cubicBezTo>
                  <a:cubicBezTo>
                    <a:pt x="9" y="41"/>
                    <a:pt x="10" y="42"/>
                    <a:pt x="12" y="43"/>
                  </a:cubicBezTo>
                  <a:cubicBezTo>
                    <a:pt x="17" y="45"/>
                    <a:pt x="25" y="47"/>
                    <a:pt x="32" y="47"/>
                  </a:cubicBezTo>
                  <a:cubicBezTo>
                    <a:pt x="39" y="47"/>
                    <a:pt x="47" y="45"/>
                    <a:pt x="52" y="43"/>
                  </a:cubicBezTo>
                  <a:cubicBezTo>
                    <a:pt x="54" y="42"/>
                    <a:pt x="55" y="41"/>
                    <a:pt x="57" y="40"/>
                  </a:cubicBezTo>
                  <a:cubicBezTo>
                    <a:pt x="58" y="39"/>
                    <a:pt x="59" y="39"/>
                    <a:pt x="59" y="40"/>
                  </a:cubicBezTo>
                  <a:cubicBezTo>
                    <a:pt x="60" y="40"/>
                    <a:pt x="61" y="41"/>
                    <a:pt x="61" y="42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57" name="Group 143"/>
            <p:cNvGrpSpPr/>
            <p:nvPr/>
          </p:nvGrpSpPr>
          <p:grpSpPr>
            <a:xfrm>
              <a:off x="3285544" y="1327064"/>
              <a:ext cx="171319" cy="170206"/>
              <a:chOff x="5016501" y="4030663"/>
              <a:chExt cx="244475" cy="242887"/>
            </a:xfrm>
            <a:solidFill>
              <a:srgbClr val="DDDBDB"/>
            </a:solidFill>
          </p:grpSpPr>
          <p:sp>
            <p:nvSpPr>
              <p:cNvPr id="118" name="Freeform 434"/>
              <p:cNvSpPr>
                <a:spLocks/>
              </p:cNvSpPr>
              <p:nvPr/>
            </p:nvSpPr>
            <p:spPr bwMode="auto">
              <a:xfrm>
                <a:off x="5016501" y="4030663"/>
                <a:ext cx="203200" cy="201613"/>
              </a:xfrm>
              <a:custGeom>
                <a:avLst/>
                <a:gdLst>
                  <a:gd name="T0" fmla="*/ 37 w 54"/>
                  <a:gd name="T1" fmla="*/ 23 h 54"/>
                  <a:gd name="T2" fmla="*/ 31 w 54"/>
                  <a:gd name="T3" fmla="*/ 23 h 54"/>
                  <a:gd name="T4" fmla="*/ 28 w 54"/>
                  <a:gd name="T5" fmla="*/ 8 h 54"/>
                  <a:gd name="T6" fmla="*/ 20 w 54"/>
                  <a:gd name="T7" fmla="*/ 0 h 54"/>
                  <a:gd name="T8" fmla="*/ 17 w 54"/>
                  <a:gd name="T9" fmla="*/ 14 h 54"/>
                  <a:gd name="T10" fmla="*/ 26 w 54"/>
                  <a:gd name="T11" fmla="*/ 23 h 54"/>
                  <a:gd name="T12" fmla="*/ 23 w 54"/>
                  <a:gd name="T13" fmla="*/ 25 h 54"/>
                  <a:gd name="T14" fmla="*/ 14 w 54"/>
                  <a:gd name="T15" fmla="*/ 17 h 54"/>
                  <a:gd name="T16" fmla="*/ 0 w 54"/>
                  <a:gd name="T17" fmla="*/ 20 h 54"/>
                  <a:gd name="T18" fmla="*/ 9 w 54"/>
                  <a:gd name="T19" fmla="*/ 28 h 54"/>
                  <a:gd name="T20" fmla="*/ 23 w 54"/>
                  <a:gd name="T21" fmla="*/ 31 h 54"/>
                  <a:gd name="T22" fmla="*/ 23 w 54"/>
                  <a:gd name="T23" fmla="*/ 37 h 54"/>
                  <a:gd name="T24" fmla="*/ 40 w 54"/>
                  <a:gd name="T25" fmla="*/ 54 h 54"/>
                  <a:gd name="T26" fmla="*/ 54 w 54"/>
                  <a:gd name="T27" fmla="*/ 40 h 54"/>
                  <a:gd name="T28" fmla="*/ 37 w 54"/>
                  <a:gd name="T29" fmla="*/ 2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54">
                    <a:moveTo>
                      <a:pt x="37" y="23"/>
                    </a:moveTo>
                    <a:cubicBezTo>
                      <a:pt x="35" y="21"/>
                      <a:pt x="33" y="21"/>
                      <a:pt x="31" y="23"/>
                    </a:cubicBezTo>
                    <a:cubicBezTo>
                      <a:pt x="31" y="23"/>
                      <a:pt x="37" y="17"/>
                      <a:pt x="28" y="8"/>
                    </a:cubicBezTo>
                    <a:cubicBezTo>
                      <a:pt x="26" y="6"/>
                      <a:pt x="20" y="0"/>
                      <a:pt x="20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6" y="25"/>
                      <a:pt x="9" y="28"/>
                    </a:cubicBezTo>
                    <a:cubicBezTo>
                      <a:pt x="17" y="37"/>
                      <a:pt x="23" y="31"/>
                      <a:pt x="23" y="31"/>
                    </a:cubicBezTo>
                    <a:cubicBezTo>
                      <a:pt x="21" y="33"/>
                      <a:pt x="21" y="35"/>
                      <a:pt x="23" y="37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54" y="40"/>
                      <a:pt x="54" y="40"/>
                      <a:pt x="54" y="40"/>
                    </a:cubicBezTo>
                    <a:lnTo>
                      <a:pt x="3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19" name="Freeform 435"/>
              <p:cNvSpPr>
                <a:spLocks/>
              </p:cNvSpPr>
              <p:nvPr/>
            </p:nvSpPr>
            <p:spPr bwMode="auto">
              <a:xfrm>
                <a:off x="5178426" y="4187825"/>
                <a:ext cx="82550" cy="85725"/>
              </a:xfrm>
              <a:custGeom>
                <a:avLst/>
                <a:gdLst>
                  <a:gd name="T0" fmla="*/ 17 w 22"/>
                  <a:gd name="T1" fmla="*/ 3 h 23"/>
                  <a:gd name="T2" fmla="*/ 14 w 22"/>
                  <a:gd name="T3" fmla="*/ 0 h 23"/>
                  <a:gd name="T4" fmla="*/ 0 w 22"/>
                  <a:gd name="T5" fmla="*/ 15 h 23"/>
                  <a:gd name="T6" fmla="*/ 2 w 22"/>
                  <a:gd name="T7" fmla="*/ 17 h 23"/>
                  <a:gd name="T8" fmla="*/ 21 w 22"/>
                  <a:gd name="T9" fmla="*/ 22 h 23"/>
                  <a:gd name="T10" fmla="*/ 17 w 22"/>
                  <a:gd name="T11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3">
                    <a:moveTo>
                      <a:pt x="17" y="3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2" y="17"/>
                    </a:cubicBezTo>
                    <a:cubicBezTo>
                      <a:pt x="8" y="23"/>
                      <a:pt x="21" y="22"/>
                      <a:pt x="21" y="22"/>
                    </a:cubicBezTo>
                    <a:cubicBezTo>
                      <a:pt x="21" y="22"/>
                      <a:pt x="22" y="9"/>
                      <a:pt x="1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58" name="Group 146"/>
            <p:cNvGrpSpPr/>
            <p:nvPr/>
          </p:nvGrpSpPr>
          <p:grpSpPr>
            <a:xfrm>
              <a:off x="2831660" y="1685545"/>
              <a:ext cx="315939" cy="248921"/>
              <a:chOff x="5016501" y="3068638"/>
              <a:chExt cx="209550" cy="165100"/>
            </a:xfrm>
            <a:solidFill>
              <a:srgbClr val="DDDBDB"/>
            </a:solidFill>
          </p:grpSpPr>
          <p:sp>
            <p:nvSpPr>
              <p:cNvPr id="116" name="Freeform 355"/>
              <p:cNvSpPr>
                <a:spLocks noEditPoints="1"/>
              </p:cNvSpPr>
              <p:nvPr/>
            </p:nvSpPr>
            <p:spPr bwMode="auto">
              <a:xfrm>
                <a:off x="5102226" y="3121026"/>
                <a:ext cx="76200" cy="74613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7 w 20"/>
                  <a:gd name="T11" fmla="*/ 16 h 20"/>
                  <a:gd name="T12" fmla="*/ 5 w 20"/>
                  <a:gd name="T13" fmla="*/ 11 h 20"/>
                  <a:gd name="T14" fmla="*/ 11 w 20"/>
                  <a:gd name="T15" fmla="*/ 5 h 20"/>
                  <a:gd name="T16" fmla="*/ 16 w 20"/>
                  <a:gd name="T17" fmla="*/ 8 h 20"/>
                  <a:gd name="T18" fmla="*/ 7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5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5"/>
                      <a:pt x="16" y="0"/>
                      <a:pt x="10" y="0"/>
                    </a:cubicBezTo>
                    <a:close/>
                    <a:moveTo>
                      <a:pt x="7" y="16"/>
                    </a:moveTo>
                    <a:cubicBezTo>
                      <a:pt x="6" y="15"/>
                      <a:pt x="5" y="13"/>
                      <a:pt x="5" y="11"/>
                    </a:cubicBezTo>
                    <a:cubicBezTo>
                      <a:pt x="5" y="8"/>
                      <a:pt x="8" y="5"/>
                      <a:pt x="11" y="5"/>
                    </a:cubicBezTo>
                    <a:cubicBezTo>
                      <a:pt x="13" y="5"/>
                      <a:pt x="15" y="6"/>
                      <a:pt x="16" y="8"/>
                    </a:cubicBezTo>
                    <a:cubicBezTo>
                      <a:pt x="11" y="8"/>
                      <a:pt x="8" y="11"/>
                      <a:pt x="7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17" name="Freeform 356"/>
              <p:cNvSpPr>
                <a:spLocks noEditPoints="1"/>
              </p:cNvSpPr>
              <p:nvPr/>
            </p:nvSpPr>
            <p:spPr bwMode="auto">
              <a:xfrm>
                <a:off x="5016501" y="3068638"/>
                <a:ext cx="209550" cy="165100"/>
              </a:xfrm>
              <a:custGeom>
                <a:avLst/>
                <a:gdLst>
                  <a:gd name="T0" fmla="*/ 52 w 56"/>
                  <a:gd name="T1" fmla="*/ 4 h 44"/>
                  <a:gd name="T2" fmla="*/ 48 w 56"/>
                  <a:gd name="T3" fmla="*/ 4 h 44"/>
                  <a:gd name="T4" fmla="*/ 48 w 56"/>
                  <a:gd name="T5" fmla="*/ 0 h 44"/>
                  <a:gd name="T6" fmla="*/ 44 w 56"/>
                  <a:gd name="T7" fmla="*/ 0 h 44"/>
                  <a:gd name="T8" fmla="*/ 44 w 56"/>
                  <a:gd name="T9" fmla="*/ 4 h 44"/>
                  <a:gd name="T10" fmla="*/ 24 w 56"/>
                  <a:gd name="T11" fmla="*/ 4 h 44"/>
                  <a:gd name="T12" fmla="*/ 20 w 56"/>
                  <a:gd name="T13" fmla="*/ 0 h 44"/>
                  <a:gd name="T14" fmla="*/ 12 w 56"/>
                  <a:gd name="T15" fmla="*/ 0 h 44"/>
                  <a:gd name="T16" fmla="*/ 8 w 56"/>
                  <a:gd name="T17" fmla="*/ 4 h 44"/>
                  <a:gd name="T18" fmla="*/ 4 w 56"/>
                  <a:gd name="T19" fmla="*/ 4 h 44"/>
                  <a:gd name="T20" fmla="*/ 0 w 56"/>
                  <a:gd name="T21" fmla="*/ 8 h 44"/>
                  <a:gd name="T22" fmla="*/ 0 w 56"/>
                  <a:gd name="T23" fmla="*/ 40 h 44"/>
                  <a:gd name="T24" fmla="*/ 4 w 56"/>
                  <a:gd name="T25" fmla="*/ 44 h 44"/>
                  <a:gd name="T26" fmla="*/ 52 w 56"/>
                  <a:gd name="T27" fmla="*/ 44 h 44"/>
                  <a:gd name="T28" fmla="*/ 56 w 56"/>
                  <a:gd name="T29" fmla="*/ 40 h 44"/>
                  <a:gd name="T30" fmla="*/ 56 w 56"/>
                  <a:gd name="T31" fmla="*/ 8 h 44"/>
                  <a:gd name="T32" fmla="*/ 52 w 56"/>
                  <a:gd name="T33" fmla="*/ 4 h 44"/>
                  <a:gd name="T34" fmla="*/ 10 w 56"/>
                  <a:gd name="T35" fmla="*/ 17 h 44"/>
                  <a:gd name="T36" fmla="*/ 7 w 56"/>
                  <a:gd name="T37" fmla="*/ 15 h 44"/>
                  <a:gd name="T38" fmla="*/ 10 w 56"/>
                  <a:gd name="T39" fmla="*/ 12 h 44"/>
                  <a:gd name="T40" fmla="*/ 12 w 56"/>
                  <a:gd name="T41" fmla="*/ 15 h 44"/>
                  <a:gd name="T42" fmla="*/ 10 w 56"/>
                  <a:gd name="T43" fmla="*/ 17 h 44"/>
                  <a:gd name="T44" fmla="*/ 33 w 56"/>
                  <a:gd name="T45" fmla="*/ 40 h 44"/>
                  <a:gd name="T46" fmla="*/ 18 w 56"/>
                  <a:gd name="T47" fmla="*/ 24 h 44"/>
                  <a:gd name="T48" fmla="*/ 33 w 56"/>
                  <a:gd name="T49" fmla="*/ 9 h 44"/>
                  <a:gd name="T50" fmla="*/ 48 w 56"/>
                  <a:gd name="T51" fmla="*/ 24 h 44"/>
                  <a:gd name="T52" fmla="*/ 33 w 56"/>
                  <a:gd name="T53" fmla="*/ 4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6" h="44">
                    <a:moveTo>
                      <a:pt x="52" y="4"/>
                    </a:moveTo>
                    <a:cubicBezTo>
                      <a:pt x="48" y="4"/>
                      <a:pt x="48" y="4"/>
                      <a:pt x="48" y="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2"/>
                      <a:pt x="8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4" y="44"/>
                      <a:pt x="56" y="42"/>
                      <a:pt x="56" y="40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6"/>
                      <a:pt x="54" y="4"/>
                      <a:pt x="52" y="4"/>
                    </a:cubicBezTo>
                    <a:close/>
                    <a:moveTo>
                      <a:pt x="10" y="17"/>
                    </a:moveTo>
                    <a:cubicBezTo>
                      <a:pt x="8" y="17"/>
                      <a:pt x="7" y="16"/>
                      <a:pt x="7" y="15"/>
                    </a:cubicBezTo>
                    <a:cubicBezTo>
                      <a:pt x="7" y="13"/>
                      <a:pt x="8" y="12"/>
                      <a:pt x="10" y="12"/>
                    </a:cubicBezTo>
                    <a:cubicBezTo>
                      <a:pt x="11" y="12"/>
                      <a:pt x="12" y="13"/>
                      <a:pt x="12" y="15"/>
                    </a:cubicBezTo>
                    <a:cubicBezTo>
                      <a:pt x="12" y="16"/>
                      <a:pt x="11" y="17"/>
                      <a:pt x="10" y="17"/>
                    </a:cubicBezTo>
                    <a:close/>
                    <a:moveTo>
                      <a:pt x="33" y="40"/>
                    </a:moveTo>
                    <a:cubicBezTo>
                      <a:pt x="25" y="40"/>
                      <a:pt x="18" y="33"/>
                      <a:pt x="18" y="24"/>
                    </a:cubicBezTo>
                    <a:cubicBezTo>
                      <a:pt x="18" y="16"/>
                      <a:pt x="25" y="9"/>
                      <a:pt x="33" y="9"/>
                    </a:cubicBezTo>
                    <a:cubicBezTo>
                      <a:pt x="41" y="9"/>
                      <a:pt x="48" y="16"/>
                      <a:pt x="48" y="24"/>
                    </a:cubicBezTo>
                    <a:cubicBezTo>
                      <a:pt x="48" y="33"/>
                      <a:pt x="41" y="40"/>
                      <a:pt x="33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59" name="Group 155"/>
            <p:cNvGrpSpPr/>
            <p:nvPr/>
          </p:nvGrpSpPr>
          <p:grpSpPr>
            <a:xfrm>
              <a:off x="2386678" y="1810984"/>
              <a:ext cx="327063" cy="327063"/>
              <a:chOff x="5497513" y="3068638"/>
              <a:chExt cx="239713" cy="239713"/>
            </a:xfrm>
            <a:solidFill>
              <a:srgbClr val="DDDBDB"/>
            </a:solidFill>
          </p:grpSpPr>
          <p:sp>
            <p:nvSpPr>
              <p:cNvPr id="114" name="Freeform 367"/>
              <p:cNvSpPr>
                <a:spLocks/>
              </p:cNvSpPr>
              <p:nvPr/>
            </p:nvSpPr>
            <p:spPr bwMode="auto">
              <a:xfrm>
                <a:off x="5572126" y="3162301"/>
                <a:ext cx="96838" cy="98425"/>
              </a:xfrm>
              <a:custGeom>
                <a:avLst/>
                <a:gdLst>
                  <a:gd name="T0" fmla="*/ 4 w 26"/>
                  <a:gd name="T1" fmla="*/ 25 h 26"/>
                  <a:gd name="T2" fmla="*/ 24 w 26"/>
                  <a:gd name="T3" fmla="*/ 15 h 26"/>
                  <a:gd name="T4" fmla="*/ 24 w 26"/>
                  <a:gd name="T5" fmla="*/ 11 h 26"/>
                  <a:gd name="T6" fmla="*/ 4 w 26"/>
                  <a:gd name="T7" fmla="*/ 1 h 26"/>
                  <a:gd name="T8" fmla="*/ 0 w 26"/>
                  <a:gd name="T9" fmla="*/ 3 h 26"/>
                  <a:gd name="T10" fmla="*/ 0 w 26"/>
                  <a:gd name="T11" fmla="*/ 23 h 26"/>
                  <a:gd name="T12" fmla="*/ 4 w 26"/>
                  <a:gd name="T13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6">
                    <a:moveTo>
                      <a:pt x="4" y="25"/>
                    </a:moveTo>
                    <a:cubicBezTo>
                      <a:pt x="24" y="15"/>
                      <a:pt x="24" y="15"/>
                      <a:pt x="24" y="15"/>
                    </a:cubicBezTo>
                    <a:cubicBezTo>
                      <a:pt x="26" y="14"/>
                      <a:pt x="26" y="12"/>
                      <a:pt x="24" y="1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5"/>
                      <a:pt x="2" y="26"/>
                      <a:pt x="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15" name="Freeform 368"/>
              <p:cNvSpPr>
                <a:spLocks noEditPoints="1"/>
              </p:cNvSpPr>
              <p:nvPr/>
            </p:nvSpPr>
            <p:spPr bwMode="auto">
              <a:xfrm>
                <a:off x="5497513" y="3068638"/>
                <a:ext cx="239713" cy="239713"/>
              </a:xfrm>
              <a:custGeom>
                <a:avLst/>
                <a:gdLst>
                  <a:gd name="T0" fmla="*/ 58 w 64"/>
                  <a:gd name="T1" fmla="*/ 0 h 64"/>
                  <a:gd name="T2" fmla="*/ 6 w 64"/>
                  <a:gd name="T3" fmla="*/ 0 h 64"/>
                  <a:gd name="T4" fmla="*/ 0 w 64"/>
                  <a:gd name="T5" fmla="*/ 6 h 64"/>
                  <a:gd name="T6" fmla="*/ 0 w 64"/>
                  <a:gd name="T7" fmla="*/ 58 h 64"/>
                  <a:gd name="T8" fmla="*/ 6 w 64"/>
                  <a:gd name="T9" fmla="*/ 64 h 64"/>
                  <a:gd name="T10" fmla="*/ 58 w 64"/>
                  <a:gd name="T11" fmla="*/ 64 h 64"/>
                  <a:gd name="T12" fmla="*/ 64 w 64"/>
                  <a:gd name="T13" fmla="*/ 58 h 64"/>
                  <a:gd name="T14" fmla="*/ 64 w 64"/>
                  <a:gd name="T15" fmla="*/ 6 h 64"/>
                  <a:gd name="T16" fmla="*/ 58 w 64"/>
                  <a:gd name="T17" fmla="*/ 0 h 64"/>
                  <a:gd name="T18" fmla="*/ 40 w 64"/>
                  <a:gd name="T19" fmla="*/ 4 h 64"/>
                  <a:gd name="T20" fmla="*/ 44 w 64"/>
                  <a:gd name="T21" fmla="*/ 12 h 64"/>
                  <a:gd name="T22" fmla="*/ 36 w 64"/>
                  <a:gd name="T23" fmla="*/ 12 h 64"/>
                  <a:gd name="T24" fmla="*/ 32 w 64"/>
                  <a:gd name="T25" fmla="*/ 4 h 64"/>
                  <a:gd name="T26" fmla="*/ 40 w 64"/>
                  <a:gd name="T27" fmla="*/ 4 h 64"/>
                  <a:gd name="T28" fmla="*/ 24 w 64"/>
                  <a:gd name="T29" fmla="*/ 4 h 64"/>
                  <a:gd name="T30" fmla="*/ 28 w 64"/>
                  <a:gd name="T31" fmla="*/ 12 h 64"/>
                  <a:gd name="T32" fmla="*/ 20 w 64"/>
                  <a:gd name="T33" fmla="*/ 12 h 64"/>
                  <a:gd name="T34" fmla="*/ 16 w 64"/>
                  <a:gd name="T35" fmla="*/ 4 h 64"/>
                  <a:gd name="T36" fmla="*/ 24 w 64"/>
                  <a:gd name="T37" fmla="*/ 4 h 64"/>
                  <a:gd name="T38" fmla="*/ 4 w 64"/>
                  <a:gd name="T39" fmla="*/ 6 h 64"/>
                  <a:gd name="T40" fmla="*/ 6 w 64"/>
                  <a:gd name="T41" fmla="*/ 4 h 64"/>
                  <a:gd name="T42" fmla="*/ 8 w 64"/>
                  <a:gd name="T43" fmla="*/ 4 h 64"/>
                  <a:gd name="T44" fmla="*/ 12 w 64"/>
                  <a:gd name="T45" fmla="*/ 12 h 64"/>
                  <a:gd name="T46" fmla="*/ 4 w 64"/>
                  <a:gd name="T47" fmla="*/ 12 h 64"/>
                  <a:gd name="T48" fmla="*/ 4 w 64"/>
                  <a:gd name="T49" fmla="*/ 6 h 64"/>
                  <a:gd name="T50" fmla="*/ 60 w 64"/>
                  <a:gd name="T51" fmla="*/ 58 h 64"/>
                  <a:gd name="T52" fmla="*/ 58 w 64"/>
                  <a:gd name="T53" fmla="*/ 60 h 64"/>
                  <a:gd name="T54" fmla="*/ 6 w 64"/>
                  <a:gd name="T55" fmla="*/ 60 h 64"/>
                  <a:gd name="T56" fmla="*/ 4 w 64"/>
                  <a:gd name="T57" fmla="*/ 58 h 64"/>
                  <a:gd name="T58" fmla="*/ 4 w 64"/>
                  <a:gd name="T59" fmla="*/ 16 h 64"/>
                  <a:gd name="T60" fmla="*/ 60 w 64"/>
                  <a:gd name="T61" fmla="*/ 16 h 64"/>
                  <a:gd name="T62" fmla="*/ 60 w 64"/>
                  <a:gd name="T63" fmla="*/ 58 h 64"/>
                  <a:gd name="T64" fmla="*/ 52 w 64"/>
                  <a:gd name="T65" fmla="*/ 12 h 64"/>
                  <a:gd name="T66" fmla="*/ 48 w 64"/>
                  <a:gd name="T67" fmla="*/ 4 h 64"/>
                  <a:gd name="T68" fmla="*/ 56 w 64"/>
                  <a:gd name="T69" fmla="*/ 4 h 64"/>
                  <a:gd name="T70" fmla="*/ 60 w 64"/>
                  <a:gd name="T71" fmla="*/ 12 h 64"/>
                  <a:gd name="T72" fmla="*/ 52 w 64"/>
                  <a:gd name="T73" fmla="*/ 1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4" h="64">
                    <a:moveTo>
                      <a:pt x="5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1"/>
                      <a:pt x="3" y="64"/>
                      <a:pt x="6" y="64"/>
                    </a:cubicBezTo>
                    <a:cubicBezTo>
                      <a:pt x="58" y="64"/>
                      <a:pt x="58" y="64"/>
                      <a:pt x="58" y="64"/>
                    </a:cubicBezTo>
                    <a:cubicBezTo>
                      <a:pt x="61" y="64"/>
                      <a:pt x="64" y="61"/>
                      <a:pt x="64" y="58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64" y="3"/>
                      <a:pt x="61" y="0"/>
                      <a:pt x="58" y="0"/>
                    </a:cubicBezTo>
                    <a:close/>
                    <a:moveTo>
                      <a:pt x="40" y="4"/>
                    </a:moveTo>
                    <a:cubicBezTo>
                      <a:pt x="44" y="12"/>
                      <a:pt x="44" y="12"/>
                      <a:pt x="44" y="1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2" y="4"/>
                      <a:pt x="32" y="4"/>
                      <a:pt x="32" y="4"/>
                    </a:cubicBezTo>
                    <a:lnTo>
                      <a:pt x="40" y="4"/>
                    </a:lnTo>
                    <a:close/>
                    <a:moveTo>
                      <a:pt x="24" y="4"/>
                    </a:moveTo>
                    <a:cubicBezTo>
                      <a:pt x="28" y="12"/>
                      <a:pt x="28" y="12"/>
                      <a:pt x="2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24" y="4"/>
                    </a:lnTo>
                    <a:close/>
                    <a:moveTo>
                      <a:pt x="4" y="6"/>
                    </a:moveTo>
                    <a:cubicBezTo>
                      <a:pt x="4" y="5"/>
                      <a:pt x="5" y="4"/>
                      <a:pt x="6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4" y="12"/>
                      <a:pt x="4" y="12"/>
                      <a:pt x="4" y="12"/>
                    </a:cubicBezTo>
                    <a:lnTo>
                      <a:pt x="4" y="6"/>
                    </a:lnTo>
                    <a:close/>
                    <a:moveTo>
                      <a:pt x="60" y="58"/>
                    </a:moveTo>
                    <a:cubicBezTo>
                      <a:pt x="60" y="59"/>
                      <a:pt x="59" y="60"/>
                      <a:pt x="58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5" y="60"/>
                      <a:pt x="4" y="59"/>
                      <a:pt x="4" y="58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60" y="16"/>
                      <a:pt x="60" y="16"/>
                      <a:pt x="60" y="16"/>
                    </a:cubicBezTo>
                    <a:lnTo>
                      <a:pt x="60" y="58"/>
                    </a:lnTo>
                    <a:close/>
                    <a:moveTo>
                      <a:pt x="52" y="12"/>
                    </a:moveTo>
                    <a:cubicBezTo>
                      <a:pt x="48" y="4"/>
                      <a:pt x="48" y="4"/>
                      <a:pt x="48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60" y="12"/>
                      <a:pt x="60" y="12"/>
                      <a:pt x="60" y="12"/>
                    </a:cubicBezTo>
                    <a:lnTo>
                      <a:pt x="5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0" name="Group 158"/>
            <p:cNvGrpSpPr/>
            <p:nvPr/>
          </p:nvGrpSpPr>
          <p:grpSpPr>
            <a:xfrm>
              <a:off x="2430223" y="3192655"/>
              <a:ext cx="447948" cy="391585"/>
              <a:chOff x="9344026" y="4030663"/>
              <a:chExt cx="239713" cy="209551"/>
            </a:xfrm>
            <a:solidFill>
              <a:srgbClr val="DDDBDB"/>
            </a:solidFill>
          </p:grpSpPr>
          <p:sp>
            <p:nvSpPr>
              <p:cNvPr id="112" name="Freeform 173"/>
              <p:cNvSpPr>
                <a:spLocks/>
              </p:cNvSpPr>
              <p:nvPr/>
            </p:nvSpPr>
            <p:spPr bwMode="auto">
              <a:xfrm>
                <a:off x="9344026" y="4030663"/>
                <a:ext cx="239713" cy="179388"/>
              </a:xfrm>
              <a:custGeom>
                <a:avLst/>
                <a:gdLst>
                  <a:gd name="T0" fmla="*/ 56 w 64"/>
                  <a:gd name="T1" fmla="*/ 18 h 48"/>
                  <a:gd name="T2" fmla="*/ 56 w 64"/>
                  <a:gd name="T3" fmla="*/ 18 h 48"/>
                  <a:gd name="T4" fmla="*/ 38 w 64"/>
                  <a:gd name="T5" fmla="*/ 0 h 48"/>
                  <a:gd name="T6" fmla="*/ 22 w 64"/>
                  <a:gd name="T7" fmla="*/ 9 h 48"/>
                  <a:gd name="T8" fmla="*/ 18 w 64"/>
                  <a:gd name="T9" fmla="*/ 8 h 48"/>
                  <a:gd name="T10" fmla="*/ 8 w 64"/>
                  <a:gd name="T11" fmla="*/ 18 h 48"/>
                  <a:gd name="T12" fmla="*/ 8 w 64"/>
                  <a:gd name="T13" fmla="*/ 18 h 48"/>
                  <a:gd name="T14" fmla="*/ 0 w 64"/>
                  <a:gd name="T15" fmla="*/ 32 h 48"/>
                  <a:gd name="T16" fmla="*/ 16 w 64"/>
                  <a:gd name="T17" fmla="*/ 48 h 48"/>
                  <a:gd name="T18" fmla="*/ 20 w 64"/>
                  <a:gd name="T19" fmla="*/ 48 h 48"/>
                  <a:gd name="T20" fmla="*/ 20 w 64"/>
                  <a:gd name="T21" fmla="*/ 44 h 48"/>
                  <a:gd name="T22" fmla="*/ 16 w 64"/>
                  <a:gd name="T23" fmla="*/ 44 h 48"/>
                  <a:gd name="T24" fmla="*/ 4 w 64"/>
                  <a:gd name="T25" fmla="*/ 32 h 48"/>
                  <a:gd name="T26" fmla="*/ 10 w 64"/>
                  <a:gd name="T27" fmla="*/ 22 h 48"/>
                  <a:gd name="T28" fmla="*/ 12 w 64"/>
                  <a:gd name="T29" fmla="*/ 21 h 48"/>
                  <a:gd name="T30" fmla="*/ 12 w 64"/>
                  <a:gd name="T31" fmla="*/ 18 h 48"/>
                  <a:gd name="T32" fmla="*/ 12 w 64"/>
                  <a:gd name="T33" fmla="*/ 18 h 48"/>
                  <a:gd name="T34" fmla="*/ 18 w 64"/>
                  <a:gd name="T35" fmla="*/ 12 h 48"/>
                  <a:gd name="T36" fmla="*/ 21 w 64"/>
                  <a:gd name="T37" fmla="*/ 13 h 48"/>
                  <a:gd name="T38" fmla="*/ 24 w 64"/>
                  <a:gd name="T39" fmla="*/ 14 h 48"/>
                  <a:gd name="T40" fmla="*/ 26 w 64"/>
                  <a:gd name="T41" fmla="*/ 11 h 48"/>
                  <a:gd name="T42" fmla="*/ 38 w 64"/>
                  <a:gd name="T43" fmla="*/ 4 h 48"/>
                  <a:gd name="T44" fmla="*/ 52 w 64"/>
                  <a:gd name="T45" fmla="*/ 18 h 48"/>
                  <a:gd name="T46" fmla="*/ 52 w 64"/>
                  <a:gd name="T47" fmla="*/ 18 h 48"/>
                  <a:gd name="T48" fmla="*/ 52 w 64"/>
                  <a:gd name="T49" fmla="*/ 21 h 48"/>
                  <a:gd name="T50" fmla="*/ 54 w 64"/>
                  <a:gd name="T51" fmla="*/ 22 h 48"/>
                  <a:gd name="T52" fmla="*/ 60 w 64"/>
                  <a:gd name="T53" fmla="*/ 32 h 48"/>
                  <a:gd name="T54" fmla="*/ 48 w 64"/>
                  <a:gd name="T55" fmla="*/ 44 h 48"/>
                  <a:gd name="T56" fmla="*/ 44 w 64"/>
                  <a:gd name="T57" fmla="*/ 44 h 48"/>
                  <a:gd name="T58" fmla="*/ 44 w 64"/>
                  <a:gd name="T59" fmla="*/ 48 h 48"/>
                  <a:gd name="T60" fmla="*/ 48 w 64"/>
                  <a:gd name="T61" fmla="*/ 48 h 48"/>
                  <a:gd name="T62" fmla="*/ 64 w 64"/>
                  <a:gd name="T63" fmla="*/ 32 h 48"/>
                  <a:gd name="T64" fmla="*/ 56 w 64"/>
                  <a:gd name="T6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4" h="48">
                    <a:moveTo>
                      <a:pt x="56" y="18"/>
                    </a:move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8"/>
                      <a:pt x="48" y="0"/>
                      <a:pt x="38" y="0"/>
                    </a:cubicBezTo>
                    <a:cubicBezTo>
                      <a:pt x="31" y="0"/>
                      <a:pt x="26" y="4"/>
                      <a:pt x="22" y="9"/>
                    </a:cubicBezTo>
                    <a:cubicBezTo>
                      <a:pt x="21" y="8"/>
                      <a:pt x="20" y="8"/>
                      <a:pt x="18" y="8"/>
                    </a:cubicBezTo>
                    <a:cubicBezTo>
                      <a:pt x="12" y="8"/>
                      <a:pt x="8" y="12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3" y="21"/>
                      <a:pt x="0" y="26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9" y="44"/>
                      <a:pt x="4" y="39"/>
                      <a:pt x="4" y="32"/>
                    </a:cubicBezTo>
                    <a:cubicBezTo>
                      <a:pt x="4" y="28"/>
                      <a:pt x="6" y="24"/>
                      <a:pt x="10" y="22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5"/>
                      <a:pt x="15" y="12"/>
                      <a:pt x="18" y="12"/>
                    </a:cubicBezTo>
                    <a:cubicBezTo>
                      <a:pt x="19" y="12"/>
                      <a:pt x="20" y="12"/>
                      <a:pt x="21" y="1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8" y="7"/>
                      <a:pt x="33" y="4"/>
                      <a:pt x="38" y="4"/>
                    </a:cubicBezTo>
                    <a:cubicBezTo>
                      <a:pt x="46" y="4"/>
                      <a:pt x="52" y="10"/>
                      <a:pt x="52" y="18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8" y="24"/>
                      <a:pt x="60" y="28"/>
                      <a:pt x="60" y="32"/>
                    </a:cubicBezTo>
                    <a:cubicBezTo>
                      <a:pt x="60" y="39"/>
                      <a:pt x="55" y="44"/>
                      <a:pt x="48" y="44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57" y="48"/>
                      <a:pt x="64" y="41"/>
                      <a:pt x="64" y="32"/>
                    </a:cubicBezTo>
                    <a:cubicBezTo>
                      <a:pt x="64" y="26"/>
                      <a:pt x="61" y="21"/>
                      <a:pt x="5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13" name="Freeform 174"/>
              <p:cNvSpPr>
                <a:spLocks/>
              </p:cNvSpPr>
              <p:nvPr/>
            </p:nvSpPr>
            <p:spPr bwMode="auto">
              <a:xfrm>
                <a:off x="9418638" y="4105276"/>
                <a:ext cx="90488" cy="134938"/>
              </a:xfrm>
              <a:custGeom>
                <a:avLst/>
                <a:gdLst>
                  <a:gd name="T0" fmla="*/ 28 w 57"/>
                  <a:gd name="T1" fmla="*/ 0 h 85"/>
                  <a:gd name="T2" fmla="*/ 0 w 57"/>
                  <a:gd name="T3" fmla="*/ 38 h 85"/>
                  <a:gd name="T4" fmla="*/ 19 w 57"/>
                  <a:gd name="T5" fmla="*/ 38 h 85"/>
                  <a:gd name="T6" fmla="*/ 19 w 57"/>
                  <a:gd name="T7" fmla="*/ 85 h 85"/>
                  <a:gd name="T8" fmla="*/ 38 w 57"/>
                  <a:gd name="T9" fmla="*/ 85 h 85"/>
                  <a:gd name="T10" fmla="*/ 38 w 57"/>
                  <a:gd name="T11" fmla="*/ 38 h 85"/>
                  <a:gd name="T12" fmla="*/ 57 w 57"/>
                  <a:gd name="T13" fmla="*/ 38 h 85"/>
                  <a:gd name="T14" fmla="*/ 28 w 5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5">
                    <a:moveTo>
                      <a:pt x="28" y="0"/>
                    </a:moveTo>
                    <a:lnTo>
                      <a:pt x="0" y="38"/>
                    </a:lnTo>
                    <a:lnTo>
                      <a:pt x="19" y="38"/>
                    </a:lnTo>
                    <a:lnTo>
                      <a:pt x="19" y="85"/>
                    </a:lnTo>
                    <a:lnTo>
                      <a:pt x="38" y="85"/>
                    </a:lnTo>
                    <a:lnTo>
                      <a:pt x="38" y="38"/>
                    </a:lnTo>
                    <a:lnTo>
                      <a:pt x="57" y="38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1" name="Group 161"/>
            <p:cNvGrpSpPr/>
            <p:nvPr/>
          </p:nvGrpSpPr>
          <p:grpSpPr>
            <a:xfrm>
              <a:off x="2252070" y="2197004"/>
              <a:ext cx="538303" cy="470570"/>
              <a:chOff x="8863013" y="4030663"/>
              <a:chExt cx="239713" cy="209551"/>
            </a:xfrm>
            <a:solidFill>
              <a:srgbClr val="DDDBDB"/>
            </a:solidFill>
          </p:grpSpPr>
          <p:sp>
            <p:nvSpPr>
              <p:cNvPr id="110" name="Freeform 175"/>
              <p:cNvSpPr>
                <a:spLocks/>
              </p:cNvSpPr>
              <p:nvPr/>
            </p:nvSpPr>
            <p:spPr bwMode="auto">
              <a:xfrm>
                <a:off x="8937626" y="4105276"/>
                <a:ext cx="90488" cy="134938"/>
              </a:xfrm>
              <a:custGeom>
                <a:avLst/>
                <a:gdLst>
                  <a:gd name="T0" fmla="*/ 38 w 57"/>
                  <a:gd name="T1" fmla="*/ 0 h 85"/>
                  <a:gd name="T2" fmla="*/ 19 w 57"/>
                  <a:gd name="T3" fmla="*/ 0 h 85"/>
                  <a:gd name="T4" fmla="*/ 19 w 57"/>
                  <a:gd name="T5" fmla="*/ 47 h 85"/>
                  <a:gd name="T6" fmla="*/ 0 w 57"/>
                  <a:gd name="T7" fmla="*/ 47 h 85"/>
                  <a:gd name="T8" fmla="*/ 28 w 57"/>
                  <a:gd name="T9" fmla="*/ 85 h 85"/>
                  <a:gd name="T10" fmla="*/ 57 w 57"/>
                  <a:gd name="T11" fmla="*/ 47 h 85"/>
                  <a:gd name="T12" fmla="*/ 38 w 57"/>
                  <a:gd name="T13" fmla="*/ 47 h 85"/>
                  <a:gd name="T14" fmla="*/ 38 w 5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5">
                    <a:moveTo>
                      <a:pt x="38" y="0"/>
                    </a:moveTo>
                    <a:lnTo>
                      <a:pt x="19" y="0"/>
                    </a:lnTo>
                    <a:lnTo>
                      <a:pt x="19" y="47"/>
                    </a:lnTo>
                    <a:lnTo>
                      <a:pt x="0" y="47"/>
                    </a:lnTo>
                    <a:lnTo>
                      <a:pt x="28" y="85"/>
                    </a:lnTo>
                    <a:lnTo>
                      <a:pt x="57" y="47"/>
                    </a:lnTo>
                    <a:lnTo>
                      <a:pt x="38" y="47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11" name="Freeform 176"/>
              <p:cNvSpPr>
                <a:spLocks/>
              </p:cNvSpPr>
              <p:nvPr/>
            </p:nvSpPr>
            <p:spPr bwMode="auto">
              <a:xfrm>
                <a:off x="8863013" y="4030663"/>
                <a:ext cx="239713" cy="179388"/>
              </a:xfrm>
              <a:custGeom>
                <a:avLst/>
                <a:gdLst>
                  <a:gd name="T0" fmla="*/ 56 w 64"/>
                  <a:gd name="T1" fmla="*/ 18 h 48"/>
                  <a:gd name="T2" fmla="*/ 56 w 64"/>
                  <a:gd name="T3" fmla="*/ 18 h 48"/>
                  <a:gd name="T4" fmla="*/ 38 w 64"/>
                  <a:gd name="T5" fmla="*/ 0 h 48"/>
                  <a:gd name="T6" fmla="*/ 22 w 64"/>
                  <a:gd name="T7" fmla="*/ 9 h 48"/>
                  <a:gd name="T8" fmla="*/ 18 w 64"/>
                  <a:gd name="T9" fmla="*/ 8 h 48"/>
                  <a:gd name="T10" fmla="*/ 8 w 64"/>
                  <a:gd name="T11" fmla="*/ 18 h 48"/>
                  <a:gd name="T12" fmla="*/ 8 w 64"/>
                  <a:gd name="T13" fmla="*/ 18 h 48"/>
                  <a:gd name="T14" fmla="*/ 0 w 64"/>
                  <a:gd name="T15" fmla="*/ 32 h 48"/>
                  <a:gd name="T16" fmla="*/ 16 w 64"/>
                  <a:gd name="T17" fmla="*/ 48 h 48"/>
                  <a:gd name="T18" fmla="*/ 16 w 64"/>
                  <a:gd name="T19" fmla="*/ 44 h 48"/>
                  <a:gd name="T20" fmla="*/ 4 w 64"/>
                  <a:gd name="T21" fmla="*/ 32 h 48"/>
                  <a:gd name="T22" fmla="*/ 10 w 64"/>
                  <a:gd name="T23" fmla="*/ 22 h 48"/>
                  <a:gd name="T24" fmla="*/ 12 w 64"/>
                  <a:gd name="T25" fmla="*/ 21 h 48"/>
                  <a:gd name="T26" fmla="*/ 12 w 64"/>
                  <a:gd name="T27" fmla="*/ 18 h 48"/>
                  <a:gd name="T28" fmla="*/ 12 w 64"/>
                  <a:gd name="T29" fmla="*/ 18 h 48"/>
                  <a:gd name="T30" fmla="*/ 18 w 64"/>
                  <a:gd name="T31" fmla="*/ 12 h 48"/>
                  <a:gd name="T32" fmla="*/ 21 w 64"/>
                  <a:gd name="T33" fmla="*/ 13 h 48"/>
                  <a:gd name="T34" fmla="*/ 24 w 64"/>
                  <a:gd name="T35" fmla="*/ 14 h 48"/>
                  <a:gd name="T36" fmla="*/ 26 w 64"/>
                  <a:gd name="T37" fmla="*/ 11 h 48"/>
                  <a:gd name="T38" fmla="*/ 38 w 64"/>
                  <a:gd name="T39" fmla="*/ 4 h 48"/>
                  <a:gd name="T40" fmla="*/ 52 w 64"/>
                  <a:gd name="T41" fmla="*/ 18 h 48"/>
                  <a:gd name="T42" fmla="*/ 52 w 64"/>
                  <a:gd name="T43" fmla="*/ 18 h 48"/>
                  <a:gd name="T44" fmla="*/ 52 w 64"/>
                  <a:gd name="T45" fmla="*/ 21 h 48"/>
                  <a:gd name="T46" fmla="*/ 54 w 64"/>
                  <a:gd name="T47" fmla="*/ 22 h 48"/>
                  <a:gd name="T48" fmla="*/ 60 w 64"/>
                  <a:gd name="T49" fmla="*/ 32 h 48"/>
                  <a:gd name="T50" fmla="*/ 48 w 64"/>
                  <a:gd name="T51" fmla="*/ 44 h 48"/>
                  <a:gd name="T52" fmla="*/ 48 w 64"/>
                  <a:gd name="T53" fmla="*/ 48 h 48"/>
                  <a:gd name="T54" fmla="*/ 64 w 64"/>
                  <a:gd name="T55" fmla="*/ 32 h 48"/>
                  <a:gd name="T56" fmla="*/ 56 w 64"/>
                  <a:gd name="T57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4" h="48">
                    <a:moveTo>
                      <a:pt x="56" y="18"/>
                    </a:move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8"/>
                      <a:pt x="48" y="0"/>
                      <a:pt x="38" y="0"/>
                    </a:cubicBezTo>
                    <a:cubicBezTo>
                      <a:pt x="31" y="0"/>
                      <a:pt x="26" y="4"/>
                      <a:pt x="22" y="9"/>
                    </a:cubicBezTo>
                    <a:cubicBezTo>
                      <a:pt x="21" y="8"/>
                      <a:pt x="20" y="8"/>
                      <a:pt x="18" y="8"/>
                    </a:cubicBezTo>
                    <a:cubicBezTo>
                      <a:pt x="12" y="8"/>
                      <a:pt x="8" y="12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3" y="21"/>
                      <a:pt x="0" y="26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9" y="44"/>
                      <a:pt x="4" y="39"/>
                      <a:pt x="4" y="32"/>
                    </a:cubicBezTo>
                    <a:cubicBezTo>
                      <a:pt x="4" y="28"/>
                      <a:pt x="6" y="24"/>
                      <a:pt x="10" y="22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5"/>
                      <a:pt x="15" y="12"/>
                      <a:pt x="18" y="12"/>
                    </a:cubicBezTo>
                    <a:cubicBezTo>
                      <a:pt x="19" y="12"/>
                      <a:pt x="20" y="12"/>
                      <a:pt x="21" y="1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8" y="7"/>
                      <a:pt x="33" y="4"/>
                      <a:pt x="38" y="4"/>
                    </a:cubicBezTo>
                    <a:cubicBezTo>
                      <a:pt x="46" y="4"/>
                      <a:pt x="52" y="10"/>
                      <a:pt x="52" y="18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8" y="24"/>
                      <a:pt x="60" y="28"/>
                      <a:pt x="60" y="32"/>
                    </a:cubicBezTo>
                    <a:cubicBezTo>
                      <a:pt x="60" y="39"/>
                      <a:pt x="55" y="44"/>
                      <a:pt x="48" y="44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57" y="48"/>
                      <a:pt x="64" y="41"/>
                      <a:pt x="64" y="32"/>
                    </a:cubicBezTo>
                    <a:cubicBezTo>
                      <a:pt x="64" y="26"/>
                      <a:pt x="61" y="21"/>
                      <a:pt x="5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2" name="Group 164"/>
            <p:cNvGrpSpPr/>
            <p:nvPr/>
          </p:nvGrpSpPr>
          <p:grpSpPr>
            <a:xfrm>
              <a:off x="2817609" y="2400585"/>
              <a:ext cx="147546" cy="400485"/>
              <a:chOff x="4205288" y="2106613"/>
              <a:chExt cx="88900" cy="241301"/>
            </a:xfrm>
            <a:solidFill>
              <a:srgbClr val="DDDBDB"/>
            </a:solidFill>
          </p:grpSpPr>
          <p:sp>
            <p:nvSpPr>
              <p:cNvPr id="108" name="Oval 131"/>
              <p:cNvSpPr>
                <a:spLocks noChangeArrowheads="1"/>
              </p:cNvSpPr>
              <p:nvPr/>
            </p:nvSpPr>
            <p:spPr bwMode="auto">
              <a:xfrm>
                <a:off x="4227513" y="21066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9" name="Freeform 132"/>
              <p:cNvSpPr>
                <a:spLocks/>
              </p:cNvSpPr>
              <p:nvPr/>
            </p:nvSpPr>
            <p:spPr bwMode="auto">
              <a:xfrm>
                <a:off x="4205288" y="2171701"/>
                <a:ext cx="88900" cy="176213"/>
              </a:xfrm>
              <a:custGeom>
                <a:avLst/>
                <a:gdLst>
                  <a:gd name="T0" fmla="*/ 18 w 24"/>
                  <a:gd name="T1" fmla="*/ 0 h 47"/>
                  <a:gd name="T2" fmla="*/ 12 w 24"/>
                  <a:gd name="T3" fmla="*/ 11 h 47"/>
                  <a:gd name="T4" fmla="*/ 6 w 24"/>
                  <a:gd name="T5" fmla="*/ 0 h 47"/>
                  <a:gd name="T6" fmla="*/ 0 w 24"/>
                  <a:gd name="T7" fmla="*/ 2 h 47"/>
                  <a:gd name="T8" fmla="*/ 0 w 24"/>
                  <a:gd name="T9" fmla="*/ 23 h 47"/>
                  <a:gd name="T10" fmla="*/ 6 w 24"/>
                  <a:gd name="T11" fmla="*/ 23 h 47"/>
                  <a:gd name="T12" fmla="*/ 8 w 24"/>
                  <a:gd name="T13" fmla="*/ 47 h 47"/>
                  <a:gd name="T14" fmla="*/ 16 w 24"/>
                  <a:gd name="T15" fmla="*/ 47 h 47"/>
                  <a:gd name="T16" fmla="*/ 18 w 24"/>
                  <a:gd name="T17" fmla="*/ 23 h 47"/>
                  <a:gd name="T18" fmla="*/ 24 w 24"/>
                  <a:gd name="T19" fmla="*/ 23 h 47"/>
                  <a:gd name="T20" fmla="*/ 24 w 24"/>
                  <a:gd name="T21" fmla="*/ 2 h 47"/>
                  <a:gd name="T22" fmla="*/ 18 w 24"/>
                  <a:gd name="T2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47">
                    <a:moveTo>
                      <a:pt x="18" y="0"/>
                    </a:moveTo>
                    <a:cubicBezTo>
                      <a:pt x="12" y="11"/>
                      <a:pt x="12" y="11"/>
                      <a:pt x="12" y="1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2" y="1"/>
                      <a:pt x="0" y="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2" y="1"/>
                      <a:pt x="20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3" name="Group 154"/>
            <p:cNvGrpSpPr/>
            <p:nvPr/>
          </p:nvGrpSpPr>
          <p:grpSpPr>
            <a:xfrm>
              <a:off x="2308587" y="2700729"/>
              <a:ext cx="476031" cy="446180"/>
              <a:chOff x="4836122" y="1968640"/>
              <a:chExt cx="400024" cy="374940"/>
            </a:xfrm>
            <a:solidFill>
              <a:srgbClr val="DDDBDB"/>
            </a:solidFill>
          </p:grpSpPr>
          <p:sp>
            <p:nvSpPr>
              <p:cNvPr id="106" name="Freeform 111"/>
              <p:cNvSpPr>
                <a:spLocks noEditPoints="1"/>
              </p:cNvSpPr>
              <p:nvPr/>
            </p:nvSpPr>
            <p:spPr bwMode="auto">
              <a:xfrm>
                <a:off x="4886290" y="2018808"/>
                <a:ext cx="301008" cy="199352"/>
              </a:xfrm>
              <a:custGeom>
                <a:avLst/>
                <a:gdLst>
                  <a:gd name="T0" fmla="*/ 92 w 96"/>
                  <a:gd name="T1" fmla="*/ 0 h 64"/>
                  <a:gd name="T2" fmla="*/ 4 w 96"/>
                  <a:gd name="T3" fmla="*/ 0 h 64"/>
                  <a:gd name="T4" fmla="*/ 0 w 96"/>
                  <a:gd name="T5" fmla="*/ 4 h 64"/>
                  <a:gd name="T6" fmla="*/ 0 w 96"/>
                  <a:gd name="T7" fmla="*/ 60 h 64"/>
                  <a:gd name="T8" fmla="*/ 4 w 96"/>
                  <a:gd name="T9" fmla="*/ 64 h 64"/>
                  <a:gd name="T10" fmla="*/ 92 w 96"/>
                  <a:gd name="T11" fmla="*/ 64 h 64"/>
                  <a:gd name="T12" fmla="*/ 96 w 96"/>
                  <a:gd name="T13" fmla="*/ 60 h 64"/>
                  <a:gd name="T14" fmla="*/ 96 w 96"/>
                  <a:gd name="T15" fmla="*/ 4 h 64"/>
                  <a:gd name="T16" fmla="*/ 92 w 96"/>
                  <a:gd name="T17" fmla="*/ 0 h 64"/>
                  <a:gd name="T18" fmla="*/ 92 w 96"/>
                  <a:gd name="T19" fmla="*/ 60 h 64"/>
                  <a:gd name="T20" fmla="*/ 4 w 96"/>
                  <a:gd name="T21" fmla="*/ 60 h 64"/>
                  <a:gd name="T22" fmla="*/ 4 w 96"/>
                  <a:gd name="T23" fmla="*/ 4 h 64"/>
                  <a:gd name="T24" fmla="*/ 92 w 96"/>
                  <a:gd name="T25" fmla="*/ 4 h 64"/>
                  <a:gd name="T26" fmla="*/ 92 w 96"/>
                  <a:gd name="T27" fmla="*/ 6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4">
                    <a:moveTo>
                      <a:pt x="9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4"/>
                      <a:pt x="4" y="64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4" y="64"/>
                      <a:pt x="96" y="62"/>
                      <a:pt x="96" y="60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2"/>
                      <a:pt x="94" y="0"/>
                      <a:pt x="92" y="0"/>
                    </a:cubicBezTo>
                    <a:close/>
                    <a:moveTo>
                      <a:pt x="92" y="60"/>
                    </a:moveTo>
                    <a:cubicBezTo>
                      <a:pt x="4" y="60"/>
                      <a:pt x="4" y="60"/>
                      <a:pt x="4" y="6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92" y="4"/>
                      <a:pt x="92" y="4"/>
                      <a:pt x="92" y="4"/>
                    </a:cubicBezTo>
                    <a:lnTo>
                      <a:pt x="9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7" name="Freeform 112"/>
              <p:cNvSpPr>
                <a:spLocks noEditPoints="1"/>
              </p:cNvSpPr>
              <p:nvPr/>
            </p:nvSpPr>
            <p:spPr bwMode="auto">
              <a:xfrm>
                <a:off x="4836122" y="1968640"/>
                <a:ext cx="400024" cy="374940"/>
              </a:xfrm>
              <a:custGeom>
                <a:avLst/>
                <a:gdLst>
                  <a:gd name="T0" fmla="*/ 116 w 128"/>
                  <a:gd name="T1" fmla="*/ 0 h 120"/>
                  <a:gd name="T2" fmla="*/ 12 w 128"/>
                  <a:gd name="T3" fmla="*/ 0 h 120"/>
                  <a:gd name="T4" fmla="*/ 0 w 128"/>
                  <a:gd name="T5" fmla="*/ 12 h 120"/>
                  <a:gd name="T6" fmla="*/ 0 w 128"/>
                  <a:gd name="T7" fmla="*/ 92 h 120"/>
                  <a:gd name="T8" fmla="*/ 12 w 128"/>
                  <a:gd name="T9" fmla="*/ 104 h 120"/>
                  <a:gd name="T10" fmla="*/ 52 w 128"/>
                  <a:gd name="T11" fmla="*/ 104 h 120"/>
                  <a:gd name="T12" fmla="*/ 52 w 128"/>
                  <a:gd name="T13" fmla="*/ 109 h 120"/>
                  <a:gd name="T14" fmla="*/ 27 w 128"/>
                  <a:gd name="T15" fmla="*/ 112 h 120"/>
                  <a:gd name="T16" fmla="*/ 24 w 128"/>
                  <a:gd name="T17" fmla="*/ 116 h 120"/>
                  <a:gd name="T18" fmla="*/ 28 w 128"/>
                  <a:gd name="T19" fmla="*/ 120 h 120"/>
                  <a:gd name="T20" fmla="*/ 100 w 128"/>
                  <a:gd name="T21" fmla="*/ 120 h 120"/>
                  <a:gd name="T22" fmla="*/ 104 w 128"/>
                  <a:gd name="T23" fmla="*/ 116 h 120"/>
                  <a:gd name="T24" fmla="*/ 101 w 128"/>
                  <a:gd name="T25" fmla="*/ 112 h 120"/>
                  <a:gd name="T26" fmla="*/ 76 w 128"/>
                  <a:gd name="T27" fmla="*/ 109 h 120"/>
                  <a:gd name="T28" fmla="*/ 76 w 128"/>
                  <a:gd name="T29" fmla="*/ 104 h 120"/>
                  <a:gd name="T30" fmla="*/ 116 w 128"/>
                  <a:gd name="T31" fmla="*/ 104 h 120"/>
                  <a:gd name="T32" fmla="*/ 128 w 128"/>
                  <a:gd name="T33" fmla="*/ 92 h 120"/>
                  <a:gd name="T34" fmla="*/ 128 w 128"/>
                  <a:gd name="T35" fmla="*/ 12 h 120"/>
                  <a:gd name="T36" fmla="*/ 116 w 128"/>
                  <a:gd name="T37" fmla="*/ 0 h 120"/>
                  <a:gd name="T38" fmla="*/ 120 w 128"/>
                  <a:gd name="T39" fmla="*/ 92 h 120"/>
                  <a:gd name="T40" fmla="*/ 116 w 128"/>
                  <a:gd name="T41" fmla="*/ 96 h 120"/>
                  <a:gd name="T42" fmla="*/ 80 w 128"/>
                  <a:gd name="T43" fmla="*/ 96 h 120"/>
                  <a:gd name="T44" fmla="*/ 48 w 128"/>
                  <a:gd name="T45" fmla="*/ 96 h 120"/>
                  <a:gd name="T46" fmla="*/ 12 w 128"/>
                  <a:gd name="T47" fmla="*/ 96 h 120"/>
                  <a:gd name="T48" fmla="*/ 8 w 128"/>
                  <a:gd name="T49" fmla="*/ 92 h 120"/>
                  <a:gd name="T50" fmla="*/ 8 w 128"/>
                  <a:gd name="T51" fmla="*/ 12 h 120"/>
                  <a:gd name="T52" fmla="*/ 12 w 128"/>
                  <a:gd name="T53" fmla="*/ 8 h 120"/>
                  <a:gd name="T54" fmla="*/ 116 w 128"/>
                  <a:gd name="T55" fmla="*/ 8 h 120"/>
                  <a:gd name="T56" fmla="*/ 120 w 128"/>
                  <a:gd name="T57" fmla="*/ 12 h 120"/>
                  <a:gd name="T58" fmla="*/ 120 w 128"/>
                  <a:gd name="T59" fmla="*/ 92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8" h="120">
                    <a:moveTo>
                      <a:pt x="116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9"/>
                      <a:pt x="5" y="104"/>
                      <a:pt x="12" y="104"/>
                    </a:cubicBezTo>
                    <a:cubicBezTo>
                      <a:pt x="52" y="104"/>
                      <a:pt x="52" y="104"/>
                      <a:pt x="52" y="104"/>
                    </a:cubicBezTo>
                    <a:cubicBezTo>
                      <a:pt x="52" y="109"/>
                      <a:pt x="52" y="109"/>
                      <a:pt x="52" y="109"/>
                    </a:cubicBezTo>
                    <a:cubicBezTo>
                      <a:pt x="27" y="112"/>
                      <a:pt x="27" y="112"/>
                      <a:pt x="27" y="112"/>
                    </a:cubicBezTo>
                    <a:cubicBezTo>
                      <a:pt x="25" y="113"/>
                      <a:pt x="24" y="114"/>
                      <a:pt x="24" y="116"/>
                    </a:cubicBezTo>
                    <a:cubicBezTo>
                      <a:pt x="24" y="118"/>
                      <a:pt x="26" y="120"/>
                      <a:pt x="28" y="120"/>
                    </a:cubicBezTo>
                    <a:cubicBezTo>
                      <a:pt x="100" y="120"/>
                      <a:pt x="100" y="120"/>
                      <a:pt x="100" y="120"/>
                    </a:cubicBezTo>
                    <a:cubicBezTo>
                      <a:pt x="102" y="120"/>
                      <a:pt x="104" y="118"/>
                      <a:pt x="104" y="116"/>
                    </a:cubicBezTo>
                    <a:cubicBezTo>
                      <a:pt x="104" y="114"/>
                      <a:pt x="103" y="113"/>
                      <a:pt x="101" y="112"/>
                    </a:cubicBezTo>
                    <a:cubicBezTo>
                      <a:pt x="76" y="109"/>
                      <a:pt x="76" y="109"/>
                      <a:pt x="76" y="109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23" y="104"/>
                      <a:pt x="128" y="99"/>
                      <a:pt x="128" y="9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28" y="5"/>
                      <a:pt x="123" y="0"/>
                      <a:pt x="116" y="0"/>
                    </a:cubicBezTo>
                    <a:close/>
                    <a:moveTo>
                      <a:pt x="120" y="92"/>
                    </a:moveTo>
                    <a:cubicBezTo>
                      <a:pt x="120" y="94"/>
                      <a:pt x="118" y="96"/>
                      <a:pt x="116" y="96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12" y="96"/>
                      <a:pt x="12" y="96"/>
                      <a:pt x="12" y="96"/>
                    </a:cubicBezTo>
                    <a:cubicBezTo>
                      <a:pt x="10" y="96"/>
                      <a:pt x="8" y="94"/>
                      <a:pt x="8" y="9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16" y="8"/>
                      <a:pt x="116" y="8"/>
                      <a:pt x="116" y="8"/>
                    </a:cubicBezTo>
                    <a:cubicBezTo>
                      <a:pt x="118" y="8"/>
                      <a:pt x="120" y="10"/>
                      <a:pt x="120" y="12"/>
                    </a:cubicBezTo>
                    <a:lnTo>
                      <a:pt x="120" y="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4" name="Group 173"/>
            <p:cNvGrpSpPr/>
            <p:nvPr/>
          </p:nvGrpSpPr>
          <p:grpSpPr>
            <a:xfrm>
              <a:off x="2926243" y="3302054"/>
              <a:ext cx="280321" cy="245165"/>
              <a:chOff x="2437300" y="2768688"/>
              <a:chExt cx="400024" cy="349856"/>
            </a:xfrm>
            <a:solidFill>
              <a:srgbClr val="DDDBDB"/>
            </a:solidFill>
          </p:grpSpPr>
          <p:sp>
            <p:nvSpPr>
              <p:cNvPr id="104" name="Freeform 104"/>
              <p:cNvSpPr>
                <a:spLocks/>
              </p:cNvSpPr>
              <p:nvPr/>
            </p:nvSpPr>
            <p:spPr bwMode="auto">
              <a:xfrm>
                <a:off x="2499350" y="2830738"/>
                <a:ext cx="143903" cy="93735"/>
              </a:xfrm>
              <a:custGeom>
                <a:avLst/>
                <a:gdLst>
                  <a:gd name="T0" fmla="*/ 44 w 46"/>
                  <a:gd name="T1" fmla="*/ 0 h 30"/>
                  <a:gd name="T2" fmla="*/ 0 w 46"/>
                  <a:gd name="T3" fmla="*/ 28 h 30"/>
                  <a:gd name="T4" fmla="*/ 2 w 46"/>
                  <a:gd name="T5" fmla="*/ 30 h 30"/>
                  <a:gd name="T6" fmla="*/ 4 w 46"/>
                  <a:gd name="T7" fmla="*/ 28 h 30"/>
                  <a:gd name="T8" fmla="*/ 44 w 46"/>
                  <a:gd name="T9" fmla="*/ 4 h 30"/>
                  <a:gd name="T10" fmla="*/ 46 w 46"/>
                  <a:gd name="T11" fmla="*/ 2 h 30"/>
                  <a:gd name="T12" fmla="*/ 44 w 46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30">
                    <a:moveTo>
                      <a:pt x="44" y="0"/>
                    </a:moveTo>
                    <a:cubicBezTo>
                      <a:pt x="20" y="0"/>
                      <a:pt x="0" y="13"/>
                      <a:pt x="0" y="28"/>
                    </a:cubicBezTo>
                    <a:cubicBezTo>
                      <a:pt x="0" y="29"/>
                      <a:pt x="1" y="30"/>
                      <a:pt x="2" y="30"/>
                    </a:cubicBezTo>
                    <a:cubicBezTo>
                      <a:pt x="3" y="30"/>
                      <a:pt x="4" y="29"/>
                      <a:pt x="4" y="28"/>
                    </a:cubicBezTo>
                    <a:cubicBezTo>
                      <a:pt x="4" y="15"/>
                      <a:pt x="23" y="4"/>
                      <a:pt x="44" y="4"/>
                    </a:cubicBezTo>
                    <a:cubicBezTo>
                      <a:pt x="45" y="4"/>
                      <a:pt x="46" y="3"/>
                      <a:pt x="46" y="2"/>
                    </a:cubicBezTo>
                    <a:cubicBezTo>
                      <a:pt x="46" y="1"/>
                      <a:pt x="45" y="0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5" name="Freeform 105"/>
              <p:cNvSpPr>
                <a:spLocks noEditPoints="1"/>
              </p:cNvSpPr>
              <p:nvPr/>
            </p:nvSpPr>
            <p:spPr bwMode="auto">
              <a:xfrm>
                <a:off x="2437300" y="2768688"/>
                <a:ext cx="400024" cy="349856"/>
              </a:xfrm>
              <a:custGeom>
                <a:avLst/>
                <a:gdLst>
                  <a:gd name="T0" fmla="*/ 64 w 128"/>
                  <a:gd name="T1" fmla="*/ 0 h 112"/>
                  <a:gd name="T2" fmla="*/ 0 w 128"/>
                  <a:gd name="T3" fmla="*/ 48 h 112"/>
                  <a:gd name="T4" fmla="*/ 28 w 128"/>
                  <a:gd name="T5" fmla="*/ 88 h 112"/>
                  <a:gd name="T6" fmla="*/ 28 w 128"/>
                  <a:gd name="T7" fmla="*/ 88 h 112"/>
                  <a:gd name="T8" fmla="*/ 20 w 128"/>
                  <a:gd name="T9" fmla="*/ 107 h 112"/>
                  <a:gd name="T10" fmla="*/ 20 w 128"/>
                  <a:gd name="T11" fmla="*/ 107 h 112"/>
                  <a:gd name="T12" fmla="*/ 20 w 128"/>
                  <a:gd name="T13" fmla="*/ 108 h 112"/>
                  <a:gd name="T14" fmla="*/ 24 w 128"/>
                  <a:gd name="T15" fmla="*/ 112 h 112"/>
                  <a:gd name="T16" fmla="*/ 25 w 128"/>
                  <a:gd name="T17" fmla="*/ 112 h 112"/>
                  <a:gd name="T18" fmla="*/ 52 w 128"/>
                  <a:gd name="T19" fmla="*/ 95 h 112"/>
                  <a:gd name="T20" fmla="*/ 64 w 128"/>
                  <a:gd name="T21" fmla="*/ 96 h 112"/>
                  <a:gd name="T22" fmla="*/ 128 w 128"/>
                  <a:gd name="T23" fmla="*/ 48 h 112"/>
                  <a:gd name="T24" fmla="*/ 64 w 128"/>
                  <a:gd name="T25" fmla="*/ 0 h 112"/>
                  <a:gd name="T26" fmla="*/ 64 w 128"/>
                  <a:gd name="T27" fmla="*/ 88 h 112"/>
                  <a:gd name="T28" fmla="*/ 53 w 128"/>
                  <a:gd name="T29" fmla="*/ 87 h 112"/>
                  <a:gd name="T30" fmla="*/ 52 w 128"/>
                  <a:gd name="T31" fmla="*/ 87 h 112"/>
                  <a:gd name="T32" fmla="*/ 45 w 128"/>
                  <a:gd name="T33" fmla="*/ 90 h 112"/>
                  <a:gd name="T34" fmla="*/ 33 w 128"/>
                  <a:gd name="T35" fmla="*/ 100 h 112"/>
                  <a:gd name="T36" fmla="*/ 36 w 128"/>
                  <a:gd name="T37" fmla="*/ 88 h 112"/>
                  <a:gd name="T38" fmla="*/ 36 w 128"/>
                  <a:gd name="T39" fmla="*/ 88 h 112"/>
                  <a:gd name="T40" fmla="*/ 32 w 128"/>
                  <a:gd name="T41" fmla="*/ 81 h 112"/>
                  <a:gd name="T42" fmla="*/ 8 w 128"/>
                  <a:gd name="T43" fmla="*/ 48 h 112"/>
                  <a:gd name="T44" fmla="*/ 64 w 128"/>
                  <a:gd name="T45" fmla="*/ 8 h 112"/>
                  <a:gd name="T46" fmla="*/ 120 w 128"/>
                  <a:gd name="T47" fmla="*/ 48 h 112"/>
                  <a:gd name="T48" fmla="*/ 64 w 128"/>
                  <a:gd name="T49" fmla="*/ 8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112">
                    <a:moveTo>
                      <a:pt x="64" y="0"/>
                    </a:moveTo>
                    <a:cubicBezTo>
                      <a:pt x="29" y="0"/>
                      <a:pt x="0" y="21"/>
                      <a:pt x="0" y="48"/>
                    </a:cubicBezTo>
                    <a:cubicBezTo>
                      <a:pt x="0" y="65"/>
                      <a:pt x="11" y="79"/>
                      <a:pt x="28" y="88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95"/>
                      <a:pt x="23" y="103"/>
                      <a:pt x="20" y="107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20" y="107"/>
                      <a:pt x="20" y="108"/>
                      <a:pt x="20" y="108"/>
                    </a:cubicBezTo>
                    <a:cubicBezTo>
                      <a:pt x="20" y="110"/>
                      <a:pt x="22" y="112"/>
                      <a:pt x="24" y="112"/>
                    </a:cubicBezTo>
                    <a:cubicBezTo>
                      <a:pt x="24" y="112"/>
                      <a:pt x="25" y="112"/>
                      <a:pt x="25" y="112"/>
                    </a:cubicBezTo>
                    <a:cubicBezTo>
                      <a:pt x="37" y="110"/>
                      <a:pt x="49" y="98"/>
                      <a:pt x="52" y="95"/>
                    </a:cubicBezTo>
                    <a:cubicBezTo>
                      <a:pt x="56" y="96"/>
                      <a:pt x="60" y="96"/>
                      <a:pt x="64" y="96"/>
                    </a:cubicBezTo>
                    <a:cubicBezTo>
                      <a:pt x="99" y="96"/>
                      <a:pt x="128" y="75"/>
                      <a:pt x="128" y="48"/>
                    </a:cubicBezTo>
                    <a:cubicBezTo>
                      <a:pt x="128" y="21"/>
                      <a:pt x="99" y="0"/>
                      <a:pt x="64" y="0"/>
                    </a:cubicBezTo>
                    <a:close/>
                    <a:moveTo>
                      <a:pt x="64" y="88"/>
                    </a:moveTo>
                    <a:cubicBezTo>
                      <a:pt x="60" y="88"/>
                      <a:pt x="57" y="88"/>
                      <a:pt x="53" y="87"/>
                    </a:cubicBezTo>
                    <a:cubicBezTo>
                      <a:pt x="52" y="87"/>
                      <a:pt x="52" y="87"/>
                      <a:pt x="52" y="87"/>
                    </a:cubicBezTo>
                    <a:cubicBezTo>
                      <a:pt x="49" y="87"/>
                      <a:pt x="47" y="88"/>
                      <a:pt x="45" y="90"/>
                    </a:cubicBezTo>
                    <a:cubicBezTo>
                      <a:pt x="44" y="92"/>
                      <a:pt x="39" y="97"/>
                      <a:pt x="33" y="100"/>
                    </a:cubicBezTo>
                    <a:cubicBezTo>
                      <a:pt x="35" y="97"/>
                      <a:pt x="36" y="93"/>
                      <a:pt x="3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36" y="85"/>
                      <a:pt x="34" y="82"/>
                      <a:pt x="32" y="81"/>
                    </a:cubicBezTo>
                    <a:cubicBezTo>
                      <a:pt x="17" y="73"/>
                      <a:pt x="8" y="61"/>
                      <a:pt x="8" y="48"/>
                    </a:cubicBezTo>
                    <a:cubicBezTo>
                      <a:pt x="8" y="26"/>
                      <a:pt x="33" y="8"/>
                      <a:pt x="64" y="8"/>
                    </a:cubicBezTo>
                    <a:cubicBezTo>
                      <a:pt x="95" y="8"/>
                      <a:pt x="120" y="26"/>
                      <a:pt x="120" y="48"/>
                    </a:cubicBezTo>
                    <a:cubicBezTo>
                      <a:pt x="120" y="70"/>
                      <a:pt x="95" y="88"/>
                      <a:pt x="64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5" name="Group 180"/>
            <p:cNvGrpSpPr/>
            <p:nvPr/>
          </p:nvGrpSpPr>
          <p:grpSpPr>
            <a:xfrm rot="404393">
              <a:off x="2600905" y="3649874"/>
              <a:ext cx="376964" cy="371075"/>
              <a:chOff x="4222751" y="1566863"/>
              <a:chExt cx="304800" cy="300038"/>
            </a:xfrm>
            <a:solidFill>
              <a:srgbClr val="DDDBDB"/>
            </a:solidFill>
          </p:grpSpPr>
          <p:sp>
            <p:nvSpPr>
              <p:cNvPr id="102" name="Freeform 19"/>
              <p:cNvSpPr>
                <a:spLocks noEditPoints="1"/>
              </p:cNvSpPr>
              <p:nvPr/>
            </p:nvSpPr>
            <p:spPr bwMode="auto">
              <a:xfrm>
                <a:off x="4222751" y="1566863"/>
                <a:ext cx="304800" cy="300038"/>
              </a:xfrm>
              <a:custGeom>
                <a:avLst/>
                <a:gdLst>
                  <a:gd name="T0" fmla="*/ 69 w 114"/>
                  <a:gd name="T1" fmla="*/ 112 h 112"/>
                  <a:gd name="T2" fmla="*/ 66 w 114"/>
                  <a:gd name="T3" fmla="*/ 111 h 112"/>
                  <a:gd name="T4" fmla="*/ 1 w 114"/>
                  <a:gd name="T5" fmla="*/ 46 h 112"/>
                  <a:gd name="T6" fmla="*/ 0 w 114"/>
                  <a:gd name="T7" fmla="*/ 44 h 112"/>
                  <a:gd name="T8" fmla="*/ 0 w 114"/>
                  <a:gd name="T9" fmla="*/ 4 h 112"/>
                  <a:gd name="T10" fmla="*/ 4 w 114"/>
                  <a:gd name="T11" fmla="*/ 0 h 112"/>
                  <a:gd name="T12" fmla="*/ 45 w 114"/>
                  <a:gd name="T13" fmla="*/ 0 h 112"/>
                  <a:gd name="T14" fmla="*/ 48 w 114"/>
                  <a:gd name="T15" fmla="*/ 1 h 112"/>
                  <a:gd name="T16" fmla="*/ 112 w 114"/>
                  <a:gd name="T17" fmla="*/ 65 h 112"/>
                  <a:gd name="T18" fmla="*/ 112 w 114"/>
                  <a:gd name="T19" fmla="*/ 71 h 112"/>
                  <a:gd name="T20" fmla="*/ 72 w 114"/>
                  <a:gd name="T21" fmla="*/ 111 h 112"/>
                  <a:gd name="T22" fmla="*/ 69 w 114"/>
                  <a:gd name="T23" fmla="*/ 112 h 112"/>
                  <a:gd name="T24" fmla="*/ 8 w 114"/>
                  <a:gd name="T25" fmla="*/ 42 h 112"/>
                  <a:gd name="T26" fmla="*/ 69 w 114"/>
                  <a:gd name="T27" fmla="*/ 102 h 112"/>
                  <a:gd name="T28" fmla="*/ 104 w 114"/>
                  <a:gd name="T29" fmla="*/ 68 h 112"/>
                  <a:gd name="T30" fmla="*/ 44 w 114"/>
                  <a:gd name="T31" fmla="*/ 8 h 112"/>
                  <a:gd name="T32" fmla="*/ 8 w 114"/>
                  <a:gd name="T33" fmla="*/ 8 h 112"/>
                  <a:gd name="T34" fmla="*/ 8 w 114"/>
                  <a:gd name="T35" fmla="*/ 4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4" h="112">
                    <a:moveTo>
                      <a:pt x="69" y="112"/>
                    </a:moveTo>
                    <a:cubicBezTo>
                      <a:pt x="68" y="112"/>
                      <a:pt x="67" y="111"/>
                      <a:pt x="66" y="111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1" y="46"/>
                      <a:pt x="0" y="45"/>
                      <a:pt x="0" y="4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6" y="0"/>
                      <a:pt x="47" y="0"/>
                      <a:pt x="48" y="1"/>
                    </a:cubicBezTo>
                    <a:cubicBezTo>
                      <a:pt x="112" y="65"/>
                      <a:pt x="112" y="65"/>
                      <a:pt x="112" y="65"/>
                    </a:cubicBezTo>
                    <a:cubicBezTo>
                      <a:pt x="114" y="66"/>
                      <a:pt x="114" y="69"/>
                      <a:pt x="112" y="71"/>
                    </a:cubicBezTo>
                    <a:cubicBezTo>
                      <a:pt x="72" y="111"/>
                      <a:pt x="72" y="111"/>
                      <a:pt x="72" y="111"/>
                    </a:cubicBezTo>
                    <a:cubicBezTo>
                      <a:pt x="71" y="111"/>
                      <a:pt x="70" y="112"/>
                      <a:pt x="69" y="112"/>
                    </a:cubicBezTo>
                    <a:close/>
                    <a:moveTo>
                      <a:pt x="8" y="42"/>
                    </a:moveTo>
                    <a:cubicBezTo>
                      <a:pt x="69" y="102"/>
                      <a:pt x="69" y="102"/>
                      <a:pt x="69" y="102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3" name="Freeform 20"/>
              <p:cNvSpPr>
                <a:spLocks noEditPoints="1"/>
              </p:cNvSpPr>
              <p:nvPr/>
            </p:nvSpPr>
            <p:spPr bwMode="auto">
              <a:xfrm>
                <a:off x="4265614" y="1609725"/>
                <a:ext cx="63500" cy="65088"/>
              </a:xfrm>
              <a:custGeom>
                <a:avLst/>
                <a:gdLst>
                  <a:gd name="T0" fmla="*/ 12 w 24"/>
                  <a:gd name="T1" fmla="*/ 4 h 24"/>
                  <a:gd name="T2" fmla="*/ 20 w 24"/>
                  <a:gd name="T3" fmla="*/ 12 h 24"/>
                  <a:gd name="T4" fmla="*/ 12 w 24"/>
                  <a:gd name="T5" fmla="*/ 20 h 24"/>
                  <a:gd name="T6" fmla="*/ 4 w 24"/>
                  <a:gd name="T7" fmla="*/ 12 h 24"/>
                  <a:gd name="T8" fmla="*/ 12 w 24"/>
                  <a:gd name="T9" fmla="*/ 4 h 24"/>
                  <a:gd name="T10" fmla="*/ 12 w 24"/>
                  <a:gd name="T11" fmla="*/ 0 h 24"/>
                  <a:gd name="T12" fmla="*/ 0 w 24"/>
                  <a:gd name="T13" fmla="*/ 12 h 24"/>
                  <a:gd name="T14" fmla="*/ 12 w 24"/>
                  <a:gd name="T15" fmla="*/ 24 h 24"/>
                  <a:gd name="T16" fmla="*/ 24 w 24"/>
                  <a:gd name="T17" fmla="*/ 12 h 24"/>
                  <a:gd name="T18" fmla="*/ 12 w 24"/>
                  <a:gd name="T1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4"/>
                    </a:moveTo>
                    <a:cubicBezTo>
                      <a:pt x="17" y="4"/>
                      <a:pt x="20" y="7"/>
                      <a:pt x="20" y="12"/>
                    </a:cubicBezTo>
                    <a:cubicBezTo>
                      <a:pt x="20" y="16"/>
                      <a:pt x="17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7"/>
                      <a:pt x="8" y="4"/>
                      <a:pt x="12" y="4"/>
                    </a:cubicBezTo>
                    <a:moveTo>
                      <a:pt x="12" y="0"/>
                    </a:moveTo>
                    <a:cubicBezTo>
                      <a:pt x="6" y="0"/>
                      <a:pt x="0" y="5"/>
                      <a:pt x="0" y="12"/>
                    </a:cubicBezTo>
                    <a:cubicBezTo>
                      <a:pt x="0" y="18"/>
                      <a:pt x="6" y="24"/>
                      <a:pt x="12" y="24"/>
                    </a:cubicBezTo>
                    <a:cubicBezTo>
                      <a:pt x="19" y="24"/>
                      <a:pt x="24" y="18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945317" y="3527649"/>
              <a:ext cx="347854" cy="411101"/>
            </a:xfrm>
            <a:custGeom>
              <a:avLst/>
              <a:gdLst>
                <a:gd name="T0" fmla="*/ 572 w 572"/>
                <a:gd name="T1" fmla="*/ 489 h 676"/>
                <a:gd name="T2" fmla="*/ 572 w 572"/>
                <a:gd name="T3" fmla="*/ 186 h 676"/>
                <a:gd name="T4" fmla="*/ 286 w 572"/>
                <a:gd name="T5" fmla="*/ 0 h 676"/>
                <a:gd name="T6" fmla="*/ 0 w 572"/>
                <a:gd name="T7" fmla="*/ 186 h 676"/>
                <a:gd name="T8" fmla="*/ 0 w 572"/>
                <a:gd name="T9" fmla="*/ 489 h 676"/>
                <a:gd name="T10" fmla="*/ 286 w 572"/>
                <a:gd name="T11" fmla="*/ 676 h 676"/>
                <a:gd name="T12" fmla="*/ 572 w 572"/>
                <a:gd name="T13" fmla="*/ 489 h 676"/>
                <a:gd name="T14" fmla="*/ 528 w 572"/>
                <a:gd name="T15" fmla="*/ 202 h 676"/>
                <a:gd name="T16" fmla="*/ 287 w 572"/>
                <a:gd name="T17" fmla="*/ 359 h 676"/>
                <a:gd name="T18" fmla="*/ 190 w 572"/>
                <a:gd name="T19" fmla="*/ 295 h 676"/>
                <a:gd name="T20" fmla="*/ 429 w 572"/>
                <a:gd name="T21" fmla="*/ 138 h 676"/>
                <a:gd name="T22" fmla="*/ 528 w 572"/>
                <a:gd name="T23" fmla="*/ 202 h 676"/>
                <a:gd name="T24" fmla="*/ 137 w 572"/>
                <a:gd name="T25" fmla="*/ 259 h 676"/>
                <a:gd name="T26" fmla="*/ 47 w 572"/>
                <a:gd name="T27" fmla="*/ 200 h 676"/>
                <a:gd name="T28" fmla="*/ 286 w 572"/>
                <a:gd name="T29" fmla="*/ 45 h 676"/>
                <a:gd name="T30" fmla="*/ 375 w 572"/>
                <a:gd name="T31" fmla="*/ 103 h 676"/>
                <a:gd name="T32" fmla="*/ 137 w 572"/>
                <a:gd name="T33" fmla="*/ 259 h 676"/>
                <a:gd name="T34" fmla="*/ 38 w 572"/>
                <a:gd name="T35" fmla="*/ 469 h 676"/>
                <a:gd name="T36" fmla="*/ 38 w 572"/>
                <a:gd name="T37" fmla="*/ 222 h 676"/>
                <a:gd name="T38" fmla="*/ 127 w 572"/>
                <a:gd name="T39" fmla="*/ 280 h 676"/>
                <a:gd name="T40" fmla="*/ 127 w 572"/>
                <a:gd name="T41" fmla="*/ 386 h 676"/>
                <a:gd name="T42" fmla="*/ 180 w 572"/>
                <a:gd name="T43" fmla="*/ 417 h 676"/>
                <a:gd name="T44" fmla="*/ 180 w 572"/>
                <a:gd name="T45" fmla="*/ 315 h 676"/>
                <a:gd name="T46" fmla="*/ 274 w 572"/>
                <a:gd name="T47" fmla="*/ 376 h 676"/>
                <a:gd name="T48" fmla="*/ 274 w 572"/>
                <a:gd name="T49" fmla="*/ 624 h 676"/>
                <a:gd name="T50" fmla="*/ 38 w 572"/>
                <a:gd name="T51" fmla="*/ 469 h 676"/>
                <a:gd name="T52" fmla="*/ 295 w 572"/>
                <a:gd name="T53" fmla="*/ 378 h 676"/>
                <a:gd name="T54" fmla="*/ 535 w 572"/>
                <a:gd name="T55" fmla="*/ 221 h 676"/>
                <a:gd name="T56" fmla="*/ 535 w 572"/>
                <a:gd name="T57" fmla="*/ 469 h 676"/>
                <a:gd name="T58" fmla="*/ 295 w 572"/>
                <a:gd name="T59" fmla="*/ 626 h 676"/>
                <a:gd name="T60" fmla="*/ 295 w 572"/>
                <a:gd name="T61" fmla="*/ 378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2" h="676">
                  <a:moveTo>
                    <a:pt x="572" y="489"/>
                  </a:moveTo>
                  <a:lnTo>
                    <a:pt x="572" y="186"/>
                  </a:lnTo>
                  <a:lnTo>
                    <a:pt x="286" y="0"/>
                  </a:lnTo>
                  <a:lnTo>
                    <a:pt x="0" y="186"/>
                  </a:lnTo>
                  <a:lnTo>
                    <a:pt x="0" y="489"/>
                  </a:lnTo>
                  <a:lnTo>
                    <a:pt x="286" y="676"/>
                  </a:lnTo>
                  <a:lnTo>
                    <a:pt x="572" y="489"/>
                  </a:lnTo>
                  <a:close/>
                  <a:moveTo>
                    <a:pt x="528" y="202"/>
                  </a:moveTo>
                  <a:lnTo>
                    <a:pt x="287" y="359"/>
                  </a:lnTo>
                  <a:lnTo>
                    <a:pt x="190" y="295"/>
                  </a:lnTo>
                  <a:lnTo>
                    <a:pt x="429" y="138"/>
                  </a:lnTo>
                  <a:lnTo>
                    <a:pt x="528" y="202"/>
                  </a:lnTo>
                  <a:close/>
                  <a:moveTo>
                    <a:pt x="137" y="259"/>
                  </a:moveTo>
                  <a:lnTo>
                    <a:pt x="47" y="200"/>
                  </a:lnTo>
                  <a:lnTo>
                    <a:pt x="286" y="45"/>
                  </a:lnTo>
                  <a:lnTo>
                    <a:pt x="375" y="103"/>
                  </a:lnTo>
                  <a:lnTo>
                    <a:pt x="137" y="259"/>
                  </a:lnTo>
                  <a:close/>
                  <a:moveTo>
                    <a:pt x="38" y="469"/>
                  </a:moveTo>
                  <a:lnTo>
                    <a:pt x="38" y="222"/>
                  </a:lnTo>
                  <a:lnTo>
                    <a:pt x="127" y="280"/>
                  </a:lnTo>
                  <a:lnTo>
                    <a:pt x="127" y="386"/>
                  </a:lnTo>
                  <a:lnTo>
                    <a:pt x="180" y="417"/>
                  </a:lnTo>
                  <a:lnTo>
                    <a:pt x="180" y="315"/>
                  </a:lnTo>
                  <a:lnTo>
                    <a:pt x="274" y="376"/>
                  </a:lnTo>
                  <a:lnTo>
                    <a:pt x="274" y="624"/>
                  </a:lnTo>
                  <a:lnTo>
                    <a:pt x="38" y="469"/>
                  </a:lnTo>
                  <a:close/>
                  <a:moveTo>
                    <a:pt x="295" y="378"/>
                  </a:moveTo>
                  <a:lnTo>
                    <a:pt x="535" y="221"/>
                  </a:lnTo>
                  <a:lnTo>
                    <a:pt x="535" y="469"/>
                  </a:lnTo>
                  <a:lnTo>
                    <a:pt x="295" y="626"/>
                  </a:lnTo>
                  <a:lnTo>
                    <a:pt x="295" y="378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67" name="Freeform 350"/>
            <p:cNvSpPr>
              <a:spLocks noEditPoints="1"/>
            </p:cNvSpPr>
            <p:nvPr/>
          </p:nvSpPr>
          <p:spPr bwMode="auto">
            <a:xfrm flipH="1">
              <a:off x="2941711" y="3966685"/>
              <a:ext cx="310776" cy="306458"/>
            </a:xfrm>
            <a:custGeom>
              <a:avLst/>
              <a:gdLst>
                <a:gd name="T0" fmla="*/ 59 w 61"/>
                <a:gd name="T1" fmla="*/ 2 h 60"/>
                <a:gd name="T2" fmla="*/ 52 w 61"/>
                <a:gd name="T3" fmla="*/ 0 h 60"/>
                <a:gd name="T4" fmla="*/ 25 w 61"/>
                <a:gd name="T5" fmla="*/ 0 h 60"/>
                <a:gd name="T6" fmla="*/ 10 w 61"/>
                <a:gd name="T7" fmla="*/ 12 h 60"/>
                <a:gd name="T8" fmla="*/ 10 w 61"/>
                <a:gd name="T9" fmla="*/ 40 h 60"/>
                <a:gd name="T10" fmla="*/ 9 w 61"/>
                <a:gd name="T11" fmla="*/ 44 h 60"/>
                <a:gd name="T12" fmla="*/ 8 w 61"/>
                <a:gd name="T13" fmla="*/ 44 h 60"/>
                <a:gd name="T14" fmla="*/ 0 w 61"/>
                <a:gd name="T15" fmla="*/ 52 h 60"/>
                <a:gd name="T16" fmla="*/ 8 w 61"/>
                <a:gd name="T17" fmla="*/ 60 h 60"/>
                <a:gd name="T18" fmla="*/ 38 w 61"/>
                <a:gd name="T19" fmla="*/ 60 h 60"/>
                <a:gd name="T20" fmla="*/ 46 w 61"/>
                <a:gd name="T21" fmla="*/ 40 h 60"/>
                <a:gd name="T22" fmla="*/ 46 w 61"/>
                <a:gd name="T23" fmla="*/ 16 h 60"/>
                <a:gd name="T24" fmla="*/ 52 w 61"/>
                <a:gd name="T25" fmla="*/ 16 h 60"/>
                <a:gd name="T26" fmla="*/ 61 w 61"/>
                <a:gd name="T27" fmla="*/ 8 h 60"/>
                <a:gd name="T28" fmla="*/ 59 w 61"/>
                <a:gd name="T29" fmla="*/ 2 h 60"/>
                <a:gd name="T30" fmla="*/ 42 w 61"/>
                <a:gd name="T31" fmla="*/ 11 h 60"/>
                <a:gd name="T32" fmla="*/ 42 w 61"/>
                <a:gd name="T33" fmla="*/ 12 h 60"/>
                <a:gd name="T34" fmla="*/ 42 w 61"/>
                <a:gd name="T35" fmla="*/ 40 h 60"/>
                <a:gd name="T36" fmla="*/ 38 w 61"/>
                <a:gd name="T37" fmla="*/ 56 h 60"/>
                <a:gd name="T38" fmla="*/ 8 w 61"/>
                <a:gd name="T39" fmla="*/ 56 h 60"/>
                <a:gd name="T40" fmla="*/ 6 w 61"/>
                <a:gd name="T41" fmla="*/ 55 h 60"/>
                <a:gd name="T42" fmla="*/ 4 w 61"/>
                <a:gd name="T43" fmla="*/ 52 h 60"/>
                <a:gd name="T44" fmla="*/ 6 w 61"/>
                <a:gd name="T45" fmla="*/ 48 h 60"/>
                <a:gd name="T46" fmla="*/ 8 w 61"/>
                <a:gd name="T47" fmla="*/ 48 h 60"/>
                <a:gd name="T48" fmla="*/ 34 w 61"/>
                <a:gd name="T49" fmla="*/ 48 h 60"/>
                <a:gd name="T50" fmla="*/ 36 w 61"/>
                <a:gd name="T51" fmla="*/ 46 h 60"/>
                <a:gd name="T52" fmla="*/ 34 w 61"/>
                <a:gd name="T53" fmla="*/ 44 h 60"/>
                <a:gd name="T54" fmla="*/ 13 w 61"/>
                <a:gd name="T55" fmla="*/ 44 h 60"/>
                <a:gd name="T56" fmla="*/ 14 w 61"/>
                <a:gd name="T57" fmla="*/ 40 h 60"/>
                <a:gd name="T58" fmla="*/ 14 w 61"/>
                <a:gd name="T59" fmla="*/ 12 h 60"/>
                <a:gd name="T60" fmla="*/ 25 w 61"/>
                <a:gd name="T61" fmla="*/ 4 h 60"/>
                <a:gd name="T62" fmla="*/ 43 w 61"/>
                <a:gd name="T63" fmla="*/ 4 h 60"/>
                <a:gd name="T64" fmla="*/ 42 w 61"/>
                <a:gd name="T65" fmla="*/ 11 h 60"/>
                <a:gd name="T66" fmla="*/ 56 w 61"/>
                <a:gd name="T67" fmla="*/ 11 h 60"/>
                <a:gd name="T68" fmla="*/ 52 w 61"/>
                <a:gd name="T69" fmla="*/ 12 h 60"/>
                <a:gd name="T70" fmla="*/ 46 w 61"/>
                <a:gd name="T71" fmla="*/ 12 h 60"/>
                <a:gd name="T72" fmla="*/ 46 w 61"/>
                <a:gd name="T73" fmla="*/ 10 h 60"/>
                <a:gd name="T74" fmla="*/ 47 w 61"/>
                <a:gd name="T75" fmla="*/ 5 h 60"/>
                <a:gd name="T76" fmla="*/ 51 w 61"/>
                <a:gd name="T77" fmla="*/ 4 h 60"/>
                <a:gd name="T78" fmla="*/ 52 w 61"/>
                <a:gd name="T79" fmla="*/ 4 h 60"/>
                <a:gd name="T80" fmla="*/ 57 w 61"/>
                <a:gd name="T81" fmla="*/ 8 h 60"/>
                <a:gd name="T82" fmla="*/ 56 w 61"/>
                <a:gd name="T83" fmla="*/ 1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1" h="60">
                  <a:moveTo>
                    <a:pt x="59" y="2"/>
                  </a:moveTo>
                  <a:cubicBezTo>
                    <a:pt x="57" y="1"/>
                    <a:pt x="55" y="0"/>
                    <a:pt x="5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6" y="0"/>
                    <a:pt x="10" y="7"/>
                    <a:pt x="10" y="12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41"/>
                    <a:pt x="9" y="42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3" y="44"/>
                    <a:pt x="0" y="48"/>
                    <a:pt x="0" y="52"/>
                  </a:cubicBezTo>
                  <a:cubicBezTo>
                    <a:pt x="0" y="56"/>
                    <a:pt x="3" y="60"/>
                    <a:pt x="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5" y="60"/>
                    <a:pt x="46" y="40"/>
                    <a:pt x="46" y="40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7" y="16"/>
                    <a:pt x="61" y="12"/>
                    <a:pt x="61" y="8"/>
                  </a:cubicBezTo>
                  <a:cubicBezTo>
                    <a:pt x="61" y="5"/>
                    <a:pt x="60" y="4"/>
                    <a:pt x="59" y="2"/>
                  </a:cubicBezTo>
                  <a:close/>
                  <a:moveTo>
                    <a:pt x="42" y="11"/>
                  </a:moveTo>
                  <a:cubicBezTo>
                    <a:pt x="42" y="11"/>
                    <a:pt x="42" y="12"/>
                    <a:pt x="42" y="1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5"/>
                    <a:pt x="40" y="55"/>
                    <a:pt x="3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6" y="56"/>
                    <a:pt x="6" y="55"/>
                  </a:cubicBezTo>
                  <a:cubicBezTo>
                    <a:pt x="4" y="54"/>
                    <a:pt x="4" y="53"/>
                    <a:pt x="4" y="52"/>
                  </a:cubicBezTo>
                  <a:cubicBezTo>
                    <a:pt x="4" y="51"/>
                    <a:pt x="5" y="49"/>
                    <a:pt x="6" y="48"/>
                  </a:cubicBezTo>
                  <a:cubicBezTo>
                    <a:pt x="7" y="48"/>
                    <a:pt x="7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5" y="48"/>
                    <a:pt x="36" y="47"/>
                    <a:pt x="36" y="46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4" y="43"/>
                    <a:pt x="14" y="41"/>
                    <a:pt x="14" y="4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9"/>
                    <a:pt x="18" y="4"/>
                    <a:pt x="25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6"/>
                    <a:pt x="42" y="9"/>
                    <a:pt x="42" y="11"/>
                  </a:cubicBezTo>
                  <a:close/>
                  <a:moveTo>
                    <a:pt x="56" y="11"/>
                  </a:moveTo>
                  <a:cubicBezTo>
                    <a:pt x="55" y="11"/>
                    <a:pt x="54" y="12"/>
                    <a:pt x="52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2"/>
                    <a:pt x="46" y="11"/>
                    <a:pt x="46" y="10"/>
                  </a:cubicBezTo>
                  <a:cubicBezTo>
                    <a:pt x="46" y="8"/>
                    <a:pt x="46" y="6"/>
                    <a:pt x="47" y="5"/>
                  </a:cubicBezTo>
                  <a:cubicBezTo>
                    <a:pt x="48" y="4"/>
                    <a:pt x="49" y="4"/>
                    <a:pt x="51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5" y="4"/>
                    <a:pt x="57" y="5"/>
                    <a:pt x="57" y="8"/>
                  </a:cubicBezTo>
                  <a:cubicBezTo>
                    <a:pt x="57" y="9"/>
                    <a:pt x="56" y="10"/>
                    <a:pt x="56" y="11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68" name="Group 185"/>
            <p:cNvGrpSpPr/>
            <p:nvPr/>
          </p:nvGrpSpPr>
          <p:grpSpPr>
            <a:xfrm>
              <a:off x="3215963" y="3749594"/>
              <a:ext cx="382341" cy="381281"/>
              <a:chOff x="8521700" y="4130680"/>
              <a:chExt cx="574675" cy="573083"/>
            </a:xfrm>
            <a:solidFill>
              <a:srgbClr val="DDDBDB"/>
            </a:solidFill>
          </p:grpSpPr>
          <p:sp>
            <p:nvSpPr>
              <p:cNvPr id="100" name="Freeform 32"/>
              <p:cNvSpPr>
                <a:spLocks/>
              </p:cNvSpPr>
              <p:nvPr/>
            </p:nvSpPr>
            <p:spPr bwMode="auto">
              <a:xfrm>
                <a:off x="8521700" y="4322763"/>
                <a:ext cx="360363" cy="381000"/>
              </a:xfrm>
              <a:custGeom>
                <a:avLst/>
                <a:gdLst>
                  <a:gd name="T0" fmla="*/ 47 w 121"/>
                  <a:gd name="T1" fmla="*/ 128 h 128"/>
                  <a:gd name="T2" fmla="*/ 22 w 121"/>
                  <a:gd name="T3" fmla="*/ 118 h 128"/>
                  <a:gd name="T4" fmla="*/ 14 w 121"/>
                  <a:gd name="T5" fmla="*/ 110 h 128"/>
                  <a:gd name="T6" fmla="*/ 14 w 121"/>
                  <a:gd name="T7" fmla="*/ 58 h 128"/>
                  <a:gd name="T8" fmla="*/ 58 w 121"/>
                  <a:gd name="T9" fmla="*/ 14 h 128"/>
                  <a:gd name="T10" fmla="*/ 89 w 121"/>
                  <a:gd name="T11" fmla="*/ 0 h 128"/>
                  <a:gd name="T12" fmla="*/ 119 w 121"/>
                  <a:gd name="T13" fmla="*/ 18 h 128"/>
                  <a:gd name="T14" fmla="*/ 118 w 121"/>
                  <a:gd name="T15" fmla="*/ 27 h 128"/>
                  <a:gd name="T16" fmla="*/ 109 w 121"/>
                  <a:gd name="T17" fmla="*/ 26 h 128"/>
                  <a:gd name="T18" fmla="*/ 88 w 121"/>
                  <a:gd name="T19" fmla="*/ 12 h 128"/>
                  <a:gd name="T20" fmla="*/ 66 w 121"/>
                  <a:gd name="T21" fmla="*/ 22 h 128"/>
                  <a:gd name="T22" fmla="*/ 22 w 121"/>
                  <a:gd name="T23" fmla="*/ 66 h 128"/>
                  <a:gd name="T24" fmla="*/ 22 w 121"/>
                  <a:gd name="T25" fmla="*/ 102 h 128"/>
                  <a:gd name="T26" fmla="*/ 30 w 121"/>
                  <a:gd name="T27" fmla="*/ 110 h 128"/>
                  <a:gd name="T28" fmla="*/ 48 w 121"/>
                  <a:gd name="T29" fmla="*/ 116 h 128"/>
                  <a:gd name="T30" fmla="*/ 70 w 121"/>
                  <a:gd name="T31" fmla="*/ 106 h 128"/>
                  <a:gd name="T32" fmla="*/ 102 w 121"/>
                  <a:gd name="T33" fmla="*/ 74 h 128"/>
                  <a:gd name="T34" fmla="*/ 110 w 121"/>
                  <a:gd name="T35" fmla="*/ 74 h 128"/>
                  <a:gd name="T36" fmla="*/ 110 w 121"/>
                  <a:gd name="T37" fmla="*/ 82 h 128"/>
                  <a:gd name="T38" fmla="*/ 78 w 121"/>
                  <a:gd name="T39" fmla="*/ 114 h 128"/>
                  <a:gd name="T40" fmla="*/ 49 w 121"/>
                  <a:gd name="T41" fmla="*/ 128 h 128"/>
                  <a:gd name="T42" fmla="*/ 47 w 121"/>
                  <a:gd name="T4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1" h="128">
                    <a:moveTo>
                      <a:pt x="47" y="128"/>
                    </a:moveTo>
                    <a:cubicBezTo>
                      <a:pt x="37" y="128"/>
                      <a:pt x="28" y="125"/>
                      <a:pt x="22" y="118"/>
                    </a:cubicBezTo>
                    <a:cubicBezTo>
                      <a:pt x="14" y="110"/>
                      <a:pt x="14" y="110"/>
                      <a:pt x="14" y="110"/>
                    </a:cubicBezTo>
                    <a:cubicBezTo>
                      <a:pt x="0" y="96"/>
                      <a:pt x="0" y="72"/>
                      <a:pt x="14" y="5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70" y="2"/>
                      <a:pt x="81" y="0"/>
                      <a:pt x="89" y="0"/>
                    </a:cubicBezTo>
                    <a:cubicBezTo>
                      <a:pt x="100" y="1"/>
                      <a:pt x="111" y="7"/>
                      <a:pt x="119" y="18"/>
                    </a:cubicBezTo>
                    <a:cubicBezTo>
                      <a:pt x="121" y="21"/>
                      <a:pt x="120" y="25"/>
                      <a:pt x="118" y="27"/>
                    </a:cubicBezTo>
                    <a:cubicBezTo>
                      <a:pt x="115" y="29"/>
                      <a:pt x="111" y="28"/>
                      <a:pt x="109" y="26"/>
                    </a:cubicBezTo>
                    <a:cubicBezTo>
                      <a:pt x="103" y="17"/>
                      <a:pt x="96" y="13"/>
                      <a:pt x="88" y="12"/>
                    </a:cubicBezTo>
                    <a:cubicBezTo>
                      <a:pt x="81" y="12"/>
                      <a:pt x="73" y="15"/>
                      <a:pt x="66" y="22"/>
                    </a:cubicBezTo>
                    <a:cubicBezTo>
                      <a:pt x="22" y="66"/>
                      <a:pt x="22" y="66"/>
                      <a:pt x="22" y="66"/>
                    </a:cubicBezTo>
                    <a:cubicBezTo>
                      <a:pt x="13" y="76"/>
                      <a:pt x="13" y="92"/>
                      <a:pt x="22" y="102"/>
                    </a:cubicBezTo>
                    <a:cubicBezTo>
                      <a:pt x="30" y="110"/>
                      <a:pt x="30" y="110"/>
                      <a:pt x="30" y="110"/>
                    </a:cubicBezTo>
                    <a:cubicBezTo>
                      <a:pt x="35" y="114"/>
                      <a:pt x="41" y="117"/>
                      <a:pt x="48" y="116"/>
                    </a:cubicBezTo>
                    <a:cubicBezTo>
                      <a:pt x="56" y="116"/>
                      <a:pt x="63" y="112"/>
                      <a:pt x="70" y="106"/>
                    </a:cubicBezTo>
                    <a:cubicBezTo>
                      <a:pt x="102" y="74"/>
                      <a:pt x="102" y="74"/>
                      <a:pt x="102" y="74"/>
                    </a:cubicBezTo>
                    <a:cubicBezTo>
                      <a:pt x="104" y="71"/>
                      <a:pt x="108" y="71"/>
                      <a:pt x="110" y="74"/>
                    </a:cubicBezTo>
                    <a:cubicBezTo>
                      <a:pt x="113" y="76"/>
                      <a:pt x="113" y="80"/>
                      <a:pt x="110" y="82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0" y="123"/>
                      <a:pt x="59" y="128"/>
                      <a:pt x="49" y="128"/>
                    </a:cubicBezTo>
                    <a:cubicBezTo>
                      <a:pt x="48" y="128"/>
                      <a:pt x="47" y="128"/>
                      <a:pt x="47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1" name="Freeform 33"/>
              <p:cNvSpPr>
                <a:spLocks/>
              </p:cNvSpPr>
              <p:nvPr/>
            </p:nvSpPr>
            <p:spPr bwMode="auto">
              <a:xfrm>
                <a:off x="8769350" y="4130680"/>
                <a:ext cx="327025" cy="392113"/>
              </a:xfrm>
              <a:custGeom>
                <a:avLst/>
                <a:gdLst>
                  <a:gd name="T0" fmla="*/ 29 w 110"/>
                  <a:gd name="T1" fmla="*/ 132 h 132"/>
                  <a:gd name="T2" fmla="*/ 26 w 110"/>
                  <a:gd name="T3" fmla="*/ 132 h 132"/>
                  <a:gd name="T4" fmla="*/ 2 w 110"/>
                  <a:gd name="T5" fmla="*/ 118 h 132"/>
                  <a:gd name="T6" fmla="*/ 4 w 110"/>
                  <a:gd name="T7" fmla="*/ 110 h 132"/>
                  <a:gd name="T8" fmla="*/ 12 w 110"/>
                  <a:gd name="T9" fmla="*/ 112 h 132"/>
                  <a:gd name="T10" fmla="*/ 27 w 110"/>
                  <a:gd name="T11" fmla="*/ 120 h 132"/>
                  <a:gd name="T12" fmla="*/ 43 w 110"/>
                  <a:gd name="T13" fmla="*/ 115 h 132"/>
                  <a:gd name="T14" fmla="*/ 91 w 110"/>
                  <a:gd name="T15" fmla="*/ 67 h 132"/>
                  <a:gd name="T16" fmla="*/ 98 w 110"/>
                  <a:gd name="T17" fmla="*/ 51 h 132"/>
                  <a:gd name="T18" fmla="*/ 91 w 110"/>
                  <a:gd name="T19" fmla="*/ 35 h 132"/>
                  <a:gd name="T20" fmla="*/ 83 w 110"/>
                  <a:gd name="T21" fmla="*/ 27 h 132"/>
                  <a:gd name="T22" fmla="*/ 47 w 110"/>
                  <a:gd name="T23" fmla="*/ 23 h 132"/>
                  <a:gd name="T24" fmla="*/ 11 w 110"/>
                  <a:gd name="T25" fmla="*/ 59 h 132"/>
                  <a:gd name="T26" fmla="*/ 3 w 110"/>
                  <a:gd name="T27" fmla="*/ 59 h 132"/>
                  <a:gd name="T28" fmla="*/ 3 w 110"/>
                  <a:gd name="T29" fmla="*/ 51 h 132"/>
                  <a:gd name="T30" fmla="*/ 39 w 110"/>
                  <a:gd name="T31" fmla="*/ 15 h 132"/>
                  <a:gd name="T32" fmla="*/ 91 w 110"/>
                  <a:gd name="T33" fmla="*/ 19 h 132"/>
                  <a:gd name="T34" fmla="*/ 99 w 110"/>
                  <a:gd name="T35" fmla="*/ 27 h 132"/>
                  <a:gd name="T36" fmla="*/ 110 w 110"/>
                  <a:gd name="T37" fmla="*/ 51 h 132"/>
                  <a:gd name="T38" fmla="*/ 99 w 110"/>
                  <a:gd name="T39" fmla="*/ 75 h 132"/>
                  <a:gd name="T40" fmla="*/ 51 w 110"/>
                  <a:gd name="T41" fmla="*/ 123 h 132"/>
                  <a:gd name="T42" fmla="*/ 29 w 110"/>
                  <a:gd name="T43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" h="132">
                    <a:moveTo>
                      <a:pt x="29" y="132"/>
                    </a:moveTo>
                    <a:cubicBezTo>
                      <a:pt x="28" y="132"/>
                      <a:pt x="27" y="132"/>
                      <a:pt x="26" y="132"/>
                    </a:cubicBezTo>
                    <a:cubicBezTo>
                      <a:pt x="16" y="131"/>
                      <a:pt x="7" y="126"/>
                      <a:pt x="2" y="118"/>
                    </a:cubicBezTo>
                    <a:cubicBezTo>
                      <a:pt x="0" y="116"/>
                      <a:pt x="1" y="112"/>
                      <a:pt x="4" y="110"/>
                    </a:cubicBezTo>
                    <a:cubicBezTo>
                      <a:pt x="6" y="108"/>
                      <a:pt x="10" y="109"/>
                      <a:pt x="12" y="112"/>
                    </a:cubicBezTo>
                    <a:cubicBezTo>
                      <a:pt x="15" y="116"/>
                      <a:pt x="21" y="120"/>
                      <a:pt x="27" y="120"/>
                    </a:cubicBezTo>
                    <a:cubicBezTo>
                      <a:pt x="33" y="121"/>
                      <a:pt x="39" y="119"/>
                      <a:pt x="43" y="115"/>
                    </a:cubicBezTo>
                    <a:cubicBezTo>
                      <a:pt x="91" y="67"/>
                      <a:pt x="91" y="67"/>
                      <a:pt x="91" y="67"/>
                    </a:cubicBezTo>
                    <a:cubicBezTo>
                      <a:pt x="95" y="62"/>
                      <a:pt x="98" y="57"/>
                      <a:pt x="98" y="51"/>
                    </a:cubicBezTo>
                    <a:cubicBezTo>
                      <a:pt x="98" y="45"/>
                      <a:pt x="95" y="40"/>
                      <a:pt x="91" y="35"/>
                    </a:cubicBezTo>
                    <a:cubicBezTo>
                      <a:pt x="83" y="27"/>
                      <a:pt x="83" y="27"/>
                      <a:pt x="83" y="27"/>
                    </a:cubicBezTo>
                    <a:cubicBezTo>
                      <a:pt x="73" y="18"/>
                      <a:pt x="57" y="14"/>
                      <a:pt x="47" y="23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62"/>
                      <a:pt x="5" y="62"/>
                      <a:pt x="3" y="59"/>
                    </a:cubicBezTo>
                    <a:cubicBezTo>
                      <a:pt x="0" y="57"/>
                      <a:pt x="0" y="53"/>
                      <a:pt x="3" y="51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53" y="0"/>
                      <a:pt x="78" y="5"/>
                      <a:pt x="91" y="19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106" y="34"/>
                      <a:pt x="110" y="42"/>
                      <a:pt x="110" y="51"/>
                    </a:cubicBezTo>
                    <a:cubicBezTo>
                      <a:pt x="110" y="60"/>
                      <a:pt x="106" y="68"/>
                      <a:pt x="99" y="75"/>
                    </a:cubicBezTo>
                    <a:cubicBezTo>
                      <a:pt x="51" y="123"/>
                      <a:pt x="51" y="123"/>
                      <a:pt x="51" y="123"/>
                    </a:cubicBezTo>
                    <a:cubicBezTo>
                      <a:pt x="45" y="129"/>
                      <a:pt x="38" y="132"/>
                      <a:pt x="29" y="1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69" name="Group 188"/>
            <p:cNvGrpSpPr/>
            <p:nvPr/>
          </p:nvGrpSpPr>
          <p:grpSpPr>
            <a:xfrm>
              <a:off x="3321843" y="4203273"/>
              <a:ext cx="299363" cy="282419"/>
              <a:chOff x="3498850" y="1541463"/>
              <a:chExt cx="504825" cy="476250"/>
            </a:xfrm>
            <a:solidFill>
              <a:srgbClr val="DDDBDB"/>
            </a:solidFill>
          </p:grpSpPr>
          <p:sp>
            <p:nvSpPr>
              <p:cNvPr id="98" name="Oval 5"/>
              <p:cNvSpPr>
                <a:spLocks noChangeArrowheads="1"/>
              </p:cNvSpPr>
              <p:nvPr/>
            </p:nvSpPr>
            <p:spPr bwMode="auto">
              <a:xfrm>
                <a:off x="3743325" y="1801813"/>
                <a:ext cx="61913" cy="619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9" name="Freeform 6"/>
              <p:cNvSpPr>
                <a:spLocks noEditPoints="1"/>
              </p:cNvSpPr>
              <p:nvPr/>
            </p:nvSpPr>
            <p:spPr bwMode="auto">
              <a:xfrm>
                <a:off x="3498850" y="1541463"/>
                <a:ext cx="504825" cy="476250"/>
              </a:xfrm>
              <a:custGeom>
                <a:avLst/>
                <a:gdLst>
                  <a:gd name="T0" fmla="*/ 116 w 132"/>
                  <a:gd name="T1" fmla="*/ 48 h 124"/>
                  <a:gd name="T2" fmla="*/ 116 w 132"/>
                  <a:gd name="T3" fmla="*/ 22 h 124"/>
                  <a:gd name="T4" fmla="*/ 104 w 132"/>
                  <a:gd name="T5" fmla="*/ 0 h 124"/>
                  <a:gd name="T6" fmla="*/ 22 w 132"/>
                  <a:gd name="T7" fmla="*/ 0 h 124"/>
                  <a:gd name="T8" fmla="*/ 0 w 132"/>
                  <a:gd name="T9" fmla="*/ 102 h 124"/>
                  <a:gd name="T10" fmla="*/ 94 w 132"/>
                  <a:gd name="T11" fmla="*/ 124 h 124"/>
                  <a:gd name="T12" fmla="*/ 116 w 132"/>
                  <a:gd name="T13" fmla="*/ 96 h 124"/>
                  <a:gd name="T14" fmla="*/ 116 w 132"/>
                  <a:gd name="T15" fmla="*/ 48 h 124"/>
                  <a:gd name="T16" fmla="*/ 88 w 132"/>
                  <a:gd name="T17" fmla="*/ 8 h 124"/>
                  <a:gd name="T18" fmla="*/ 108 w 132"/>
                  <a:gd name="T19" fmla="*/ 12 h 124"/>
                  <a:gd name="T20" fmla="*/ 108 w 132"/>
                  <a:gd name="T21" fmla="*/ 24 h 124"/>
                  <a:gd name="T22" fmla="*/ 104 w 132"/>
                  <a:gd name="T23" fmla="*/ 36 h 124"/>
                  <a:gd name="T24" fmla="*/ 104 w 132"/>
                  <a:gd name="T25" fmla="*/ 32 h 124"/>
                  <a:gd name="T26" fmla="*/ 104 w 132"/>
                  <a:gd name="T27" fmla="*/ 16 h 124"/>
                  <a:gd name="T28" fmla="*/ 16 w 132"/>
                  <a:gd name="T29" fmla="*/ 12 h 124"/>
                  <a:gd name="T30" fmla="*/ 12 w 132"/>
                  <a:gd name="T31" fmla="*/ 24 h 124"/>
                  <a:gd name="T32" fmla="*/ 8 w 132"/>
                  <a:gd name="T33" fmla="*/ 22 h 124"/>
                  <a:gd name="T34" fmla="*/ 100 w 132"/>
                  <a:gd name="T35" fmla="*/ 20 h 124"/>
                  <a:gd name="T36" fmla="*/ 16 w 132"/>
                  <a:gd name="T37" fmla="*/ 16 h 124"/>
                  <a:gd name="T38" fmla="*/ 100 w 132"/>
                  <a:gd name="T39" fmla="*/ 20 h 124"/>
                  <a:gd name="T40" fmla="*/ 100 w 132"/>
                  <a:gd name="T41" fmla="*/ 28 h 124"/>
                  <a:gd name="T42" fmla="*/ 16 w 132"/>
                  <a:gd name="T43" fmla="*/ 24 h 124"/>
                  <a:gd name="T44" fmla="*/ 100 w 132"/>
                  <a:gd name="T45" fmla="*/ 32 h 124"/>
                  <a:gd name="T46" fmla="*/ 88 w 132"/>
                  <a:gd name="T47" fmla="*/ 36 h 124"/>
                  <a:gd name="T48" fmla="*/ 16 w 132"/>
                  <a:gd name="T49" fmla="*/ 35 h 124"/>
                  <a:gd name="T50" fmla="*/ 100 w 132"/>
                  <a:gd name="T51" fmla="*/ 32 h 124"/>
                  <a:gd name="T52" fmla="*/ 94 w 132"/>
                  <a:gd name="T53" fmla="*/ 116 h 124"/>
                  <a:gd name="T54" fmla="*/ 8 w 132"/>
                  <a:gd name="T55" fmla="*/ 102 h 124"/>
                  <a:gd name="T56" fmla="*/ 22 w 132"/>
                  <a:gd name="T57" fmla="*/ 44 h 124"/>
                  <a:gd name="T58" fmla="*/ 104 w 132"/>
                  <a:gd name="T59" fmla="*/ 44 h 124"/>
                  <a:gd name="T60" fmla="*/ 108 w 132"/>
                  <a:gd name="T61" fmla="*/ 56 h 124"/>
                  <a:gd name="T62" fmla="*/ 52 w 132"/>
                  <a:gd name="T63" fmla="*/ 76 h 124"/>
                  <a:gd name="T64" fmla="*/ 108 w 132"/>
                  <a:gd name="T65" fmla="*/ 96 h 124"/>
                  <a:gd name="T66" fmla="*/ 113 w 132"/>
                  <a:gd name="T67" fmla="*/ 88 h 124"/>
                  <a:gd name="T68" fmla="*/ 60 w 132"/>
                  <a:gd name="T69" fmla="*/ 76 h 124"/>
                  <a:gd name="T70" fmla="*/ 108 w 132"/>
                  <a:gd name="T71" fmla="*/ 64 h 124"/>
                  <a:gd name="T72" fmla="*/ 115 w 132"/>
                  <a:gd name="T73" fmla="*/ 59 h 124"/>
                  <a:gd name="T74" fmla="*/ 120 w 132"/>
                  <a:gd name="T75" fmla="*/ 7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24">
                    <a:moveTo>
                      <a:pt x="116" y="48"/>
                    </a:moveTo>
                    <a:cubicBezTo>
                      <a:pt x="116" y="48"/>
                      <a:pt x="116" y="48"/>
                      <a:pt x="116" y="48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2"/>
                      <a:pt x="116" y="22"/>
                      <a:pt x="116" y="22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6" y="5"/>
                      <a:pt x="111" y="0"/>
                      <a:pt x="104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4"/>
                      <a:pt x="10" y="124"/>
                      <a:pt x="22" y="124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106" y="124"/>
                      <a:pt x="116" y="114"/>
                      <a:pt x="116" y="102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32" y="84"/>
                      <a:pt x="132" y="60"/>
                      <a:pt x="116" y="48"/>
                    </a:cubicBezTo>
                    <a:close/>
                    <a:moveTo>
                      <a:pt x="22" y="8"/>
                    </a:moveTo>
                    <a:cubicBezTo>
                      <a:pt x="88" y="8"/>
                      <a:pt x="88" y="8"/>
                      <a:pt x="88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6" y="8"/>
                      <a:pt x="108" y="10"/>
                      <a:pt x="108" y="1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7" y="36"/>
                      <a:pt x="105" y="36"/>
                      <a:pt x="104" y="36"/>
                    </a:cubicBez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4"/>
                      <a:pt x="102" y="12"/>
                      <a:pt x="10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2" y="1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29"/>
                      <a:pt x="8" y="26"/>
                      <a:pt x="8" y="22"/>
                    </a:cubicBezTo>
                    <a:cubicBezTo>
                      <a:pt x="8" y="14"/>
                      <a:pt x="14" y="8"/>
                      <a:pt x="22" y="8"/>
                    </a:cubicBezTo>
                    <a:close/>
                    <a:moveTo>
                      <a:pt x="100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00" y="16"/>
                      <a:pt x="100" y="16"/>
                      <a:pt x="100" y="16"/>
                    </a:cubicBezTo>
                    <a:lnTo>
                      <a:pt x="100" y="20"/>
                    </a:lnTo>
                    <a:close/>
                    <a:moveTo>
                      <a:pt x="100" y="24"/>
                    </a:moveTo>
                    <a:cubicBezTo>
                      <a:pt x="100" y="28"/>
                      <a:pt x="100" y="28"/>
                      <a:pt x="100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00" y="24"/>
                    </a:lnTo>
                    <a:close/>
                    <a:moveTo>
                      <a:pt x="100" y="32"/>
                    </a:moveTo>
                    <a:cubicBezTo>
                      <a:pt x="100" y="36"/>
                      <a:pt x="100" y="36"/>
                      <a:pt x="100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0" y="36"/>
                      <a:pt x="18" y="35"/>
                      <a:pt x="16" y="35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100" y="32"/>
                    </a:lnTo>
                    <a:close/>
                    <a:moveTo>
                      <a:pt x="108" y="102"/>
                    </a:moveTo>
                    <a:cubicBezTo>
                      <a:pt x="108" y="110"/>
                      <a:pt x="102" y="116"/>
                      <a:pt x="94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14" y="116"/>
                      <a:pt x="8" y="110"/>
                      <a:pt x="8" y="102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12" y="42"/>
                      <a:pt x="17" y="44"/>
                      <a:pt x="22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6" y="44"/>
                      <a:pt x="108" y="46"/>
                      <a:pt x="108" y="48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61" y="56"/>
                      <a:pt x="52" y="65"/>
                      <a:pt x="52" y="76"/>
                    </a:cubicBezTo>
                    <a:cubicBezTo>
                      <a:pt x="52" y="87"/>
                      <a:pt x="61" y="96"/>
                      <a:pt x="72" y="96"/>
                    </a:cubicBezTo>
                    <a:cubicBezTo>
                      <a:pt x="108" y="96"/>
                      <a:pt x="108" y="96"/>
                      <a:pt x="108" y="96"/>
                    </a:cubicBezTo>
                    <a:lnTo>
                      <a:pt x="108" y="102"/>
                    </a:lnTo>
                    <a:close/>
                    <a:moveTo>
                      <a:pt x="113" y="88"/>
                    </a:moveTo>
                    <a:cubicBezTo>
                      <a:pt x="72" y="88"/>
                      <a:pt x="72" y="88"/>
                      <a:pt x="72" y="88"/>
                    </a:cubicBezTo>
                    <a:cubicBezTo>
                      <a:pt x="65" y="88"/>
                      <a:pt x="60" y="83"/>
                      <a:pt x="60" y="76"/>
                    </a:cubicBezTo>
                    <a:cubicBezTo>
                      <a:pt x="60" y="69"/>
                      <a:pt x="65" y="64"/>
                      <a:pt x="72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0" y="64"/>
                      <a:pt x="113" y="63"/>
                      <a:pt x="114" y="61"/>
                    </a:cubicBezTo>
                    <a:cubicBezTo>
                      <a:pt x="115" y="60"/>
                      <a:pt x="115" y="60"/>
                      <a:pt x="115" y="59"/>
                    </a:cubicBezTo>
                    <a:cubicBezTo>
                      <a:pt x="115" y="59"/>
                      <a:pt x="116" y="59"/>
                      <a:pt x="116" y="59"/>
                    </a:cubicBezTo>
                    <a:cubicBezTo>
                      <a:pt x="118" y="62"/>
                      <a:pt x="120" y="67"/>
                      <a:pt x="120" y="72"/>
                    </a:cubicBezTo>
                    <a:cubicBezTo>
                      <a:pt x="120" y="78"/>
                      <a:pt x="118" y="84"/>
                      <a:pt x="113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70" name="Freeform 153"/>
            <p:cNvSpPr>
              <a:spLocks/>
            </p:cNvSpPr>
            <p:nvPr/>
          </p:nvSpPr>
          <p:spPr bwMode="auto">
            <a:xfrm>
              <a:off x="3600272" y="3954484"/>
              <a:ext cx="455728" cy="455728"/>
            </a:xfrm>
            <a:custGeom>
              <a:avLst/>
              <a:gdLst>
                <a:gd name="T0" fmla="*/ 50 w 62"/>
                <a:gd name="T1" fmla="*/ 49 h 62"/>
                <a:gd name="T2" fmla="*/ 44 w 62"/>
                <a:gd name="T3" fmla="*/ 54 h 62"/>
                <a:gd name="T4" fmla="*/ 24 w 62"/>
                <a:gd name="T5" fmla="*/ 54 h 62"/>
                <a:gd name="T6" fmla="*/ 21 w 62"/>
                <a:gd name="T7" fmla="*/ 50 h 62"/>
                <a:gd name="T8" fmla="*/ 24 w 62"/>
                <a:gd name="T9" fmla="*/ 42 h 62"/>
                <a:gd name="T10" fmla="*/ 56 w 62"/>
                <a:gd name="T11" fmla="*/ 42 h 62"/>
                <a:gd name="T12" fmla="*/ 62 w 62"/>
                <a:gd name="T13" fmla="*/ 14 h 62"/>
                <a:gd name="T14" fmla="*/ 11 w 62"/>
                <a:gd name="T15" fmla="*/ 7 h 62"/>
                <a:gd name="T16" fmla="*/ 7 w 62"/>
                <a:gd name="T17" fmla="*/ 5 h 62"/>
                <a:gd name="T18" fmla="*/ 7 w 62"/>
                <a:gd name="T19" fmla="*/ 4 h 62"/>
                <a:gd name="T20" fmla="*/ 4 w 62"/>
                <a:gd name="T21" fmla="*/ 0 h 62"/>
                <a:gd name="T22" fmla="*/ 0 w 62"/>
                <a:gd name="T23" fmla="*/ 4 h 62"/>
                <a:gd name="T24" fmla="*/ 4 w 62"/>
                <a:gd name="T25" fmla="*/ 8 h 62"/>
                <a:gd name="T26" fmla="*/ 4 w 62"/>
                <a:gd name="T27" fmla="*/ 8 h 62"/>
                <a:gd name="T28" fmla="*/ 9 w 62"/>
                <a:gd name="T29" fmla="*/ 11 h 62"/>
                <a:gd name="T30" fmla="*/ 17 w 62"/>
                <a:gd name="T31" fmla="*/ 42 h 62"/>
                <a:gd name="T32" fmla="*/ 19 w 62"/>
                <a:gd name="T33" fmla="*/ 42 h 62"/>
                <a:gd name="T34" fmla="*/ 17 w 62"/>
                <a:gd name="T35" fmla="*/ 49 h 62"/>
                <a:gd name="T36" fmla="*/ 17 w 62"/>
                <a:gd name="T37" fmla="*/ 49 h 62"/>
                <a:gd name="T38" fmla="*/ 10 w 62"/>
                <a:gd name="T39" fmla="*/ 55 h 62"/>
                <a:gd name="T40" fmla="*/ 17 w 62"/>
                <a:gd name="T41" fmla="*/ 62 h 62"/>
                <a:gd name="T42" fmla="*/ 23 w 62"/>
                <a:gd name="T43" fmla="*/ 58 h 62"/>
                <a:gd name="T44" fmla="*/ 44 w 62"/>
                <a:gd name="T45" fmla="*/ 58 h 62"/>
                <a:gd name="T46" fmla="*/ 50 w 62"/>
                <a:gd name="T47" fmla="*/ 62 h 62"/>
                <a:gd name="T48" fmla="*/ 57 w 62"/>
                <a:gd name="T49" fmla="*/ 55 h 62"/>
                <a:gd name="T50" fmla="*/ 50 w 62"/>
                <a:gd name="T51" fmla="*/ 4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2">
                  <a:moveTo>
                    <a:pt x="50" y="49"/>
                  </a:moveTo>
                  <a:cubicBezTo>
                    <a:pt x="47" y="49"/>
                    <a:pt x="45" y="51"/>
                    <a:pt x="44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3" y="52"/>
                    <a:pt x="22" y="51"/>
                    <a:pt x="21" y="50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3" y="49"/>
                    <a:pt x="10" y="52"/>
                    <a:pt x="10" y="55"/>
                  </a:cubicBezTo>
                  <a:cubicBezTo>
                    <a:pt x="10" y="59"/>
                    <a:pt x="13" y="62"/>
                    <a:pt x="17" y="62"/>
                  </a:cubicBezTo>
                  <a:cubicBezTo>
                    <a:pt x="20" y="62"/>
                    <a:pt x="22" y="60"/>
                    <a:pt x="23" y="58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5" y="60"/>
                    <a:pt x="47" y="62"/>
                    <a:pt x="50" y="62"/>
                  </a:cubicBezTo>
                  <a:cubicBezTo>
                    <a:pt x="54" y="62"/>
                    <a:pt x="57" y="59"/>
                    <a:pt x="57" y="55"/>
                  </a:cubicBezTo>
                  <a:cubicBezTo>
                    <a:pt x="57" y="52"/>
                    <a:pt x="54" y="49"/>
                    <a:pt x="50" y="49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71" name="Freeform 163"/>
            <p:cNvSpPr>
              <a:spLocks/>
            </p:cNvSpPr>
            <p:nvPr/>
          </p:nvSpPr>
          <p:spPr bwMode="auto">
            <a:xfrm rot="5400000">
              <a:off x="3709384" y="4436283"/>
              <a:ext cx="200612" cy="302415"/>
            </a:xfrm>
            <a:custGeom>
              <a:avLst/>
              <a:gdLst>
                <a:gd name="T0" fmla="*/ 77 w 80"/>
                <a:gd name="T1" fmla="*/ 20 h 120"/>
                <a:gd name="T2" fmla="*/ 67 w 80"/>
                <a:gd name="T3" fmla="*/ 20 h 120"/>
                <a:gd name="T4" fmla="*/ 64 w 80"/>
                <a:gd name="T5" fmla="*/ 24 h 120"/>
                <a:gd name="T6" fmla="*/ 64 w 80"/>
                <a:gd name="T7" fmla="*/ 32 h 120"/>
                <a:gd name="T8" fmla="*/ 67 w 80"/>
                <a:gd name="T9" fmla="*/ 36 h 120"/>
                <a:gd name="T10" fmla="*/ 68 w 80"/>
                <a:gd name="T11" fmla="*/ 36 h 120"/>
                <a:gd name="T12" fmla="*/ 52 w 80"/>
                <a:gd name="T13" fmla="*/ 56 h 120"/>
                <a:gd name="T14" fmla="*/ 44 w 80"/>
                <a:gd name="T15" fmla="*/ 60 h 120"/>
                <a:gd name="T16" fmla="*/ 44 w 80"/>
                <a:gd name="T17" fmla="*/ 21 h 120"/>
                <a:gd name="T18" fmla="*/ 56 w 80"/>
                <a:gd name="T19" fmla="*/ 21 h 120"/>
                <a:gd name="T20" fmla="*/ 40 w 80"/>
                <a:gd name="T21" fmla="*/ 0 h 120"/>
                <a:gd name="T22" fmla="*/ 24 w 80"/>
                <a:gd name="T23" fmla="*/ 21 h 120"/>
                <a:gd name="T24" fmla="*/ 36 w 80"/>
                <a:gd name="T25" fmla="*/ 21 h 120"/>
                <a:gd name="T26" fmla="*/ 36 w 80"/>
                <a:gd name="T27" fmla="*/ 75 h 120"/>
                <a:gd name="T28" fmla="*/ 29 w 80"/>
                <a:gd name="T29" fmla="*/ 71 h 120"/>
                <a:gd name="T30" fmla="*/ 12 w 80"/>
                <a:gd name="T31" fmla="*/ 51 h 120"/>
                <a:gd name="T32" fmla="*/ 16 w 80"/>
                <a:gd name="T33" fmla="*/ 46 h 120"/>
                <a:gd name="T34" fmla="*/ 8 w 80"/>
                <a:gd name="T35" fmla="*/ 40 h 120"/>
                <a:gd name="T36" fmla="*/ 0 w 80"/>
                <a:gd name="T37" fmla="*/ 46 h 120"/>
                <a:gd name="T38" fmla="*/ 4 w 80"/>
                <a:gd name="T39" fmla="*/ 51 h 120"/>
                <a:gd name="T40" fmla="*/ 25 w 80"/>
                <a:gd name="T41" fmla="*/ 78 h 120"/>
                <a:gd name="T42" fmla="*/ 36 w 80"/>
                <a:gd name="T43" fmla="*/ 88 h 120"/>
                <a:gd name="T44" fmla="*/ 36 w 80"/>
                <a:gd name="T45" fmla="*/ 97 h 120"/>
                <a:gd name="T46" fmla="*/ 28 w 80"/>
                <a:gd name="T47" fmla="*/ 108 h 120"/>
                <a:gd name="T48" fmla="*/ 40 w 80"/>
                <a:gd name="T49" fmla="*/ 120 h 120"/>
                <a:gd name="T50" fmla="*/ 52 w 80"/>
                <a:gd name="T51" fmla="*/ 108 h 120"/>
                <a:gd name="T52" fmla="*/ 44 w 80"/>
                <a:gd name="T53" fmla="*/ 97 h 120"/>
                <a:gd name="T54" fmla="*/ 44 w 80"/>
                <a:gd name="T55" fmla="*/ 74 h 120"/>
                <a:gd name="T56" fmla="*/ 56 w 80"/>
                <a:gd name="T57" fmla="*/ 63 h 120"/>
                <a:gd name="T58" fmla="*/ 76 w 80"/>
                <a:gd name="T59" fmla="*/ 36 h 120"/>
                <a:gd name="T60" fmla="*/ 77 w 80"/>
                <a:gd name="T61" fmla="*/ 36 h 120"/>
                <a:gd name="T62" fmla="*/ 80 w 80"/>
                <a:gd name="T63" fmla="*/ 32 h 120"/>
                <a:gd name="T64" fmla="*/ 80 w 80"/>
                <a:gd name="T65" fmla="*/ 24 h 120"/>
                <a:gd name="T66" fmla="*/ 77 w 80"/>
                <a:gd name="T67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0">
                  <a:moveTo>
                    <a:pt x="77" y="20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5" y="20"/>
                    <a:pt x="64" y="22"/>
                    <a:pt x="64" y="24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34"/>
                    <a:pt x="65" y="36"/>
                    <a:pt x="67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8" y="47"/>
                    <a:pt x="60" y="51"/>
                    <a:pt x="52" y="56"/>
                  </a:cubicBezTo>
                  <a:cubicBezTo>
                    <a:pt x="49" y="57"/>
                    <a:pt x="46" y="59"/>
                    <a:pt x="44" y="60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75"/>
                    <a:pt x="36" y="75"/>
                    <a:pt x="36" y="75"/>
                  </a:cubicBezTo>
                  <a:cubicBezTo>
                    <a:pt x="34" y="73"/>
                    <a:pt x="31" y="72"/>
                    <a:pt x="29" y="71"/>
                  </a:cubicBezTo>
                  <a:cubicBezTo>
                    <a:pt x="21" y="66"/>
                    <a:pt x="13" y="62"/>
                    <a:pt x="12" y="51"/>
                  </a:cubicBezTo>
                  <a:cubicBezTo>
                    <a:pt x="14" y="50"/>
                    <a:pt x="16" y="48"/>
                    <a:pt x="16" y="46"/>
                  </a:cubicBezTo>
                  <a:cubicBezTo>
                    <a:pt x="16" y="43"/>
                    <a:pt x="12" y="40"/>
                    <a:pt x="8" y="40"/>
                  </a:cubicBezTo>
                  <a:cubicBezTo>
                    <a:pt x="4" y="40"/>
                    <a:pt x="0" y="43"/>
                    <a:pt x="0" y="46"/>
                  </a:cubicBezTo>
                  <a:cubicBezTo>
                    <a:pt x="0" y="48"/>
                    <a:pt x="2" y="50"/>
                    <a:pt x="4" y="51"/>
                  </a:cubicBezTo>
                  <a:cubicBezTo>
                    <a:pt x="6" y="67"/>
                    <a:pt x="17" y="73"/>
                    <a:pt x="25" y="78"/>
                  </a:cubicBezTo>
                  <a:cubicBezTo>
                    <a:pt x="32" y="81"/>
                    <a:pt x="36" y="84"/>
                    <a:pt x="36" y="88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1" y="98"/>
                    <a:pt x="28" y="103"/>
                    <a:pt x="28" y="108"/>
                  </a:cubicBezTo>
                  <a:cubicBezTo>
                    <a:pt x="28" y="115"/>
                    <a:pt x="33" y="120"/>
                    <a:pt x="40" y="120"/>
                  </a:cubicBezTo>
                  <a:cubicBezTo>
                    <a:pt x="47" y="120"/>
                    <a:pt x="52" y="115"/>
                    <a:pt x="52" y="108"/>
                  </a:cubicBezTo>
                  <a:cubicBezTo>
                    <a:pt x="52" y="103"/>
                    <a:pt x="49" y="98"/>
                    <a:pt x="44" y="97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69"/>
                    <a:pt x="48" y="67"/>
                    <a:pt x="56" y="63"/>
                  </a:cubicBezTo>
                  <a:cubicBezTo>
                    <a:pt x="65" y="58"/>
                    <a:pt x="76" y="52"/>
                    <a:pt x="76" y="36"/>
                  </a:cubicBezTo>
                  <a:cubicBezTo>
                    <a:pt x="77" y="36"/>
                    <a:pt x="77" y="36"/>
                    <a:pt x="77" y="36"/>
                  </a:cubicBezTo>
                  <a:cubicBezTo>
                    <a:pt x="79" y="36"/>
                    <a:pt x="80" y="34"/>
                    <a:pt x="80" y="32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2"/>
                    <a:pt x="79" y="20"/>
                    <a:pt x="77" y="20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72" name="Freeform 152"/>
            <p:cNvSpPr>
              <a:spLocks noEditPoints="1"/>
            </p:cNvSpPr>
            <p:nvPr/>
          </p:nvSpPr>
          <p:spPr bwMode="auto">
            <a:xfrm>
              <a:off x="4117025" y="4059495"/>
              <a:ext cx="366157" cy="368581"/>
            </a:xfrm>
            <a:custGeom>
              <a:avLst/>
              <a:gdLst>
                <a:gd name="T0" fmla="*/ 56 w 64"/>
                <a:gd name="T1" fmla="*/ 20 h 64"/>
                <a:gd name="T2" fmla="*/ 44 w 64"/>
                <a:gd name="T3" fmla="*/ 16 h 64"/>
                <a:gd name="T4" fmla="*/ 52 w 64"/>
                <a:gd name="T5" fmla="*/ 12 h 64"/>
                <a:gd name="T6" fmla="*/ 28 w 64"/>
                <a:gd name="T7" fmla="*/ 0 h 64"/>
                <a:gd name="T8" fmla="*/ 37 w 64"/>
                <a:gd name="T9" fmla="*/ 12 h 64"/>
                <a:gd name="T10" fmla="*/ 12 w 64"/>
                <a:gd name="T11" fmla="*/ 16 h 64"/>
                <a:gd name="T12" fmla="*/ 4 w 64"/>
                <a:gd name="T13" fmla="*/ 48 h 64"/>
                <a:gd name="T14" fmla="*/ 0 w 64"/>
                <a:gd name="T15" fmla="*/ 64 h 64"/>
                <a:gd name="T16" fmla="*/ 64 w 64"/>
                <a:gd name="T17" fmla="*/ 48 h 64"/>
                <a:gd name="T18" fmla="*/ 44 w 64"/>
                <a:gd name="T19" fmla="*/ 24 h 64"/>
                <a:gd name="T20" fmla="*/ 48 w 64"/>
                <a:gd name="T21" fmla="*/ 28 h 64"/>
                <a:gd name="T22" fmla="*/ 44 w 64"/>
                <a:gd name="T23" fmla="*/ 24 h 64"/>
                <a:gd name="T24" fmla="*/ 48 w 64"/>
                <a:gd name="T25" fmla="*/ 32 h 64"/>
                <a:gd name="T26" fmla="*/ 44 w 64"/>
                <a:gd name="T27" fmla="*/ 36 h 64"/>
                <a:gd name="T28" fmla="*/ 44 w 64"/>
                <a:gd name="T29" fmla="*/ 40 h 64"/>
                <a:gd name="T30" fmla="*/ 48 w 64"/>
                <a:gd name="T31" fmla="*/ 44 h 64"/>
                <a:gd name="T32" fmla="*/ 44 w 64"/>
                <a:gd name="T33" fmla="*/ 40 h 64"/>
                <a:gd name="T34" fmla="*/ 32 w 64"/>
                <a:gd name="T35" fmla="*/ 4 h 64"/>
                <a:gd name="T36" fmla="*/ 48 w 64"/>
                <a:gd name="T37" fmla="*/ 8 h 64"/>
                <a:gd name="T38" fmla="*/ 36 w 64"/>
                <a:gd name="T39" fmla="*/ 24 h 64"/>
                <a:gd name="T40" fmla="*/ 40 w 64"/>
                <a:gd name="T41" fmla="*/ 28 h 64"/>
                <a:gd name="T42" fmla="*/ 36 w 64"/>
                <a:gd name="T43" fmla="*/ 24 h 64"/>
                <a:gd name="T44" fmla="*/ 40 w 64"/>
                <a:gd name="T45" fmla="*/ 32 h 64"/>
                <a:gd name="T46" fmla="*/ 36 w 64"/>
                <a:gd name="T47" fmla="*/ 36 h 64"/>
                <a:gd name="T48" fmla="*/ 36 w 64"/>
                <a:gd name="T49" fmla="*/ 40 h 64"/>
                <a:gd name="T50" fmla="*/ 40 w 64"/>
                <a:gd name="T51" fmla="*/ 44 h 64"/>
                <a:gd name="T52" fmla="*/ 36 w 64"/>
                <a:gd name="T53" fmla="*/ 40 h 64"/>
                <a:gd name="T54" fmla="*/ 28 w 64"/>
                <a:gd name="T55" fmla="*/ 24 h 64"/>
                <a:gd name="T56" fmla="*/ 12 w 64"/>
                <a:gd name="T57" fmla="*/ 32 h 64"/>
                <a:gd name="T58" fmla="*/ 60 w 64"/>
                <a:gd name="T59" fmla="*/ 56 h 64"/>
                <a:gd name="T60" fmla="*/ 4 w 64"/>
                <a:gd name="T61" fmla="*/ 52 h 64"/>
                <a:gd name="T62" fmla="*/ 60 w 64"/>
                <a:gd name="T63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" h="64">
                  <a:moveTo>
                    <a:pt x="60" y="48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6" y="18"/>
                    <a:pt x="54" y="16"/>
                    <a:pt x="52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0" y="16"/>
                    <a:pt x="8" y="18"/>
                    <a:pt x="8" y="20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48"/>
                    <a:pt x="64" y="48"/>
                    <a:pt x="64" y="48"/>
                  </a:cubicBezTo>
                  <a:lnTo>
                    <a:pt x="60" y="48"/>
                  </a:lnTo>
                  <a:close/>
                  <a:moveTo>
                    <a:pt x="44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4" y="28"/>
                    <a:pt x="44" y="28"/>
                    <a:pt x="44" y="28"/>
                  </a:cubicBezTo>
                  <a:lnTo>
                    <a:pt x="44" y="24"/>
                  </a:lnTo>
                  <a:close/>
                  <a:moveTo>
                    <a:pt x="44" y="32"/>
                  </a:moveTo>
                  <a:cubicBezTo>
                    <a:pt x="48" y="32"/>
                    <a:pt x="48" y="32"/>
                    <a:pt x="48" y="32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4" y="36"/>
                    <a:pt x="44" y="36"/>
                    <a:pt x="44" y="36"/>
                  </a:cubicBezTo>
                  <a:lnTo>
                    <a:pt x="44" y="32"/>
                  </a:lnTo>
                  <a:close/>
                  <a:moveTo>
                    <a:pt x="44" y="40"/>
                  </a:moveTo>
                  <a:cubicBezTo>
                    <a:pt x="48" y="40"/>
                    <a:pt x="48" y="40"/>
                    <a:pt x="48" y="40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4" y="44"/>
                    <a:pt x="44" y="44"/>
                    <a:pt x="44" y="44"/>
                  </a:cubicBezTo>
                  <a:lnTo>
                    <a:pt x="44" y="40"/>
                  </a:lnTo>
                  <a:close/>
                  <a:moveTo>
                    <a:pt x="32" y="8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8"/>
                    <a:pt x="48" y="8"/>
                    <a:pt x="48" y="8"/>
                  </a:cubicBezTo>
                  <a:lnTo>
                    <a:pt x="32" y="8"/>
                  </a:lnTo>
                  <a:close/>
                  <a:moveTo>
                    <a:pt x="36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6" y="28"/>
                    <a:pt x="36" y="28"/>
                    <a:pt x="36" y="28"/>
                  </a:cubicBezTo>
                  <a:lnTo>
                    <a:pt x="36" y="24"/>
                  </a:lnTo>
                  <a:close/>
                  <a:moveTo>
                    <a:pt x="36" y="32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6" y="36"/>
                    <a:pt x="36" y="36"/>
                    <a:pt x="36" y="36"/>
                  </a:cubicBezTo>
                  <a:lnTo>
                    <a:pt x="36" y="32"/>
                  </a:lnTo>
                  <a:close/>
                  <a:moveTo>
                    <a:pt x="36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36" y="40"/>
                  </a:lnTo>
                  <a:close/>
                  <a:moveTo>
                    <a:pt x="12" y="24"/>
                  </a:moveTo>
                  <a:cubicBezTo>
                    <a:pt x="28" y="24"/>
                    <a:pt x="28" y="24"/>
                    <a:pt x="28" y="24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12" y="24"/>
                  </a:lnTo>
                  <a:close/>
                  <a:moveTo>
                    <a:pt x="60" y="56"/>
                  </a:moveTo>
                  <a:cubicBezTo>
                    <a:pt x="4" y="56"/>
                    <a:pt x="4" y="56"/>
                    <a:pt x="4" y="5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0" y="52"/>
                    <a:pt x="60" y="52"/>
                    <a:pt x="60" y="52"/>
                  </a:cubicBezTo>
                  <a:lnTo>
                    <a:pt x="60" y="56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73" name="Freeform 104"/>
            <p:cNvSpPr>
              <a:spLocks/>
            </p:cNvSpPr>
            <p:nvPr/>
          </p:nvSpPr>
          <p:spPr bwMode="auto">
            <a:xfrm>
              <a:off x="4019298" y="4501434"/>
              <a:ext cx="237028" cy="240512"/>
            </a:xfrm>
            <a:custGeom>
              <a:avLst/>
              <a:gdLst>
                <a:gd name="T0" fmla="*/ 136 w 136"/>
                <a:gd name="T1" fmla="*/ 120 h 138"/>
                <a:gd name="T2" fmla="*/ 81 w 136"/>
                <a:gd name="T3" fmla="*/ 65 h 138"/>
                <a:gd name="T4" fmla="*/ 126 w 136"/>
                <a:gd name="T5" fmla="*/ 43 h 138"/>
                <a:gd name="T6" fmla="*/ 0 w 136"/>
                <a:gd name="T7" fmla="*/ 0 h 138"/>
                <a:gd name="T8" fmla="*/ 42 w 136"/>
                <a:gd name="T9" fmla="*/ 128 h 138"/>
                <a:gd name="T10" fmla="*/ 64 w 136"/>
                <a:gd name="T11" fmla="*/ 83 h 138"/>
                <a:gd name="T12" fmla="*/ 118 w 136"/>
                <a:gd name="T13" fmla="*/ 138 h 138"/>
                <a:gd name="T14" fmla="*/ 136 w 136"/>
                <a:gd name="T15" fmla="*/ 12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38">
                  <a:moveTo>
                    <a:pt x="136" y="120"/>
                  </a:moveTo>
                  <a:lnTo>
                    <a:pt x="81" y="65"/>
                  </a:lnTo>
                  <a:lnTo>
                    <a:pt x="126" y="43"/>
                  </a:lnTo>
                  <a:lnTo>
                    <a:pt x="0" y="0"/>
                  </a:lnTo>
                  <a:lnTo>
                    <a:pt x="42" y="128"/>
                  </a:lnTo>
                  <a:lnTo>
                    <a:pt x="64" y="83"/>
                  </a:lnTo>
                  <a:lnTo>
                    <a:pt x="118" y="138"/>
                  </a:lnTo>
                  <a:lnTo>
                    <a:pt x="136" y="120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74" name="Group 199"/>
            <p:cNvGrpSpPr/>
            <p:nvPr/>
          </p:nvGrpSpPr>
          <p:grpSpPr>
            <a:xfrm>
              <a:off x="4321795" y="4484377"/>
              <a:ext cx="395321" cy="269619"/>
              <a:chOff x="11706226" y="5008563"/>
              <a:chExt cx="344488" cy="234950"/>
            </a:xfrm>
            <a:solidFill>
              <a:srgbClr val="DDDBDB"/>
            </a:solidFill>
          </p:grpSpPr>
          <p:sp>
            <p:nvSpPr>
              <p:cNvPr id="95" name="Freeform 315"/>
              <p:cNvSpPr>
                <a:spLocks noEditPoints="1"/>
              </p:cNvSpPr>
              <p:nvPr/>
            </p:nvSpPr>
            <p:spPr bwMode="auto">
              <a:xfrm>
                <a:off x="11709401" y="5008563"/>
                <a:ext cx="341313" cy="149225"/>
              </a:xfrm>
              <a:custGeom>
                <a:avLst/>
                <a:gdLst>
                  <a:gd name="T0" fmla="*/ 64 w 128"/>
                  <a:gd name="T1" fmla="*/ 8 h 56"/>
                  <a:gd name="T2" fmla="*/ 120 w 128"/>
                  <a:gd name="T3" fmla="*/ 30 h 56"/>
                  <a:gd name="T4" fmla="*/ 64 w 128"/>
                  <a:gd name="T5" fmla="*/ 48 h 56"/>
                  <a:gd name="T6" fmla="*/ 8 w 128"/>
                  <a:gd name="T7" fmla="*/ 30 h 56"/>
                  <a:gd name="T8" fmla="*/ 64 w 128"/>
                  <a:gd name="T9" fmla="*/ 8 h 56"/>
                  <a:gd name="T10" fmla="*/ 64 w 128"/>
                  <a:gd name="T11" fmla="*/ 0 h 56"/>
                  <a:gd name="T12" fmla="*/ 61 w 128"/>
                  <a:gd name="T13" fmla="*/ 1 h 56"/>
                  <a:gd name="T14" fmla="*/ 5 w 128"/>
                  <a:gd name="T15" fmla="*/ 22 h 56"/>
                  <a:gd name="T16" fmla="*/ 0 w 128"/>
                  <a:gd name="T17" fmla="*/ 30 h 56"/>
                  <a:gd name="T18" fmla="*/ 6 w 128"/>
                  <a:gd name="T19" fmla="*/ 38 h 56"/>
                  <a:gd name="T20" fmla="*/ 62 w 128"/>
                  <a:gd name="T21" fmla="*/ 56 h 56"/>
                  <a:gd name="T22" fmla="*/ 64 w 128"/>
                  <a:gd name="T23" fmla="*/ 56 h 56"/>
                  <a:gd name="T24" fmla="*/ 66 w 128"/>
                  <a:gd name="T25" fmla="*/ 56 h 56"/>
                  <a:gd name="T26" fmla="*/ 122 w 128"/>
                  <a:gd name="T27" fmla="*/ 38 h 56"/>
                  <a:gd name="T28" fmla="*/ 128 w 128"/>
                  <a:gd name="T29" fmla="*/ 30 h 56"/>
                  <a:gd name="T30" fmla="*/ 123 w 128"/>
                  <a:gd name="T31" fmla="*/ 22 h 56"/>
                  <a:gd name="T32" fmla="*/ 67 w 128"/>
                  <a:gd name="T33" fmla="*/ 1 h 56"/>
                  <a:gd name="T34" fmla="*/ 64 w 128"/>
                  <a:gd name="T3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8" h="56">
                    <a:moveTo>
                      <a:pt x="64" y="8"/>
                    </a:moveTo>
                    <a:cubicBezTo>
                      <a:pt x="120" y="30"/>
                      <a:pt x="120" y="30"/>
                      <a:pt x="120" y="30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64" y="8"/>
                      <a:pt x="64" y="8"/>
                      <a:pt x="64" y="8"/>
                    </a:cubicBezTo>
                    <a:moveTo>
                      <a:pt x="64" y="0"/>
                    </a:moveTo>
                    <a:cubicBezTo>
                      <a:pt x="63" y="0"/>
                      <a:pt x="62" y="0"/>
                      <a:pt x="61" y="1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2" y="24"/>
                      <a:pt x="0" y="27"/>
                      <a:pt x="0" y="30"/>
                    </a:cubicBezTo>
                    <a:cubicBezTo>
                      <a:pt x="0" y="34"/>
                      <a:pt x="2" y="37"/>
                      <a:pt x="6" y="38"/>
                    </a:cubicBezTo>
                    <a:cubicBezTo>
                      <a:pt x="62" y="56"/>
                      <a:pt x="62" y="56"/>
                      <a:pt x="62" y="56"/>
                    </a:cubicBezTo>
                    <a:cubicBezTo>
                      <a:pt x="62" y="56"/>
                      <a:pt x="63" y="56"/>
                      <a:pt x="64" y="56"/>
                    </a:cubicBezTo>
                    <a:cubicBezTo>
                      <a:pt x="65" y="56"/>
                      <a:pt x="66" y="56"/>
                      <a:pt x="66" y="56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26" y="37"/>
                      <a:pt x="128" y="34"/>
                      <a:pt x="128" y="30"/>
                    </a:cubicBezTo>
                    <a:cubicBezTo>
                      <a:pt x="128" y="27"/>
                      <a:pt x="126" y="24"/>
                      <a:pt x="123" y="2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6" y="0"/>
                      <a:pt x="65" y="0"/>
                      <a:pt x="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6" name="Freeform 316"/>
              <p:cNvSpPr>
                <a:spLocks/>
              </p:cNvSpPr>
              <p:nvPr/>
            </p:nvSpPr>
            <p:spPr bwMode="auto">
              <a:xfrm>
                <a:off x="11706226" y="5126038"/>
                <a:ext cx="344488" cy="74613"/>
              </a:xfrm>
              <a:custGeom>
                <a:avLst/>
                <a:gdLst>
                  <a:gd name="T0" fmla="*/ 65 w 129"/>
                  <a:gd name="T1" fmla="*/ 28 h 28"/>
                  <a:gd name="T2" fmla="*/ 64 w 129"/>
                  <a:gd name="T3" fmla="*/ 28 h 28"/>
                  <a:gd name="T4" fmla="*/ 4 w 129"/>
                  <a:gd name="T5" fmla="*/ 8 h 28"/>
                  <a:gd name="T6" fmla="*/ 1 w 129"/>
                  <a:gd name="T7" fmla="*/ 3 h 28"/>
                  <a:gd name="T8" fmla="*/ 6 w 129"/>
                  <a:gd name="T9" fmla="*/ 0 h 28"/>
                  <a:gd name="T10" fmla="*/ 65 w 129"/>
                  <a:gd name="T11" fmla="*/ 20 h 28"/>
                  <a:gd name="T12" fmla="*/ 124 w 129"/>
                  <a:gd name="T13" fmla="*/ 0 h 28"/>
                  <a:gd name="T14" fmla="*/ 129 w 129"/>
                  <a:gd name="T15" fmla="*/ 3 h 28"/>
                  <a:gd name="T16" fmla="*/ 126 w 129"/>
                  <a:gd name="T17" fmla="*/ 8 h 28"/>
                  <a:gd name="T18" fmla="*/ 66 w 129"/>
                  <a:gd name="T19" fmla="*/ 28 h 28"/>
                  <a:gd name="T20" fmla="*/ 65 w 129"/>
                  <a:gd name="T2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9" h="28">
                    <a:moveTo>
                      <a:pt x="65" y="28"/>
                    </a:moveTo>
                    <a:cubicBezTo>
                      <a:pt x="65" y="28"/>
                      <a:pt x="64" y="28"/>
                      <a:pt x="64" y="2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6" y="0"/>
                      <a:pt x="128" y="1"/>
                      <a:pt x="129" y="3"/>
                    </a:cubicBezTo>
                    <a:cubicBezTo>
                      <a:pt x="129" y="5"/>
                      <a:pt x="128" y="7"/>
                      <a:pt x="126" y="8"/>
                    </a:cubicBezTo>
                    <a:cubicBezTo>
                      <a:pt x="66" y="28"/>
                      <a:pt x="66" y="28"/>
                      <a:pt x="66" y="28"/>
                    </a:cubicBezTo>
                    <a:cubicBezTo>
                      <a:pt x="66" y="28"/>
                      <a:pt x="65" y="28"/>
                      <a:pt x="65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7" name="Freeform 317"/>
              <p:cNvSpPr>
                <a:spLocks/>
              </p:cNvSpPr>
              <p:nvPr/>
            </p:nvSpPr>
            <p:spPr bwMode="auto">
              <a:xfrm>
                <a:off x="11706226" y="5168900"/>
                <a:ext cx="344488" cy="74613"/>
              </a:xfrm>
              <a:custGeom>
                <a:avLst/>
                <a:gdLst>
                  <a:gd name="T0" fmla="*/ 65 w 129"/>
                  <a:gd name="T1" fmla="*/ 28 h 28"/>
                  <a:gd name="T2" fmla="*/ 64 w 129"/>
                  <a:gd name="T3" fmla="*/ 28 h 28"/>
                  <a:gd name="T4" fmla="*/ 4 w 129"/>
                  <a:gd name="T5" fmla="*/ 8 h 28"/>
                  <a:gd name="T6" fmla="*/ 1 w 129"/>
                  <a:gd name="T7" fmla="*/ 3 h 28"/>
                  <a:gd name="T8" fmla="*/ 6 w 129"/>
                  <a:gd name="T9" fmla="*/ 0 h 28"/>
                  <a:gd name="T10" fmla="*/ 65 w 129"/>
                  <a:gd name="T11" fmla="*/ 20 h 28"/>
                  <a:gd name="T12" fmla="*/ 124 w 129"/>
                  <a:gd name="T13" fmla="*/ 0 h 28"/>
                  <a:gd name="T14" fmla="*/ 129 w 129"/>
                  <a:gd name="T15" fmla="*/ 3 h 28"/>
                  <a:gd name="T16" fmla="*/ 126 w 129"/>
                  <a:gd name="T17" fmla="*/ 8 h 28"/>
                  <a:gd name="T18" fmla="*/ 66 w 129"/>
                  <a:gd name="T19" fmla="*/ 28 h 28"/>
                  <a:gd name="T20" fmla="*/ 65 w 129"/>
                  <a:gd name="T2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9" h="28">
                    <a:moveTo>
                      <a:pt x="65" y="28"/>
                    </a:moveTo>
                    <a:cubicBezTo>
                      <a:pt x="65" y="28"/>
                      <a:pt x="64" y="28"/>
                      <a:pt x="64" y="2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6" y="0"/>
                      <a:pt x="128" y="1"/>
                      <a:pt x="129" y="3"/>
                    </a:cubicBezTo>
                    <a:cubicBezTo>
                      <a:pt x="129" y="5"/>
                      <a:pt x="128" y="7"/>
                      <a:pt x="126" y="8"/>
                    </a:cubicBezTo>
                    <a:cubicBezTo>
                      <a:pt x="66" y="28"/>
                      <a:pt x="66" y="28"/>
                      <a:pt x="66" y="28"/>
                    </a:cubicBezTo>
                    <a:cubicBezTo>
                      <a:pt x="66" y="28"/>
                      <a:pt x="65" y="28"/>
                      <a:pt x="65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75" name="Group 203"/>
            <p:cNvGrpSpPr/>
            <p:nvPr/>
          </p:nvGrpSpPr>
          <p:grpSpPr>
            <a:xfrm>
              <a:off x="4533244" y="4037009"/>
              <a:ext cx="438149" cy="438149"/>
              <a:chOff x="1493839" y="2932113"/>
              <a:chExt cx="298450" cy="298450"/>
            </a:xfrm>
            <a:solidFill>
              <a:srgbClr val="DDDBDB"/>
            </a:solidFill>
          </p:grpSpPr>
          <p:sp>
            <p:nvSpPr>
              <p:cNvPr id="92" name="Freeform 93"/>
              <p:cNvSpPr>
                <a:spLocks noEditPoints="1"/>
              </p:cNvSpPr>
              <p:nvPr/>
            </p:nvSpPr>
            <p:spPr bwMode="auto">
              <a:xfrm>
                <a:off x="1493839" y="2932113"/>
                <a:ext cx="298450" cy="298450"/>
              </a:xfrm>
              <a:custGeom>
                <a:avLst/>
                <a:gdLst>
                  <a:gd name="T0" fmla="*/ 64 w 112"/>
                  <a:gd name="T1" fmla="*/ 12 h 112"/>
                  <a:gd name="T2" fmla="*/ 78 w 112"/>
                  <a:gd name="T3" fmla="*/ 23 h 112"/>
                  <a:gd name="T4" fmla="*/ 84 w 112"/>
                  <a:gd name="T5" fmla="*/ 18 h 112"/>
                  <a:gd name="T6" fmla="*/ 93 w 112"/>
                  <a:gd name="T7" fmla="*/ 25 h 112"/>
                  <a:gd name="T8" fmla="*/ 89 w 112"/>
                  <a:gd name="T9" fmla="*/ 34 h 112"/>
                  <a:gd name="T10" fmla="*/ 100 w 112"/>
                  <a:gd name="T11" fmla="*/ 48 h 112"/>
                  <a:gd name="T12" fmla="*/ 104 w 112"/>
                  <a:gd name="T13" fmla="*/ 60 h 112"/>
                  <a:gd name="T14" fmla="*/ 95 w 112"/>
                  <a:gd name="T15" fmla="*/ 64 h 112"/>
                  <a:gd name="T16" fmla="*/ 93 w 112"/>
                  <a:gd name="T17" fmla="*/ 81 h 112"/>
                  <a:gd name="T18" fmla="*/ 87 w 112"/>
                  <a:gd name="T19" fmla="*/ 93 h 112"/>
                  <a:gd name="T20" fmla="*/ 81 w 112"/>
                  <a:gd name="T21" fmla="*/ 93 h 112"/>
                  <a:gd name="T22" fmla="*/ 64 w 112"/>
                  <a:gd name="T23" fmla="*/ 95 h 112"/>
                  <a:gd name="T24" fmla="*/ 60 w 112"/>
                  <a:gd name="T25" fmla="*/ 104 h 112"/>
                  <a:gd name="T26" fmla="*/ 48 w 112"/>
                  <a:gd name="T27" fmla="*/ 100 h 112"/>
                  <a:gd name="T28" fmla="*/ 34 w 112"/>
                  <a:gd name="T29" fmla="*/ 89 h 112"/>
                  <a:gd name="T30" fmla="*/ 28 w 112"/>
                  <a:gd name="T31" fmla="*/ 94 h 112"/>
                  <a:gd name="T32" fmla="*/ 19 w 112"/>
                  <a:gd name="T33" fmla="*/ 87 h 112"/>
                  <a:gd name="T34" fmla="*/ 23 w 112"/>
                  <a:gd name="T35" fmla="*/ 78 h 112"/>
                  <a:gd name="T36" fmla="*/ 12 w 112"/>
                  <a:gd name="T37" fmla="*/ 64 h 112"/>
                  <a:gd name="T38" fmla="*/ 8 w 112"/>
                  <a:gd name="T39" fmla="*/ 52 h 112"/>
                  <a:gd name="T40" fmla="*/ 17 w 112"/>
                  <a:gd name="T41" fmla="*/ 48 h 112"/>
                  <a:gd name="T42" fmla="*/ 19 w 112"/>
                  <a:gd name="T43" fmla="*/ 31 h 112"/>
                  <a:gd name="T44" fmla="*/ 25 w 112"/>
                  <a:gd name="T45" fmla="*/ 19 h 112"/>
                  <a:gd name="T46" fmla="*/ 31 w 112"/>
                  <a:gd name="T47" fmla="*/ 19 h 112"/>
                  <a:gd name="T48" fmla="*/ 48 w 112"/>
                  <a:gd name="T49" fmla="*/ 17 h 112"/>
                  <a:gd name="T50" fmla="*/ 52 w 112"/>
                  <a:gd name="T51" fmla="*/ 8 h 112"/>
                  <a:gd name="T52" fmla="*/ 60 w 112"/>
                  <a:gd name="T53" fmla="*/ 0 h 112"/>
                  <a:gd name="T54" fmla="*/ 40 w 112"/>
                  <a:gd name="T55" fmla="*/ 11 h 112"/>
                  <a:gd name="T56" fmla="*/ 28 w 112"/>
                  <a:gd name="T57" fmla="*/ 10 h 112"/>
                  <a:gd name="T58" fmla="*/ 14 w 112"/>
                  <a:gd name="T59" fmla="*/ 19 h 112"/>
                  <a:gd name="T60" fmla="*/ 13 w 112"/>
                  <a:gd name="T61" fmla="*/ 35 h 112"/>
                  <a:gd name="T62" fmla="*/ 0 w 112"/>
                  <a:gd name="T63" fmla="*/ 52 h 112"/>
                  <a:gd name="T64" fmla="*/ 11 w 112"/>
                  <a:gd name="T65" fmla="*/ 72 h 112"/>
                  <a:gd name="T66" fmla="*/ 10 w 112"/>
                  <a:gd name="T67" fmla="*/ 84 h 112"/>
                  <a:gd name="T68" fmla="*/ 19 w 112"/>
                  <a:gd name="T69" fmla="*/ 98 h 112"/>
                  <a:gd name="T70" fmla="*/ 35 w 112"/>
                  <a:gd name="T71" fmla="*/ 99 h 112"/>
                  <a:gd name="T72" fmla="*/ 52 w 112"/>
                  <a:gd name="T73" fmla="*/ 112 h 112"/>
                  <a:gd name="T74" fmla="*/ 72 w 112"/>
                  <a:gd name="T75" fmla="*/ 101 h 112"/>
                  <a:gd name="T76" fmla="*/ 84 w 112"/>
                  <a:gd name="T77" fmla="*/ 102 h 112"/>
                  <a:gd name="T78" fmla="*/ 98 w 112"/>
                  <a:gd name="T79" fmla="*/ 93 h 112"/>
                  <a:gd name="T80" fmla="*/ 99 w 112"/>
                  <a:gd name="T81" fmla="*/ 77 h 112"/>
                  <a:gd name="T82" fmla="*/ 112 w 112"/>
                  <a:gd name="T83" fmla="*/ 60 h 112"/>
                  <a:gd name="T84" fmla="*/ 101 w 112"/>
                  <a:gd name="T85" fmla="*/ 40 h 112"/>
                  <a:gd name="T86" fmla="*/ 102 w 112"/>
                  <a:gd name="T87" fmla="*/ 28 h 112"/>
                  <a:gd name="T88" fmla="*/ 93 w 112"/>
                  <a:gd name="T89" fmla="*/ 14 h 112"/>
                  <a:gd name="T90" fmla="*/ 77 w 112"/>
                  <a:gd name="T91" fmla="*/ 13 h 112"/>
                  <a:gd name="T92" fmla="*/ 60 w 112"/>
                  <a:gd name="T9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12" h="112">
                    <a:moveTo>
                      <a:pt x="60" y="8"/>
                    </a:moveTo>
                    <a:cubicBezTo>
                      <a:pt x="62" y="8"/>
                      <a:pt x="64" y="10"/>
                      <a:pt x="64" y="12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69" y="18"/>
                      <a:pt x="74" y="20"/>
                      <a:pt x="78" y="23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2" y="18"/>
                      <a:pt x="83" y="18"/>
                      <a:pt x="84" y="18"/>
                    </a:cubicBezTo>
                    <a:cubicBezTo>
                      <a:pt x="85" y="18"/>
                      <a:pt x="86" y="18"/>
                      <a:pt x="87" y="19"/>
                    </a:cubicBezTo>
                    <a:cubicBezTo>
                      <a:pt x="93" y="25"/>
                      <a:pt x="93" y="25"/>
                      <a:pt x="93" y="25"/>
                    </a:cubicBezTo>
                    <a:cubicBezTo>
                      <a:pt x="94" y="26"/>
                      <a:pt x="94" y="29"/>
                      <a:pt x="93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2" y="38"/>
                      <a:pt x="94" y="43"/>
                      <a:pt x="95" y="48"/>
                    </a:cubicBezTo>
                    <a:cubicBezTo>
                      <a:pt x="100" y="48"/>
                      <a:pt x="100" y="48"/>
                      <a:pt x="100" y="48"/>
                    </a:cubicBezTo>
                    <a:cubicBezTo>
                      <a:pt x="102" y="48"/>
                      <a:pt x="104" y="50"/>
                      <a:pt x="104" y="52"/>
                    </a:cubicBezTo>
                    <a:cubicBezTo>
                      <a:pt x="104" y="60"/>
                      <a:pt x="104" y="60"/>
                      <a:pt x="104" y="60"/>
                    </a:cubicBezTo>
                    <a:cubicBezTo>
                      <a:pt x="104" y="62"/>
                      <a:pt x="102" y="64"/>
                      <a:pt x="100" y="64"/>
                    </a:cubicBezTo>
                    <a:cubicBezTo>
                      <a:pt x="95" y="64"/>
                      <a:pt x="95" y="64"/>
                      <a:pt x="95" y="64"/>
                    </a:cubicBezTo>
                    <a:cubicBezTo>
                      <a:pt x="94" y="69"/>
                      <a:pt x="92" y="74"/>
                      <a:pt x="89" y="78"/>
                    </a:cubicBezTo>
                    <a:cubicBezTo>
                      <a:pt x="93" y="81"/>
                      <a:pt x="93" y="81"/>
                      <a:pt x="93" y="81"/>
                    </a:cubicBezTo>
                    <a:cubicBezTo>
                      <a:pt x="94" y="83"/>
                      <a:pt x="94" y="86"/>
                      <a:pt x="93" y="87"/>
                    </a:cubicBezTo>
                    <a:cubicBezTo>
                      <a:pt x="87" y="93"/>
                      <a:pt x="87" y="93"/>
                      <a:pt x="87" y="93"/>
                    </a:cubicBezTo>
                    <a:cubicBezTo>
                      <a:pt x="86" y="94"/>
                      <a:pt x="85" y="94"/>
                      <a:pt x="84" y="94"/>
                    </a:cubicBezTo>
                    <a:cubicBezTo>
                      <a:pt x="83" y="94"/>
                      <a:pt x="82" y="94"/>
                      <a:pt x="81" y="93"/>
                    </a:cubicBezTo>
                    <a:cubicBezTo>
                      <a:pt x="78" y="89"/>
                      <a:pt x="78" y="89"/>
                      <a:pt x="78" y="89"/>
                    </a:cubicBezTo>
                    <a:cubicBezTo>
                      <a:pt x="74" y="92"/>
                      <a:pt x="69" y="94"/>
                      <a:pt x="64" y="95"/>
                    </a:cubicBezTo>
                    <a:cubicBezTo>
                      <a:pt x="64" y="100"/>
                      <a:pt x="64" y="100"/>
                      <a:pt x="64" y="100"/>
                    </a:cubicBezTo>
                    <a:cubicBezTo>
                      <a:pt x="64" y="102"/>
                      <a:pt x="62" y="104"/>
                      <a:pt x="60" y="104"/>
                    </a:cubicBezTo>
                    <a:cubicBezTo>
                      <a:pt x="52" y="104"/>
                      <a:pt x="52" y="104"/>
                      <a:pt x="52" y="104"/>
                    </a:cubicBezTo>
                    <a:cubicBezTo>
                      <a:pt x="50" y="104"/>
                      <a:pt x="48" y="102"/>
                      <a:pt x="48" y="100"/>
                    </a:cubicBezTo>
                    <a:cubicBezTo>
                      <a:pt x="48" y="95"/>
                      <a:pt x="48" y="95"/>
                      <a:pt x="48" y="95"/>
                    </a:cubicBezTo>
                    <a:cubicBezTo>
                      <a:pt x="43" y="94"/>
                      <a:pt x="38" y="92"/>
                      <a:pt x="34" y="89"/>
                    </a:cubicBezTo>
                    <a:cubicBezTo>
                      <a:pt x="31" y="93"/>
                      <a:pt x="31" y="93"/>
                      <a:pt x="31" y="93"/>
                    </a:cubicBezTo>
                    <a:cubicBezTo>
                      <a:pt x="30" y="94"/>
                      <a:pt x="29" y="94"/>
                      <a:pt x="28" y="94"/>
                    </a:cubicBezTo>
                    <a:cubicBezTo>
                      <a:pt x="27" y="94"/>
                      <a:pt x="26" y="94"/>
                      <a:pt x="25" y="93"/>
                    </a:cubicBezTo>
                    <a:cubicBezTo>
                      <a:pt x="19" y="87"/>
                      <a:pt x="19" y="87"/>
                      <a:pt x="19" y="87"/>
                    </a:cubicBezTo>
                    <a:cubicBezTo>
                      <a:pt x="18" y="86"/>
                      <a:pt x="18" y="83"/>
                      <a:pt x="19" y="81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0" y="74"/>
                      <a:pt x="18" y="69"/>
                      <a:pt x="17" y="64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0" y="64"/>
                      <a:pt x="8" y="62"/>
                      <a:pt x="8" y="60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0"/>
                      <a:pt x="10" y="48"/>
                      <a:pt x="12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8" y="43"/>
                      <a:pt x="20" y="38"/>
                      <a:pt x="23" y="34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8" y="29"/>
                      <a:pt x="18" y="26"/>
                      <a:pt x="19" y="25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6" y="18"/>
                      <a:pt x="27" y="18"/>
                      <a:pt x="28" y="18"/>
                    </a:cubicBezTo>
                    <a:cubicBezTo>
                      <a:pt x="29" y="18"/>
                      <a:pt x="30" y="18"/>
                      <a:pt x="31" y="19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8" y="20"/>
                      <a:pt x="43" y="18"/>
                      <a:pt x="48" y="17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0"/>
                      <a:pt x="50" y="8"/>
                      <a:pt x="52" y="8"/>
                    </a:cubicBezTo>
                    <a:cubicBezTo>
                      <a:pt x="60" y="8"/>
                      <a:pt x="60" y="8"/>
                      <a:pt x="60" y="8"/>
                    </a:cubicBezTo>
                    <a:moveTo>
                      <a:pt x="60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46" y="0"/>
                      <a:pt x="41" y="5"/>
                      <a:pt x="40" y="11"/>
                    </a:cubicBezTo>
                    <a:cubicBezTo>
                      <a:pt x="38" y="11"/>
                      <a:pt x="37" y="12"/>
                      <a:pt x="35" y="13"/>
                    </a:cubicBezTo>
                    <a:cubicBezTo>
                      <a:pt x="33" y="11"/>
                      <a:pt x="31" y="10"/>
                      <a:pt x="28" y="10"/>
                    </a:cubicBezTo>
                    <a:cubicBezTo>
                      <a:pt x="25" y="10"/>
                      <a:pt x="21" y="11"/>
                      <a:pt x="19" y="14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1" y="22"/>
                      <a:pt x="10" y="25"/>
                      <a:pt x="10" y="28"/>
                    </a:cubicBezTo>
                    <a:cubicBezTo>
                      <a:pt x="10" y="31"/>
                      <a:pt x="11" y="33"/>
                      <a:pt x="13" y="35"/>
                    </a:cubicBezTo>
                    <a:cubicBezTo>
                      <a:pt x="12" y="37"/>
                      <a:pt x="11" y="38"/>
                      <a:pt x="11" y="40"/>
                    </a:cubicBezTo>
                    <a:cubicBezTo>
                      <a:pt x="5" y="41"/>
                      <a:pt x="0" y="46"/>
                      <a:pt x="0" y="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6"/>
                      <a:pt x="5" y="71"/>
                      <a:pt x="11" y="72"/>
                    </a:cubicBezTo>
                    <a:cubicBezTo>
                      <a:pt x="11" y="74"/>
                      <a:pt x="12" y="75"/>
                      <a:pt x="13" y="77"/>
                    </a:cubicBezTo>
                    <a:cubicBezTo>
                      <a:pt x="11" y="79"/>
                      <a:pt x="10" y="81"/>
                      <a:pt x="10" y="84"/>
                    </a:cubicBezTo>
                    <a:cubicBezTo>
                      <a:pt x="10" y="87"/>
                      <a:pt x="11" y="91"/>
                      <a:pt x="14" y="93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21" y="101"/>
                      <a:pt x="25" y="102"/>
                      <a:pt x="28" y="102"/>
                    </a:cubicBezTo>
                    <a:cubicBezTo>
                      <a:pt x="31" y="102"/>
                      <a:pt x="33" y="101"/>
                      <a:pt x="35" y="99"/>
                    </a:cubicBezTo>
                    <a:cubicBezTo>
                      <a:pt x="37" y="100"/>
                      <a:pt x="38" y="101"/>
                      <a:pt x="40" y="101"/>
                    </a:cubicBezTo>
                    <a:cubicBezTo>
                      <a:pt x="41" y="107"/>
                      <a:pt x="46" y="112"/>
                      <a:pt x="52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6" y="112"/>
                      <a:pt x="71" y="107"/>
                      <a:pt x="72" y="101"/>
                    </a:cubicBezTo>
                    <a:cubicBezTo>
                      <a:pt x="74" y="101"/>
                      <a:pt x="75" y="100"/>
                      <a:pt x="77" y="99"/>
                    </a:cubicBezTo>
                    <a:cubicBezTo>
                      <a:pt x="79" y="101"/>
                      <a:pt x="81" y="102"/>
                      <a:pt x="84" y="102"/>
                    </a:cubicBezTo>
                    <a:cubicBezTo>
                      <a:pt x="87" y="102"/>
                      <a:pt x="91" y="101"/>
                      <a:pt x="93" y="98"/>
                    </a:cubicBezTo>
                    <a:cubicBezTo>
                      <a:pt x="98" y="93"/>
                      <a:pt x="98" y="93"/>
                      <a:pt x="98" y="93"/>
                    </a:cubicBezTo>
                    <a:cubicBezTo>
                      <a:pt x="101" y="91"/>
                      <a:pt x="102" y="87"/>
                      <a:pt x="102" y="84"/>
                    </a:cubicBezTo>
                    <a:cubicBezTo>
                      <a:pt x="102" y="81"/>
                      <a:pt x="101" y="79"/>
                      <a:pt x="99" y="77"/>
                    </a:cubicBezTo>
                    <a:cubicBezTo>
                      <a:pt x="100" y="75"/>
                      <a:pt x="101" y="74"/>
                      <a:pt x="101" y="72"/>
                    </a:cubicBezTo>
                    <a:cubicBezTo>
                      <a:pt x="107" y="71"/>
                      <a:pt x="112" y="66"/>
                      <a:pt x="112" y="60"/>
                    </a:cubicBezTo>
                    <a:cubicBezTo>
                      <a:pt x="112" y="52"/>
                      <a:pt x="112" y="52"/>
                      <a:pt x="112" y="52"/>
                    </a:cubicBezTo>
                    <a:cubicBezTo>
                      <a:pt x="112" y="46"/>
                      <a:pt x="107" y="41"/>
                      <a:pt x="101" y="40"/>
                    </a:cubicBezTo>
                    <a:cubicBezTo>
                      <a:pt x="101" y="38"/>
                      <a:pt x="100" y="37"/>
                      <a:pt x="99" y="35"/>
                    </a:cubicBezTo>
                    <a:cubicBezTo>
                      <a:pt x="101" y="33"/>
                      <a:pt x="102" y="31"/>
                      <a:pt x="102" y="28"/>
                    </a:cubicBezTo>
                    <a:cubicBezTo>
                      <a:pt x="102" y="25"/>
                      <a:pt x="101" y="22"/>
                      <a:pt x="98" y="19"/>
                    </a:cubicBezTo>
                    <a:cubicBezTo>
                      <a:pt x="93" y="14"/>
                      <a:pt x="93" y="14"/>
                      <a:pt x="93" y="14"/>
                    </a:cubicBezTo>
                    <a:cubicBezTo>
                      <a:pt x="91" y="11"/>
                      <a:pt x="87" y="10"/>
                      <a:pt x="84" y="10"/>
                    </a:cubicBezTo>
                    <a:cubicBezTo>
                      <a:pt x="81" y="10"/>
                      <a:pt x="79" y="11"/>
                      <a:pt x="77" y="13"/>
                    </a:cubicBezTo>
                    <a:cubicBezTo>
                      <a:pt x="75" y="12"/>
                      <a:pt x="74" y="11"/>
                      <a:pt x="72" y="11"/>
                    </a:cubicBezTo>
                    <a:cubicBezTo>
                      <a:pt x="71" y="5"/>
                      <a:pt x="66" y="0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3" name="Freeform 94"/>
              <p:cNvSpPr>
                <a:spLocks noEditPoints="1"/>
              </p:cNvSpPr>
              <p:nvPr/>
            </p:nvSpPr>
            <p:spPr bwMode="auto">
              <a:xfrm>
                <a:off x="1573214" y="3011488"/>
                <a:ext cx="138113" cy="139700"/>
              </a:xfrm>
              <a:custGeom>
                <a:avLst/>
                <a:gdLst>
                  <a:gd name="T0" fmla="*/ 26 w 52"/>
                  <a:gd name="T1" fmla="*/ 52 h 52"/>
                  <a:gd name="T2" fmla="*/ 0 w 52"/>
                  <a:gd name="T3" fmla="*/ 26 h 52"/>
                  <a:gd name="T4" fmla="*/ 26 w 52"/>
                  <a:gd name="T5" fmla="*/ 0 h 52"/>
                  <a:gd name="T6" fmla="*/ 52 w 52"/>
                  <a:gd name="T7" fmla="*/ 26 h 52"/>
                  <a:gd name="T8" fmla="*/ 26 w 52"/>
                  <a:gd name="T9" fmla="*/ 52 h 52"/>
                  <a:gd name="T10" fmla="*/ 26 w 52"/>
                  <a:gd name="T11" fmla="*/ 4 h 52"/>
                  <a:gd name="T12" fmla="*/ 4 w 52"/>
                  <a:gd name="T13" fmla="*/ 26 h 52"/>
                  <a:gd name="T14" fmla="*/ 26 w 52"/>
                  <a:gd name="T15" fmla="*/ 48 h 52"/>
                  <a:gd name="T16" fmla="*/ 48 w 52"/>
                  <a:gd name="T17" fmla="*/ 26 h 52"/>
                  <a:gd name="T18" fmla="*/ 26 w 52"/>
                  <a:gd name="T19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2" h="52">
                    <a:moveTo>
                      <a:pt x="26" y="52"/>
                    </a:moveTo>
                    <a:cubicBezTo>
                      <a:pt x="12" y="52"/>
                      <a:pt x="0" y="40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2" y="12"/>
                      <a:pt x="52" y="26"/>
                    </a:cubicBezTo>
                    <a:cubicBezTo>
                      <a:pt x="52" y="40"/>
                      <a:pt x="40" y="52"/>
                      <a:pt x="26" y="52"/>
                    </a:cubicBezTo>
                    <a:close/>
                    <a:moveTo>
                      <a:pt x="26" y="4"/>
                    </a:moveTo>
                    <a:cubicBezTo>
                      <a:pt x="14" y="4"/>
                      <a:pt x="4" y="14"/>
                      <a:pt x="4" y="26"/>
                    </a:cubicBezTo>
                    <a:cubicBezTo>
                      <a:pt x="4" y="38"/>
                      <a:pt x="14" y="48"/>
                      <a:pt x="26" y="48"/>
                    </a:cubicBezTo>
                    <a:cubicBezTo>
                      <a:pt x="38" y="48"/>
                      <a:pt x="48" y="38"/>
                      <a:pt x="48" y="26"/>
                    </a:cubicBezTo>
                    <a:cubicBezTo>
                      <a:pt x="48" y="14"/>
                      <a:pt x="38" y="4"/>
                      <a:pt x="2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4" name="Freeform 95"/>
              <p:cNvSpPr>
                <a:spLocks noEditPoints="1"/>
              </p:cNvSpPr>
              <p:nvPr/>
            </p:nvSpPr>
            <p:spPr bwMode="auto">
              <a:xfrm>
                <a:off x="1604964" y="3043238"/>
                <a:ext cx="74613" cy="74613"/>
              </a:xfrm>
              <a:custGeom>
                <a:avLst/>
                <a:gdLst>
                  <a:gd name="T0" fmla="*/ 14 w 28"/>
                  <a:gd name="T1" fmla="*/ 28 h 28"/>
                  <a:gd name="T2" fmla="*/ 0 w 28"/>
                  <a:gd name="T3" fmla="*/ 14 h 28"/>
                  <a:gd name="T4" fmla="*/ 14 w 28"/>
                  <a:gd name="T5" fmla="*/ 0 h 28"/>
                  <a:gd name="T6" fmla="*/ 28 w 28"/>
                  <a:gd name="T7" fmla="*/ 14 h 28"/>
                  <a:gd name="T8" fmla="*/ 14 w 28"/>
                  <a:gd name="T9" fmla="*/ 28 h 28"/>
                  <a:gd name="T10" fmla="*/ 14 w 28"/>
                  <a:gd name="T11" fmla="*/ 4 h 28"/>
                  <a:gd name="T12" fmla="*/ 4 w 28"/>
                  <a:gd name="T13" fmla="*/ 14 h 28"/>
                  <a:gd name="T14" fmla="*/ 14 w 28"/>
                  <a:gd name="T15" fmla="*/ 24 h 28"/>
                  <a:gd name="T16" fmla="*/ 24 w 28"/>
                  <a:gd name="T17" fmla="*/ 14 h 28"/>
                  <a:gd name="T18" fmla="*/ 14 w 28"/>
                  <a:gd name="T19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28">
                    <a:moveTo>
                      <a:pt x="14" y="28"/>
                    </a:moveTo>
                    <a:cubicBezTo>
                      <a:pt x="6" y="28"/>
                      <a:pt x="0" y="22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ubicBezTo>
                      <a:pt x="28" y="22"/>
                      <a:pt x="22" y="28"/>
                      <a:pt x="14" y="28"/>
                    </a:cubicBezTo>
                    <a:close/>
                    <a:moveTo>
                      <a:pt x="14" y="4"/>
                    </a:moveTo>
                    <a:cubicBezTo>
                      <a:pt x="8" y="4"/>
                      <a:pt x="4" y="8"/>
                      <a:pt x="4" y="14"/>
                    </a:cubicBezTo>
                    <a:cubicBezTo>
                      <a:pt x="4" y="20"/>
                      <a:pt x="8" y="24"/>
                      <a:pt x="14" y="24"/>
                    </a:cubicBezTo>
                    <a:cubicBezTo>
                      <a:pt x="20" y="24"/>
                      <a:pt x="24" y="20"/>
                      <a:pt x="24" y="14"/>
                    </a:cubicBezTo>
                    <a:cubicBezTo>
                      <a:pt x="24" y="8"/>
                      <a:pt x="20" y="4"/>
                      <a:pt x="1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76" name="Freeform 113"/>
            <p:cNvSpPr>
              <a:spLocks noEditPoints="1"/>
            </p:cNvSpPr>
            <p:nvPr/>
          </p:nvSpPr>
          <p:spPr bwMode="auto">
            <a:xfrm>
              <a:off x="4810354" y="4412227"/>
              <a:ext cx="288648" cy="280321"/>
            </a:xfrm>
            <a:custGeom>
              <a:avLst/>
              <a:gdLst>
                <a:gd name="T0" fmla="*/ 94 w 132"/>
                <a:gd name="T1" fmla="*/ 0 h 128"/>
                <a:gd name="T2" fmla="*/ 56 w 132"/>
                <a:gd name="T3" fmla="*/ 27 h 128"/>
                <a:gd name="T4" fmla="*/ 55 w 132"/>
                <a:gd name="T5" fmla="*/ 27 h 128"/>
                <a:gd name="T6" fmla="*/ 14 w 132"/>
                <a:gd name="T7" fmla="*/ 69 h 128"/>
                <a:gd name="T8" fmla="*/ 1 w 132"/>
                <a:gd name="T9" fmla="*/ 110 h 128"/>
                <a:gd name="T10" fmla="*/ 14 w 132"/>
                <a:gd name="T11" fmla="*/ 128 h 128"/>
                <a:gd name="T12" fmla="*/ 53 w 132"/>
                <a:gd name="T13" fmla="*/ 118 h 128"/>
                <a:gd name="T14" fmla="*/ 120 w 132"/>
                <a:gd name="T15" fmla="*/ 53 h 128"/>
                <a:gd name="T16" fmla="*/ 64 w 132"/>
                <a:gd name="T17" fmla="*/ 95 h 128"/>
                <a:gd name="T18" fmla="*/ 99 w 132"/>
                <a:gd name="T19" fmla="*/ 47 h 128"/>
                <a:gd name="T20" fmla="*/ 95 w 132"/>
                <a:gd name="T21" fmla="*/ 67 h 128"/>
                <a:gd name="T22" fmla="*/ 64 w 132"/>
                <a:gd name="T23" fmla="*/ 98 h 128"/>
                <a:gd name="T24" fmla="*/ 59 w 132"/>
                <a:gd name="T25" fmla="*/ 81 h 128"/>
                <a:gd name="T26" fmla="*/ 46 w 132"/>
                <a:gd name="T27" fmla="*/ 68 h 128"/>
                <a:gd name="T28" fmla="*/ 92 w 132"/>
                <a:gd name="T29" fmla="*/ 36 h 128"/>
                <a:gd name="T30" fmla="*/ 59 w 132"/>
                <a:gd name="T31" fmla="*/ 81 h 128"/>
                <a:gd name="T32" fmla="*/ 30 w 132"/>
                <a:gd name="T33" fmla="*/ 64 h 128"/>
                <a:gd name="T34" fmla="*/ 80 w 132"/>
                <a:gd name="T35" fmla="*/ 29 h 128"/>
                <a:gd name="T36" fmla="*/ 17 w 132"/>
                <a:gd name="T37" fmla="*/ 119 h 128"/>
                <a:gd name="T38" fmla="*/ 8 w 132"/>
                <a:gd name="T39" fmla="*/ 114 h 128"/>
                <a:gd name="T40" fmla="*/ 13 w 132"/>
                <a:gd name="T41" fmla="*/ 96 h 128"/>
                <a:gd name="T42" fmla="*/ 32 w 132"/>
                <a:gd name="T43" fmla="*/ 116 h 128"/>
                <a:gd name="T44" fmla="*/ 35 w 132"/>
                <a:gd name="T45" fmla="*/ 115 h 128"/>
                <a:gd name="T46" fmla="*/ 14 w 132"/>
                <a:gd name="T47" fmla="*/ 92 h 128"/>
                <a:gd name="T48" fmla="*/ 19 w 132"/>
                <a:gd name="T49" fmla="*/ 75 h 128"/>
                <a:gd name="T50" fmla="*/ 52 w 132"/>
                <a:gd name="T51" fmla="*/ 110 h 128"/>
                <a:gd name="T52" fmla="*/ 35 w 132"/>
                <a:gd name="T53" fmla="*/ 115 h 128"/>
                <a:gd name="T54" fmla="*/ 108 w 132"/>
                <a:gd name="T55" fmla="*/ 54 h 128"/>
                <a:gd name="T56" fmla="*/ 98 w 132"/>
                <a:gd name="T57" fmla="*/ 30 h 128"/>
                <a:gd name="T58" fmla="*/ 81 w 132"/>
                <a:gd name="T59" fmla="*/ 13 h 128"/>
                <a:gd name="T60" fmla="*/ 112 w 132"/>
                <a:gd name="T61" fmla="*/ 16 h 128"/>
                <a:gd name="T62" fmla="*/ 115 w 132"/>
                <a:gd name="T63" fmla="*/ 4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28">
                  <a:moveTo>
                    <a:pt x="118" y="10"/>
                  </a:moveTo>
                  <a:cubicBezTo>
                    <a:pt x="111" y="4"/>
                    <a:pt x="102" y="0"/>
                    <a:pt x="94" y="0"/>
                  </a:cubicBezTo>
                  <a:cubicBezTo>
                    <a:pt x="87" y="0"/>
                    <a:pt x="80" y="3"/>
                    <a:pt x="75" y="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2" y="71"/>
                    <a:pt x="11" y="73"/>
                    <a:pt x="10" y="76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1" y="110"/>
                    <a:pt x="0" y="113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6" y="128"/>
                    <a:pt x="19" y="127"/>
                    <a:pt x="19" y="127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5" y="118"/>
                    <a:pt x="57" y="116"/>
                    <a:pt x="59" y="114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32" y="42"/>
                    <a:pt x="130" y="23"/>
                    <a:pt x="118" y="10"/>
                  </a:cubicBezTo>
                  <a:close/>
                  <a:moveTo>
                    <a:pt x="64" y="95"/>
                  </a:moveTo>
                  <a:cubicBezTo>
                    <a:pt x="64" y="92"/>
                    <a:pt x="63" y="88"/>
                    <a:pt x="61" y="85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101" y="54"/>
                    <a:pt x="100" y="62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97"/>
                    <a:pt x="64" y="96"/>
                    <a:pt x="64" y="95"/>
                  </a:cubicBezTo>
                  <a:close/>
                  <a:moveTo>
                    <a:pt x="59" y="81"/>
                  </a:moveTo>
                  <a:cubicBezTo>
                    <a:pt x="58" y="79"/>
                    <a:pt x="56" y="76"/>
                    <a:pt x="54" y="74"/>
                  </a:cubicBezTo>
                  <a:cubicBezTo>
                    <a:pt x="51" y="72"/>
                    <a:pt x="49" y="70"/>
                    <a:pt x="46" y="6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7" y="31"/>
                    <a:pt x="90" y="33"/>
                    <a:pt x="92" y="36"/>
                  </a:cubicBezTo>
                  <a:cubicBezTo>
                    <a:pt x="94" y="38"/>
                    <a:pt x="96" y="40"/>
                    <a:pt x="97" y="43"/>
                  </a:cubicBezTo>
                  <a:lnTo>
                    <a:pt x="59" y="81"/>
                  </a:lnTo>
                  <a:close/>
                  <a:moveTo>
                    <a:pt x="42" y="66"/>
                  </a:moveTo>
                  <a:cubicBezTo>
                    <a:pt x="38" y="65"/>
                    <a:pt x="34" y="64"/>
                    <a:pt x="30" y="6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6" y="28"/>
                    <a:pt x="73" y="27"/>
                    <a:pt x="80" y="29"/>
                  </a:cubicBezTo>
                  <a:lnTo>
                    <a:pt x="42" y="66"/>
                  </a:lnTo>
                  <a:close/>
                  <a:moveTo>
                    <a:pt x="17" y="119"/>
                  </a:moveTo>
                  <a:cubicBezTo>
                    <a:pt x="16" y="120"/>
                    <a:pt x="15" y="120"/>
                    <a:pt x="14" y="120"/>
                  </a:cubicBezTo>
                  <a:cubicBezTo>
                    <a:pt x="11" y="120"/>
                    <a:pt x="8" y="117"/>
                    <a:pt x="8" y="114"/>
                  </a:cubicBezTo>
                  <a:cubicBezTo>
                    <a:pt x="8" y="113"/>
                    <a:pt x="8" y="112"/>
                    <a:pt x="8" y="11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7" y="96"/>
                    <a:pt x="22" y="98"/>
                    <a:pt x="26" y="102"/>
                  </a:cubicBezTo>
                  <a:cubicBezTo>
                    <a:pt x="30" y="106"/>
                    <a:pt x="32" y="111"/>
                    <a:pt x="32" y="116"/>
                  </a:cubicBezTo>
                  <a:lnTo>
                    <a:pt x="17" y="119"/>
                  </a:lnTo>
                  <a:close/>
                  <a:moveTo>
                    <a:pt x="35" y="115"/>
                  </a:moveTo>
                  <a:cubicBezTo>
                    <a:pt x="35" y="109"/>
                    <a:pt x="33" y="104"/>
                    <a:pt x="29" y="99"/>
                  </a:cubicBezTo>
                  <a:cubicBezTo>
                    <a:pt x="25" y="95"/>
                    <a:pt x="19" y="93"/>
                    <a:pt x="14" y="9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7"/>
                    <a:pt x="19" y="76"/>
                    <a:pt x="19" y="75"/>
                  </a:cubicBezTo>
                  <a:cubicBezTo>
                    <a:pt x="27" y="69"/>
                    <a:pt x="40" y="71"/>
                    <a:pt x="48" y="80"/>
                  </a:cubicBezTo>
                  <a:cubicBezTo>
                    <a:pt x="57" y="89"/>
                    <a:pt x="59" y="102"/>
                    <a:pt x="52" y="110"/>
                  </a:cubicBezTo>
                  <a:cubicBezTo>
                    <a:pt x="51" y="110"/>
                    <a:pt x="51" y="111"/>
                    <a:pt x="50" y="111"/>
                  </a:cubicBezTo>
                  <a:lnTo>
                    <a:pt x="35" y="115"/>
                  </a:lnTo>
                  <a:close/>
                  <a:moveTo>
                    <a:pt x="115" y="47"/>
                  </a:moveTo>
                  <a:cubicBezTo>
                    <a:pt x="108" y="54"/>
                    <a:pt x="108" y="54"/>
                    <a:pt x="108" y="54"/>
                  </a:cubicBezTo>
                  <a:cubicBezTo>
                    <a:pt x="108" y="53"/>
                    <a:pt x="108" y="52"/>
                    <a:pt x="108" y="51"/>
                  </a:cubicBezTo>
                  <a:cubicBezTo>
                    <a:pt x="107" y="43"/>
                    <a:pt x="104" y="36"/>
                    <a:pt x="98" y="30"/>
                  </a:cubicBezTo>
                  <a:cubicBezTo>
                    <a:pt x="91" y="24"/>
                    <a:pt x="83" y="20"/>
                    <a:pt x="74" y="20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4" y="10"/>
                    <a:pt x="89" y="8"/>
                    <a:pt x="94" y="8"/>
                  </a:cubicBezTo>
                  <a:cubicBezTo>
                    <a:pt x="100" y="8"/>
                    <a:pt x="107" y="11"/>
                    <a:pt x="112" y="16"/>
                  </a:cubicBezTo>
                  <a:cubicBezTo>
                    <a:pt x="117" y="21"/>
                    <a:pt x="120" y="27"/>
                    <a:pt x="120" y="33"/>
                  </a:cubicBezTo>
                  <a:cubicBezTo>
                    <a:pt x="120" y="38"/>
                    <a:pt x="118" y="43"/>
                    <a:pt x="115" y="47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grpSp>
          <p:nvGrpSpPr>
            <p:cNvPr id="77" name="Group 211"/>
            <p:cNvGrpSpPr/>
            <p:nvPr/>
          </p:nvGrpSpPr>
          <p:grpSpPr>
            <a:xfrm rot="20646933">
              <a:off x="4951653" y="3837138"/>
              <a:ext cx="318760" cy="329457"/>
              <a:chOff x="4054476" y="1160463"/>
              <a:chExt cx="236537" cy="244475"/>
            </a:xfrm>
            <a:solidFill>
              <a:srgbClr val="DDDBDB"/>
            </a:solidFill>
          </p:grpSpPr>
          <p:sp>
            <p:nvSpPr>
              <p:cNvPr id="90" name="Freeform 58"/>
              <p:cNvSpPr>
                <a:spLocks/>
              </p:cNvSpPr>
              <p:nvPr/>
            </p:nvSpPr>
            <p:spPr bwMode="auto">
              <a:xfrm>
                <a:off x="4144963" y="1160463"/>
                <a:ext cx="146050" cy="146050"/>
              </a:xfrm>
              <a:custGeom>
                <a:avLst/>
                <a:gdLst>
                  <a:gd name="T0" fmla="*/ 37 w 39"/>
                  <a:gd name="T1" fmla="*/ 2 h 39"/>
                  <a:gd name="T2" fmla="*/ 31 w 39"/>
                  <a:gd name="T3" fmla="*/ 3 h 39"/>
                  <a:gd name="T4" fmla="*/ 12 w 39"/>
                  <a:gd name="T5" fmla="*/ 22 h 39"/>
                  <a:gd name="T6" fmla="*/ 0 w 39"/>
                  <a:gd name="T7" fmla="*/ 29 h 39"/>
                  <a:gd name="T8" fmla="*/ 10 w 39"/>
                  <a:gd name="T9" fmla="*/ 39 h 39"/>
                  <a:gd name="T10" fmla="*/ 17 w 39"/>
                  <a:gd name="T11" fmla="*/ 27 h 39"/>
                  <a:gd name="T12" fmla="*/ 36 w 39"/>
                  <a:gd name="T13" fmla="*/ 8 h 39"/>
                  <a:gd name="T14" fmla="*/ 37 w 39"/>
                  <a:gd name="T15" fmla="*/ 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9">
                    <a:moveTo>
                      <a:pt x="37" y="2"/>
                    </a:moveTo>
                    <a:cubicBezTo>
                      <a:pt x="34" y="0"/>
                      <a:pt x="31" y="3"/>
                      <a:pt x="31" y="3"/>
                    </a:cubicBezTo>
                    <a:cubicBezTo>
                      <a:pt x="31" y="3"/>
                      <a:pt x="15" y="19"/>
                      <a:pt x="12" y="22"/>
                    </a:cubicBezTo>
                    <a:cubicBezTo>
                      <a:pt x="9" y="25"/>
                      <a:pt x="0" y="29"/>
                      <a:pt x="0" y="2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0" y="39"/>
                      <a:pt x="14" y="30"/>
                      <a:pt x="17" y="27"/>
                    </a:cubicBezTo>
                    <a:cubicBezTo>
                      <a:pt x="20" y="24"/>
                      <a:pt x="36" y="8"/>
                      <a:pt x="36" y="8"/>
                    </a:cubicBezTo>
                    <a:cubicBezTo>
                      <a:pt x="36" y="8"/>
                      <a:pt x="39" y="5"/>
                      <a:pt x="3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91" name="Freeform 59"/>
              <p:cNvSpPr>
                <a:spLocks noEditPoints="1"/>
              </p:cNvSpPr>
              <p:nvPr/>
            </p:nvSpPr>
            <p:spPr bwMode="auto">
              <a:xfrm>
                <a:off x="4054476" y="1281113"/>
                <a:ext cx="115888" cy="123825"/>
              </a:xfrm>
              <a:custGeom>
                <a:avLst/>
                <a:gdLst>
                  <a:gd name="T0" fmla="*/ 12 w 31"/>
                  <a:gd name="T1" fmla="*/ 7 h 33"/>
                  <a:gd name="T2" fmla="*/ 0 w 31"/>
                  <a:gd name="T3" fmla="*/ 27 h 33"/>
                  <a:gd name="T4" fmla="*/ 31 w 31"/>
                  <a:gd name="T5" fmla="*/ 10 h 33"/>
                  <a:gd name="T6" fmla="*/ 21 w 31"/>
                  <a:gd name="T7" fmla="*/ 0 h 33"/>
                  <a:gd name="T8" fmla="*/ 12 w 31"/>
                  <a:gd name="T9" fmla="*/ 7 h 33"/>
                  <a:gd name="T10" fmla="*/ 9 w 31"/>
                  <a:gd name="T11" fmla="*/ 24 h 33"/>
                  <a:gd name="T12" fmla="*/ 20 w 31"/>
                  <a:gd name="T13" fmla="*/ 4 h 33"/>
                  <a:gd name="T14" fmla="*/ 9 w 31"/>
                  <a:gd name="T15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33">
                    <a:moveTo>
                      <a:pt x="12" y="7"/>
                    </a:moveTo>
                    <a:cubicBezTo>
                      <a:pt x="7" y="19"/>
                      <a:pt x="8" y="25"/>
                      <a:pt x="0" y="27"/>
                    </a:cubicBezTo>
                    <a:cubicBezTo>
                      <a:pt x="31" y="33"/>
                      <a:pt x="31" y="10"/>
                      <a:pt x="31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14" y="2"/>
                      <a:pt x="12" y="7"/>
                    </a:cubicBezTo>
                    <a:close/>
                    <a:moveTo>
                      <a:pt x="9" y="24"/>
                    </a:moveTo>
                    <a:cubicBezTo>
                      <a:pt x="11" y="21"/>
                      <a:pt x="15" y="8"/>
                      <a:pt x="20" y="4"/>
                    </a:cubicBezTo>
                    <a:cubicBezTo>
                      <a:pt x="23" y="7"/>
                      <a:pt x="20" y="17"/>
                      <a:pt x="9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grpSp>
          <p:nvGrpSpPr>
            <p:cNvPr id="78" name="Group 214"/>
            <p:cNvGrpSpPr/>
            <p:nvPr/>
          </p:nvGrpSpPr>
          <p:grpSpPr>
            <a:xfrm>
              <a:off x="5255546" y="3792748"/>
              <a:ext cx="365184" cy="204216"/>
              <a:chOff x="6457951" y="3654426"/>
              <a:chExt cx="241300" cy="134938"/>
            </a:xfrm>
            <a:solidFill>
              <a:srgbClr val="DDDBDB"/>
            </a:solidFill>
          </p:grpSpPr>
          <p:sp>
            <p:nvSpPr>
              <p:cNvPr id="88" name="Freeform 380"/>
              <p:cNvSpPr>
                <a:spLocks noEditPoints="1"/>
              </p:cNvSpPr>
              <p:nvPr/>
            </p:nvSpPr>
            <p:spPr bwMode="auto">
              <a:xfrm>
                <a:off x="6457951" y="3654426"/>
                <a:ext cx="241300" cy="134938"/>
              </a:xfrm>
              <a:custGeom>
                <a:avLst/>
                <a:gdLst>
                  <a:gd name="T0" fmla="*/ 142 w 152"/>
                  <a:gd name="T1" fmla="*/ 28 h 85"/>
                  <a:gd name="T2" fmla="*/ 142 w 152"/>
                  <a:gd name="T3" fmla="*/ 0 h 85"/>
                  <a:gd name="T4" fmla="*/ 0 w 152"/>
                  <a:gd name="T5" fmla="*/ 0 h 85"/>
                  <a:gd name="T6" fmla="*/ 0 w 152"/>
                  <a:gd name="T7" fmla="*/ 85 h 85"/>
                  <a:gd name="T8" fmla="*/ 142 w 152"/>
                  <a:gd name="T9" fmla="*/ 85 h 85"/>
                  <a:gd name="T10" fmla="*/ 142 w 152"/>
                  <a:gd name="T11" fmla="*/ 66 h 85"/>
                  <a:gd name="T12" fmla="*/ 152 w 152"/>
                  <a:gd name="T13" fmla="*/ 66 h 85"/>
                  <a:gd name="T14" fmla="*/ 152 w 152"/>
                  <a:gd name="T15" fmla="*/ 28 h 85"/>
                  <a:gd name="T16" fmla="*/ 142 w 152"/>
                  <a:gd name="T17" fmla="*/ 28 h 85"/>
                  <a:gd name="T18" fmla="*/ 123 w 152"/>
                  <a:gd name="T19" fmla="*/ 66 h 85"/>
                  <a:gd name="T20" fmla="*/ 19 w 152"/>
                  <a:gd name="T21" fmla="*/ 66 h 85"/>
                  <a:gd name="T22" fmla="*/ 19 w 152"/>
                  <a:gd name="T23" fmla="*/ 19 h 85"/>
                  <a:gd name="T24" fmla="*/ 123 w 152"/>
                  <a:gd name="T25" fmla="*/ 19 h 85"/>
                  <a:gd name="T26" fmla="*/ 123 w 152"/>
                  <a:gd name="T27" fmla="*/ 6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2" h="85">
                    <a:moveTo>
                      <a:pt x="142" y="28"/>
                    </a:moveTo>
                    <a:lnTo>
                      <a:pt x="142" y="0"/>
                    </a:lnTo>
                    <a:lnTo>
                      <a:pt x="0" y="0"/>
                    </a:lnTo>
                    <a:lnTo>
                      <a:pt x="0" y="85"/>
                    </a:lnTo>
                    <a:lnTo>
                      <a:pt x="142" y="85"/>
                    </a:lnTo>
                    <a:lnTo>
                      <a:pt x="142" y="66"/>
                    </a:lnTo>
                    <a:lnTo>
                      <a:pt x="152" y="66"/>
                    </a:lnTo>
                    <a:lnTo>
                      <a:pt x="152" y="28"/>
                    </a:lnTo>
                    <a:lnTo>
                      <a:pt x="142" y="28"/>
                    </a:lnTo>
                    <a:close/>
                    <a:moveTo>
                      <a:pt x="123" y="66"/>
                    </a:moveTo>
                    <a:lnTo>
                      <a:pt x="19" y="66"/>
                    </a:lnTo>
                    <a:lnTo>
                      <a:pt x="19" y="19"/>
                    </a:lnTo>
                    <a:lnTo>
                      <a:pt x="123" y="19"/>
                    </a:lnTo>
                    <a:lnTo>
                      <a:pt x="123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89" name="Rectangle 381"/>
              <p:cNvSpPr>
                <a:spLocks noChangeArrowheads="1"/>
              </p:cNvSpPr>
              <p:nvPr/>
            </p:nvSpPr>
            <p:spPr bwMode="auto">
              <a:xfrm>
                <a:off x="6503988" y="3698876"/>
                <a:ext cx="13493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79" name="Freeform 321"/>
            <p:cNvSpPr>
              <a:spLocks noEditPoints="1"/>
            </p:cNvSpPr>
            <p:nvPr/>
          </p:nvSpPr>
          <p:spPr bwMode="auto">
            <a:xfrm>
              <a:off x="5595958" y="3914800"/>
              <a:ext cx="192850" cy="383164"/>
            </a:xfrm>
            <a:custGeom>
              <a:avLst/>
              <a:gdLst>
                <a:gd name="T0" fmla="*/ 24 w 32"/>
                <a:gd name="T1" fmla="*/ 34 h 64"/>
                <a:gd name="T2" fmla="*/ 24 w 32"/>
                <a:gd name="T3" fmla="*/ 28 h 64"/>
                <a:gd name="T4" fmla="*/ 24 w 32"/>
                <a:gd name="T5" fmla="*/ 8 h 64"/>
                <a:gd name="T6" fmla="*/ 16 w 32"/>
                <a:gd name="T7" fmla="*/ 0 h 64"/>
                <a:gd name="T8" fmla="*/ 8 w 32"/>
                <a:gd name="T9" fmla="*/ 8 h 64"/>
                <a:gd name="T10" fmla="*/ 8 w 32"/>
                <a:gd name="T11" fmla="*/ 28 h 64"/>
                <a:gd name="T12" fmla="*/ 8 w 32"/>
                <a:gd name="T13" fmla="*/ 34 h 64"/>
                <a:gd name="T14" fmla="*/ 0 w 32"/>
                <a:gd name="T15" fmla="*/ 48 h 64"/>
                <a:gd name="T16" fmla="*/ 16 w 32"/>
                <a:gd name="T17" fmla="*/ 64 h 64"/>
                <a:gd name="T18" fmla="*/ 32 w 32"/>
                <a:gd name="T19" fmla="*/ 48 h 64"/>
                <a:gd name="T20" fmla="*/ 24 w 32"/>
                <a:gd name="T21" fmla="*/ 34 h 64"/>
                <a:gd name="T22" fmla="*/ 12 w 32"/>
                <a:gd name="T23" fmla="*/ 24 h 64"/>
                <a:gd name="T24" fmla="*/ 16 w 32"/>
                <a:gd name="T25" fmla="*/ 24 h 64"/>
                <a:gd name="T26" fmla="*/ 16 w 32"/>
                <a:gd name="T27" fmla="*/ 20 h 64"/>
                <a:gd name="T28" fmla="*/ 12 w 32"/>
                <a:gd name="T29" fmla="*/ 20 h 64"/>
                <a:gd name="T30" fmla="*/ 12 w 32"/>
                <a:gd name="T31" fmla="*/ 16 h 64"/>
                <a:gd name="T32" fmla="*/ 16 w 32"/>
                <a:gd name="T33" fmla="*/ 16 h 64"/>
                <a:gd name="T34" fmla="*/ 16 w 32"/>
                <a:gd name="T35" fmla="*/ 12 h 64"/>
                <a:gd name="T36" fmla="*/ 12 w 32"/>
                <a:gd name="T37" fmla="*/ 12 h 64"/>
                <a:gd name="T38" fmla="*/ 12 w 32"/>
                <a:gd name="T39" fmla="*/ 8 h 64"/>
                <a:gd name="T40" fmla="*/ 16 w 32"/>
                <a:gd name="T41" fmla="*/ 4 h 64"/>
                <a:gd name="T42" fmla="*/ 20 w 32"/>
                <a:gd name="T43" fmla="*/ 8 h 64"/>
                <a:gd name="T44" fmla="*/ 20 w 32"/>
                <a:gd name="T45" fmla="*/ 28 h 64"/>
                <a:gd name="T46" fmla="*/ 12 w 32"/>
                <a:gd name="T47" fmla="*/ 28 h 64"/>
                <a:gd name="T48" fmla="*/ 12 w 32"/>
                <a:gd name="T49" fmla="*/ 24 h 64"/>
                <a:gd name="T50" fmla="*/ 16 w 32"/>
                <a:gd name="T51" fmla="*/ 60 h 64"/>
                <a:gd name="T52" fmla="*/ 4 w 32"/>
                <a:gd name="T53" fmla="*/ 48 h 64"/>
                <a:gd name="T54" fmla="*/ 4 w 32"/>
                <a:gd name="T55" fmla="*/ 46 h 64"/>
                <a:gd name="T56" fmla="*/ 16 w 32"/>
                <a:gd name="T57" fmla="*/ 56 h 64"/>
                <a:gd name="T58" fmla="*/ 28 w 32"/>
                <a:gd name="T59" fmla="*/ 46 h 64"/>
                <a:gd name="T60" fmla="*/ 28 w 32"/>
                <a:gd name="T61" fmla="*/ 48 h 64"/>
                <a:gd name="T62" fmla="*/ 16 w 32"/>
                <a:gd name="T63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64">
                  <a:moveTo>
                    <a:pt x="24" y="34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3" y="37"/>
                    <a:pt x="0" y="42"/>
                    <a:pt x="0" y="48"/>
                  </a:cubicBezTo>
                  <a:cubicBezTo>
                    <a:pt x="0" y="57"/>
                    <a:pt x="7" y="64"/>
                    <a:pt x="16" y="64"/>
                  </a:cubicBezTo>
                  <a:cubicBezTo>
                    <a:pt x="25" y="64"/>
                    <a:pt x="32" y="57"/>
                    <a:pt x="32" y="48"/>
                  </a:cubicBezTo>
                  <a:cubicBezTo>
                    <a:pt x="32" y="42"/>
                    <a:pt x="29" y="37"/>
                    <a:pt x="24" y="34"/>
                  </a:cubicBezTo>
                  <a:close/>
                  <a:moveTo>
                    <a:pt x="12" y="24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2" y="28"/>
                    <a:pt x="12" y="28"/>
                    <a:pt x="12" y="28"/>
                  </a:cubicBezTo>
                  <a:lnTo>
                    <a:pt x="12" y="24"/>
                  </a:lnTo>
                  <a:close/>
                  <a:moveTo>
                    <a:pt x="16" y="60"/>
                  </a:moveTo>
                  <a:cubicBezTo>
                    <a:pt x="9" y="60"/>
                    <a:pt x="4" y="55"/>
                    <a:pt x="4" y="48"/>
                  </a:cubicBezTo>
                  <a:cubicBezTo>
                    <a:pt x="4" y="47"/>
                    <a:pt x="4" y="47"/>
                    <a:pt x="4" y="46"/>
                  </a:cubicBezTo>
                  <a:cubicBezTo>
                    <a:pt x="5" y="52"/>
                    <a:pt x="10" y="56"/>
                    <a:pt x="16" y="56"/>
                  </a:cubicBezTo>
                  <a:cubicBezTo>
                    <a:pt x="22" y="56"/>
                    <a:pt x="27" y="52"/>
                    <a:pt x="28" y="46"/>
                  </a:cubicBezTo>
                  <a:cubicBezTo>
                    <a:pt x="28" y="47"/>
                    <a:pt x="28" y="47"/>
                    <a:pt x="28" y="48"/>
                  </a:cubicBezTo>
                  <a:cubicBezTo>
                    <a:pt x="28" y="55"/>
                    <a:pt x="23" y="60"/>
                    <a:pt x="16" y="60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0" name="Freeform 244"/>
            <p:cNvSpPr>
              <a:spLocks/>
            </p:cNvSpPr>
            <p:nvPr/>
          </p:nvSpPr>
          <p:spPr bwMode="auto">
            <a:xfrm>
              <a:off x="4954176" y="3173107"/>
              <a:ext cx="177419" cy="242909"/>
            </a:xfrm>
            <a:custGeom>
              <a:avLst/>
              <a:gdLst>
                <a:gd name="T0" fmla="*/ 118 w 141"/>
                <a:gd name="T1" fmla="*/ 145 h 193"/>
                <a:gd name="T2" fmla="*/ 81 w 141"/>
                <a:gd name="T3" fmla="*/ 145 h 193"/>
                <a:gd name="T4" fmla="*/ 50 w 141"/>
                <a:gd name="T5" fmla="*/ 122 h 193"/>
                <a:gd name="T6" fmla="*/ 51 w 141"/>
                <a:gd name="T7" fmla="*/ 98 h 193"/>
                <a:gd name="T8" fmla="*/ 113 w 141"/>
                <a:gd name="T9" fmla="*/ 98 h 193"/>
                <a:gd name="T10" fmla="*/ 140 w 141"/>
                <a:gd name="T11" fmla="*/ 77 h 193"/>
                <a:gd name="T12" fmla="*/ 121 w 141"/>
                <a:gd name="T13" fmla="*/ 49 h 193"/>
                <a:gd name="T14" fmla="*/ 52 w 141"/>
                <a:gd name="T15" fmla="*/ 49 h 193"/>
                <a:gd name="T16" fmla="*/ 26 w 141"/>
                <a:gd name="T17" fmla="*/ 0 h 193"/>
                <a:gd name="T18" fmla="*/ 5 w 141"/>
                <a:gd name="T19" fmla="*/ 14 h 193"/>
                <a:gd name="T20" fmla="*/ 1 w 141"/>
                <a:gd name="T21" fmla="*/ 57 h 193"/>
                <a:gd name="T22" fmla="*/ 1 w 141"/>
                <a:gd name="T23" fmla="*/ 65 h 193"/>
                <a:gd name="T24" fmla="*/ 2 w 141"/>
                <a:gd name="T25" fmla="*/ 92 h 193"/>
                <a:gd name="T26" fmla="*/ 2 w 141"/>
                <a:gd name="T27" fmla="*/ 121 h 193"/>
                <a:gd name="T28" fmla="*/ 61 w 141"/>
                <a:gd name="T29" fmla="*/ 192 h 193"/>
                <a:gd name="T30" fmla="*/ 115 w 141"/>
                <a:gd name="T31" fmla="*/ 193 h 193"/>
                <a:gd name="T32" fmla="*/ 141 w 141"/>
                <a:gd name="T33" fmla="*/ 171 h 193"/>
                <a:gd name="T34" fmla="*/ 118 w 141"/>
                <a:gd name="T35" fmla="*/ 14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1" h="193">
                  <a:moveTo>
                    <a:pt x="118" y="145"/>
                  </a:moveTo>
                  <a:cubicBezTo>
                    <a:pt x="81" y="145"/>
                    <a:pt x="81" y="145"/>
                    <a:pt x="81" y="145"/>
                  </a:cubicBezTo>
                  <a:cubicBezTo>
                    <a:pt x="55" y="145"/>
                    <a:pt x="50" y="133"/>
                    <a:pt x="50" y="122"/>
                  </a:cubicBezTo>
                  <a:cubicBezTo>
                    <a:pt x="50" y="117"/>
                    <a:pt x="51" y="108"/>
                    <a:pt x="51" y="98"/>
                  </a:cubicBezTo>
                  <a:cubicBezTo>
                    <a:pt x="113" y="98"/>
                    <a:pt x="113" y="98"/>
                    <a:pt x="113" y="98"/>
                  </a:cubicBezTo>
                  <a:cubicBezTo>
                    <a:pt x="123" y="98"/>
                    <a:pt x="140" y="94"/>
                    <a:pt x="140" y="77"/>
                  </a:cubicBezTo>
                  <a:cubicBezTo>
                    <a:pt x="140" y="60"/>
                    <a:pt x="132" y="49"/>
                    <a:pt x="121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24"/>
                    <a:pt x="50" y="0"/>
                    <a:pt x="26" y="0"/>
                  </a:cubicBezTo>
                  <a:cubicBezTo>
                    <a:pt x="16" y="0"/>
                    <a:pt x="8" y="4"/>
                    <a:pt x="5" y="14"/>
                  </a:cubicBezTo>
                  <a:cubicBezTo>
                    <a:pt x="0" y="27"/>
                    <a:pt x="1" y="43"/>
                    <a:pt x="1" y="57"/>
                  </a:cubicBezTo>
                  <a:cubicBezTo>
                    <a:pt x="1" y="59"/>
                    <a:pt x="1" y="62"/>
                    <a:pt x="1" y="65"/>
                  </a:cubicBezTo>
                  <a:cubicBezTo>
                    <a:pt x="1" y="74"/>
                    <a:pt x="2" y="83"/>
                    <a:pt x="2" y="92"/>
                  </a:cubicBezTo>
                  <a:cubicBezTo>
                    <a:pt x="2" y="102"/>
                    <a:pt x="2" y="111"/>
                    <a:pt x="2" y="121"/>
                  </a:cubicBezTo>
                  <a:cubicBezTo>
                    <a:pt x="2" y="176"/>
                    <a:pt x="52" y="192"/>
                    <a:pt x="61" y="192"/>
                  </a:cubicBezTo>
                  <a:cubicBezTo>
                    <a:pt x="71" y="192"/>
                    <a:pt x="108" y="193"/>
                    <a:pt x="115" y="193"/>
                  </a:cubicBezTo>
                  <a:cubicBezTo>
                    <a:pt x="122" y="193"/>
                    <a:pt x="141" y="191"/>
                    <a:pt x="141" y="171"/>
                  </a:cubicBezTo>
                  <a:cubicBezTo>
                    <a:pt x="141" y="152"/>
                    <a:pt x="128" y="145"/>
                    <a:pt x="118" y="145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1" name="Freeform 245"/>
            <p:cNvSpPr>
              <a:spLocks/>
            </p:cNvSpPr>
            <p:nvPr/>
          </p:nvSpPr>
          <p:spPr bwMode="auto">
            <a:xfrm>
              <a:off x="5066120" y="1854995"/>
              <a:ext cx="114310" cy="242909"/>
            </a:xfrm>
            <a:custGeom>
              <a:avLst/>
              <a:gdLst>
                <a:gd name="T0" fmla="*/ 90 w 90"/>
                <a:gd name="T1" fmla="*/ 62 h 193"/>
                <a:gd name="T2" fmla="*/ 60 w 90"/>
                <a:gd name="T3" fmla="*/ 62 h 193"/>
                <a:gd name="T4" fmla="*/ 60 w 90"/>
                <a:gd name="T5" fmla="*/ 42 h 193"/>
                <a:gd name="T6" fmla="*/ 68 w 90"/>
                <a:gd name="T7" fmla="*/ 33 h 193"/>
                <a:gd name="T8" fmla="*/ 90 w 90"/>
                <a:gd name="T9" fmla="*/ 33 h 193"/>
                <a:gd name="T10" fmla="*/ 90 w 90"/>
                <a:gd name="T11" fmla="*/ 0 h 193"/>
                <a:gd name="T12" fmla="*/ 60 w 90"/>
                <a:gd name="T13" fmla="*/ 0 h 193"/>
                <a:gd name="T14" fmla="*/ 20 w 90"/>
                <a:gd name="T15" fmla="*/ 40 h 193"/>
                <a:gd name="T16" fmla="*/ 20 w 90"/>
                <a:gd name="T17" fmla="*/ 62 h 193"/>
                <a:gd name="T18" fmla="*/ 0 w 90"/>
                <a:gd name="T19" fmla="*/ 62 h 193"/>
                <a:gd name="T20" fmla="*/ 0 w 90"/>
                <a:gd name="T21" fmla="*/ 96 h 193"/>
                <a:gd name="T22" fmla="*/ 20 w 90"/>
                <a:gd name="T23" fmla="*/ 96 h 193"/>
                <a:gd name="T24" fmla="*/ 20 w 90"/>
                <a:gd name="T25" fmla="*/ 193 h 193"/>
                <a:gd name="T26" fmla="*/ 60 w 90"/>
                <a:gd name="T27" fmla="*/ 193 h 193"/>
                <a:gd name="T28" fmla="*/ 60 w 90"/>
                <a:gd name="T29" fmla="*/ 96 h 193"/>
                <a:gd name="T30" fmla="*/ 87 w 90"/>
                <a:gd name="T31" fmla="*/ 96 h 193"/>
                <a:gd name="T32" fmla="*/ 90 w 90"/>
                <a:gd name="T33" fmla="*/ 6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93">
                  <a:moveTo>
                    <a:pt x="90" y="62"/>
                  </a:moveTo>
                  <a:cubicBezTo>
                    <a:pt x="60" y="62"/>
                    <a:pt x="60" y="62"/>
                    <a:pt x="60" y="6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35"/>
                    <a:pt x="65" y="33"/>
                    <a:pt x="68" y="33"/>
                  </a:cubicBezTo>
                  <a:cubicBezTo>
                    <a:pt x="72" y="33"/>
                    <a:pt x="90" y="33"/>
                    <a:pt x="90" y="33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20" y="24"/>
                    <a:pt x="20" y="40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20" y="140"/>
                    <a:pt x="20" y="193"/>
                    <a:pt x="20" y="193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60" y="193"/>
                    <a:pt x="60" y="139"/>
                    <a:pt x="60" y="96"/>
                  </a:cubicBezTo>
                  <a:cubicBezTo>
                    <a:pt x="87" y="96"/>
                    <a:pt x="87" y="96"/>
                    <a:pt x="87" y="96"/>
                  </a:cubicBezTo>
                  <a:lnTo>
                    <a:pt x="90" y="62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2" name="Freeform 246"/>
            <p:cNvSpPr>
              <a:spLocks noEditPoints="1"/>
            </p:cNvSpPr>
            <p:nvPr/>
          </p:nvSpPr>
          <p:spPr bwMode="auto">
            <a:xfrm>
              <a:off x="5192317" y="2522966"/>
              <a:ext cx="248863" cy="250053"/>
            </a:xfrm>
            <a:custGeom>
              <a:avLst/>
              <a:gdLst>
                <a:gd name="T0" fmla="*/ 190 w 198"/>
                <a:gd name="T1" fmla="*/ 61 h 198"/>
                <a:gd name="T2" fmla="*/ 169 w 198"/>
                <a:gd name="T3" fmla="*/ 29 h 198"/>
                <a:gd name="T4" fmla="*/ 138 w 198"/>
                <a:gd name="T5" fmla="*/ 8 h 198"/>
                <a:gd name="T6" fmla="*/ 99 w 198"/>
                <a:gd name="T7" fmla="*/ 0 h 198"/>
                <a:gd name="T8" fmla="*/ 61 w 198"/>
                <a:gd name="T9" fmla="*/ 8 h 198"/>
                <a:gd name="T10" fmla="*/ 29 w 198"/>
                <a:gd name="T11" fmla="*/ 29 h 198"/>
                <a:gd name="T12" fmla="*/ 8 w 198"/>
                <a:gd name="T13" fmla="*/ 61 h 198"/>
                <a:gd name="T14" fmla="*/ 0 w 198"/>
                <a:gd name="T15" fmla="*/ 99 h 198"/>
                <a:gd name="T16" fmla="*/ 8 w 198"/>
                <a:gd name="T17" fmla="*/ 138 h 198"/>
                <a:gd name="T18" fmla="*/ 29 w 198"/>
                <a:gd name="T19" fmla="*/ 169 h 198"/>
                <a:gd name="T20" fmla="*/ 61 w 198"/>
                <a:gd name="T21" fmla="*/ 190 h 198"/>
                <a:gd name="T22" fmla="*/ 99 w 198"/>
                <a:gd name="T23" fmla="*/ 198 h 198"/>
                <a:gd name="T24" fmla="*/ 138 w 198"/>
                <a:gd name="T25" fmla="*/ 190 h 198"/>
                <a:gd name="T26" fmla="*/ 169 w 198"/>
                <a:gd name="T27" fmla="*/ 169 h 198"/>
                <a:gd name="T28" fmla="*/ 190 w 198"/>
                <a:gd name="T29" fmla="*/ 138 h 198"/>
                <a:gd name="T30" fmla="*/ 198 w 198"/>
                <a:gd name="T31" fmla="*/ 99 h 198"/>
                <a:gd name="T32" fmla="*/ 184 w 198"/>
                <a:gd name="T33" fmla="*/ 98 h 198"/>
                <a:gd name="T34" fmla="*/ 123 w 198"/>
                <a:gd name="T35" fmla="*/ 91 h 198"/>
                <a:gd name="T36" fmla="*/ 164 w 198"/>
                <a:gd name="T37" fmla="*/ 45 h 198"/>
                <a:gd name="T38" fmla="*/ 155 w 198"/>
                <a:gd name="T39" fmla="*/ 36 h 198"/>
                <a:gd name="T40" fmla="*/ 79 w 198"/>
                <a:gd name="T41" fmla="*/ 17 h 198"/>
                <a:gd name="T42" fmla="*/ 155 w 198"/>
                <a:gd name="T43" fmla="*/ 36 h 198"/>
                <a:gd name="T44" fmla="*/ 79 w 198"/>
                <a:gd name="T45" fmla="*/ 17 h 198"/>
                <a:gd name="T46" fmla="*/ 79 w 198"/>
                <a:gd name="T47" fmla="*/ 17 h 198"/>
                <a:gd name="T48" fmla="*/ 94 w 198"/>
                <a:gd name="T49" fmla="*/ 71 h 198"/>
                <a:gd name="T50" fmla="*/ 63 w 198"/>
                <a:gd name="T51" fmla="*/ 23 h 198"/>
                <a:gd name="T52" fmla="*/ 15 w 198"/>
                <a:gd name="T53" fmla="*/ 96 h 198"/>
                <a:gd name="T54" fmla="*/ 108 w 198"/>
                <a:gd name="T55" fmla="*/ 99 h 198"/>
                <a:gd name="T56" fmla="*/ 36 w 198"/>
                <a:gd name="T57" fmla="*/ 156 h 198"/>
                <a:gd name="T58" fmla="*/ 15 w 198"/>
                <a:gd name="T59" fmla="*/ 99 h 198"/>
                <a:gd name="T60" fmla="*/ 45 w 198"/>
                <a:gd name="T61" fmla="*/ 164 h 198"/>
                <a:gd name="T62" fmla="*/ 114 w 198"/>
                <a:gd name="T63" fmla="*/ 113 h 198"/>
                <a:gd name="T64" fmla="*/ 132 w 198"/>
                <a:gd name="T65" fmla="*/ 177 h 198"/>
                <a:gd name="T66" fmla="*/ 146 w 198"/>
                <a:gd name="T67" fmla="*/ 169 h 198"/>
                <a:gd name="T68" fmla="*/ 183 w 198"/>
                <a:gd name="T69" fmla="*/ 11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198">
                  <a:moveTo>
                    <a:pt x="196" y="79"/>
                  </a:moveTo>
                  <a:cubicBezTo>
                    <a:pt x="195" y="73"/>
                    <a:pt x="193" y="67"/>
                    <a:pt x="190" y="61"/>
                  </a:cubicBezTo>
                  <a:cubicBezTo>
                    <a:pt x="188" y="55"/>
                    <a:pt x="185" y="49"/>
                    <a:pt x="181" y="44"/>
                  </a:cubicBezTo>
                  <a:cubicBezTo>
                    <a:pt x="178" y="39"/>
                    <a:pt x="174" y="34"/>
                    <a:pt x="169" y="29"/>
                  </a:cubicBezTo>
                  <a:cubicBezTo>
                    <a:pt x="165" y="25"/>
                    <a:pt x="160" y="21"/>
                    <a:pt x="154" y="17"/>
                  </a:cubicBezTo>
                  <a:cubicBezTo>
                    <a:pt x="149" y="14"/>
                    <a:pt x="144" y="10"/>
                    <a:pt x="138" y="8"/>
                  </a:cubicBezTo>
                  <a:cubicBezTo>
                    <a:pt x="132" y="5"/>
                    <a:pt x="125" y="4"/>
                    <a:pt x="119" y="2"/>
                  </a:cubicBezTo>
                  <a:cubicBezTo>
                    <a:pt x="113" y="1"/>
                    <a:pt x="106" y="0"/>
                    <a:pt x="99" y="0"/>
                  </a:cubicBezTo>
                  <a:cubicBezTo>
                    <a:pt x="92" y="0"/>
                    <a:pt x="86" y="1"/>
                    <a:pt x="79" y="2"/>
                  </a:cubicBezTo>
                  <a:cubicBezTo>
                    <a:pt x="73" y="4"/>
                    <a:pt x="67" y="5"/>
                    <a:pt x="61" y="8"/>
                  </a:cubicBezTo>
                  <a:cubicBezTo>
                    <a:pt x="55" y="10"/>
                    <a:pt x="49" y="14"/>
                    <a:pt x="44" y="17"/>
                  </a:cubicBezTo>
                  <a:cubicBezTo>
                    <a:pt x="39" y="21"/>
                    <a:pt x="34" y="25"/>
                    <a:pt x="29" y="29"/>
                  </a:cubicBezTo>
                  <a:cubicBezTo>
                    <a:pt x="25" y="34"/>
                    <a:pt x="21" y="39"/>
                    <a:pt x="17" y="44"/>
                  </a:cubicBezTo>
                  <a:cubicBezTo>
                    <a:pt x="14" y="49"/>
                    <a:pt x="11" y="55"/>
                    <a:pt x="8" y="61"/>
                  </a:cubicBezTo>
                  <a:cubicBezTo>
                    <a:pt x="6" y="67"/>
                    <a:pt x="4" y="73"/>
                    <a:pt x="2" y="79"/>
                  </a:cubicBezTo>
                  <a:cubicBezTo>
                    <a:pt x="1" y="86"/>
                    <a:pt x="0" y="92"/>
                    <a:pt x="0" y="99"/>
                  </a:cubicBezTo>
                  <a:cubicBezTo>
                    <a:pt x="0" y="106"/>
                    <a:pt x="1" y="113"/>
                    <a:pt x="2" y="119"/>
                  </a:cubicBezTo>
                  <a:cubicBezTo>
                    <a:pt x="4" y="125"/>
                    <a:pt x="6" y="132"/>
                    <a:pt x="8" y="138"/>
                  </a:cubicBezTo>
                  <a:cubicBezTo>
                    <a:pt x="11" y="143"/>
                    <a:pt x="14" y="149"/>
                    <a:pt x="17" y="154"/>
                  </a:cubicBezTo>
                  <a:cubicBezTo>
                    <a:pt x="21" y="160"/>
                    <a:pt x="25" y="165"/>
                    <a:pt x="29" y="169"/>
                  </a:cubicBezTo>
                  <a:cubicBezTo>
                    <a:pt x="34" y="174"/>
                    <a:pt x="39" y="178"/>
                    <a:pt x="44" y="181"/>
                  </a:cubicBezTo>
                  <a:cubicBezTo>
                    <a:pt x="49" y="185"/>
                    <a:pt x="55" y="188"/>
                    <a:pt x="61" y="190"/>
                  </a:cubicBezTo>
                  <a:cubicBezTo>
                    <a:pt x="67" y="193"/>
                    <a:pt x="73" y="195"/>
                    <a:pt x="79" y="196"/>
                  </a:cubicBezTo>
                  <a:cubicBezTo>
                    <a:pt x="86" y="197"/>
                    <a:pt x="92" y="198"/>
                    <a:pt x="99" y="198"/>
                  </a:cubicBezTo>
                  <a:cubicBezTo>
                    <a:pt x="106" y="198"/>
                    <a:pt x="113" y="197"/>
                    <a:pt x="119" y="196"/>
                  </a:cubicBezTo>
                  <a:cubicBezTo>
                    <a:pt x="125" y="195"/>
                    <a:pt x="132" y="193"/>
                    <a:pt x="138" y="190"/>
                  </a:cubicBezTo>
                  <a:cubicBezTo>
                    <a:pt x="144" y="188"/>
                    <a:pt x="149" y="185"/>
                    <a:pt x="154" y="181"/>
                  </a:cubicBezTo>
                  <a:cubicBezTo>
                    <a:pt x="160" y="178"/>
                    <a:pt x="165" y="174"/>
                    <a:pt x="169" y="169"/>
                  </a:cubicBezTo>
                  <a:cubicBezTo>
                    <a:pt x="174" y="165"/>
                    <a:pt x="178" y="160"/>
                    <a:pt x="181" y="154"/>
                  </a:cubicBezTo>
                  <a:cubicBezTo>
                    <a:pt x="185" y="149"/>
                    <a:pt x="188" y="143"/>
                    <a:pt x="190" y="138"/>
                  </a:cubicBezTo>
                  <a:cubicBezTo>
                    <a:pt x="193" y="132"/>
                    <a:pt x="195" y="125"/>
                    <a:pt x="196" y="119"/>
                  </a:cubicBezTo>
                  <a:cubicBezTo>
                    <a:pt x="197" y="113"/>
                    <a:pt x="198" y="106"/>
                    <a:pt x="198" y="99"/>
                  </a:cubicBezTo>
                  <a:cubicBezTo>
                    <a:pt x="198" y="92"/>
                    <a:pt x="197" y="86"/>
                    <a:pt x="196" y="79"/>
                  </a:cubicBezTo>
                  <a:close/>
                  <a:moveTo>
                    <a:pt x="184" y="98"/>
                  </a:moveTo>
                  <a:cubicBezTo>
                    <a:pt x="182" y="98"/>
                    <a:pt x="154" y="92"/>
                    <a:pt x="125" y="96"/>
                  </a:cubicBezTo>
                  <a:cubicBezTo>
                    <a:pt x="124" y="94"/>
                    <a:pt x="124" y="93"/>
                    <a:pt x="123" y="91"/>
                  </a:cubicBezTo>
                  <a:cubicBezTo>
                    <a:pt x="121" y="87"/>
                    <a:pt x="119" y="83"/>
                    <a:pt x="117" y="79"/>
                  </a:cubicBezTo>
                  <a:cubicBezTo>
                    <a:pt x="151" y="65"/>
                    <a:pt x="164" y="46"/>
                    <a:pt x="164" y="45"/>
                  </a:cubicBezTo>
                  <a:cubicBezTo>
                    <a:pt x="176" y="60"/>
                    <a:pt x="183" y="78"/>
                    <a:pt x="184" y="98"/>
                  </a:cubicBezTo>
                  <a:close/>
                  <a:moveTo>
                    <a:pt x="155" y="36"/>
                  </a:moveTo>
                  <a:cubicBezTo>
                    <a:pt x="155" y="36"/>
                    <a:pt x="143" y="54"/>
                    <a:pt x="111" y="66"/>
                  </a:cubicBezTo>
                  <a:cubicBezTo>
                    <a:pt x="96" y="40"/>
                    <a:pt x="81" y="19"/>
                    <a:pt x="79" y="17"/>
                  </a:cubicBezTo>
                  <a:cubicBezTo>
                    <a:pt x="86" y="16"/>
                    <a:pt x="92" y="15"/>
                    <a:pt x="99" y="15"/>
                  </a:cubicBezTo>
                  <a:cubicBezTo>
                    <a:pt x="121" y="15"/>
                    <a:pt x="140" y="23"/>
                    <a:pt x="155" y="36"/>
                  </a:cubicBezTo>
                  <a:close/>
                  <a:moveTo>
                    <a:pt x="79" y="17"/>
                  </a:moveTo>
                  <a:cubicBezTo>
                    <a:pt x="79" y="17"/>
                    <a:pt x="79" y="1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lose/>
                  <a:moveTo>
                    <a:pt x="63" y="23"/>
                  </a:moveTo>
                  <a:cubicBezTo>
                    <a:pt x="64" y="24"/>
                    <a:pt x="80" y="45"/>
                    <a:pt x="94" y="71"/>
                  </a:cubicBezTo>
                  <a:cubicBezTo>
                    <a:pt x="54" y="82"/>
                    <a:pt x="19" y="82"/>
                    <a:pt x="17" y="82"/>
                  </a:cubicBezTo>
                  <a:cubicBezTo>
                    <a:pt x="22" y="56"/>
                    <a:pt x="40" y="34"/>
                    <a:pt x="63" y="23"/>
                  </a:cubicBezTo>
                  <a:close/>
                  <a:moveTo>
                    <a:pt x="15" y="99"/>
                  </a:moveTo>
                  <a:cubicBezTo>
                    <a:pt x="15" y="98"/>
                    <a:pt x="15" y="97"/>
                    <a:pt x="15" y="96"/>
                  </a:cubicBezTo>
                  <a:cubicBezTo>
                    <a:pt x="16" y="96"/>
                    <a:pt x="58" y="97"/>
                    <a:pt x="101" y="84"/>
                  </a:cubicBezTo>
                  <a:cubicBezTo>
                    <a:pt x="104" y="89"/>
                    <a:pt x="106" y="94"/>
                    <a:pt x="108" y="99"/>
                  </a:cubicBezTo>
                  <a:cubicBezTo>
                    <a:pt x="107" y="99"/>
                    <a:pt x="106" y="99"/>
                    <a:pt x="105" y="100"/>
                  </a:cubicBezTo>
                  <a:cubicBezTo>
                    <a:pt x="59" y="115"/>
                    <a:pt x="36" y="156"/>
                    <a:pt x="36" y="156"/>
                  </a:cubicBezTo>
                  <a:cubicBezTo>
                    <a:pt x="36" y="156"/>
                    <a:pt x="36" y="156"/>
                    <a:pt x="36" y="156"/>
                  </a:cubicBezTo>
                  <a:cubicBezTo>
                    <a:pt x="23" y="141"/>
                    <a:pt x="15" y="121"/>
                    <a:pt x="15" y="99"/>
                  </a:cubicBezTo>
                  <a:close/>
                  <a:moveTo>
                    <a:pt x="99" y="184"/>
                  </a:moveTo>
                  <a:cubicBezTo>
                    <a:pt x="79" y="184"/>
                    <a:pt x="60" y="176"/>
                    <a:pt x="45" y="164"/>
                  </a:cubicBezTo>
                  <a:cubicBezTo>
                    <a:pt x="46" y="165"/>
                    <a:pt x="47" y="166"/>
                    <a:pt x="47" y="166"/>
                  </a:cubicBezTo>
                  <a:cubicBezTo>
                    <a:pt x="47" y="166"/>
                    <a:pt x="63" y="130"/>
                    <a:pt x="114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26" y="144"/>
                    <a:pt x="131" y="169"/>
                    <a:pt x="132" y="177"/>
                  </a:cubicBezTo>
                  <a:cubicBezTo>
                    <a:pt x="122" y="181"/>
                    <a:pt x="111" y="184"/>
                    <a:pt x="99" y="184"/>
                  </a:cubicBezTo>
                  <a:close/>
                  <a:moveTo>
                    <a:pt x="146" y="169"/>
                  </a:moveTo>
                  <a:cubicBezTo>
                    <a:pt x="145" y="164"/>
                    <a:pt x="141" y="139"/>
                    <a:pt x="130" y="109"/>
                  </a:cubicBezTo>
                  <a:cubicBezTo>
                    <a:pt x="157" y="104"/>
                    <a:pt x="181" y="112"/>
                    <a:pt x="183" y="113"/>
                  </a:cubicBezTo>
                  <a:cubicBezTo>
                    <a:pt x="179" y="136"/>
                    <a:pt x="165" y="156"/>
                    <a:pt x="146" y="169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3" name="Freeform 247"/>
            <p:cNvSpPr>
              <a:spLocks noEditPoints="1"/>
            </p:cNvSpPr>
            <p:nvPr/>
          </p:nvSpPr>
          <p:spPr bwMode="auto">
            <a:xfrm>
              <a:off x="3606273" y="1851404"/>
              <a:ext cx="248863" cy="250053"/>
            </a:xfrm>
            <a:custGeom>
              <a:avLst/>
              <a:gdLst>
                <a:gd name="T0" fmla="*/ 183 w 198"/>
                <a:gd name="T1" fmla="*/ 0 h 199"/>
                <a:gd name="T2" fmla="*/ 15 w 198"/>
                <a:gd name="T3" fmla="*/ 0 h 199"/>
                <a:gd name="T4" fmla="*/ 0 w 198"/>
                <a:gd name="T5" fmla="*/ 14 h 199"/>
                <a:gd name="T6" fmla="*/ 0 w 198"/>
                <a:gd name="T7" fmla="*/ 185 h 199"/>
                <a:gd name="T8" fmla="*/ 15 w 198"/>
                <a:gd name="T9" fmla="*/ 199 h 199"/>
                <a:gd name="T10" fmla="*/ 183 w 198"/>
                <a:gd name="T11" fmla="*/ 199 h 199"/>
                <a:gd name="T12" fmla="*/ 198 w 198"/>
                <a:gd name="T13" fmla="*/ 185 h 199"/>
                <a:gd name="T14" fmla="*/ 198 w 198"/>
                <a:gd name="T15" fmla="*/ 14 h 199"/>
                <a:gd name="T16" fmla="*/ 183 w 198"/>
                <a:gd name="T17" fmla="*/ 0 h 199"/>
                <a:gd name="T18" fmla="*/ 60 w 198"/>
                <a:gd name="T19" fmla="*/ 166 h 199"/>
                <a:gd name="T20" fmla="*/ 30 w 198"/>
                <a:gd name="T21" fmla="*/ 166 h 199"/>
                <a:gd name="T22" fmla="*/ 30 w 198"/>
                <a:gd name="T23" fmla="*/ 77 h 199"/>
                <a:gd name="T24" fmla="*/ 60 w 198"/>
                <a:gd name="T25" fmla="*/ 77 h 199"/>
                <a:gd name="T26" fmla="*/ 60 w 198"/>
                <a:gd name="T27" fmla="*/ 166 h 199"/>
                <a:gd name="T28" fmla="*/ 45 w 198"/>
                <a:gd name="T29" fmla="*/ 64 h 199"/>
                <a:gd name="T30" fmla="*/ 45 w 198"/>
                <a:gd name="T31" fmla="*/ 64 h 199"/>
                <a:gd name="T32" fmla="*/ 29 w 198"/>
                <a:gd name="T33" fmla="*/ 49 h 199"/>
                <a:gd name="T34" fmla="*/ 45 w 198"/>
                <a:gd name="T35" fmla="*/ 33 h 199"/>
                <a:gd name="T36" fmla="*/ 62 w 198"/>
                <a:gd name="T37" fmla="*/ 49 h 199"/>
                <a:gd name="T38" fmla="*/ 45 w 198"/>
                <a:gd name="T39" fmla="*/ 64 h 199"/>
                <a:gd name="T40" fmla="*/ 168 w 198"/>
                <a:gd name="T41" fmla="*/ 166 h 199"/>
                <a:gd name="T42" fmla="*/ 138 w 198"/>
                <a:gd name="T43" fmla="*/ 166 h 199"/>
                <a:gd name="T44" fmla="*/ 138 w 198"/>
                <a:gd name="T45" fmla="*/ 118 h 199"/>
                <a:gd name="T46" fmla="*/ 123 w 198"/>
                <a:gd name="T47" fmla="*/ 98 h 199"/>
                <a:gd name="T48" fmla="*/ 108 w 198"/>
                <a:gd name="T49" fmla="*/ 109 h 199"/>
                <a:gd name="T50" fmla="*/ 107 w 198"/>
                <a:gd name="T51" fmla="*/ 116 h 199"/>
                <a:gd name="T52" fmla="*/ 107 w 198"/>
                <a:gd name="T53" fmla="*/ 166 h 199"/>
                <a:gd name="T54" fmla="*/ 77 w 198"/>
                <a:gd name="T55" fmla="*/ 166 h 199"/>
                <a:gd name="T56" fmla="*/ 77 w 198"/>
                <a:gd name="T57" fmla="*/ 77 h 199"/>
                <a:gd name="T58" fmla="*/ 107 w 198"/>
                <a:gd name="T59" fmla="*/ 77 h 199"/>
                <a:gd name="T60" fmla="*/ 107 w 198"/>
                <a:gd name="T61" fmla="*/ 89 h 199"/>
                <a:gd name="T62" fmla="*/ 134 w 198"/>
                <a:gd name="T63" fmla="*/ 74 h 199"/>
                <a:gd name="T64" fmla="*/ 168 w 198"/>
                <a:gd name="T65" fmla="*/ 115 h 199"/>
                <a:gd name="T66" fmla="*/ 168 w 198"/>
                <a:gd name="T67" fmla="*/ 166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8" h="199">
                  <a:moveTo>
                    <a:pt x="18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92"/>
                    <a:pt x="7" y="199"/>
                    <a:pt x="15" y="199"/>
                  </a:cubicBezTo>
                  <a:cubicBezTo>
                    <a:pt x="183" y="199"/>
                    <a:pt x="183" y="199"/>
                    <a:pt x="183" y="199"/>
                  </a:cubicBezTo>
                  <a:cubicBezTo>
                    <a:pt x="191" y="199"/>
                    <a:pt x="198" y="192"/>
                    <a:pt x="198" y="185"/>
                  </a:cubicBezTo>
                  <a:cubicBezTo>
                    <a:pt x="198" y="14"/>
                    <a:pt x="198" y="14"/>
                    <a:pt x="198" y="14"/>
                  </a:cubicBezTo>
                  <a:cubicBezTo>
                    <a:pt x="198" y="6"/>
                    <a:pt x="191" y="0"/>
                    <a:pt x="183" y="0"/>
                  </a:cubicBezTo>
                  <a:close/>
                  <a:moveTo>
                    <a:pt x="60" y="166"/>
                  </a:moveTo>
                  <a:cubicBezTo>
                    <a:pt x="30" y="166"/>
                    <a:pt x="30" y="166"/>
                    <a:pt x="30" y="166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60" y="77"/>
                    <a:pt x="60" y="77"/>
                    <a:pt x="60" y="77"/>
                  </a:cubicBezTo>
                  <a:lnTo>
                    <a:pt x="60" y="166"/>
                  </a:lnTo>
                  <a:close/>
                  <a:moveTo>
                    <a:pt x="45" y="64"/>
                  </a:moveTo>
                  <a:cubicBezTo>
                    <a:pt x="45" y="64"/>
                    <a:pt x="45" y="64"/>
                    <a:pt x="45" y="64"/>
                  </a:cubicBezTo>
                  <a:cubicBezTo>
                    <a:pt x="35" y="64"/>
                    <a:pt x="29" y="57"/>
                    <a:pt x="29" y="49"/>
                  </a:cubicBezTo>
                  <a:cubicBezTo>
                    <a:pt x="29" y="40"/>
                    <a:pt x="35" y="33"/>
                    <a:pt x="45" y="33"/>
                  </a:cubicBezTo>
                  <a:cubicBezTo>
                    <a:pt x="56" y="33"/>
                    <a:pt x="62" y="40"/>
                    <a:pt x="62" y="49"/>
                  </a:cubicBezTo>
                  <a:cubicBezTo>
                    <a:pt x="62" y="57"/>
                    <a:pt x="56" y="64"/>
                    <a:pt x="45" y="64"/>
                  </a:cubicBezTo>
                  <a:close/>
                  <a:moveTo>
                    <a:pt x="168" y="166"/>
                  </a:moveTo>
                  <a:cubicBezTo>
                    <a:pt x="138" y="166"/>
                    <a:pt x="138" y="166"/>
                    <a:pt x="138" y="166"/>
                  </a:cubicBezTo>
                  <a:cubicBezTo>
                    <a:pt x="138" y="118"/>
                    <a:pt x="138" y="118"/>
                    <a:pt x="138" y="118"/>
                  </a:cubicBezTo>
                  <a:cubicBezTo>
                    <a:pt x="138" y="106"/>
                    <a:pt x="134" y="98"/>
                    <a:pt x="123" y="98"/>
                  </a:cubicBezTo>
                  <a:cubicBezTo>
                    <a:pt x="115" y="98"/>
                    <a:pt x="110" y="104"/>
                    <a:pt x="108" y="109"/>
                  </a:cubicBezTo>
                  <a:cubicBezTo>
                    <a:pt x="107" y="111"/>
                    <a:pt x="107" y="114"/>
                    <a:pt x="107" y="116"/>
                  </a:cubicBezTo>
                  <a:cubicBezTo>
                    <a:pt x="107" y="166"/>
                    <a:pt x="107" y="166"/>
                    <a:pt x="107" y="166"/>
                  </a:cubicBezTo>
                  <a:cubicBezTo>
                    <a:pt x="77" y="166"/>
                    <a:pt x="77" y="166"/>
                    <a:pt x="77" y="166"/>
                  </a:cubicBezTo>
                  <a:cubicBezTo>
                    <a:pt x="77" y="166"/>
                    <a:pt x="77" y="85"/>
                    <a:pt x="77" y="77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89"/>
                    <a:pt x="107" y="89"/>
                    <a:pt x="107" y="89"/>
                  </a:cubicBezTo>
                  <a:cubicBezTo>
                    <a:pt x="111" y="83"/>
                    <a:pt x="118" y="74"/>
                    <a:pt x="134" y="74"/>
                  </a:cubicBezTo>
                  <a:cubicBezTo>
                    <a:pt x="153" y="74"/>
                    <a:pt x="168" y="87"/>
                    <a:pt x="168" y="115"/>
                  </a:cubicBezTo>
                  <a:lnTo>
                    <a:pt x="168" y="166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4" name="Freeform 248"/>
            <p:cNvSpPr>
              <a:spLocks/>
            </p:cNvSpPr>
            <p:nvPr/>
          </p:nvSpPr>
          <p:spPr bwMode="auto">
            <a:xfrm>
              <a:off x="3339546" y="2393179"/>
              <a:ext cx="261961" cy="253625"/>
            </a:xfrm>
            <a:custGeom>
              <a:avLst/>
              <a:gdLst>
                <a:gd name="T0" fmla="*/ 0 w 208"/>
                <a:gd name="T1" fmla="*/ 68 h 202"/>
                <a:gd name="T2" fmla="*/ 8 w 208"/>
                <a:gd name="T3" fmla="*/ 79 h 202"/>
                <a:gd name="T4" fmla="*/ 30 w 208"/>
                <a:gd name="T5" fmla="*/ 72 h 202"/>
                <a:gd name="T6" fmla="*/ 64 w 208"/>
                <a:gd name="T7" fmla="*/ 172 h 202"/>
                <a:gd name="T8" fmla="*/ 105 w 208"/>
                <a:gd name="T9" fmla="*/ 190 h 202"/>
                <a:gd name="T10" fmla="*/ 197 w 208"/>
                <a:gd name="T11" fmla="*/ 63 h 202"/>
                <a:gd name="T12" fmla="*/ 113 w 208"/>
                <a:gd name="T13" fmla="*/ 68 h 202"/>
                <a:gd name="T14" fmla="*/ 137 w 208"/>
                <a:gd name="T15" fmla="*/ 95 h 202"/>
                <a:gd name="T16" fmla="*/ 109 w 208"/>
                <a:gd name="T17" fmla="*/ 130 h 202"/>
                <a:gd name="T18" fmla="*/ 93 w 208"/>
                <a:gd name="T19" fmla="*/ 91 h 202"/>
                <a:gd name="T20" fmla="*/ 59 w 208"/>
                <a:gd name="T21" fmla="*/ 23 h 202"/>
                <a:gd name="T22" fmla="*/ 0 w 208"/>
                <a:gd name="T23" fmla="*/ 6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2">
                  <a:moveTo>
                    <a:pt x="0" y="68"/>
                  </a:moveTo>
                  <a:cubicBezTo>
                    <a:pt x="8" y="79"/>
                    <a:pt x="8" y="79"/>
                    <a:pt x="8" y="79"/>
                  </a:cubicBezTo>
                  <a:cubicBezTo>
                    <a:pt x="8" y="79"/>
                    <a:pt x="24" y="66"/>
                    <a:pt x="30" y="72"/>
                  </a:cubicBezTo>
                  <a:cubicBezTo>
                    <a:pt x="36" y="79"/>
                    <a:pt x="57" y="157"/>
                    <a:pt x="64" y="172"/>
                  </a:cubicBezTo>
                  <a:cubicBezTo>
                    <a:pt x="70" y="185"/>
                    <a:pt x="87" y="202"/>
                    <a:pt x="105" y="190"/>
                  </a:cubicBezTo>
                  <a:cubicBezTo>
                    <a:pt x="124" y="178"/>
                    <a:pt x="186" y="125"/>
                    <a:pt x="197" y="63"/>
                  </a:cubicBezTo>
                  <a:cubicBezTo>
                    <a:pt x="208" y="0"/>
                    <a:pt x="122" y="13"/>
                    <a:pt x="113" y="68"/>
                  </a:cubicBezTo>
                  <a:cubicBezTo>
                    <a:pt x="136" y="54"/>
                    <a:pt x="148" y="73"/>
                    <a:pt x="137" y="95"/>
                  </a:cubicBezTo>
                  <a:cubicBezTo>
                    <a:pt x="125" y="116"/>
                    <a:pt x="114" y="130"/>
                    <a:pt x="109" y="130"/>
                  </a:cubicBezTo>
                  <a:cubicBezTo>
                    <a:pt x="103" y="130"/>
                    <a:pt x="99" y="116"/>
                    <a:pt x="93" y="91"/>
                  </a:cubicBezTo>
                  <a:cubicBezTo>
                    <a:pt x="86" y="65"/>
                    <a:pt x="86" y="17"/>
                    <a:pt x="59" y="23"/>
                  </a:cubicBezTo>
                  <a:cubicBezTo>
                    <a:pt x="34" y="28"/>
                    <a:pt x="0" y="68"/>
                    <a:pt x="0" y="68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5" name="Freeform 249"/>
            <p:cNvSpPr>
              <a:spLocks/>
            </p:cNvSpPr>
            <p:nvPr/>
          </p:nvSpPr>
          <p:spPr bwMode="auto">
            <a:xfrm>
              <a:off x="4296887" y="3368385"/>
              <a:ext cx="155986" cy="247672"/>
            </a:xfrm>
            <a:custGeom>
              <a:avLst/>
              <a:gdLst>
                <a:gd name="T0" fmla="*/ 71 w 124"/>
                <a:gd name="T1" fmla="*/ 0 h 197"/>
                <a:gd name="T2" fmla="*/ 71 w 124"/>
                <a:gd name="T3" fmla="*/ 45 h 197"/>
                <a:gd name="T4" fmla="*/ 116 w 124"/>
                <a:gd name="T5" fmla="*/ 45 h 197"/>
                <a:gd name="T6" fmla="*/ 116 w 124"/>
                <a:gd name="T7" fmla="*/ 80 h 197"/>
                <a:gd name="T8" fmla="*/ 71 w 124"/>
                <a:gd name="T9" fmla="*/ 80 h 197"/>
                <a:gd name="T10" fmla="*/ 71 w 124"/>
                <a:gd name="T11" fmla="*/ 131 h 197"/>
                <a:gd name="T12" fmla="*/ 72 w 124"/>
                <a:gd name="T13" fmla="*/ 152 h 197"/>
                <a:gd name="T14" fmla="*/ 79 w 124"/>
                <a:gd name="T15" fmla="*/ 161 h 197"/>
                <a:gd name="T16" fmla="*/ 94 w 124"/>
                <a:gd name="T17" fmla="*/ 165 h 197"/>
                <a:gd name="T18" fmla="*/ 124 w 124"/>
                <a:gd name="T19" fmla="*/ 155 h 197"/>
                <a:gd name="T20" fmla="*/ 124 w 124"/>
                <a:gd name="T21" fmla="*/ 186 h 197"/>
                <a:gd name="T22" fmla="*/ 101 w 124"/>
                <a:gd name="T23" fmla="*/ 194 h 197"/>
                <a:gd name="T24" fmla="*/ 79 w 124"/>
                <a:gd name="T25" fmla="*/ 197 h 197"/>
                <a:gd name="T26" fmla="*/ 58 w 124"/>
                <a:gd name="T27" fmla="*/ 193 h 197"/>
                <a:gd name="T28" fmla="*/ 40 w 124"/>
                <a:gd name="T29" fmla="*/ 184 h 197"/>
                <a:gd name="T30" fmla="*/ 30 w 124"/>
                <a:gd name="T31" fmla="*/ 170 h 197"/>
                <a:gd name="T32" fmla="*/ 27 w 124"/>
                <a:gd name="T33" fmla="*/ 149 h 197"/>
                <a:gd name="T34" fmla="*/ 27 w 124"/>
                <a:gd name="T35" fmla="*/ 80 h 197"/>
                <a:gd name="T36" fmla="*/ 0 w 124"/>
                <a:gd name="T37" fmla="*/ 80 h 197"/>
                <a:gd name="T38" fmla="*/ 0 w 124"/>
                <a:gd name="T39" fmla="*/ 53 h 197"/>
                <a:gd name="T40" fmla="*/ 23 w 124"/>
                <a:gd name="T41" fmla="*/ 42 h 197"/>
                <a:gd name="T42" fmla="*/ 36 w 124"/>
                <a:gd name="T43" fmla="*/ 25 h 197"/>
                <a:gd name="T44" fmla="*/ 43 w 124"/>
                <a:gd name="T45" fmla="*/ 0 h 197"/>
                <a:gd name="T46" fmla="*/ 71 w 124"/>
                <a:gd name="T4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" h="197">
                  <a:moveTo>
                    <a:pt x="71" y="0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71" y="131"/>
                    <a:pt x="71" y="131"/>
                    <a:pt x="71" y="131"/>
                  </a:cubicBezTo>
                  <a:cubicBezTo>
                    <a:pt x="71" y="142"/>
                    <a:pt x="71" y="149"/>
                    <a:pt x="72" y="152"/>
                  </a:cubicBezTo>
                  <a:cubicBezTo>
                    <a:pt x="73" y="155"/>
                    <a:pt x="76" y="159"/>
                    <a:pt x="79" y="161"/>
                  </a:cubicBezTo>
                  <a:cubicBezTo>
                    <a:pt x="84" y="163"/>
                    <a:pt x="89" y="165"/>
                    <a:pt x="94" y="165"/>
                  </a:cubicBezTo>
                  <a:cubicBezTo>
                    <a:pt x="104" y="165"/>
                    <a:pt x="114" y="161"/>
                    <a:pt x="124" y="155"/>
                  </a:cubicBezTo>
                  <a:cubicBezTo>
                    <a:pt x="124" y="186"/>
                    <a:pt x="124" y="186"/>
                    <a:pt x="124" y="186"/>
                  </a:cubicBezTo>
                  <a:cubicBezTo>
                    <a:pt x="116" y="190"/>
                    <a:pt x="108" y="193"/>
                    <a:pt x="101" y="194"/>
                  </a:cubicBezTo>
                  <a:cubicBezTo>
                    <a:pt x="94" y="196"/>
                    <a:pt x="87" y="197"/>
                    <a:pt x="79" y="197"/>
                  </a:cubicBezTo>
                  <a:cubicBezTo>
                    <a:pt x="70" y="197"/>
                    <a:pt x="65" y="195"/>
                    <a:pt x="58" y="193"/>
                  </a:cubicBezTo>
                  <a:cubicBezTo>
                    <a:pt x="51" y="191"/>
                    <a:pt x="45" y="188"/>
                    <a:pt x="40" y="184"/>
                  </a:cubicBezTo>
                  <a:cubicBezTo>
                    <a:pt x="35" y="179"/>
                    <a:pt x="32" y="175"/>
                    <a:pt x="30" y="170"/>
                  </a:cubicBezTo>
                  <a:cubicBezTo>
                    <a:pt x="28" y="165"/>
                    <a:pt x="27" y="158"/>
                    <a:pt x="27" y="149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8" y="50"/>
                    <a:pt x="17" y="46"/>
                    <a:pt x="23" y="42"/>
                  </a:cubicBezTo>
                  <a:cubicBezTo>
                    <a:pt x="28" y="37"/>
                    <a:pt x="33" y="31"/>
                    <a:pt x="36" y="25"/>
                  </a:cubicBezTo>
                  <a:cubicBezTo>
                    <a:pt x="39" y="18"/>
                    <a:pt x="42" y="10"/>
                    <a:pt x="43" y="0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6" name="Freeform 250"/>
            <p:cNvSpPr>
              <a:spLocks noEditPoints="1"/>
            </p:cNvSpPr>
            <p:nvPr/>
          </p:nvSpPr>
          <p:spPr bwMode="auto">
            <a:xfrm>
              <a:off x="3524107" y="3111182"/>
              <a:ext cx="273868" cy="138125"/>
            </a:xfrm>
            <a:custGeom>
              <a:avLst/>
              <a:gdLst>
                <a:gd name="T0" fmla="*/ 92 w 218"/>
                <a:gd name="T1" fmla="*/ 32 h 109"/>
                <a:gd name="T2" fmla="*/ 174 w 218"/>
                <a:gd name="T3" fmla="*/ 46 h 109"/>
                <a:gd name="T4" fmla="*/ 143 w 218"/>
                <a:gd name="T5" fmla="*/ 54 h 109"/>
                <a:gd name="T6" fmla="*/ 135 w 218"/>
                <a:gd name="T7" fmla="*/ 38 h 109"/>
                <a:gd name="T8" fmla="*/ 107 w 218"/>
                <a:gd name="T9" fmla="*/ 37 h 109"/>
                <a:gd name="T10" fmla="*/ 128 w 218"/>
                <a:gd name="T11" fmla="*/ 80 h 109"/>
                <a:gd name="T12" fmla="*/ 218 w 218"/>
                <a:gd name="T13" fmla="*/ 54 h 109"/>
                <a:gd name="T14" fmla="*/ 87 w 218"/>
                <a:gd name="T15" fmla="*/ 19 h 109"/>
                <a:gd name="T16" fmla="*/ 86 w 218"/>
                <a:gd name="T17" fmla="*/ 19 h 109"/>
                <a:gd name="T18" fmla="*/ 76 w 218"/>
                <a:gd name="T19" fmla="*/ 0 h 109"/>
                <a:gd name="T20" fmla="*/ 48 w 218"/>
                <a:gd name="T21" fmla="*/ 3 h 109"/>
                <a:gd name="T22" fmla="*/ 59 w 218"/>
                <a:gd name="T23" fmla="*/ 27 h 109"/>
                <a:gd name="T24" fmla="*/ 26 w 218"/>
                <a:gd name="T25" fmla="*/ 109 h 109"/>
                <a:gd name="T26" fmla="*/ 117 w 218"/>
                <a:gd name="T27" fmla="*/ 83 h 109"/>
                <a:gd name="T28" fmla="*/ 92 w 218"/>
                <a:gd name="T29" fmla="*/ 32 h 109"/>
                <a:gd name="T30" fmla="*/ 51 w 218"/>
                <a:gd name="T31" fmla="*/ 79 h 109"/>
                <a:gd name="T32" fmla="*/ 67 w 218"/>
                <a:gd name="T33" fmla="*/ 43 h 109"/>
                <a:gd name="T34" fmla="*/ 81 w 218"/>
                <a:gd name="T35" fmla="*/ 71 h 109"/>
                <a:gd name="T36" fmla="*/ 51 w 218"/>
                <a:gd name="T37" fmla="*/ 7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8" h="109">
                  <a:moveTo>
                    <a:pt x="92" y="32"/>
                  </a:moveTo>
                  <a:cubicBezTo>
                    <a:pt x="137" y="20"/>
                    <a:pt x="174" y="46"/>
                    <a:pt x="174" y="46"/>
                  </a:cubicBezTo>
                  <a:cubicBezTo>
                    <a:pt x="143" y="54"/>
                    <a:pt x="143" y="54"/>
                    <a:pt x="143" y="54"/>
                  </a:cubicBezTo>
                  <a:cubicBezTo>
                    <a:pt x="135" y="38"/>
                    <a:pt x="135" y="38"/>
                    <a:pt x="135" y="38"/>
                  </a:cubicBezTo>
                  <a:cubicBezTo>
                    <a:pt x="126" y="36"/>
                    <a:pt x="117" y="36"/>
                    <a:pt x="107" y="37"/>
                  </a:cubicBezTo>
                  <a:cubicBezTo>
                    <a:pt x="128" y="80"/>
                    <a:pt x="128" y="80"/>
                    <a:pt x="128" y="80"/>
                  </a:cubicBezTo>
                  <a:cubicBezTo>
                    <a:pt x="218" y="54"/>
                    <a:pt x="218" y="54"/>
                    <a:pt x="218" y="54"/>
                  </a:cubicBezTo>
                  <a:cubicBezTo>
                    <a:pt x="218" y="54"/>
                    <a:pt x="185" y="2"/>
                    <a:pt x="87" y="19"/>
                  </a:cubicBezTo>
                  <a:cubicBezTo>
                    <a:pt x="87" y="19"/>
                    <a:pt x="86" y="19"/>
                    <a:pt x="86" y="19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0" y="51"/>
                    <a:pt x="26" y="109"/>
                    <a:pt x="26" y="109"/>
                  </a:cubicBezTo>
                  <a:cubicBezTo>
                    <a:pt x="117" y="83"/>
                    <a:pt x="117" y="83"/>
                    <a:pt x="117" y="83"/>
                  </a:cubicBezTo>
                  <a:lnTo>
                    <a:pt x="92" y="32"/>
                  </a:lnTo>
                  <a:close/>
                  <a:moveTo>
                    <a:pt x="51" y="79"/>
                  </a:moveTo>
                  <a:cubicBezTo>
                    <a:pt x="51" y="79"/>
                    <a:pt x="42" y="60"/>
                    <a:pt x="67" y="43"/>
                  </a:cubicBezTo>
                  <a:cubicBezTo>
                    <a:pt x="81" y="71"/>
                    <a:pt x="81" y="71"/>
                    <a:pt x="81" y="71"/>
                  </a:cubicBezTo>
                  <a:lnTo>
                    <a:pt x="51" y="79"/>
                  </a:ln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  <p:sp>
          <p:nvSpPr>
            <p:cNvPr id="87" name="Freeform 251"/>
            <p:cNvSpPr>
              <a:spLocks/>
            </p:cNvSpPr>
            <p:nvPr/>
          </p:nvSpPr>
          <p:spPr bwMode="auto">
            <a:xfrm>
              <a:off x="4301663" y="1510852"/>
              <a:ext cx="247672" cy="202424"/>
            </a:xfrm>
            <a:custGeom>
              <a:avLst/>
              <a:gdLst>
                <a:gd name="T0" fmla="*/ 197 w 197"/>
                <a:gd name="T1" fmla="*/ 19 h 160"/>
                <a:gd name="T2" fmla="*/ 174 w 197"/>
                <a:gd name="T3" fmla="*/ 26 h 160"/>
                <a:gd name="T4" fmla="*/ 192 w 197"/>
                <a:gd name="T5" fmla="*/ 3 h 160"/>
                <a:gd name="T6" fmla="*/ 166 w 197"/>
                <a:gd name="T7" fmla="*/ 13 h 160"/>
                <a:gd name="T8" fmla="*/ 137 w 197"/>
                <a:gd name="T9" fmla="*/ 0 h 160"/>
                <a:gd name="T10" fmla="*/ 96 w 197"/>
                <a:gd name="T11" fmla="*/ 41 h 160"/>
                <a:gd name="T12" fmla="*/ 97 w 197"/>
                <a:gd name="T13" fmla="*/ 50 h 160"/>
                <a:gd name="T14" fmla="*/ 14 w 197"/>
                <a:gd name="T15" fmla="*/ 8 h 160"/>
                <a:gd name="T16" fmla="*/ 8 w 197"/>
                <a:gd name="T17" fmla="*/ 28 h 160"/>
                <a:gd name="T18" fmla="*/ 26 w 197"/>
                <a:gd name="T19" fmla="*/ 62 h 160"/>
                <a:gd name="T20" fmla="*/ 8 w 197"/>
                <a:gd name="T21" fmla="*/ 57 h 160"/>
                <a:gd name="T22" fmla="*/ 8 w 197"/>
                <a:gd name="T23" fmla="*/ 57 h 160"/>
                <a:gd name="T24" fmla="*/ 41 w 197"/>
                <a:gd name="T25" fmla="*/ 97 h 160"/>
                <a:gd name="T26" fmla="*/ 30 w 197"/>
                <a:gd name="T27" fmla="*/ 98 h 160"/>
                <a:gd name="T28" fmla="*/ 22 w 197"/>
                <a:gd name="T29" fmla="*/ 97 h 160"/>
                <a:gd name="T30" fmla="*/ 60 w 197"/>
                <a:gd name="T31" fmla="*/ 125 h 160"/>
                <a:gd name="T32" fmla="*/ 10 w 197"/>
                <a:gd name="T33" fmla="*/ 143 h 160"/>
                <a:gd name="T34" fmla="*/ 0 w 197"/>
                <a:gd name="T35" fmla="*/ 142 h 160"/>
                <a:gd name="T36" fmla="*/ 62 w 197"/>
                <a:gd name="T37" fmla="*/ 160 h 160"/>
                <a:gd name="T38" fmla="*/ 177 w 197"/>
                <a:gd name="T39" fmla="*/ 45 h 160"/>
                <a:gd name="T40" fmla="*/ 177 w 197"/>
                <a:gd name="T41" fmla="*/ 40 h 160"/>
                <a:gd name="T42" fmla="*/ 197 w 197"/>
                <a:gd name="T43" fmla="*/ 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7" h="160">
                  <a:moveTo>
                    <a:pt x="197" y="19"/>
                  </a:moveTo>
                  <a:cubicBezTo>
                    <a:pt x="190" y="22"/>
                    <a:pt x="182" y="25"/>
                    <a:pt x="174" y="26"/>
                  </a:cubicBezTo>
                  <a:cubicBezTo>
                    <a:pt x="182" y="21"/>
                    <a:pt x="189" y="13"/>
                    <a:pt x="192" y="3"/>
                  </a:cubicBezTo>
                  <a:cubicBezTo>
                    <a:pt x="184" y="8"/>
                    <a:pt x="175" y="11"/>
                    <a:pt x="166" y="13"/>
                  </a:cubicBezTo>
                  <a:cubicBezTo>
                    <a:pt x="159" y="5"/>
                    <a:pt x="148" y="0"/>
                    <a:pt x="137" y="0"/>
                  </a:cubicBezTo>
                  <a:cubicBezTo>
                    <a:pt x="114" y="0"/>
                    <a:pt x="96" y="18"/>
                    <a:pt x="96" y="41"/>
                  </a:cubicBezTo>
                  <a:cubicBezTo>
                    <a:pt x="96" y="44"/>
                    <a:pt x="97" y="47"/>
                    <a:pt x="97" y="50"/>
                  </a:cubicBezTo>
                  <a:cubicBezTo>
                    <a:pt x="64" y="48"/>
                    <a:pt x="34" y="32"/>
                    <a:pt x="14" y="8"/>
                  </a:cubicBezTo>
                  <a:cubicBezTo>
                    <a:pt x="10" y="14"/>
                    <a:pt x="8" y="21"/>
                    <a:pt x="8" y="28"/>
                  </a:cubicBezTo>
                  <a:cubicBezTo>
                    <a:pt x="8" y="42"/>
                    <a:pt x="16" y="54"/>
                    <a:pt x="26" y="62"/>
                  </a:cubicBezTo>
                  <a:cubicBezTo>
                    <a:pt x="20" y="61"/>
                    <a:pt x="14" y="60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77"/>
                    <a:pt x="22" y="93"/>
                    <a:pt x="41" y="97"/>
                  </a:cubicBezTo>
                  <a:cubicBezTo>
                    <a:pt x="37" y="98"/>
                    <a:pt x="34" y="98"/>
                    <a:pt x="30" y="98"/>
                  </a:cubicBezTo>
                  <a:cubicBezTo>
                    <a:pt x="27" y="98"/>
                    <a:pt x="25" y="98"/>
                    <a:pt x="22" y="97"/>
                  </a:cubicBezTo>
                  <a:cubicBezTo>
                    <a:pt x="27" y="113"/>
                    <a:pt x="42" y="125"/>
                    <a:pt x="60" y="125"/>
                  </a:cubicBezTo>
                  <a:cubicBezTo>
                    <a:pt x="46" y="136"/>
                    <a:pt x="29" y="143"/>
                    <a:pt x="10" y="143"/>
                  </a:cubicBezTo>
                  <a:cubicBezTo>
                    <a:pt x="7" y="143"/>
                    <a:pt x="3" y="143"/>
                    <a:pt x="0" y="142"/>
                  </a:cubicBezTo>
                  <a:cubicBezTo>
                    <a:pt x="18" y="154"/>
                    <a:pt x="39" y="160"/>
                    <a:pt x="62" y="160"/>
                  </a:cubicBezTo>
                  <a:cubicBezTo>
                    <a:pt x="137" y="160"/>
                    <a:pt x="177" y="99"/>
                    <a:pt x="177" y="45"/>
                  </a:cubicBezTo>
                  <a:cubicBezTo>
                    <a:pt x="177" y="44"/>
                    <a:pt x="177" y="42"/>
                    <a:pt x="177" y="40"/>
                  </a:cubicBezTo>
                  <a:cubicBezTo>
                    <a:pt x="185" y="34"/>
                    <a:pt x="192" y="27"/>
                    <a:pt x="197" y="19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3200">
                <a:solidFill>
                  <a:srgbClr val="595959"/>
                </a:solidFill>
              </a:endParaRPr>
            </a:p>
          </p:txBody>
        </p:sp>
      </p:grpSp>
      <p:sp>
        <p:nvSpPr>
          <p:cNvPr id="164" name="Rectangle 68"/>
          <p:cNvSpPr>
            <a:spLocks/>
          </p:cNvSpPr>
          <p:nvPr/>
        </p:nvSpPr>
        <p:spPr bwMode="auto">
          <a:xfrm>
            <a:off x="5413922" y="2664126"/>
            <a:ext cx="1162243" cy="15696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sz="9600" b="1" kern="2000" dirty="0" smtClean="0">
                <a:solidFill>
                  <a:srgbClr val="595959"/>
                </a:solidFill>
                <a:latin typeface="Helvetica" panose="020B0604020202020204" pitchFamily="34" charset="0"/>
                <a:sym typeface="Bebas Neue" charset="0"/>
              </a:rPr>
              <a:t>2</a:t>
            </a:r>
            <a:endParaRPr lang="en-US" sz="9600" b="1" kern="2000" dirty="0">
              <a:solidFill>
                <a:srgbClr val="595959"/>
              </a:solidFill>
              <a:latin typeface="Helvetica" panose="020B0604020202020204" pitchFamily="34" charset="0"/>
              <a:sym typeface="Bebas Neue" charset="0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4204177" y="821488"/>
            <a:ext cx="5969848" cy="5157866"/>
            <a:chOff x="3153132" y="616116"/>
            <a:chExt cx="4477385" cy="3868400"/>
          </a:xfrm>
        </p:grpSpPr>
        <p:grpSp>
          <p:nvGrpSpPr>
            <p:cNvPr id="168" name="Group 3"/>
            <p:cNvGrpSpPr/>
            <p:nvPr/>
          </p:nvGrpSpPr>
          <p:grpSpPr>
            <a:xfrm rot="19173611">
              <a:off x="3153132" y="616116"/>
              <a:ext cx="4147710" cy="3868400"/>
              <a:chOff x="6717003" y="1781001"/>
              <a:chExt cx="5529794" cy="5157415"/>
            </a:xfrm>
          </p:grpSpPr>
          <p:sp>
            <p:nvSpPr>
              <p:cNvPr id="170" name="Freeform 12"/>
              <p:cNvSpPr>
                <a:spLocks noEditPoints="1"/>
              </p:cNvSpPr>
              <p:nvPr/>
            </p:nvSpPr>
            <p:spPr bwMode="auto">
              <a:xfrm flipH="1">
                <a:off x="6717003" y="1781001"/>
                <a:ext cx="3808977" cy="3778489"/>
              </a:xfrm>
              <a:custGeom>
                <a:avLst/>
                <a:gdLst>
                  <a:gd name="T0" fmla="*/ 176 w 349"/>
                  <a:gd name="T1" fmla="*/ 346 h 346"/>
                  <a:gd name="T2" fmla="*/ 176 w 349"/>
                  <a:gd name="T3" fmla="*/ 346 h 346"/>
                  <a:gd name="T4" fmla="*/ 163 w 349"/>
                  <a:gd name="T5" fmla="*/ 345 h 346"/>
                  <a:gd name="T6" fmla="*/ 7 w 349"/>
                  <a:gd name="T7" fmla="*/ 163 h 346"/>
                  <a:gd name="T8" fmla="*/ 190 w 349"/>
                  <a:gd name="T9" fmla="*/ 7 h 346"/>
                  <a:gd name="T10" fmla="*/ 306 w 349"/>
                  <a:gd name="T11" fmla="*/ 67 h 346"/>
                  <a:gd name="T12" fmla="*/ 345 w 349"/>
                  <a:gd name="T13" fmla="*/ 190 h 346"/>
                  <a:gd name="T14" fmla="*/ 176 w 349"/>
                  <a:gd name="T15" fmla="*/ 346 h 346"/>
                  <a:gd name="T16" fmla="*/ 176 w 349"/>
                  <a:gd name="T17" fmla="*/ 34 h 346"/>
                  <a:gd name="T18" fmla="*/ 35 w 349"/>
                  <a:gd name="T19" fmla="*/ 165 h 346"/>
                  <a:gd name="T20" fmla="*/ 68 w 349"/>
                  <a:gd name="T21" fmla="*/ 268 h 346"/>
                  <a:gd name="T22" fmla="*/ 165 w 349"/>
                  <a:gd name="T23" fmla="*/ 318 h 346"/>
                  <a:gd name="T24" fmla="*/ 318 w 349"/>
                  <a:gd name="T25" fmla="*/ 188 h 346"/>
                  <a:gd name="T26" fmla="*/ 285 w 349"/>
                  <a:gd name="T27" fmla="*/ 84 h 346"/>
                  <a:gd name="T28" fmla="*/ 188 w 349"/>
                  <a:gd name="T29" fmla="*/ 35 h 346"/>
                  <a:gd name="T30" fmla="*/ 176 w 349"/>
                  <a:gd name="T31" fmla="*/ 34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46">
                    <a:moveTo>
                      <a:pt x="176" y="346"/>
                    </a:moveTo>
                    <a:cubicBezTo>
                      <a:pt x="176" y="346"/>
                      <a:pt x="176" y="346"/>
                      <a:pt x="176" y="346"/>
                    </a:cubicBezTo>
                    <a:cubicBezTo>
                      <a:pt x="172" y="346"/>
                      <a:pt x="167" y="346"/>
                      <a:pt x="163" y="345"/>
                    </a:cubicBezTo>
                    <a:cubicBezTo>
                      <a:pt x="69" y="338"/>
                      <a:pt x="0" y="256"/>
                      <a:pt x="7" y="163"/>
                    </a:cubicBezTo>
                    <a:cubicBezTo>
                      <a:pt x="15" y="71"/>
                      <a:pt x="96" y="0"/>
                      <a:pt x="190" y="7"/>
                    </a:cubicBezTo>
                    <a:cubicBezTo>
                      <a:pt x="235" y="11"/>
                      <a:pt x="276" y="32"/>
                      <a:pt x="306" y="67"/>
                    </a:cubicBezTo>
                    <a:cubicBezTo>
                      <a:pt x="335" y="101"/>
                      <a:pt x="349" y="145"/>
                      <a:pt x="345" y="190"/>
                    </a:cubicBezTo>
                    <a:cubicBezTo>
                      <a:pt x="338" y="278"/>
                      <a:pt x="264" y="346"/>
                      <a:pt x="176" y="346"/>
                    </a:cubicBezTo>
                    <a:close/>
                    <a:moveTo>
                      <a:pt x="176" y="34"/>
                    </a:moveTo>
                    <a:cubicBezTo>
                      <a:pt x="103" y="34"/>
                      <a:pt x="41" y="92"/>
                      <a:pt x="35" y="165"/>
                    </a:cubicBezTo>
                    <a:cubicBezTo>
                      <a:pt x="32" y="203"/>
                      <a:pt x="43" y="240"/>
                      <a:pt x="68" y="268"/>
                    </a:cubicBezTo>
                    <a:cubicBezTo>
                      <a:pt x="93" y="297"/>
                      <a:pt x="127" y="315"/>
                      <a:pt x="165" y="318"/>
                    </a:cubicBezTo>
                    <a:cubicBezTo>
                      <a:pt x="244" y="325"/>
                      <a:pt x="312" y="265"/>
                      <a:pt x="318" y="188"/>
                    </a:cubicBezTo>
                    <a:cubicBezTo>
                      <a:pt x="321" y="150"/>
                      <a:pt x="309" y="113"/>
                      <a:pt x="285" y="84"/>
                    </a:cubicBezTo>
                    <a:cubicBezTo>
                      <a:pt x="260" y="55"/>
                      <a:pt x="226" y="38"/>
                      <a:pt x="188" y="35"/>
                    </a:cubicBezTo>
                    <a:cubicBezTo>
                      <a:pt x="184" y="34"/>
                      <a:pt x="180" y="34"/>
                      <a:pt x="176" y="3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>
                  <a:solidFill>
                    <a:srgbClr val="595959"/>
                  </a:solidFill>
                </a:endParaRPr>
              </a:p>
            </p:txBody>
          </p:sp>
          <p:sp>
            <p:nvSpPr>
              <p:cNvPr id="172" name="Freeform 14"/>
              <p:cNvSpPr>
                <a:spLocks/>
              </p:cNvSpPr>
              <p:nvPr/>
            </p:nvSpPr>
            <p:spPr bwMode="auto">
              <a:xfrm flipH="1">
                <a:off x="9813849" y="4690429"/>
                <a:ext cx="2432948" cy="2247987"/>
              </a:xfrm>
              <a:custGeom>
                <a:avLst/>
                <a:gdLst>
                  <a:gd name="T0" fmla="*/ 15 w 223"/>
                  <a:gd name="T1" fmla="*/ 132 h 206"/>
                  <a:gd name="T2" fmla="*/ 15 w 223"/>
                  <a:gd name="T3" fmla="*/ 185 h 206"/>
                  <a:gd name="T4" fmla="*/ 67 w 223"/>
                  <a:gd name="T5" fmla="*/ 194 h 206"/>
                  <a:gd name="T6" fmla="*/ 209 w 223"/>
                  <a:gd name="T7" fmla="*/ 74 h 206"/>
                  <a:gd name="T8" fmla="*/ 208 w 223"/>
                  <a:gd name="T9" fmla="*/ 21 h 206"/>
                  <a:gd name="T10" fmla="*/ 156 w 223"/>
                  <a:gd name="T11" fmla="*/ 12 h 206"/>
                  <a:gd name="T12" fmla="*/ 15 w 223"/>
                  <a:gd name="T13" fmla="*/ 132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3" h="206">
                    <a:moveTo>
                      <a:pt x="15" y="132"/>
                    </a:moveTo>
                    <a:cubicBezTo>
                      <a:pt x="0" y="144"/>
                      <a:pt x="0" y="168"/>
                      <a:pt x="15" y="185"/>
                    </a:cubicBezTo>
                    <a:cubicBezTo>
                      <a:pt x="29" y="202"/>
                      <a:pt x="53" y="206"/>
                      <a:pt x="67" y="194"/>
                    </a:cubicBezTo>
                    <a:cubicBezTo>
                      <a:pt x="209" y="74"/>
                      <a:pt x="209" y="74"/>
                      <a:pt x="209" y="74"/>
                    </a:cubicBezTo>
                    <a:cubicBezTo>
                      <a:pt x="223" y="62"/>
                      <a:pt x="223" y="38"/>
                      <a:pt x="208" y="21"/>
                    </a:cubicBezTo>
                    <a:cubicBezTo>
                      <a:pt x="194" y="4"/>
                      <a:pt x="170" y="0"/>
                      <a:pt x="156" y="12"/>
                    </a:cubicBezTo>
                    <a:lnTo>
                      <a:pt x="15" y="132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3200" dirty="0">
                  <a:solidFill>
                    <a:srgbClr val="595959"/>
                  </a:solidFill>
                </a:endParaRPr>
              </a:p>
            </p:txBody>
          </p:sp>
        </p:grpSp>
        <p:sp>
          <p:nvSpPr>
            <p:cNvPr id="169" name="矩形 168"/>
            <p:cNvSpPr/>
            <p:nvPr/>
          </p:nvSpPr>
          <p:spPr>
            <a:xfrm>
              <a:off x="6048113" y="2465831"/>
              <a:ext cx="1582404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67" kern="2000" dirty="0" smtClean="0">
                  <a:solidFill>
                    <a:schemeClr val="bg1"/>
                  </a:solidFill>
                </a:rPr>
                <a:t>Information theory</a:t>
              </a:r>
              <a:endParaRPr lang="zh-CN" altLang="en-US" sz="1867" kern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5" name="Rectangle 13"/>
          <p:cNvSpPr/>
          <p:nvPr/>
        </p:nvSpPr>
        <p:spPr bwMode="auto">
          <a:xfrm>
            <a:off x="3157473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Achievement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187" name="Freeform 14"/>
          <p:cNvSpPr>
            <a:spLocks/>
          </p:cNvSpPr>
          <p:nvPr/>
        </p:nvSpPr>
        <p:spPr bwMode="auto">
          <a:xfrm rot="19173611" flipH="1">
            <a:off x="1413665" y="2343629"/>
            <a:ext cx="2433162" cy="2248184"/>
          </a:xfrm>
          <a:custGeom>
            <a:avLst/>
            <a:gdLst>
              <a:gd name="T0" fmla="*/ 15 w 223"/>
              <a:gd name="T1" fmla="*/ 132 h 206"/>
              <a:gd name="T2" fmla="*/ 15 w 223"/>
              <a:gd name="T3" fmla="*/ 185 h 206"/>
              <a:gd name="T4" fmla="*/ 67 w 223"/>
              <a:gd name="T5" fmla="*/ 194 h 206"/>
              <a:gd name="T6" fmla="*/ 209 w 223"/>
              <a:gd name="T7" fmla="*/ 74 h 206"/>
              <a:gd name="T8" fmla="*/ 208 w 223"/>
              <a:gd name="T9" fmla="*/ 21 h 206"/>
              <a:gd name="T10" fmla="*/ 156 w 223"/>
              <a:gd name="T11" fmla="*/ 12 h 206"/>
              <a:gd name="T12" fmla="*/ 15 w 223"/>
              <a:gd name="T13" fmla="*/ 13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3" h="206">
                <a:moveTo>
                  <a:pt x="15" y="132"/>
                </a:moveTo>
                <a:cubicBezTo>
                  <a:pt x="0" y="144"/>
                  <a:pt x="0" y="168"/>
                  <a:pt x="15" y="185"/>
                </a:cubicBezTo>
                <a:cubicBezTo>
                  <a:pt x="29" y="202"/>
                  <a:pt x="53" y="206"/>
                  <a:pt x="67" y="194"/>
                </a:cubicBezTo>
                <a:cubicBezTo>
                  <a:pt x="209" y="74"/>
                  <a:pt x="209" y="74"/>
                  <a:pt x="209" y="74"/>
                </a:cubicBezTo>
                <a:cubicBezTo>
                  <a:pt x="223" y="62"/>
                  <a:pt x="223" y="38"/>
                  <a:pt x="208" y="21"/>
                </a:cubicBezTo>
                <a:cubicBezTo>
                  <a:pt x="194" y="4"/>
                  <a:pt x="170" y="0"/>
                  <a:pt x="156" y="12"/>
                </a:cubicBezTo>
                <a:lnTo>
                  <a:pt x="15" y="132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3200" dirty="0">
              <a:solidFill>
                <a:srgbClr val="595959"/>
              </a:solidFill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778176" y="3252284"/>
            <a:ext cx="1667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chemeClr val="bg1"/>
                </a:solidFill>
              </a:rPr>
              <a:t>Logic circuits</a:t>
            </a:r>
            <a:endParaRPr lang="en-US" altLang="zh-CN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2138993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1514" y="2686561"/>
            <a:ext cx="100832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proving that these circuits could solve all problems that Boolean algebra could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solve</a:t>
            </a:r>
          </a:p>
          <a:p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Using this property of electrical switches to implement logic is the fundamental concept 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that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underlies all electronic digital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computers</a:t>
            </a:r>
          </a:p>
          <a:p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Shannon's work became the foundation of digital circuit design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89348" y="1438760"/>
            <a:ext cx="10997852" cy="853506"/>
            <a:chOff x="605013" y="2929354"/>
            <a:chExt cx="10997852" cy="853506"/>
          </a:xfrm>
        </p:grpSpPr>
        <p:sp>
          <p:nvSpPr>
            <p:cNvPr id="2" name="文本框 1"/>
            <p:cNvSpPr txBox="1"/>
            <p:nvPr/>
          </p:nvSpPr>
          <p:spPr>
            <a:xfrm>
              <a:off x="707153" y="3029308"/>
              <a:ext cx="10777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/>
                <a:t>A Symbolic Analysis of Relay and Switching Circuits</a:t>
              </a:r>
              <a:endParaRPr lang="en-US" altLang="zh-CN" sz="3600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05013" y="2929354"/>
              <a:ext cx="10997852" cy="853506"/>
            </a:xfrm>
            <a:prstGeom prst="rect">
              <a:avLst/>
            </a:prstGeom>
            <a:noFill/>
            <a:ln w="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Logic circuits 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928669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1514" y="2686561"/>
            <a:ext cx="714811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Using math to explain information</a:t>
            </a:r>
          </a:p>
          <a:p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Come </a:t>
            </a:r>
            <a:r>
              <a:rPr lang="en-US" altLang="zh-CN" sz="20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up with Information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entropy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to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measure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information</a:t>
            </a:r>
          </a:p>
          <a:p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Became the beginning of modern information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theory research</a:t>
            </a:r>
          </a:p>
          <a:p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One of the foundations of information age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19"/>
          <p:cNvGrpSpPr/>
          <p:nvPr/>
        </p:nvGrpSpPr>
        <p:grpSpPr>
          <a:xfrm>
            <a:off x="889348" y="1438760"/>
            <a:ext cx="10997852" cy="853506"/>
            <a:chOff x="605013" y="2929354"/>
            <a:chExt cx="10997852" cy="853506"/>
          </a:xfrm>
        </p:grpSpPr>
        <p:sp>
          <p:nvSpPr>
            <p:cNvPr id="2" name="文本框 1"/>
            <p:cNvSpPr txBox="1"/>
            <p:nvPr/>
          </p:nvSpPr>
          <p:spPr>
            <a:xfrm>
              <a:off x="1724515" y="3029308"/>
              <a:ext cx="87429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/>
                <a:t>A Mathematical Theory of Communication</a:t>
              </a:r>
              <a:endParaRPr lang="en-US" altLang="zh-CN" sz="3600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05013" y="2929354"/>
              <a:ext cx="10997852" cy="853506"/>
            </a:xfrm>
            <a:prstGeom prst="rect">
              <a:avLst/>
            </a:prstGeom>
            <a:noFill/>
            <a:ln w="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Information theory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928669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84302" y="544297"/>
            <a:ext cx="5402077" cy="5407025"/>
          </a:xfrm>
          <a:prstGeom prst="rect">
            <a:avLst/>
          </a:prstGeom>
          <a:noFill/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23" name="文本框 22"/>
          <p:cNvSpPr txBox="1"/>
          <p:nvPr/>
        </p:nvSpPr>
        <p:spPr>
          <a:xfrm>
            <a:off x="4158343" y="1695139"/>
            <a:ext cx="35705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华康俪金黑W8(P)" panose="020B0800000000000000" pitchFamily="34" charset="-122"/>
                <a:cs typeface="+mn-ea"/>
                <a:sym typeface="+mn-lt"/>
              </a:rPr>
              <a:t>3</a:t>
            </a:r>
            <a:endParaRPr lang="zh-CN" altLang="en-US" sz="199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华康俪金黑W8(P)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02606" y="2881783"/>
            <a:ext cx="3917942" cy="646331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3585695" y="774016"/>
            <a:ext cx="4947586" cy="4947586"/>
          </a:xfrm>
          <a:custGeom>
            <a:avLst/>
            <a:gdLst>
              <a:gd name="connsiteX0" fmla="*/ 2296648 w 4593296"/>
              <a:gd name="connsiteY0" fmla="*/ 308397 h 4593296"/>
              <a:gd name="connsiteX1" fmla="*/ 308397 w 4593296"/>
              <a:gd name="connsiteY1" fmla="*/ 2296648 h 4593296"/>
              <a:gd name="connsiteX2" fmla="*/ 2296648 w 4593296"/>
              <a:gd name="connsiteY2" fmla="*/ 4284899 h 4593296"/>
              <a:gd name="connsiteX3" fmla="*/ 4284899 w 4593296"/>
              <a:gd name="connsiteY3" fmla="*/ 2296648 h 4593296"/>
              <a:gd name="connsiteX4" fmla="*/ 2296648 w 4593296"/>
              <a:gd name="connsiteY4" fmla="*/ 308397 h 4593296"/>
              <a:gd name="connsiteX5" fmla="*/ 2296648 w 4593296"/>
              <a:gd name="connsiteY5" fmla="*/ 0 h 4593296"/>
              <a:gd name="connsiteX6" fmla="*/ 4593296 w 4593296"/>
              <a:gd name="connsiteY6" fmla="*/ 2296648 h 4593296"/>
              <a:gd name="connsiteX7" fmla="*/ 2296648 w 4593296"/>
              <a:gd name="connsiteY7" fmla="*/ 4593296 h 4593296"/>
              <a:gd name="connsiteX8" fmla="*/ 0 w 4593296"/>
              <a:gd name="connsiteY8" fmla="*/ 2296648 h 4593296"/>
              <a:gd name="connsiteX9" fmla="*/ 2296648 w 4593296"/>
              <a:gd name="connsiteY9" fmla="*/ 0 h 45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296" h="4593296">
                <a:moveTo>
                  <a:pt x="2296648" y="308397"/>
                </a:moveTo>
                <a:cubicBezTo>
                  <a:pt x="1198567" y="308397"/>
                  <a:pt x="308397" y="1198567"/>
                  <a:pt x="308397" y="2296648"/>
                </a:cubicBezTo>
                <a:cubicBezTo>
                  <a:pt x="308397" y="3394729"/>
                  <a:pt x="1198567" y="4284899"/>
                  <a:pt x="2296648" y="4284899"/>
                </a:cubicBezTo>
                <a:cubicBezTo>
                  <a:pt x="3394729" y="4284899"/>
                  <a:pt x="4284899" y="3394729"/>
                  <a:pt x="4284899" y="2296648"/>
                </a:cubicBezTo>
                <a:cubicBezTo>
                  <a:pt x="4284899" y="1198567"/>
                  <a:pt x="3394729" y="308397"/>
                  <a:pt x="2296648" y="308397"/>
                </a:cubicBezTo>
                <a:close/>
                <a:moveTo>
                  <a:pt x="2296648" y="0"/>
                </a:moveTo>
                <a:cubicBezTo>
                  <a:pt x="3565052" y="0"/>
                  <a:pt x="4593296" y="1028244"/>
                  <a:pt x="4593296" y="2296648"/>
                </a:cubicBezTo>
                <a:cubicBezTo>
                  <a:pt x="4593296" y="3565052"/>
                  <a:pt x="3565052" y="4593296"/>
                  <a:pt x="2296648" y="4593296"/>
                </a:cubicBezTo>
                <a:cubicBezTo>
                  <a:pt x="1028244" y="4593296"/>
                  <a:pt x="0" y="3565052"/>
                  <a:pt x="0" y="2296648"/>
                </a:cubicBezTo>
                <a:cubicBezTo>
                  <a:pt x="0" y="1028244"/>
                  <a:pt x="1028244" y="0"/>
                  <a:pt x="2296648" y="0"/>
                </a:cubicBezTo>
                <a:close/>
              </a:path>
            </a:pathLst>
          </a:custGeom>
          <a:blipFill dpi="0" rotWithShape="1">
            <a:blip r:embed="rId5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16618" r="-16618"/>
            </a:stretch>
          </a:blipFill>
          <a:ln>
            <a:noFill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9336693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accel="6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00365" y="1902565"/>
            <a:ext cx="11405056" cy="3789185"/>
            <a:chOff x="400365" y="1902565"/>
            <a:chExt cx="11405056" cy="3789185"/>
          </a:xfrm>
        </p:grpSpPr>
        <p:cxnSp>
          <p:nvCxnSpPr>
            <p:cNvPr id="5" name="Straight Connector 7"/>
            <p:cNvCxnSpPr>
              <a:stCxn id="10" idx="6"/>
              <a:endCxn id="13" idx="2"/>
            </p:cNvCxnSpPr>
            <p:nvPr/>
          </p:nvCxnSpPr>
          <p:spPr>
            <a:xfrm>
              <a:off x="1329209" y="5227157"/>
              <a:ext cx="9547363" cy="2119"/>
            </a:xfrm>
            <a:prstGeom prst="line">
              <a:avLst/>
            </a:prstGeom>
            <a:ln w="12700" cap="flat">
              <a:solidFill>
                <a:schemeClr val="tx1">
                  <a:lumMod val="85000"/>
                  <a:lumOff val="1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400365" y="4762567"/>
              <a:ext cx="928847" cy="92918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0"/>
            <p:cNvSpPr/>
            <p:nvPr/>
          </p:nvSpPr>
          <p:spPr>
            <a:xfrm>
              <a:off x="10876574" y="4762567"/>
              <a:ext cx="928847" cy="929183"/>
            </a:xfrm>
            <a:prstGeom prst="ellipse">
              <a:avLst/>
            </a:prstGeom>
            <a:solidFill>
              <a:srgbClr val="21212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Oval 12"/>
            <p:cNvSpPr/>
            <p:nvPr/>
          </p:nvSpPr>
          <p:spPr>
            <a:xfrm>
              <a:off x="2274735" y="5088321"/>
              <a:ext cx="277572" cy="27767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43"/>
            <p:cNvSpPr/>
            <p:nvPr/>
          </p:nvSpPr>
          <p:spPr>
            <a:xfrm>
              <a:off x="2608115" y="2312946"/>
              <a:ext cx="9028564" cy="289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 is a </a:t>
              </a:r>
              <a:r>
                <a:rPr lang="en-US" altLang="zh-CN" sz="2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genius.In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his whole </a:t>
              </a:r>
              <a:r>
                <a:rPr lang="en-US" altLang="zh-CN" sz="2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life,he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developed two most importance theory in 20st </a:t>
              </a:r>
              <a:r>
                <a:rPr lang="en-US" altLang="zh-CN" sz="2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century.One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developed logic circuits. And another one developed information theory.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You can’t really overstate 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 impact that Shannon’s work has </a:t>
              </a:r>
              <a:r>
                <a:rPr lang="en-US" altLang="zh-CN" sz="2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had,it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does begin to open up a possibility to understand ourselves and our </a:t>
              </a:r>
              <a:r>
                <a:rPr lang="en-US" altLang="zh-CN" sz="2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society,because</a:t>
              </a:r>
              <a:r>
                <a:rPr lang="en-US" altLang="zh-CN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pretty much anything and everything can be measured and encoded as data.</a:t>
              </a:r>
              <a:endPara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20" name="Straight Connector 26"/>
            <p:cNvCxnSpPr/>
            <p:nvPr/>
          </p:nvCxnSpPr>
          <p:spPr>
            <a:xfrm rot="16200000" flipH="1">
              <a:off x="1242427" y="3906143"/>
              <a:ext cx="2351684" cy="11744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ardrop 25"/>
            <p:cNvSpPr/>
            <p:nvPr/>
          </p:nvSpPr>
          <p:spPr>
            <a:xfrm rot="8100000">
              <a:off x="2145324" y="1902565"/>
              <a:ext cx="557634" cy="557836"/>
            </a:xfrm>
            <a:prstGeom prst="teardrop">
              <a:avLst>
                <a:gd name="adj" fmla="val 1316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Rectangle 13"/>
          <p:cNvSpPr/>
          <p:nvPr/>
        </p:nvSpPr>
        <p:spPr bwMode="auto">
          <a:xfrm>
            <a:off x="3495675" y="317622"/>
            <a:ext cx="5200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6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Conclusion</a:t>
            </a:r>
            <a:endParaRPr lang="id-ID" sz="3600" spc="-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45845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mc:AlternateContent xmlns:mc="http://schemas.openxmlformats.org/markup-compatibility/2006">
    <mc:Choice xmlns=""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4000" fill="hold" nodeType="after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4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/>
          <a:srcRect l="68594" t="65577" b="15737"/>
          <a:stretch/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84302" y="544297"/>
            <a:ext cx="5402077" cy="5407025"/>
          </a:xfrm>
          <a:prstGeom prst="rect">
            <a:avLst/>
          </a:prstGeom>
          <a:noFill/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16" name="矩形 17"/>
          <p:cNvSpPr>
            <a:spLocks noChangeArrowheads="1"/>
          </p:cNvSpPr>
          <p:nvPr/>
        </p:nvSpPr>
        <p:spPr bwMode="auto">
          <a:xfrm>
            <a:off x="3871005" y="4123156"/>
            <a:ext cx="43052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王杰</a:t>
            </a:r>
            <a:endParaRPr lang="zh-CN" altLang="en-US" sz="14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3585695" y="774016"/>
            <a:ext cx="4947586" cy="4947586"/>
          </a:xfrm>
          <a:custGeom>
            <a:avLst/>
            <a:gdLst>
              <a:gd name="connsiteX0" fmla="*/ 2296648 w 4593296"/>
              <a:gd name="connsiteY0" fmla="*/ 308397 h 4593296"/>
              <a:gd name="connsiteX1" fmla="*/ 308397 w 4593296"/>
              <a:gd name="connsiteY1" fmla="*/ 2296648 h 4593296"/>
              <a:gd name="connsiteX2" fmla="*/ 2296648 w 4593296"/>
              <a:gd name="connsiteY2" fmla="*/ 4284899 h 4593296"/>
              <a:gd name="connsiteX3" fmla="*/ 4284899 w 4593296"/>
              <a:gd name="connsiteY3" fmla="*/ 2296648 h 4593296"/>
              <a:gd name="connsiteX4" fmla="*/ 2296648 w 4593296"/>
              <a:gd name="connsiteY4" fmla="*/ 308397 h 4593296"/>
              <a:gd name="connsiteX5" fmla="*/ 2296648 w 4593296"/>
              <a:gd name="connsiteY5" fmla="*/ 0 h 4593296"/>
              <a:gd name="connsiteX6" fmla="*/ 4593296 w 4593296"/>
              <a:gd name="connsiteY6" fmla="*/ 2296648 h 4593296"/>
              <a:gd name="connsiteX7" fmla="*/ 2296648 w 4593296"/>
              <a:gd name="connsiteY7" fmla="*/ 4593296 h 4593296"/>
              <a:gd name="connsiteX8" fmla="*/ 0 w 4593296"/>
              <a:gd name="connsiteY8" fmla="*/ 2296648 h 4593296"/>
              <a:gd name="connsiteX9" fmla="*/ 2296648 w 4593296"/>
              <a:gd name="connsiteY9" fmla="*/ 0 h 45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296" h="4593296">
                <a:moveTo>
                  <a:pt x="2296648" y="308397"/>
                </a:moveTo>
                <a:cubicBezTo>
                  <a:pt x="1198567" y="308397"/>
                  <a:pt x="308397" y="1198567"/>
                  <a:pt x="308397" y="2296648"/>
                </a:cubicBezTo>
                <a:cubicBezTo>
                  <a:pt x="308397" y="3394729"/>
                  <a:pt x="1198567" y="4284899"/>
                  <a:pt x="2296648" y="4284899"/>
                </a:cubicBezTo>
                <a:cubicBezTo>
                  <a:pt x="3394729" y="4284899"/>
                  <a:pt x="4284899" y="3394729"/>
                  <a:pt x="4284899" y="2296648"/>
                </a:cubicBezTo>
                <a:cubicBezTo>
                  <a:pt x="4284899" y="1198567"/>
                  <a:pt x="3394729" y="308397"/>
                  <a:pt x="2296648" y="308397"/>
                </a:cubicBezTo>
                <a:close/>
                <a:moveTo>
                  <a:pt x="2296648" y="0"/>
                </a:moveTo>
                <a:cubicBezTo>
                  <a:pt x="3565052" y="0"/>
                  <a:pt x="4593296" y="1028244"/>
                  <a:pt x="4593296" y="2296648"/>
                </a:cubicBezTo>
                <a:cubicBezTo>
                  <a:pt x="4593296" y="3565052"/>
                  <a:pt x="3565052" y="4593296"/>
                  <a:pt x="2296648" y="4593296"/>
                </a:cubicBezTo>
                <a:cubicBezTo>
                  <a:pt x="1028244" y="4593296"/>
                  <a:pt x="0" y="3565052"/>
                  <a:pt x="0" y="2296648"/>
                </a:cubicBezTo>
                <a:cubicBezTo>
                  <a:pt x="0" y="1028244"/>
                  <a:pt x="1028244" y="0"/>
                  <a:pt x="2296648" y="0"/>
                </a:cubicBezTo>
                <a:close/>
              </a:path>
            </a:pathLst>
          </a:custGeom>
          <a:blipFill dpi="0" rotWithShape="1">
            <a:blip r:embed="rId5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16618" r="-16618"/>
            </a:stretch>
          </a:blipFill>
          <a:ln>
            <a:noFill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335957" y="2659920"/>
            <a:ext cx="5479142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方正姚体" panose="02010601030101010101" pitchFamily="2" charset="-122"/>
              </a:rPr>
              <a:t>Thanks for Listening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352000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 advTm="0">
        <p:blinds dir="vert"/>
      </p:transition>
    </mc:Choice>
    <mc:Fallback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6247AFE9-6511-4607-A56D-166D93078210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HVkqUiA7MhOOjAAAP1bAAAXAAAAdW5pdmVyc2FsL3VuaXZlcnNhbC5wbmftvAtUU9e6P2p3d7V7F7W2u0cij9Rq1WoLQoSAQNLWCrUWqSJGj0C0EagPEkPkEcmjPe5q1cAqKgYMkrrxCUqqVJJASLTULCRARKXRroSIixAlhJjEvFh53ARttbZ73P8Z95w7xh1XxmAkWZnz+775PX/fylxz72crUib/fcbfJ0yYMHnZxx+tmjDhJeyECS9SXp7ov/KyePRF/8sLtFUpH05o7Am97//w17wPUj+YMOE88Ip740v+z3/b/vE62oQJU9oD/y+AlNObJkxYf2DZRx+sLsk2aijAuTy6lpmdnv1+9vuza39Yta8ed8Z9tr4m5b23PkhdvvfNVSFzp2XMODXtzZk35iw9s/ejf949/Mmir+q/+WHNR59s3VX/5Xf/+DQ95OWIHaMIduSGmOGqgmvWlSrvX2x0MU4A9q4x7NZcU3yv93wuEkbgsdwwmtjmHTMQ8O6BqQLPnUn4CYG/EohzLro1x67Ip3B44gstmMDFS+KO8viWcCz7YR26EvvXwKU47G2MAOz2OXxeIj2w8glf0iqzrGGs0LDAB9Gi2zFaM5ft4uoqx+nq57cOJdQvGH/fc5RqDdLh830p7IcpusJQvpYdmA9FkWtnwj+3DznQ/o93imo7RK5jU5n3UnGe+2kheeHt+6gGwOcEtHfXa8fW0KFZIoXe8XUkY2DMTnR1EjoNJmif1sfgs+6+zp8nUOiwWdiDIPM6UZjINbouFA5bQy3BFJUpsKIHzgDxdLwtnSB78IrsgfzOAxreQSOkJdluXhy2P1zDWe8b4XuaDNMWz8pmeZwgnsW8vT9Surbfa3zQC7Ae7p2c5lKTrWuJyC+qRkrpQypG23QezbCyIvC2UqyDeV3JTCB7u5TuLhstxIQfFdHRyul+xmv1e8t4yFdvzrqq9I4os6fmQYrq9THkUbA1iIf6h5DbdpSc8HG/PB+9QHj12vosYWe9nzIfoS40AS9QS135GsfauN3dwy3pwdgX/Dq6oIFEKFSa/NWKCusp9tgpASUE9ZncWJDVj1blT+ICjMFZlMxw+tf3RBEmCn60JIbQ3/Oy5fJU1oOxWJdIvC0IC1+gatP5EJPeKu+W8BVWe8lSPcXzMyWLePj8Yq7OOFMFIEMtVMh9hPB+ucESA/VTJIsXOa5WLc6OaWkjl/LNia3gbbwqU3qRWSPxIDIfQklcgfP6vFof8h6fSOYhHLDsDdgUWMh6ZBqNod0WqXTcdFr5poPmpMP6KkiHMBKzWWHKJBlR7HEyO/NB+Cdndn34XC6hoNVsFlq2mIfPw815HfYoS2Y9PiXgkHQxF70cCHoJFSv/7tBX2xN25+9RZmLl35hJ51GhBVpJEplraK4bFGX1l5vPW4uSv6VCfqmK+tHKmWgKp+pUopAKId9vUXfJ3qsWdH97mcJoJN1TLKw0WMR5g4qXqwzWrY1olc7oPmLwGtgegcqkN6rZyCcdmdjwPAYn87DBwijQiIwlbgmTB6KUhercrchaegJ/ay1llH85Gp2g0sVCG99V6Zpha0+hqwQeG2cH3mIBQyo3Xalzea/m0BO0U2GWa4ZeCrdIjkbtSNSaRa7FOhZ8HkRgqtxBYk2tB8XLYshD54VaiM4x33I56SO3UQfAYP0HI5OyA2GSmNRLxex6f/eujoYT8lsxEys4L7eL8huVp7+duTFoypKJe9Xk0nX9yu1HhCCp3FCARH0+aJYb33JA+DWjpcO01rQGeXcbZw/8Bhf1oHkJSS7L5J//ouPNRbtlajx83ZmELmBGaPsjgQRvXRKdQ4XMcbBHchTSDlGblRcvMM8aIXO1kjFUdjmaC+gPCYW7tnBWFpbePthcoO5yGEtObGJ18z2ZUrRd/jJKTIkIoehLv1BHmPRRVk+Tp+lb05VMXPgsefzKpJ5Ui8QO50aEtA99OzMGYEKYTUHHxR6vcqF/mdulozrwOubzbcQTMfL9nFdLxbhZ14M/kscd+GpjwpopdLaa4qMKhcr8ZodGhq8ZU9sB6+xzM7DCF7X9rJLQFz+PgDoXVhkw+3K/7ILLe6O4+li6DfayUBfs6FkFPiMExw8VFdNr2owkI96hxluKItDARWZpRw6kL0GvKeehXgIdW1jdKgwXwPtcTbUztzOAwdJ5FH2LuQ0TjrGwwvOQffoOJuhb+X0ltBqgHVTn+Zg1CjtRQG3dWJrVr7TRE9DFaqzybWUSVycenZQesJ5bDcnE1RUbJJ/P37WM3BT2ktUuUjoLM2Oze99AvQ4y3wLiIyC22vjtefQH0ddGiJcrDZgNNRa1PN/UHl/Ogyt5EDS49cBKjEAUClQqLMhRUAmhEsEJiwdx4tEIeCgLnUdB1iJKz0kqBpD5sLHWzm5PTtovnVSa5KhpV9BOOp4LmCnIfLBDlSBEC0MoU2HqLO0C2JDJ9OmUyxoF4fo5iMnQQTKxfTTv4AWodiY9HBYP0XWxdC+EvBDI7fp+eXfQS2KGZOyd9qtFm26Vh6GmNbeDJX2qEk5U5qYdHfkg2EniHCNlFt8QVYMdNrGmhM2J90eh2cuMA6mYujWjGCkLtcj6924OE/UCTeMUYsB8Gk+NEyryC7JY3YgQhQUXvJ8WsJC+1Z9bZ2BnLRlyYmr0FV8Vq+3Ss+FYqz6J3QN+wVeAompDszaEnuDoViUJFRDccsuf+moYqUIt2xVj0huy/L5WT6X5bsGeRDCRFV7qri0HEmrhEqlLDVpRQFTPpIBtGEkV/shqD/6P5ujgTXc6IDHL3ZG3bVJ7JnfmxkxhWHr0uzk7glVlFZ+rKZlcRA+XGaxOCEpOrjDHiT0lPadwQuTC5+pOVW7Q15WMfoTwSTmbEg3fCQ4HC+mlmdPhrSGoF0Ed6hUQPIeT2x3bOIdJi9oU8Eg+XuvR1yKAnqcQApUOzBd+4ZC4tB/9xc3o2CYFLd5ge4HLGd4BwUq2VCV37KglNobAuu+Zas5+OpvTrnFovVTyKiYRTAXCNKgLTCl9hMpTs5Dg8dS58y14TtrP+6j7rbrHlZbDy+sQ2b53eQLrFoXBQ6hoctI2li9gXDIoou/mrJ/K+61I/yVQw6dfFf0t8Jo5G54TeN1eweGNQ4Wl0f9uQL85UKII4xCAK/9vT/9vDlBIHl5fThBILJ19WwVtRW8vi3+lYM7gttM9HNT4hO9/4kofnmhAex/sAeZMXjbWUBA7yDndU15OfT1Qp+9Geu9GhncHH3j4c0Hy6rwUcJzbuzOXNdU31ZHUAQx0+Nvj6/pu9z5SyPKPr58dHrk3Xpa/fHv25jWFRTvGBbr02oFFDYsTFstT/R82/G3ZkYyjYWGPJPjn7O763xh+eCA34zmb/x0296J32voIglq219XgkOiTVP22xuKsNutRU+IC+grYpRMPxRuCn1A6Zo2cNXAjDZ81ZZ/+XeXtS3TOE8LXXI4ujPIQPPB2B02lIzyRq0dGc097CHXS8CemZ5cM9K5fvOfpWYSy3dzBxpxbiTpWi+zpL4ToVyK7s2a0D2WZTiHnniz6KBs6tn2Bb6llOpFh7j3XL81muXQG/aokUJQPbbRGOG54fsfdeEdYSM5QRpFvsG5JjJ4fTj7R7A6vMUU2oK6vJXXV7+6G1GmGp1SoJ8a4r4gzksB7LZtvBR1Ne0pt7obdsjhhvT4Y2zeZd8x65mnh+h5M16+xhdZtid22u+fU07wy2ok16/toHKYQFbtEn/7Epot99QORPeeG4+XN0JR/Q4+0g7sRswP3tC0EM7x3A7Ifb/13k+BD/2YODF9zrX5aSVuc+2kNO8uBP5cLN+VPl++M+28RNwf8g6u8x/gzJX98KqhmMf93jjGZTQ3YLbk4LK7wTxe+rVVx6cyfa0ubP2nFn5ssQ4j6N+TUN7fdufmnkvf2Tf43wuVqFm0f/tMFiVL7nhUO6aWUeF16tOau0fT19Ox5fJK62fPsIOiy6TXNCeMfLh978JrmYtQzzLT+YPQcvvxg1aCYv2riMysuHRXrOwcevDYoNlganp7UIJDutN1MT6uEB+IVtJ7fh2tEHeeffkiDKKaZQ3XiGbFA+v8vUmmSWOrqpmS3Oe/up5hfHU+LeJX7P2Ma04RtR5+O44eDO/16bex39RRLr6SnJRXaLIpIfEsfvVLvnt05z9VY3GYYdun57B1XeQqQriztp3mKpHOwk6vEiSqD5Cn50xqjyGTFPe7KyHZtvH32np/yaulDw/dP8VkP+3mKS8iPr0RmyjRtBTdE9Nqn/HUuIYZ8Uskcpam4+j6eq9fGYYjfFaIFG7oEdHaHMRn1FxqfqmEFq7O5hBVkARqIaVSCYTpPooDKu5kEMGoYU+AWpjgCELaldZLIoMYDk9E0xrlkV6YlvswAvr/4FxY5Slq788LvmMov+tu0N7kKjGRp9pVg+tI8uSTq7zhkpEkFRDWiZ+VkT3Z5HTLfWIt5/jVq1m6ZhG8o8PkbonKLqAL0g1VPcBxo7Rag/pannIVOMOlVRvDWYf0RhKxYsNhaVcfgRH04JOYgHKDakOKKg8cSVzSG4Mdq9TG1pEY0n42bmnT7qQA8uOBFKPgVYbSoDK3qOc2FthHFVee3Z+Jn7MrqNIKXqgro/jZZd17YvjEcK0TDAyW4OnUsmnLIkNKkrzBgFhbldHQzk+F4Ml5rtELl595p15WsgLdebMMBfGSQ6uAv76RpiCdBwdMeEn02h6MQNVcqwLj4ia35ME6s+bYiinvCfeSDSMHnXSIh+yyHASFDza4Y3VjU7JP+Dg6bz1fk14Ilat4M0lCJbVOtyQ6fMNfIX22lZB4GKv2d2Vy+QcS2MeoFgnDZ0142g5RJiJHqPJK3ChLuLt19uTf4bzRIEh0NYMK3smUdhe+oAGF6I1ReBumjS8P9bcANO3iNxjfqK+S0GUq2VvQuequkYEdk+2kqLeuptHC18lh+7NkMeP1EiWdCFfpKOacEeSGyLjv7Sny2S+SpMB1CG8MFNV02YRi2VV9BTiAPkQACZUjFhON1GbWIHo87dUh/wTPNcQgZjB9UBZ1G0AcFo3W/V9WKMCxNZgQK/GaeUGWQL5iZzlrN4HBQoVYWmRs9qrPDHnNcnZqCJ+cGhdUNpCpnaYrUn8LgbaGy9AdmF+dgBYAWExvT6HhlXsKG3JthSjxQYQBJOcEaVv7Dwd9FUdB+aOD7+bs2FvKCClC2t3Zp7G8cEqdll8U1asuLURMwzjJDQWvUipOMs0aErjbeqRpYKEQJekZqU0aFTNkCgAtqZPWL8vk3vC6TbLdYE5w4S6XD1TFqEpWZXGXbjHSb8zkCfc7mv8smu9R4McX69ey2izXTngwZ777wY73AeA9F0G3rQK38jWcXV+bWNQSqLzAUtKylBfd6QezqPDlnXIgJoo/HxZxw5y1UgMOEL/dvGpdhQsSB/6EBa4cXEF2dfcUyRNOg8st/pF9tEMi8ctUc4imfGe9NcRVK9ivZXitBhrTKSm2Bu9DDBJaO0NjvGS1Gr8HJZvJpOMfw1h+jHikhJ/rn+6OBe+iinfdPcDsF97v24N0DBX9lzOtH+h3Z7Mn1gslc5SO1mi8KmMbe1afSF+fc6VoQ03DZNLOzIa5BMI3b/WhABXUFQGBt8iwnjq1y2TRIt9bdXTBY2oGznUmrJC6I4P6aEU66v2DbbJqdA19P76SajimA0wRi5JOvGyPZLoVOVRI3xl50j5roc1t1Ko5i02+VxcfabIspd6suN6wE+B2AgUDERhz8bbJfL+fcM8AlPkGdVj5d5rxi2QrqfkuuRTeAkzIT07RgUpJ3HzoVP+VxT32GaeVpJTvNV6YLdMZ8gXRs2KaLlLktdctZ170W9+LwugMQADT5giG5MQVxpGA1jdeZkkYKG4Eorhn8MfRrY31ET58BrfJeIbqvrM8KR7vvTBII9qtHTxrmi3HAuizsNvyQ12zx2mFNhjf1ukdV/uuaRFvphZpWf2/XUCy1HqVYRpqUuJYracntmfZaf9vX+zZ+M5vO0uDk2WSfmqbMkh0lUraoWYv6ladFxpNQRgugso35HUG3tWZAMMOaK3/Z/XUk45iEgYjoSCUhWyxlrMd5g2f7Hkz1Peg9UegX50YMLnd3l4DtMQARngaWvpilL9Pv2OeGjiMCNPdxIFG50dtynQpRtZkSTNIHv07x1xo7HFW7c/iMweDHQtXYCEXDXOvWCKUAW2kg+eWxdjbg/bohMyTnElXppX6f6n8YwzKVatdPoWMggpS8p8sjqiZ8UY5DbiuzgUNRcjCq3E+zxRzsKsw8bJiVMy+MSykj5JXPLMysBSqkPo8J//OCOCvlIFlWlDnnsbXyFdfikrsCGMsv/TI6npv33af+cigsI1BHU64ElYkTZf2rG4HeEnyzYF7b/aK0FiNwMu/VxmQJdKuch5rv4AJUGqcKFQvmvzWLJJf/gA7FfHzS3dLG4PBcwZBC2PziPbuFIRVrveCA6S1f7H3nL1Tx44wkzJdsoQVVIfIFkRjyUYUovvaG04GhtGThhvrhHzy9D/1Bt0T3TXEI6adQwYFQvKXNL5ngl7PZUfHZK11X01iWVK5S3h10kl66lXPYFeWIOlJOKBkaA+lXhtZk97Z6MJ2/+qu6OSp6TfumX8oPrtTYTypuMDk8+I0TMKzZ0doJH0an+u5Ol60tLxbGJHdxjqBen9V+t0jNWWkLxpZVNVGb5qOL1RFL9Ew3j1eh/8yzTlfwOPORobfLefc9/jxmg0j3zpKxtdafA+TYNehlgPGbakL2Sfc91z5qU6luyGunF94ruteVg0CajN0Dw8oF3MuPvQOSx4l8wMPjErw3qUdylLqQwm8XxXvPXTPPGsZqRpc5YLTPOZ5+OgdGm5tn5fajX7zrjLJl1hIKyutXUhPlKf5Ei83Chfj1c13tx6AyDym3JBXxtSDvRAcR2NnioEeJf2/rook/uqd3C3WeTGnYe+D2OPnFRWTC5EqHH2qbg5ugpPt2WJtlBLujEsvlOljb1+WsPk9T4/Fv1cqBJkABU+XdjOw6I1xO4A4p++z2Ux0LJb6mTt3Cx4o+EZQNv3HE36w9tL1ZTbSyIrRTqklnOZI2pmzsvOm2aN1V5vUS9g9sfJl+naYxOhyh7lQTFo6C3cGC8k9hSxAHIhQOsSDt/mHt5ZoyHjaGrGVKwLDCPYFsrOOv6+E/vj3XqAN7hEt0wX9x4Otr7e2bJsq33PpU6cfpNnhbyoVDvoKiCMEgbrME/4uMb6H6vSon0Q4fIny6pk6TX8Ym0hBKVm5HKOmuV3tJPYX/TjvJZtqUPFGZKGc5u4wgTJAbrYnyBckpqET+ze9RgbuECnxTDf5xzRwVzo23Jy3yByTS+fvLZrSK3mHp1Awr39M/zufHEIoPbR2wWyhfrmGT4ymPi7CG7RsmehoKRKTRNhOT4tIftuY+zs0eru/VtBg1NYE/dvNUJ761JvIxg58ffjWV8V3oaJW17v6v2eVYDNPexH9vTwJZv5/o/tyl51p/zfFHsum6yoIf4KLAnS+LMlJ/9fGUQo+V7VUqBsrF40HGJ/b8mvgNYz9Ol342pVhdjk6Vhf6KF35x/LJVkOVL/3tk28NVdHLXrwjj/kmWsx2dzby/nDhf+QREtHjvRnr/lfi/gzdastkeW4OJ5Wh9dHfX5+b7Xo+rYlD0pYlaw1MtwA6PwGeTNUodbaYsz4M9eMaOvcdnVZqMDEBf2vYEDe1tlFxYft3MYwoIv4nSm6M+FJ48/v2dtwpR2BN7KsYFFn2cJU+9v/GRfiNWcanpO4PHIcaX+28+O8VqivRZIgXZDPOVBq3Po2W3n8J77jcEijJAjnoEBjKPN86NIbM8BiK7HVqHY+1+8/48D99nZTfiLBVAZpK/7TzBDiyjbr39Vz62ODg3+Se8F8ZLw9dGSzdtuiqgf30bWpn8XSLXPT/sGAPQIfPZjbIHX0dKNouUfKtkJ0bFHMLw6Tvud/+OSBdnARR9adM2ekL2ZVefgGXbmVlZft3JatksUZfzm0zx4xbbXtESnqfukiFcAnlUoYPYryysW5585JYv5Cu67bYoovnF1EaFEfSAhagd0WdH0ZEmPclfzrUR6LSWH2pLR8WGyyxkXzfThWHxCJQZvwogEqi7Th8gUmYQo1m536FIJDLfTD1EOLq0MUQYpqNibm1SX/2i+jxmyYp+pQ42W/Z1H4IGz8tBBTIza4vLyuTh24Xio79aBcCQTxplYjE6HrN4qMUo+6oaAtA5yoYIB/7n2o0Fkl+iX/SnTYeSpIc5URhdlLwhhaYpSSgj/LCMe2ScSMmDlvDiQGv2E+ajocqDcGU1RFg5BbWhedanEzuMNtRmuagaobBHEin6C/VB34lN9oxjdAmPHJn1ocvKw6s0wAnA9/rGhBHCrzouHBZVD2xH9nX1OivMhy7nuJ3On+2V1ShKwbqJR8yk0XdIPaybV42UGdsLfEFnoOh/9UxE369ROOROXH2nAwx+X9jOqvx1gaf89TY9OnlUcS16d5UH+Dbvm6trD678YcYs/zIy8iZeU7PXNyryk+k1mbHhxfgJOn/HL92xt8xc4F6HzunqcnzWuF9NLvXgfjWpv3HFzM5ldAH78r7hmDsV5s4ud+kR0va9xgfV0JAX7st1xTjCYF3RvVBdRhXp1bD2oRKJ50F8OCXBPiheA4jbiGQ+1JX90txz89lzrG2LkrtWYLfPeGrpL+QE1UAbc3yfdBvnNYVNSx/FNyo6qi7TJDMWCTXeUt7mIADG0UeiBgeNUfUnE4EoRrmlClFYSiB9DXhr6nfX4w/hT7ma4geVBdKUZu0u6o1Lmx/HneoMfPK4dZ4gun9KDUT4iIIZD/jpZxSid7JYpDuSzbc+/X8Wu38+RbVAICmw+ZO1qbf0QPlaKWht63+S2D5S+aEjy3aOwjSMZWRditI9k47+P9ICfv6zQ+bzNLD9RcvYJ3NO990d5rsPsgts/Q7pdNF2V3aPY4dUaE3CPZ1BA/idEEjJglrW2OY731mSak22xqdyNs5+Hqgkvbz9XVe26QmvfykaYgc2djh2Ep5ImdX38l9C0393YcIfLrzGNgo8MVMax5j6Wy1PFHGvfuK3HU7bURNjz66xwbn4dV4pbdvTFSHjxY+DsUC3yLWw8IkuezMmv7lRnRgLD7XffMqchJgv/0m13uLwpj7LXN5NwpBxnz4n/Jzwc8L/hnBpDdVKQiO3Lg63tPnsWi+0nhGAIHCLx5jH8qjYbRL3HNdamVshY3jsqWhTBF/5YLRYhpSBmn4f2tvOLslnu8T3nsoVDTPe/1FE3+YvhHznT3MbfWrGcDp/vkC7HDVbKJ9XojoWvarQlRr9RTlAuwEq9AWQMu9Wf17CF2R8/ztAqfaZNLGQHA69Aw+xXZE+3bDS51YK2G3GL1QeFFS+i/41PL4FbuouOKOCFNqFiLPIB+uBo9DgWCYXRHFNoJxKx+VGaFk11KwIRSEs5ij2qLFAQnipAdJ67X16vM9lgEbQxaWtRvjcn+hsRWA3S4SjLmtufkpb8K6NnQLxu3UbNi3sWugMlJcx0iDYaS2KUIBpYo+d9NHEK1EtuV9qvPcQEbNT4HKS/slZhONLomPQkQ40EIMzzXSgHZryKnqCUEkajIUt6rnK99C0zMPChoGH0j9ashl0YbHCOs2nMwQFofK1VZatcnCRXMrZhXoRJK3edS974lWziPRyN9QnqtZLPcKFmFXlyrl1sLcl2DQVEly2G41gCFfvOu5ePCrzxTXs+COHSji3kM4xRE/M/UcoFyAk537fpYOmbVfnReL31RJSywmbymeen4EVcq/YrWd+wQmHcZBQCCRFKJEMGLfgT0SmhWOFBVnJiqjt5Yh6dl1utqu6AmMiwLlypVGmEHsY8vzcZsdtKfOGiH5DL/zPP3HJA3DuxCtGZL2Gf56qYbkVzqoPaBI+eqVyQ7XwRvDUPWaSlvR9F3Bcn8Gnt87AgkAbQCjOfTlMyXa3HoXBO/6OUKYVV0IcwjdDRqqPIRnWqrusKGWk6oTxUssnfxoEGMG/1N7TJfKfeNnVt9o+p2ZyEcqknzhs1BspYk1wCAZH1qItjGTUa6BVAZN9nm4qkokj8yoK1DiAB0TV7+7uWFgNKr4Ve3Zu6urSiVml9Np2Z02zknLx6fpa/8JsDg+0x8FzuA1PF+YtE/4GD51HYdEn/zg6V82o+mNU8KjWjcN/DDt5954zzwk/J/yc8P8x4b0cXqhK6wxh17mfgak7Ha3arPI3L50f/P2NCIA5QtK9+pfQ5VJV61PDx+xCmbGPt327K1z5O6zc5HX7S9ewiu1RKVb+VbTN1d/jcP5vdRlxJ9g+ky9p0tz8J5ss7h6KZjH1CdqB73Cuq2m4saOHWauecDy1KQAaTtqfEKR+Mo45thCfD3o+6P9gUEKO2j2EldFtgT0iSQ41TRXYBJeiUqv1OIe4IdCpEkx0ZWlj4E4Z0EhHOq1ShfVWP07W/5Cut7YOPuW+b/vj/Gg0GWe7ma6Ch/ZHSkuSyP25XaVj908JJl1Wz7UUyXuETYlAa1AFBOXdYgS2xmj7HT3FUmvveu6638va3FrOQzkDv92kmDzHb1dxCTuHYl2FUNHars/idis9C96iyXiNIVwKOmGXQaQsKf3BE0e9IaoGMNnVi5O7jEbMKBldnJhNbvXs3MZH7HZ95jMMQA8Wi7FohvoAui6XzEWnabkfLBRM7LahXhcKhkNVOZ91F5p2qlr7g+dZ7aJEId3r0gtMB6lR6EiunlqgmYee5bgKdnga9LXTolVl+gNC8ON4Mp9oZXUa5aACnOEHQ9clSbWkUUwtHP9kY9RP76CwgJEq7+YUo6x2wcmznW/GJ18KYom1wZMw35IndQTtFaeyupkFnnnwF7jsie1GHWnkUzEF1/8Fp0ycOopt2VzVPUHsqXCpKUH1faJ1SY5DwEVfCQTVbn3SaNQcCKDgMCz4WTFvY9N8wTddL1d9tfDF3P7+ENLd4GnCDK4eBxFTYA+jJrgM1HJnYuoGS3L0wSuFQjRatpNjNhfQ+/sTHH+0b+5ICL6eyStAhvHhi1iHSvGLySGz7s6j6M0FLnuKGvMxmSgW50v4hE25q8My2gel6jlKDJpWipgllpgOGyQHIbxj+ZM9aXvTo/2tQhbYbSapUH/HqCfDLVuOh7bDJS9t6lwYP/G6BxBSBCH4t2qF6RPbGRyPjn5CFxxB8cNHEOW46mmgYoCLYe/SWs2uUbD7kH7x7p8Z5VBUIRJqdduX3Itf84ziG/1maQ0qLX0HHigpJU6UBpWivG/Vae0pv4DfVRvs+NHa81Q1BelUGHV0idm0bZTfbvdwALrbvBYCQ3TUZmWMQ5lDXwHbXYWJoHtxOA1flfuNBt8j/oOJvbs+XJz7jEk4vF+eGdctOsP8vx1kpPr1QwzSFt/QLfb90SZk39Y72LajvsWiiKYn1WnF1UA7x+FhJ3MhRRmPu/6PITb+g872+OwT8cldvIg0Jd7ntunMXodMC5zl058RK9xRyWsSEgO7ZIV+ZTm0gU2+snPWs8/YkgnwlP5c0hfY1OYxfB+WUMh6Ju2sjyIPgb1COJcR+DVbmq0nPCMaEo4llgx83RDYyTZmfDjcIJiBVUqeXVo5r48dd7olkTR0Iw3P9KBf6zxdbRCSTvUI/qgEF/AXnbara7vYI8RQWhJ1sqpaf+8weJP+rKYPUdPBxt+viEdNR55ROgp7UfB80PNB/0uDOkVXqZ5Tvof8cM+K5fgzz/dJPWfznM1zNs/ZPGfznM1zNs/ZPGfznM1zNs/ZPGfznM1zNv9vsdkbeJinlzFzGeW9vI+eDIlse3i9D2A9rEvB7J7tyYgPefpEB6suku0aRrQ+b138kgONjcp/1kzuq44i/Q8/cvQnAx6WB55t+R8/D+P4QXn3+O5o9oNJ7O22EJk5hIB2Xpo0/uwS/2iiIFGWqEzUDlvHpXFvE57a4hD/g+41l8ocpcW/nCqA1Hlq2c6R5RV6Nh9RHwW7KQw4hCBz7petxd2mVep5+iwmLjC5BhCwbA15yOctYAVzPn+9LZ6ii+U2t2mSWWkUq0vb558LsN2w7vXEYnp/n94qwpn3pmU2NELI10Tn1w0Chm4BRewGvPeARtzDY1OzkI4UnOWwQYyPlDrvhhCRNPbYDUoLGUEOQPkCqNN0W6QRSm3nsFnYCJnRZEhlJ9f+BFZpRneh3RsQOq7R6DPYZ3tThm8S8krDAwfTLIhcUfoaO2UxYXwDv7J0gfDMaOlfXW3M65HvS6wi+hkFtbbY5kos53yEt6XjC5OCM1SmJNvNdIr43fYvIpTf/gfeisHTPAZvkRpgGDFbhrZ6AweFUYJqUK+CpqXuEaV3pKx9xyiXSNOqyZlc/HRUEE1TUlqq/cSWN7iMwRktcmVana6mGoPQUbpqFHlDSx+BQstrJ/lN5+p8JSbwE5LFFJ+yijm6vo9ZPlsGplmWxheHYxvmFr5Tr9SvRu2KjtapOEv78pujORnt6dlnhGGHLGuF9MRwonQUOrZQ8J9d31ULHS9u2D3iztYZg67Djm2cOrjIZV2YfZV3fjsyX8H33udHTLo+cBI/6xSLw5gCG/1i1YB8PTIDS5DcRWIFPfbEwMFsBNZr58aQ7t7VfGRNIb/uqqnQJub/KKL/ywy3CsNmYcrzJ9XzSnRDi11Jt339OX/tEiC98RSAkJH7ZSj8efKPVF4wOzw6dJT4dbWjVQvxvJyasShLkbemh4xN7jHmpP3ClH5C7QBP4+yH9f4o2F5roUStYQvj/zVs1daP0ha5EgwHxxzYMh6wOSi1r3A9PUdtr6RVBm2B+75Sy4YdZA4PORZJMU36MViIlpPWCPlle7AeFF0NUCGou1YLn5aiTUts54X1iHrPMImS4RBP7QMnBs6rc03TzfIl8Er7VBsaWpTTdOCNBqWvkfMrJ4S6ecGuNY3YbY0Znv62o3CuzblRLWn7jUa/X7x0mTVBlt7vja0HJvuFJ5e70dfOrCbuOjeMS7EFwkenuhPxK8UlrJvOk9CmW12ywrWe9fvVAvcXrqLP+r08npjhvkff5uvuPqdmudcWc9hTMdwycEYLm9aEYCwiNNwsLG31h44/YxHYY6fYOwOP3vMT72WgS/2SM/3K8xunHkTF1o3dCnj5II2PZLoc1bMapFMCTjSS5h1M6xS057flw0NSKNsR53ckqiZX3bU93lvW0xaUC+MHo0dS5o6mSHtQLrkplRUp/7LavFAWieKDE5LkPe7FyZeMTEsc1Ltw1107DvmKutWeN3gIqMBzi+kRFJXI1SAbayAQfWMqNFPoO453t+PfpSSkM0f8qsBgk7irs8LHVdZkuim4vMZ23m/rnitYqbnsbV/qf9HSme811yOh67xBg8oPbRdFk+EhUudni5LreCPs2SXB+HIptjSxtoZxzkrSRsm7qFkTr1Czst+Lj9B6J30tfxBPFnraQpZsilAKNNurtI5hS5yNNBgFbtjJ01+ffBZoGGNxQjcEHg6pMz1sMAgbCGSW5SBfIo3gFvvaCeNCYq+CV2nL+mzY3wQNlADbg/Uae/Mj60ZYKBFr2FxxmeTNTZH4aXGNSi1VqNKZKmUunsx1WJaXT2mqlLHLwdOs+gig0mAxeFuqh7eez9DkzVG+zYftF8yhVvqghxFOlx0wWG0KCBKQBqk0urdW0qbsf4e4f4Dq9aTCc7ab6k1gMLyx84O1mjkWeBiSPvg68lA70e/FdqFs2ZRBzv46YyHsMW89MXbLb99klzqZPkVT5Vf3tsCxi9+yt54fK+3K19wMdlocLbxObVQecFAmGBozF7d7tN3ytDfLBx5E1AtAv9tU9xZt6NI2Cbn5vinSSJXedHszUtwbdHQzI6mlRabSys/4vCepr4uK+xwkL7pu5cS24dj2VOPUHn8g5FNaVRdlGrvqk/EAO272TSTLYl3orvRJ/q9fnDBBovH6E+JZd0JX1vEo0dLkbmMOSa32tkUtGXTevxz1yUkjPFI2/bttxDeqkZNuZn4pBNVL5/iXlJvscstz/GEPj3WK0nAmd9YOTisyrZjBbBVo3rHk1Y0d8RfzS20NUjTYEEV7UARrnOy9yfFrabfW+ExrxzWlHZ6hIsjW1ANtfgv4SFNc7C6LWH4GX5s9riYhdNApqDvl+T42O7Va2EDFjD86ScRNlN2cvAPu40AzaUFnEBmoWWOLuV0/imnKZ/Sc4vCipOWwHRFsVKtE1fiQPtVxPzAYzbJ54jp9369WTYXQN1ZofJg14z61RCWSjl1cNf6+0g3cO9Oeuxod4i+yxjUej65xlZdVVfGe/Ivq6d8Mjhmdh6kRdiEKSL8Y9lDekARqlXJnMRGfQ/C7j47WTVPoudP/qllEHoWmHiJdS4UI/0XWqESocQm2uR0+r1ZQy7TfNuBfXS9+V5XheKG/fowVmuGbem1NI9p32ny6JWv1eL64FtMoYJ179D5fF1QfIXhaKPIWN7hd7ozdffVQbyR+qchT2idKnKX52Z5RTfpHt0BMOeKxbjk6vPVCwK11dECZwNenwkN2K8ezv7wZX15rEKomy7t92sd55tSBgWj2Wj5r7H4D0asj+vVBRC5iXSeIYycaZNZib48tn1OzkMDEl9v33EuV+6qOD489SmjHtmYSPf95Zvw91OErGWJvsAuGJPf7jo4n8JJW5p0X0fN8U2jTNyOd3VF3JpMYIZGnUUu0XtN3m2OvlRGih0wkOOW6w7fU3Hr6kVtddybK094f8iySxsIeo2c+xE6OyPe19W5kMPkPfzOoOnDGCc3m8PZrW8MXWifZ5sg8kIzJ5KljHWfCX3HuHUaoofXYtp+YFMkIXrZGlTLu/0FZCJTPfqzZLie6/IewOOvWfq0WN55AHhQhXXm4dG/YUMQq7Fkj2B3MFqh9qusUzLV84gs7IRnYf3zsyLYMR/Uy2HpLaonW5KhDfV9B6qKE4VHiahoRzvVuW008WE6lzRV0uV18n6vg2tnBZnGabe2ltNVaAPK95bSzt813ZYdk+IDezx75ndl3r6xZVeYABZWPaleZUfWuDz7gAH0bMoQCXKwfeMQ7y7TOMospSljZsvFcYKfroVNRzhPutvnARezodPgN3v1m/FclB4cN49ksn2+1m3oRKg2Jn4KKtNquqt6yFI1icCbPK2WjJHUXf++wwQ+Y1SWBx77ZakZCdr9cO7aebRjWunlsmi3wQNvQj+5Rk3fUhsdf6i64lKGNLF7JxMvtPlfL5jtdjlvBDyxbHVNjCeO6TC34DADWZ7Fv6FaOr0l4MSxOmCE891j20WJZqYX97dzo+sJZJG8EDxo0fQYpMD/rLObiaxLmQaMn2l6mAB8U1z+WX7nVZ+sATukt5npFJh63p009h3hQ0sZe2VtS4/YwMmOlUiDh4RRX07f41/tUJLlIXOH77DNvWbdxO8rV7ZnqG8BnKiDEEDgaACT47qE9dQWJsDtjVzhlDVOmXmrzBMcHgV9WWXx/1ZVuC/b1gPO0lD44aLyw3Lg6cKS9pSUig/vIa9RLpbFIPZQxHoOZ7tt8zzpXcXVdg/Q/AqV79FHpvpIv8Zdu6NgYo9k7qvW0qgQ//zKFu67BQVobAfXPieR5eGwrRaoryty9pQvurjdx/R6P3uPGZ8PaJPGZoO/gnIdHfwdd1iMflKzWND8GDFO9d6Z2ypSh62yFt/xfbkL7nKDCDxhQWGzgqXRs2eGVZRvPyzREn4HdJgnTC2ZYS5qGEV2Ev1Kdk3wY7Tt12Q7eTO9XLldTkAO+33EKwU7mnWlhPqr53RhlYrr36NDpej8M8CPKTnaY5yY6Bc3hhQQ2TD5FFnnkv45j4zVudMnj+QHMAPoRYWSqLSYg6mqiZ5igEFzOCsZi69HLlbJ8Ibq94LY9lvWu50IG6ZFFruzzVXT+DmRGPAUyP/J3NfrOcewXIrNvla3xgwqvRoYUU4I20kvZTO+uD/E+K9538jJHsbKMLlln8xRMdzkw9aarc+/H+pL3jBOVrnFn3Q99DJTpB9h5bVaR+O4bKY6BWMHnY249np00OAIqqmUeoc/eJ3NzfRdCe+Io4z4kDKJLbmt9CFvmZon3I95puxKLcMl+90ic6q9U1sP88nPeWto/XNg5DY97ln+4khpxpnQNXS25+Yanef8DvHOS784wl3Wf2zmt6QA0hOsjvcB+21cuZ7qB1eHWiN/EHEWuvEkRQiPpKayXDExJsL4HHnrbO7NVMX10KxH5xSZrc0kdbYJQzB6t16iVSlPJPGQ1EDiu+pJm8KWQlNA4SmtaWOGdbv0OdKRcbBWhHLZ9dcj2zoaq6DVDWm0XAA+pPN+70nz38W1eqiYz71ag7y25ELG5tKWsdTR9qscq2+/vSffcxfBdXX2T8M7LDaf8XpZasK6xYfzQ7AlnN/67XrkNDjxEq3h8bnRGUXexxDtmePpM6cBB1lzCeAtc0zByxCQa81mHH81etUn5qQrOHZP5HL7Dj4+tnn47KoXC4d0PPDLfN5XtbLesGKdF4Y4cvh3pq29o8E0dO5GByum0iALXly1d8VHjhxv+6/8CUEsDBBQAAgAIAHVkqUhooHo6TQAAAGsAAAAbAAAAdW5pdmVyc2FsL3VuaXZlcnNhbC5wbmcueG1ss7GvyM1RKEstKs7Mz7NVMtQzULK34+WyKShKLctMLVeoAIoZ6RlAgJJCpa2SCRK3PDOlJAOowsDYGCGYkZqZnlFiq2RubgoX1AeaCQBQSwECAAAUAAIACABElFdHI7RO+/sCAACwCAAAFAAAAAAAAAABAAAAAAAAAAAAdW5pdmVyc2FsL3BsYXllci54bWxQSwECAAAUAAIACAB1ZKlIgOzITjowAAD9WwAAFwAAAAAAAAAAAAAAAAAtAwAAdW5pdmVyc2FsL3VuaXZlcnNhbC5wbmdQSwECAAAUAAIACAB1ZKlIaKB6Ok0AAABrAAAAGwAAAAAAAAABAAAAAACcMwAAdW5pdmVyc2FsL3VuaXZlcnNhbC5wbmcueG1sUEsFBgAAAAADAAMA0AAAACI0AAAAAA=="/>
  <p:tag name="ISPRING_RESOURCE_PATHS_HASH_PRESENTER" val="cd8ca49ede99b36d2ba2d98fe2ed186697b8e80"/>
  <p:tag name="ISPRING_PRESENTATION_TITLE" val="PowerPoint 演示文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微软雅黑 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4120</TotalTime>
  <Words>313</Words>
  <Application>Microsoft Office PowerPoint</Application>
  <PresentationFormat>自定义</PresentationFormat>
  <Paragraphs>93</Paragraphs>
  <Slides>13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samsung</cp:lastModifiedBy>
  <cp:revision>433</cp:revision>
  <dcterms:created xsi:type="dcterms:W3CDTF">2015-08-31T03:47:27Z</dcterms:created>
  <dcterms:modified xsi:type="dcterms:W3CDTF">2018-12-24T10:52:44Z</dcterms:modified>
</cp:coreProperties>
</file>