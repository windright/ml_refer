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1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E1E1E0"/>
    <a:srgbClr val="EFEFEF"/>
    <a:srgbClr val="5A6C6A"/>
    <a:srgbClr val="3B474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 varScale="1">
        <p:scale>
          <a:sx n="76" d="100"/>
          <a:sy n="76" d="100"/>
        </p:scale>
        <p:origin x="-63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3974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329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  <p:transition spd="slow" advClick="0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ransition spd="slow" advClick="0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pPr/>
              <a:t>2018/10/10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2018/10/10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slow" advClick="0" advT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-33655" y="-25400"/>
            <a:ext cx="12235815" cy="697420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 l="83950" b="51583"/>
          <a:stretch>
            <a:fillRect/>
          </a:stretch>
        </p:blipFill>
        <p:spPr>
          <a:xfrm flipH="1">
            <a:off x="-33655" y="-25400"/>
            <a:ext cx="1530350" cy="25971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 advClick="0"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 flipH="1">
            <a:off x="0" y="0"/>
            <a:ext cx="12233275" cy="68814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433705" y="3608656"/>
            <a:ext cx="3392805" cy="310651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04998" y="2442575"/>
            <a:ext cx="85552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CN </a:t>
            </a:r>
            <a:r>
              <a:rPr lang="zh-CN" altLang="en-US" sz="4000" dirty="0" smtClean="0"/>
              <a:t>在石油贸易预测中的应用</a:t>
            </a:r>
            <a:endParaRPr lang="en-US" altLang="zh-CN" sz="4000" dirty="0" smtClean="0"/>
          </a:p>
          <a:p>
            <a:r>
              <a:rPr lang="en-US" altLang="zh-CN" dirty="0" smtClean="0"/>
              <a:t>     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P</a:t>
            </a:r>
            <a:r>
              <a:rPr lang="en-US" altLang="zh-CN" sz="2000" dirty="0" err="1" smtClean="0"/>
              <a:t>aper:estimating</a:t>
            </a:r>
            <a:r>
              <a:rPr lang="en-US" altLang="zh-CN" sz="2000" dirty="0" smtClean="0"/>
              <a:t> potential trade links in the international crude oil </a:t>
            </a:r>
            <a:r>
              <a:rPr lang="en-US" altLang="zh-CN" sz="2000" dirty="0" err="1" smtClean="0"/>
              <a:t>trade:A</a:t>
            </a:r>
            <a:r>
              <a:rPr lang="en-US" altLang="zh-CN" sz="2000" dirty="0" smtClean="0"/>
              <a:t> </a:t>
            </a:r>
            <a:r>
              <a:rPr lang="en-US" altLang="zh-CN" sz="2000" dirty="0" smtClean="0"/>
              <a:t> link prediction approach)</a:t>
            </a:r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                                                                              --------</a:t>
            </a:r>
            <a:r>
              <a:rPr lang="zh-CN" altLang="en-US" sz="2000" dirty="0" smtClean="0"/>
              <a:t>王杰</a:t>
            </a:r>
            <a:endParaRPr lang="en-US" altLang="zh-CN" sz="2000" dirty="0" smtClean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         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0830" y="1249428"/>
            <a:ext cx="10515600" cy="4351338"/>
          </a:xfrm>
        </p:spPr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数据来源：联合国的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~2013</a:t>
            </a:r>
            <a:r>
              <a:rPr lang="zh-CN" altLang="en-US" dirty="0" smtClean="0"/>
              <a:t>年的国际石油贸易数据。</a:t>
            </a:r>
            <a:r>
              <a:rPr lang="en-US" altLang="zh-CN" dirty="0" smtClean="0"/>
              <a:t>(</a:t>
            </a:r>
            <a:r>
              <a:rPr lang="zh-CN" altLang="en-US" dirty="0" smtClean="0"/>
              <a:t>去除掉重复数     据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方法：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：定义评估指标，</a:t>
            </a:r>
            <a:r>
              <a:rPr lang="en-US" altLang="zh-CN" dirty="0" smtClean="0"/>
              <a:t>CN(common neighbor)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：将数据</a:t>
            </a:r>
            <a:r>
              <a:rPr lang="en-US" altLang="zh-CN" dirty="0" smtClean="0"/>
              <a:t>link</a:t>
            </a:r>
            <a:r>
              <a:rPr lang="zh-CN" altLang="en-US" dirty="0" smtClean="0"/>
              <a:t>划分为</a:t>
            </a:r>
            <a:r>
              <a:rPr lang="en-US" altLang="zh-CN" dirty="0" smtClean="0"/>
              <a:t>90%</a:t>
            </a:r>
            <a:r>
              <a:rPr lang="zh-CN" altLang="en-US" dirty="0" smtClean="0"/>
              <a:t>的训练边集和</a:t>
            </a:r>
            <a:r>
              <a:rPr lang="en-US" altLang="zh-CN" dirty="0" smtClean="0"/>
              <a:t>10%</a:t>
            </a:r>
            <a:r>
              <a:rPr lang="zh-CN" altLang="en-US" dirty="0" smtClean="0"/>
              <a:t>的测试边集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：计算图中的测试边集和未知边集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即原图中不存在的边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CN score</a:t>
            </a:r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：用得到的</a:t>
            </a:r>
            <a:r>
              <a:rPr lang="en-US" altLang="zh-CN" dirty="0" smtClean="0"/>
              <a:t>CN </a:t>
            </a:r>
            <a:r>
              <a:rPr lang="en-US" altLang="zh-CN" dirty="0" err="1" smtClean="0"/>
              <a:t>socre</a:t>
            </a:r>
            <a:r>
              <a:rPr lang="zh-CN" altLang="en-US" dirty="0" smtClean="0"/>
              <a:t>来从大到小的排列测试边集和未知边集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：根据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的结果来评估选定指标在石油贸易拓扑图中进行预测的精确度</a:t>
            </a:r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3046" y="5274437"/>
            <a:ext cx="5910759" cy="85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       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3148" y="1675313"/>
            <a:ext cx="10515600" cy="4351338"/>
          </a:xfrm>
        </p:spPr>
        <p:txBody>
          <a:bodyPr/>
          <a:lstStyle/>
          <a:p>
            <a:r>
              <a:rPr lang="en-US" altLang="zh-CN" dirty="0" smtClean="0"/>
              <a:t>   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975" y="299319"/>
            <a:ext cx="9955312" cy="6164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0036" y="338855"/>
            <a:ext cx="7058025" cy="630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5673" y="820193"/>
            <a:ext cx="8205462" cy="2540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352810" y="4484318"/>
            <a:ext cx="8893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Index validation:</a:t>
            </a:r>
          </a:p>
          <a:p>
            <a:r>
              <a:rPr lang="zh-CN" altLang="en-US" dirty="0" smtClean="0"/>
              <a:t>使用公式</a:t>
            </a:r>
            <a:r>
              <a:rPr lang="en-US" altLang="zh-CN" dirty="0" smtClean="0"/>
              <a:t>(3)</a:t>
            </a:r>
            <a:r>
              <a:rPr lang="zh-CN" altLang="en-US" dirty="0" smtClean="0"/>
              <a:t>进行可以得到：从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年到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年的</a:t>
            </a:r>
            <a:r>
              <a:rPr lang="en-US" altLang="zh-CN" dirty="0" err="1" smtClean="0"/>
              <a:t>rands</a:t>
            </a:r>
            <a:r>
              <a:rPr lang="zh-CN" altLang="en-US" dirty="0" smtClean="0"/>
              <a:t>均在</a:t>
            </a:r>
            <a:r>
              <a:rPr lang="en-US" altLang="zh-CN" dirty="0" smtClean="0"/>
              <a:t>0.1</a:t>
            </a:r>
            <a:r>
              <a:rPr lang="zh-CN" altLang="en-US" dirty="0" smtClean="0"/>
              <a:t>到</a:t>
            </a:r>
            <a:r>
              <a:rPr lang="en-US" altLang="zh-CN" dirty="0" smtClean="0"/>
              <a:t>0.16</a:t>
            </a:r>
            <a:r>
              <a:rPr lang="zh-CN" altLang="en-US" dirty="0" smtClean="0"/>
              <a:t>之间，对比中国航空所得到的</a:t>
            </a:r>
            <a:r>
              <a:rPr lang="en-US" altLang="zh-CN" dirty="0" smtClean="0"/>
              <a:t>0.18</a:t>
            </a:r>
            <a:r>
              <a:rPr lang="zh-CN" altLang="en-US" dirty="0" smtClean="0"/>
              <a:t>，我们认为这个值是可靠有效的。</a:t>
            </a:r>
            <a:endParaRPr lang="en-US" altLang="zh-CN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7890" y="3370480"/>
            <a:ext cx="5910759" cy="85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5310" y="425885"/>
            <a:ext cx="8768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/>
              <a:t>Comparision</a:t>
            </a:r>
            <a:r>
              <a:rPr lang="en-US" altLang="zh-CN" sz="2800" dirty="0" smtClean="0"/>
              <a:t> of potential with real trade links</a:t>
            </a:r>
            <a:endParaRPr lang="zh-CN" altLang="en-US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359" y="1109335"/>
            <a:ext cx="5834258" cy="533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853819" y="1164921"/>
            <a:ext cx="40709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第</a:t>
            </a:r>
            <a:r>
              <a:rPr lang="zh-CN" altLang="en-US" dirty="0" smtClean="0"/>
              <a:t>一类</a:t>
            </a:r>
            <a:r>
              <a:rPr lang="en-US" altLang="zh-CN" dirty="0" smtClean="0"/>
              <a:t>:</a:t>
            </a:r>
          </a:p>
          <a:p>
            <a:r>
              <a:rPr lang="zh-CN" altLang="en-US" dirty="0" smtClean="0"/>
              <a:t>预测特别符合，在第一次进入预测前</a:t>
            </a:r>
            <a:r>
              <a:rPr lang="en-US" altLang="zh-CN" dirty="0" smtClean="0"/>
              <a:t>10</a:t>
            </a:r>
            <a:r>
              <a:rPr lang="zh-CN" altLang="en-US" dirty="0" smtClean="0"/>
              <a:t>的第二年就进行了石油贸易。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第二</a:t>
            </a:r>
            <a:r>
              <a:rPr lang="zh-CN" altLang="en-US" dirty="0" smtClean="0"/>
              <a:t>类：</a:t>
            </a:r>
            <a:endParaRPr lang="en-US" altLang="zh-CN" dirty="0" smtClean="0"/>
          </a:p>
          <a:p>
            <a:r>
              <a:rPr lang="zh-CN" altLang="en-US" dirty="0" smtClean="0"/>
              <a:t>符合，在五次进入预测前十以内进行了石油贸易。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第三</a:t>
            </a:r>
            <a:r>
              <a:rPr lang="zh-CN" altLang="en-US" dirty="0" smtClean="0"/>
              <a:t>类：</a:t>
            </a:r>
            <a:endParaRPr lang="en-US" altLang="zh-CN" dirty="0" smtClean="0"/>
          </a:p>
          <a:p>
            <a:r>
              <a:rPr lang="zh-CN" altLang="en-US" dirty="0" smtClean="0"/>
              <a:t>不符合，在五次以上预测前十后才进行了石油贸易或者在</a:t>
            </a:r>
            <a:r>
              <a:rPr lang="en-US" altLang="zh-CN" dirty="0" smtClean="0"/>
              <a:t>2013</a:t>
            </a:r>
            <a:r>
              <a:rPr lang="zh-CN" altLang="en-US" dirty="0" smtClean="0"/>
              <a:t>年以前没有进行石油贸易的。</a:t>
            </a:r>
            <a:endParaRPr lang="en-US" altLang="zh-CN" dirty="0" smtClean="0"/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此类划分体现的单纯使用</a:t>
            </a:r>
            <a:r>
              <a:rPr lang="en-US" altLang="zh-CN" dirty="0" smtClean="0"/>
              <a:t>CN</a:t>
            </a:r>
            <a:r>
              <a:rPr lang="zh-CN" altLang="en-US" dirty="0" smtClean="0"/>
              <a:t>与实际情况的不同之处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015" y="3075385"/>
            <a:ext cx="5754842" cy="313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409" y="576197"/>
            <a:ext cx="8392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The division of crude oil trade roles</a:t>
            </a:r>
            <a:endParaRPr lang="zh-CN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6458" y="4790030"/>
            <a:ext cx="5184862" cy="1669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5409" y="1269305"/>
            <a:ext cx="33623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728592" y="1290180"/>
            <a:ext cx="52108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For </a:t>
            </a:r>
            <a:r>
              <a:rPr lang="en-US" altLang="zh-CN" dirty="0" smtClean="0"/>
              <a:t>every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in country, </a:t>
            </a:r>
            <a:r>
              <a:rPr lang="en-US" altLang="zh-CN" dirty="0" smtClean="0"/>
              <a:t>EX(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 represents the direct importation for the country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(the unit is kg</a:t>
            </a:r>
            <a:r>
              <a:rPr lang="en-US" altLang="zh-CN" dirty="0" smtClean="0"/>
              <a:t>);</a:t>
            </a:r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IM(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 represents the direct exportation for the country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(the unit is kg); </a:t>
            </a:r>
            <a:endParaRPr lang="en-US" altLang="zh-CN" dirty="0" smtClean="0"/>
          </a:p>
          <a:p>
            <a:r>
              <a:rPr lang="en-US" altLang="zh-CN" dirty="0" smtClean="0"/>
              <a:t>PR(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 represents the crude oil proved reserves for the country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(the unit is billion barrels).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53019" y="3331923"/>
            <a:ext cx="5198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If EX(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 can be represented as </a:t>
            </a:r>
            <a:r>
              <a:rPr lang="en-US" altLang="zh-CN" dirty="0" smtClean="0"/>
              <a:t>n*10^m</a:t>
            </a:r>
            <a:r>
              <a:rPr lang="en-US" altLang="zh-CN" dirty="0" smtClean="0"/>
              <a:t>, where m is the integer that represents the order of magnitude </a:t>
            </a:r>
            <a:r>
              <a:rPr lang="en-US" altLang="zh-CN" dirty="0" smtClean="0"/>
              <a:t>, </a:t>
            </a:r>
            <a:r>
              <a:rPr lang="en-US" altLang="zh-CN" dirty="0" smtClean="0"/>
              <a:t>and n is the real </a:t>
            </a:r>
            <a:r>
              <a:rPr lang="en-US" altLang="zh-CN" dirty="0" smtClean="0"/>
              <a:t>coefficient, </a:t>
            </a:r>
            <a:r>
              <a:rPr lang="en-US" altLang="zh-CN" dirty="0" smtClean="0"/>
              <a:t>then the score of the sub-index EX(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 is defined as:</a:t>
            </a:r>
            <a:endParaRPr lang="zh-CN" altLang="en-US" dirty="0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409" y="576197"/>
            <a:ext cx="8392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The division of crude oil trade roles</a:t>
            </a:r>
            <a:endParaRPr lang="zh-CN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9299" y="4019159"/>
            <a:ext cx="481012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9979" y="1111228"/>
            <a:ext cx="7876699" cy="288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409" y="576197"/>
            <a:ext cx="8392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The division of crude oil trade roles</a:t>
            </a:r>
            <a:endParaRPr lang="zh-CN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3561" y="1449692"/>
            <a:ext cx="6815633" cy="339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heme/theme1.xml><?xml version="1.0" encoding="utf-8"?>
<a:theme xmlns:a="http://schemas.openxmlformats.org/drawingml/2006/main" name="第一PPT，www.1ppt.com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自定义</PresentationFormat>
  <Paragraphs>37</Paragraphs>
  <Slides>9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第一PPT，www.1ppt.com</vt:lpstr>
      <vt:lpstr>幻灯片 1</vt:lpstr>
      <vt:lpstr>                       </vt:lpstr>
      <vt:lpstr>                     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Manager/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小清新</dc:title>
  <dc:creator/>
  <cp:keywords>www.1ppt.com</cp:keywords>
  <dc:description>www.1ppt.com</dc:description>
  <cp:lastModifiedBy/>
  <cp:revision>7</cp:revision>
  <dcterms:created xsi:type="dcterms:W3CDTF">2018-03-01T02:03:00Z</dcterms:created>
  <dcterms:modified xsi:type="dcterms:W3CDTF">2018-10-10T05:57:56Z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  <property fmtid="{D5CDD505-2E9C-101B-9397-08002B2CF9AE}" pid="3" name="KSORubyTemplateID">
    <vt:lpwstr>8</vt:lpwstr>
  </property>
</Properties>
</file>