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docProps/custom.xml" ContentType="application/vnd.openxmlformats-officedocument.custom-properties+xml"/>
  <Override PartName="/ppt/slideLayouts/slideLayout10.xml" ContentType="application/vnd.openxmlformats-officedocument.presentationml.slideLayout+xml"/>
  <Override PartName="/ppt/tags/tag14.xml" ContentType="application/vnd.openxmlformats-officedocument.presentationml.tags+xml"/>
  <Override PartName="/ppt/tags/tag15.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0"/>
  </p:notesMasterIdLst>
  <p:sldIdLst>
    <p:sldId id="256" r:id="rId2"/>
    <p:sldId id="257" r:id="rId3"/>
    <p:sldId id="258" r:id="rId4"/>
    <p:sldId id="265" r:id="rId5"/>
    <p:sldId id="259" r:id="rId6"/>
    <p:sldId id="272" r:id="rId7"/>
    <p:sldId id="260" r:id="rId8"/>
    <p:sldId id="274" r:id="rId9"/>
    <p:sldId id="275" r:id="rId10"/>
    <p:sldId id="282" r:id="rId11"/>
    <p:sldId id="283" r:id="rId12"/>
    <p:sldId id="261" r:id="rId13"/>
    <p:sldId id="277" r:id="rId14"/>
    <p:sldId id="278" r:id="rId15"/>
    <p:sldId id="262" r:id="rId16"/>
    <p:sldId id="279" r:id="rId17"/>
    <p:sldId id="280" r:id="rId18"/>
    <p:sldId id="263"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showPr>
  <p:clrMru>
    <a:srgbClr val="F4F4F4"/>
    <a:srgbClr val="E1E1E0"/>
    <a:srgbClr val="EFEFEF"/>
    <a:srgbClr val="5A6C6A"/>
    <a:srgbClr val="3B4746"/>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4660"/>
  </p:normalViewPr>
  <p:slideViewPr>
    <p:cSldViewPr snapToGrid="0">
      <p:cViewPr varScale="1">
        <p:scale>
          <a:sx n="76" d="100"/>
          <a:sy n="76" d="100"/>
        </p:scale>
        <p:origin x="-630" y="-90"/>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5A8C7-CC1A-4A08-9B4B-31F43B054C7F}" type="datetimeFigureOut">
              <a:rPr lang="zh-CN" altLang="en-US" smtClean="0"/>
              <a:pPr/>
              <a:t>2018/11/16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1B693-632D-4080-9CF6-EA28B66DC801}" type="slidenum">
              <a:rPr lang="zh-CN" altLang="en-US" smtClean="0"/>
              <a:pPr/>
              <a:t>‹#›</a:t>
            </a:fld>
            <a:endParaRPr lang="zh-CN" altLang="en-US"/>
          </a:p>
        </p:txBody>
      </p:sp>
    </p:spTree>
    <p:extLst>
      <p:ext uri="{BB962C8B-B14F-4D97-AF65-F5344CB8AC3E}">
        <p14:creationId xmlns="" xmlns:p14="http://schemas.microsoft.com/office/powerpoint/2010/main" val="4239741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软雅黑" panose="020B0503020204020204" pitchFamily="34" charset="-122"/>
              </a:rPr>
              <a:pPr marL="0" marR="0" lvl="0" indent="0" algn="r" defTabSz="914400" eaLnBrk="0" fontAlgn="base" latinLnBrk="0" hangingPunct="0">
                <a:lnSpc>
                  <a:spcPct val="100000"/>
                </a:lnSpc>
                <a:spcBef>
                  <a:spcPct val="0"/>
                </a:spcBef>
                <a:spcAft>
                  <a:spcPct val="0"/>
                </a:spcAft>
                <a:buClrTx/>
                <a:buSzTx/>
                <a:buFontTx/>
                <a:buNone/>
                <a:defRPr/>
              </a:pPr>
              <a:t>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endParaRPr>
          </a:p>
        </p:txBody>
      </p:sp>
    </p:spTree>
    <p:extLst>
      <p:ext uri="{BB962C8B-B14F-4D97-AF65-F5344CB8AC3E}">
        <p14:creationId xmlns="" xmlns:p14="http://schemas.microsoft.com/office/powerpoint/2010/main" val="2673296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软雅黑" panose="020B0503020204020204" pitchFamily="34" charset="-122"/>
              </a:rPr>
              <a:pPr marL="0" marR="0" lvl="0" indent="0" algn="r" defTabSz="914400" eaLnBrk="0" fontAlgn="base" latinLnBrk="0" hangingPunct="0">
                <a:lnSpc>
                  <a:spcPct val="100000"/>
                </a:lnSpc>
                <a:spcBef>
                  <a:spcPct val="0"/>
                </a:spcBef>
                <a:spcAft>
                  <a:spcPct val="0"/>
                </a:spcAft>
                <a:buClrTx/>
                <a:buSzTx/>
                <a:buFontTx/>
                <a:buNone/>
                <a:defRPr/>
              </a:pPr>
              <a:t>18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endParaRPr>
          </a:p>
        </p:txBody>
      </p:sp>
    </p:spTree>
    <p:extLst>
      <p:ext uri="{BB962C8B-B14F-4D97-AF65-F5344CB8AC3E}">
        <p14:creationId xmlns="" xmlns:p14="http://schemas.microsoft.com/office/powerpoint/2010/main" val="3018520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854199"/>
            <a:ext cx="9144000" cy="1655763"/>
          </a:xfrm>
        </p:spPr>
        <p:txBody>
          <a:bodyPr anchor="b">
            <a:normAutofit/>
          </a:bodyPr>
          <a:lstStyle>
            <a:lvl1pPr algn="ctr">
              <a:defRPr sz="7200" b="0"/>
            </a:lvl1pPr>
          </a:lstStyle>
          <a:p>
            <a:r>
              <a:rPr lang="zh-CN" altLang="en-US" dirty="0"/>
              <a:t>单击此处编辑标题</a:t>
            </a:r>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a:xfrm>
            <a:off x="838200" y="6356350"/>
            <a:ext cx="2743200" cy="365125"/>
          </a:xfrm>
        </p:spPr>
        <p:txBody>
          <a:bodyPr/>
          <a:lstStyle/>
          <a:p>
            <a:fld id="{D997B5FA-0921-464F-AAE1-844C04324D75}" type="datetimeFigureOut">
              <a:rPr lang="zh-CN" altLang="en-US" smtClean="0"/>
              <a:pPr/>
              <a:t>2018/11/16</a:t>
            </a:fld>
            <a:endParaRPr lang="zh-CN" altLang="en-US" dirty="0"/>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565CE74E-AB26-4998-AD42-012C4C1AD076}"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chor="ctr" anchorCtr="0"/>
          <a:lstStyle/>
          <a:p>
            <a:r>
              <a:rPr lang="zh-CN" altLang="en-US" dirty="0"/>
              <a:t>单击此处编辑母版标题样式</a:t>
            </a:r>
          </a:p>
        </p:txBody>
      </p:sp>
      <p:sp>
        <p:nvSpPr>
          <p:cNvPr id="3" name="内容占位符 2"/>
          <p:cNvSpPr>
            <a:spLocks noGrp="1"/>
          </p:cNvSpPr>
          <p:nvPr>
            <p:ph idx="1"/>
          </p:nvPr>
        </p:nvSpPr>
        <p:spPr>
          <a:xfrm>
            <a:off x="838200" y="1825625"/>
            <a:ext cx="10515600" cy="4351338"/>
          </a:xfrm>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38200" y="6356350"/>
            <a:ext cx="2743200" cy="365125"/>
          </a:xfrm>
        </p:spPr>
        <p:txBody>
          <a:bodyPr/>
          <a:lstStyle/>
          <a:p>
            <a:fld id="{760FBDFE-C587-4B4C-A407-44438C67B59E}" type="datetimeFigureOut">
              <a:rPr lang="zh-CN" altLang="en-US" smtClean="0"/>
              <a:pPr/>
              <a:t>2018/11/16</a:t>
            </a:fld>
            <a:endParaRPr lang="zh-CN" altLang="en-US" dirty="0"/>
          </a:p>
        </p:txBody>
      </p:sp>
      <p:sp>
        <p:nvSpPr>
          <p:cNvPr id="5" name="页脚占位符 4"/>
          <p:cNvSpPr>
            <a:spLocks noGrp="1"/>
          </p:cNvSpPr>
          <p:nvPr>
            <p:ph type="ftr" sz="quarter" idx="11"/>
          </p:nvPr>
        </p:nvSpPr>
        <p:spPr>
          <a:xfrm>
            <a:off x="4038600" y="6356350"/>
            <a:ext cx="4114800" cy="365125"/>
          </a:xfrm>
        </p:spPr>
        <p:txBody>
          <a:bodyPr/>
          <a:lstStyle/>
          <a:p>
            <a:endParaRPr lang="zh-CN" altLang="en-US" dirty="0"/>
          </a:p>
        </p:txBody>
      </p:sp>
      <p:sp>
        <p:nvSpPr>
          <p:cNvPr id="6" name="灯片编号占位符 5"/>
          <p:cNvSpPr>
            <a:spLocks noGrp="1"/>
          </p:cNvSpPr>
          <p:nvPr>
            <p:ph type="sldNum" sz="quarter" idx="12"/>
          </p:nvPr>
        </p:nvSpPr>
        <p:spPr>
          <a:xfrm>
            <a:off x="8610600" y="6356350"/>
            <a:ext cx="2743200" cy="365125"/>
          </a:xfrm>
        </p:spPr>
        <p:txBody>
          <a:bodyPr/>
          <a:lstStyle/>
          <a:p>
            <a:fld id="{49AE70B2-8BF9-45C0-BB95-33D1B9D3A854}"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20DD7636-5BE1-44BC-BB5F-15739D9E18E1}" type="datetimeFigureOut">
              <a:rPr lang="zh-CN" altLang="en-US" smtClean="0"/>
              <a:pPr/>
              <a:t>2018/11/16</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E87C0E1D-24C4-406F-9615-DBDA8D2D1F93}" type="slidenum">
              <a:rPr lang="zh-CN" altLang="en-US" smtClean="0"/>
              <a:pPr/>
              <a:t>‹#›</a:t>
            </a:fld>
            <a:endParaRPr lang="zh-CN" altLang="en-US"/>
          </a:p>
        </p:txBody>
      </p:sp>
      <p:sp>
        <p:nvSpPr>
          <p:cNvPr id="5" name="标题 4"/>
          <p:cNvSpPr>
            <a:spLocks noGrp="1"/>
          </p:cNvSpPr>
          <p:nvPr>
            <p:ph type="title" hasCustomPrompt="1"/>
          </p:nvPr>
        </p:nvSpPr>
        <p:spPr>
          <a:xfrm>
            <a:off x="838200" y="2187443"/>
            <a:ext cx="10515600" cy="2483115"/>
          </a:xfrm>
        </p:spPr>
        <p:txBody>
          <a:bodyPr>
            <a:normAutofit/>
          </a:bodyPr>
          <a:lstStyle>
            <a:lvl1pPr algn="ctr">
              <a:defRPr sz="6000" b="0"/>
            </a:lvl1pPr>
          </a:lstStyle>
          <a:p>
            <a:r>
              <a:rPr lang="zh-CN" altLang="en-US" dirty="0"/>
              <a:t>单击此处编辑标题</a:t>
            </a:r>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chor="ctr" anchorCtr="0"/>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a:xfrm>
            <a:off x="838200" y="6356350"/>
            <a:ext cx="2743200" cy="365125"/>
          </a:xfrm>
        </p:spPr>
        <p:txBody>
          <a:bodyPr/>
          <a:lstStyle/>
          <a:p>
            <a:fld id="{760FBDFE-C587-4B4C-A407-44438C67B59E}" type="datetimeFigureOut">
              <a:rPr lang="zh-CN" altLang="en-US" smtClean="0"/>
              <a:pPr/>
              <a:t>2018/11/16</a:t>
            </a:fld>
            <a:endParaRPr lang="zh-CN" altLang="en-US"/>
          </a:p>
        </p:txBody>
      </p:sp>
      <p:sp>
        <p:nvSpPr>
          <p:cNvPr id="6" name="页脚占位符 5"/>
          <p:cNvSpPr>
            <a:spLocks noGrp="1"/>
          </p:cNvSpPr>
          <p:nvPr>
            <p:ph type="ftr" sz="quarter" idx="11"/>
          </p:nvPr>
        </p:nvSpPr>
        <p:spPr>
          <a:xfrm>
            <a:off x="4038600" y="6356350"/>
            <a:ext cx="4114800" cy="365125"/>
          </a:xfr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p:spPr>
        <p:txBody>
          <a:bodyPr/>
          <a:lstStyle/>
          <a:p>
            <a:fld id="{49AE70B2-8BF9-45C0-BB95-33D1B9D3A854}"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nchor="ctr" anchorCtr="0"/>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200" y="6356350"/>
            <a:ext cx="2743200" cy="365125"/>
          </a:xfrm>
        </p:spPr>
        <p:txBody>
          <a:bodyPr/>
          <a:lstStyle/>
          <a:p>
            <a:fld id="{760FBDFE-C587-4B4C-A407-44438C67B59E}" type="datetimeFigureOut">
              <a:rPr lang="zh-CN" altLang="en-US" smtClean="0"/>
              <a:pPr/>
              <a:t>2018/11/16</a:t>
            </a:fld>
            <a:endParaRPr lang="zh-CN" altLang="en-US"/>
          </a:p>
        </p:txBody>
      </p:sp>
      <p:sp>
        <p:nvSpPr>
          <p:cNvPr id="8" name="页脚占位符 7"/>
          <p:cNvSpPr>
            <a:spLocks noGrp="1"/>
          </p:cNvSpPr>
          <p:nvPr>
            <p:ph type="ftr" sz="quarter" idx="11"/>
          </p:nvPr>
        </p:nvSpPr>
        <p:spPr>
          <a:xfrm>
            <a:off x="4038600" y="6356350"/>
            <a:ext cx="4114800" cy="365125"/>
          </a:xfr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p:spPr>
        <p:txBody>
          <a:bodyPr/>
          <a:lstStyle/>
          <a:p>
            <a:fld id="{49AE70B2-8BF9-45C0-BB95-33D1B9D3A854}"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238500" y="2159000"/>
            <a:ext cx="5715000" cy="1382450"/>
          </a:xfrm>
        </p:spPr>
        <p:txBody>
          <a:bodyPr anchor="b" anchorCtr="0">
            <a:normAutofit/>
          </a:bodyPr>
          <a:lstStyle>
            <a:lvl1pPr algn="ctr">
              <a:defRPr sz="8000" b="0">
                <a:solidFill>
                  <a:schemeClr val="tx1"/>
                </a:solidFill>
              </a:defRPr>
            </a:lvl1pPr>
          </a:lstStyle>
          <a:p>
            <a:r>
              <a:rPr lang="zh-CN" altLang="en-US" dirty="0"/>
              <a:t>编辑标题</a:t>
            </a:r>
          </a:p>
        </p:txBody>
      </p:sp>
      <p:sp>
        <p:nvSpPr>
          <p:cNvPr id="3" name="日期占位符 2"/>
          <p:cNvSpPr>
            <a:spLocks noGrp="1"/>
          </p:cNvSpPr>
          <p:nvPr>
            <p:ph type="dt" sz="half" idx="10"/>
          </p:nvPr>
        </p:nvSpPr>
        <p:spPr>
          <a:xfrm>
            <a:off x="838200" y="6356350"/>
            <a:ext cx="2743200" cy="365125"/>
          </a:xfrm>
        </p:spPr>
        <p:txBody>
          <a:bodyPr/>
          <a:lstStyle/>
          <a:p>
            <a:fld id="{20DD7636-5BE1-44BC-BB5F-15739D9E18E1}" type="datetimeFigureOut">
              <a:rPr lang="zh-CN" altLang="en-US" smtClean="0"/>
              <a:pPr/>
              <a:t>2018/11/16</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87C0E1D-24C4-406F-9615-DBDA8D2D1F93}" type="slidenum">
              <a:rPr lang="zh-CN" altLang="en-US" smtClean="0"/>
              <a:pPr/>
              <a:t>‹#›</a:t>
            </a:fld>
            <a:endParaRPr lang="zh-CN" altLang="en-US"/>
          </a:p>
        </p:txBody>
      </p:sp>
      <p:sp>
        <p:nvSpPr>
          <p:cNvPr id="37" name="内容占位符 36"/>
          <p:cNvSpPr>
            <a:spLocks noGrp="1"/>
          </p:cNvSpPr>
          <p:nvPr>
            <p:ph sz="quarter" idx="13" hasCustomPrompt="1"/>
          </p:nvPr>
        </p:nvSpPr>
        <p:spPr>
          <a:xfrm>
            <a:off x="3238500" y="3733201"/>
            <a:ext cx="5715000" cy="1185937"/>
          </a:xfrm>
        </p:spPr>
        <p:txBody>
          <a:bodyPr>
            <a:normAutofit/>
          </a:bodyPr>
          <a:lstStyle>
            <a:lvl1pPr marL="0" indent="0" algn="ctr">
              <a:buNone/>
              <a:defRPr sz="3200">
                <a:solidFill>
                  <a:schemeClr val="tx1"/>
                </a:solidFill>
              </a:defRPr>
            </a:lvl1pPr>
          </a:lstStyle>
          <a:p>
            <a:pPr lvl="0"/>
            <a:r>
              <a:rPr lang="zh-CN" altLang="en-US" dirty="0"/>
              <a:t>编辑文本</a:t>
            </a:r>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760FBDFE-C587-4B4C-A407-44438C67B59E}" type="datetimeFigureOut">
              <a:rPr lang="zh-CN" altLang="en-US" smtClean="0"/>
              <a:pPr/>
              <a:t>2018/11/16</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49AE70B2-8BF9-45C0-BB95-33D1B9D3A854}"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713673"/>
            <a:ext cx="4681654" cy="1428161"/>
          </a:xfrm>
        </p:spPr>
        <p:txBody>
          <a:bodyPr anchor="t" anchorCtr="0">
            <a:normAutofit/>
          </a:bodyPr>
          <a:lstStyle>
            <a:lvl1pPr>
              <a:defRPr sz="3600"/>
            </a:lvl1pPr>
          </a:lstStyle>
          <a:p>
            <a:r>
              <a:rPr lang="zh-CN" altLang="en-US" dirty="0"/>
              <a:t>单击此处编辑标题</a:t>
            </a:r>
          </a:p>
        </p:txBody>
      </p:sp>
      <p:sp>
        <p:nvSpPr>
          <p:cNvPr id="3" name="图片占位符 2"/>
          <p:cNvSpPr>
            <a:spLocks noGrp="1" noChangeAspect="1"/>
          </p:cNvSpPr>
          <p:nvPr>
            <p:ph type="pic" idx="1"/>
          </p:nvPr>
        </p:nvSpPr>
        <p:spPr>
          <a:xfrm>
            <a:off x="5642517" y="713673"/>
            <a:ext cx="5711882"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8200" y="2313873"/>
            <a:ext cx="4681654"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a:xfrm>
            <a:off x="838200" y="6356350"/>
            <a:ext cx="2743200" cy="365125"/>
          </a:xfrm>
        </p:spPr>
        <p:txBody>
          <a:bodyPr/>
          <a:lstStyle/>
          <a:p>
            <a:fld id="{9EFD9D74-47D9-4702-A33C-335B63B48DBF}" type="datetimeFigureOut">
              <a:rPr lang="zh-CN" altLang="en-US" smtClean="0"/>
              <a:pPr/>
              <a:t>2018/11/16</a:t>
            </a:fld>
            <a:endParaRPr lang="zh-CN" altLang="en-US" dirty="0"/>
          </a:p>
        </p:txBody>
      </p:sp>
      <p:sp>
        <p:nvSpPr>
          <p:cNvPr id="6" name="页脚占位符 5"/>
          <p:cNvSpPr>
            <a:spLocks noGrp="1"/>
          </p:cNvSpPr>
          <p:nvPr>
            <p:ph type="ftr" sz="quarter" idx="11"/>
          </p:nvPr>
        </p:nvSpPr>
        <p:spPr>
          <a:xfrm>
            <a:off x="4038600" y="6356350"/>
            <a:ext cx="4114800" cy="365125"/>
          </a:xfrm>
        </p:spPr>
        <p:txBody>
          <a:bodyPr/>
          <a:lstStyle/>
          <a:p>
            <a:endParaRPr lang="zh-CN" altLang="en-US" dirty="0"/>
          </a:p>
        </p:txBody>
      </p:sp>
      <p:sp>
        <p:nvSpPr>
          <p:cNvPr id="7" name="灯片编号占位符 6"/>
          <p:cNvSpPr>
            <a:spLocks noGrp="1"/>
          </p:cNvSpPr>
          <p:nvPr>
            <p:ph type="sldNum" sz="quarter" idx="12"/>
          </p:nvPr>
        </p:nvSpPr>
        <p:spPr>
          <a:xfrm>
            <a:off x="8610600" y="6356350"/>
            <a:ext cx="2743200" cy="365125"/>
          </a:xfrm>
        </p:spPr>
        <p:txBody>
          <a:bodyPr/>
          <a:lstStyle/>
          <a:p>
            <a:fld id="{FABC47A4-756D-490B-A52F-7D9E2C9FC05F}"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444898" y="365125"/>
            <a:ext cx="908901" cy="5811838"/>
          </a:xfrm>
        </p:spPr>
        <p:txBody>
          <a:bodyPr vert="eaVert">
            <a:normAutofit/>
          </a:bodyPr>
          <a:lstStyle>
            <a:lvl1pPr>
              <a:defRPr sz="4400"/>
            </a:lvl1pPr>
          </a:lstStyle>
          <a:p>
            <a:r>
              <a:rPr lang="zh-CN" altLang="en-US" dirty="0"/>
              <a:t>单击此处编辑标题</a:t>
            </a:r>
          </a:p>
        </p:txBody>
      </p:sp>
      <p:sp>
        <p:nvSpPr>
          <p:cNvPr id="3" name="竖排文字占位符 2"/>
          <p:cNvSpPr>
            <a:spLocks noGrp="1"/>
          </p:cNvSpPr>
          <p:nvPr>
            <p:ph type="body" orient="vert" idx="1"/>
          </p:nvPr>
        </p:nvSpPr>
        <p:spPr>
          <a:xfrm>
            <a:off x="838199" y="365125"/>
            <a:ext cx="9446443"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38200" y="6356350"/>
            <a:ext cx="2743200" cy="365125"/>
          </a:xfrm>
        </p:spPr>
        <p:txBody>
          <a:bodyPr/>
          <a:lstStyle/>
          <a:p>
            <a:fld id="{760FBDFE-C587-4B4C-A407-44438C67B59E}" type="datetimeFigureOut">
              <a:rPr lang="zh-CN" altLang="en-US" smtClean="0"/>
              <a:pPr/>
              <a:t>2018/11/16</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49AE70B2-8BF9-45C0-BB95-33D1B9D3A854}" type="slidenum">
              <a:rPr lang="zh-CN" altLang="en-US" smtClean="0"/>
              <a:pPr/>
              <a:t>‹#›</a:t>
            </a:fld>
            <a:endParaRPr lang="zh-CN" altLang="en-US"/>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760FBDFE-C587-4B4C-A407-44438C67B59E}" type="datetimeFigureOut">
              <a:rPr lang="zh-CN" altLang="en-US" smtClean="0"/>
              <a:pPr/>
              <a:t>2018/11/16</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49AE70B2-8BF9-45C0-BB95-33D1B9D3A854}" type="slidenum">
              <a:rPr lang="zh-CN" altLang="en-US" smtClean="0"/>
              <a:pPr/>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4F4F4"/>
        </a:solidFill>
        <a:effectLst/>
      </p:bgPr>
    </p:bg>
    <p:spTree>
      <p:nvGrpSpPr>
        <p:cNvPr id="1" name=""/>
        <p:cNvGrpSpPr/>
        <p:nvPr/>
      </p:nvGrpSpPr>
      <p:grpSpPr>
        <a:xfrm>
          <a:off x="0" y="0"/>
          <a:ext cx="0" cy="0"/>
          <a:chOff x="0" y="0"/>
          <a:chExt cx="0" cy="0"/>
        </a:xfrm>
      </p:grpSpPr>
      <p:sp>
        <p:nvSpPr>
          <p:cNvPr id="6" name="矩形 5"/>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r>
              <a:rPr lang="en-US" altLang="zh-CN" sz="100" dirty="0" smtClean="0">
                <a:solidFill>
                  <a:prstClr val="white"/>
                </a:solidFill>
                <a:latin typeface="Calibri"/>
                <a:ea typeface="宋体"/>
              </a:rPr>
              <a:t>      </a:t>
            </a:r>
            <a:endParaRPr lang="en-US" altLang="zh-CN" sz="100" dirty="0">
              <a:solidFill>
                <a:prstClr val="white"/>
              </a:solidFill>
              <a:latin typeface="Calibri"/>
              <a:ea typeface="宋体"/>
            </a:endParaRPr>
          </a:p>
          <a:p>
            <a:r>
              <a:rPr lang="zh-CN" altLang="en-US" sz="100" dirty="0" smtClean="0">
                <a:solidFill>
                  <a:prstClr val="white"/>
                </a:solidFill>
                <a:latin typeface="Calibri"/>
                <a:ea typeface="宋体"/>
              </a:rPr>
              <a:t>字体下载：</a:t>
            </a:r>
            <a:r>
              <a:rPr lang="en-US" altLang="zh-CN" sz="100" dirty="0" smtClean="0">
                <a:solidFill>
                  <a:prstClr val="white"/>
                </a:solidFill>
                <a:latin typeface="Calibri"/>
                <a:ea typeface="宋体"/>
              </a:rPr>
              <a:t>www.1ppt.com/ziti/</a:t>
            </a:r>
            <a:endParaRPr lang="en-US" altLang="zh-CN" sz="100" dirty="0">
              <a:solidFill>
                <a:prstClr val="white"/>
              </a:solidFill>
              <a:latin typeface="Calibri"/>
              <a:ea typeface="宋体"/>
            </a:endParaRPr>
          </a:p>
          <a:p>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
        <p:nvSpPr>
          <p:cNvPr id="2" name="KSO_TEMPLATE" hidden="1"/>
          <p:cNvSpPr/>
          <p:nvPr userDrawn="1">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33655" y="-25400"/>
            <a:ext cx="12235815" cy="697420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13" cstate="screen">
            <a:extLst>
              <a:ext uri="{28A0092B-C50C-407E-A947-70E740481C1C}">
                <a14:useLocalDpi xmlns="" xmlns:a14="http://schemas.microsoft.com/office/drawing/2010/main"/>
              </a:ext>
            </a:extLst>
          </a:blip>
          <a:srcRect l="83950" b="51583"/>
          <a:stretch>
            <a:fillRect/>
          </a:stretch>
        </p:blipFill>
        <p:spPr>
          <a:xfrm flipH="1">
            <a:off x="-33655" y="-25400"/>
            <a:ext cx="1530350" cy="259715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 xmlns:p14="http://schemas.microsoft.com/office/powerpoint/2010/main" Requires="p14">
      <p:transition spd="slow" p14:dur="2000" advClick="0" advTm="0">
        <p:random/>
      </p:transition>
    </mc:Choice>
    <mc:Fallback>
      <p:transition spd="slow" advClick="0" advTm="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4" cstate="print">
            <a:extLst>
              <a:ext uri="{28A0092B-C50C-407E-A947-70E740481C1C}">
                <a14:useLocalDpi xmlns="" xmlns:a14="http://schemas.microsoft.com/office/drawing/2010/main"/>
              </a:ext>
            </a:extLst>
          </a:blip>
          <a:stretch>
            <a:fillRect/>
          </a:stretch>
        </p:blipFill>
        <p:spPr>
          <a:xfrm flipH="1">
            <a:off x="0" y="0"/>
            <a:ext cx="12233275" cy="6881495"/>
          </a:xfrm>
          <a:prstGeom prst="rect">
            <a:avLst/>
          </a:prstGeom>
        </p:spPr>
      </p:pic>
      <p:pic>
        <p:nvPicPr>
          <p:cNvPr id="15" name="图片 14"/>
          <p:cNvPicPr>
            <a:picLocks noChangeAspect="1"/>
          </p:cNvPicPr>
          <p:nvPr/>
        </p:nvPicPr>
        <p:blipFill>
          <a:blip r:embed="rId5" cstate="print">
            <a:extLst>
              <a:ext uri="{28A0092B-C50C-407E-A947-70E740481C1C}">
                <a14:useLocalDpi xmlns="" xmlns:a14="http://schemas.microsoft.com/office/drawing/2010/main"/>
              </a:ext>
            </a:extLst>
          </a:blip>
          <a:stretch>
            <a:fillRect/>
          </a:stretch>
        </p:blipFill>
        <p:spPr>
          <a:xfrm>
            <a:off x="-342909" y="3596130"/>
            <a:ext cx="3392805" cy="3106517"/>
          </a:xfrm>
          <a:prstGeom prst="rect">
            <a:avLst/>
          </a:prstGeom>
        </p:spPr>
      </p:pic>
      <p:sp>
        <p:nvSpPr>
          <p:cNvPr id="21" name="TextBox 20"/>
          <p:cNvSpPr txBox="1"/>
          <p:nvPr/>
        </p:nvSpPr>
        <p:spPr>
          <a:xfrm>
            <a:off x="1878904" y="2592888"/>
            <a:ext cx="9006214" cy="1908215"/>
          </a:xfrm>
          <a:prstGeom prst="rect">
            <a:avLst/>
          </a:prstGeom>
          <a:noFill/>
        </p:spPr>
        <p:txBody>
          <a:bodyPr wrap="square" rtlCol="0">
            <a:spAutoFit/>
          </a:bodyPr>
          <a:lstStyle/>
          <a:p>
            <a:r>
              <a:rPr lang="zh-CN" altLang="en-US" sz="4000" dirty="0" smtClean="0">
                <a:latin typeface="宋体" pitchFamily="2" charset="-122"/>
                <a:ea typeface="宋体" pitchFamily="2" charset="-122"/>
              </a:rPr>
              <a:t>利用链路预测推断网路演化机制</a:t>
            </a:r>
            <a:endParaRPr lang="en-US" altLang="zh-CN" sz="4000" dirty="0" smtClean="0">
              <a:latin typeface="宋体" pitchFamily="2" charset="-122"/>
              <a:ea typeface="宋体" pitchFamily="2" charset="-122"/>
            </a:endParaRPr>
          </a:p>
          <a:p>
            <a:endParaRPr lang="en-US" altLang="zh-CN" dirty="0" smtClean="0"/>
          </a:p>
          <a:p>
            <a:r>
              <a:rPr lang="en-US" altLang="zh-CN" dirty="0" smtClean="0"/>
              <a:t>    (</a:t>
            </a:r>
            <a:r>
              <a:rPr lang="en-US" altLang="zh-CN" sz="2000" dirty="0" smtClean="0"/>
              <a:t>Uncovering the network evolution </a:t>
            </a:r>
            <a:r>
              <a:rPr lang="en-US" altLang="zh-CN" sz="2000" dirty="0" err="1" smtClean="0"/>
              <a:t>machanism</a:t>
            </a:r>
            <a:r>
              <a:rPr lang="en-US" altLang="zh-CN" sz="2000" dirty="0" smtClean="0"/>
              <a:t> by link </a:t>
            </a:r>
            <a:r>
              <a:rPr lang="en-US" altLang="zh-CN" sz="2200" dirty="0" smtClean="0"/>
              <a:t>prediction</a:t>
            </a:r>
            <a:r>
              <a:rPr lang="en-US" altLang="zh-CN" dirty="0" smtClean="0"/>
              <a:t>)</a:t>
            </a:r>
          </a:p>
          <a:p>
            <a:endParaRPr lang="en-US" altLang="zh-CN" dirty="0" smtClean="0"/>
          </a:p>
          <a:p>
            <a:r>
              <a:rPr lang="en-US" altLang="zh-CN" dirty="0" smtClean="0"/>
              <a:t>                                                                                                     </a:t>
            </a:r>
            <a:r>
              <a:rPr lang="en-US" altLang="zh-CN" sz="2000" dirty="0" smtClean="0"/>
              <a:t>----------</a:t>
            </a:r>
            <a:r>
              <a:rPr lang="zh-CN" altLang="en-US" sz="2000" dirty="0" smtClean="0"/>
              <a:t>王杰</a:t>
            </a:r>
            <a:endParaRPr lang="zh-CN" altLang="en-US" sz="2000" dirty="0"/>
          </a:p>
        </p:txBody>
      </p:sp>
    </p:spTree>
    <p:custDataLst>
      <p:tags r:id="rId1"/>
    </p:custDataLst>
  </p:cSld>
  <p:clrMapOvr>
    <a:masterClrMapping/>
  </p:clrMapOvr>
  <mc:AlternateContent xmlns:mc="http://schemas.openxmlformats.org/markup-compatibility/2006">
    <mc:Choice xmlns="" xmlns:p14="http://schemas.microsoft.com/office/powerpoint/2010/main" Requires="p14">
      <p:transition spd="slow" p14:dur="2000">
        <p:random/>
      </p:transition>
    </mc:Choice>
    <mc:Fallback>
      <p:transition spd="slow">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flipH="1">
            <a:off x="0" y="0"/>
            <a:ext cx="12233275" cy="6881495"/>
          </a:xfrm>
          <a:prstGeom prst="rect">
            <a:avLst/>
          </a:prstGeom>
        </p:spPr>
      </p:pic>
      <p:sp>
        <p:nvSpPr>
          <p:cNvPr id="11" name="TextBox 32"/>
          <p:cNvSpPr txBox="1">
            <a:spLocks noChangeArrowheads="1"/>
          </p:cNvSpPr>
          <p:nvPr/>
        </p:nvSpPr>
        <p:spPr bwMode="auto">
          <a:xfrm>
            <a:off x="4747895" y="3851910"/>
            <a:ext cx="3717925" cy="460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400" b="1" dirty="0" smtClean="0">
                <a:solidFill>
                  <a:schemeClr val="tx1">
                    <a:lumMod val="75000"/>
                    <a:lumOff val="25000"/>
                  </a:schemeClr>
                </a:solidFill>
                <a:latin typeface="仿宋" panose="02010609060101010101" charset="-122"/>
                <a:ea typeface="仿宋" panose="02010609060101010101" charset="-122"/>
                <a:cs typeface="Yuanti SC" charset="-122"/>
                <a:sym typeface="+mn-ea"/>
              </a:rPr>
              <a:t>链路预测的评价指标</a:t>
            </a:r>
            <a:endParaRPr lang="zh-CN" altLang="en-US" sz="2400" b="1" dirty="0">
              <a:solidFill>
                <a:schemeClr val="tx1">
                  <a:lumMod val="75000"/>
                  <a:lumOff val="25000"/>
                </a:schemeClr>
              </a:solidFill>
              <a:latin typeface="仿宋" panose="02010609060101010101" charset="-122"/>
              <a:ea typeface="仿宋" panose="02010609060101010101" charset="-122"/>
              <a:cs typeface="Yuanti SC" charset="-122"/>
              <a:sym typeface="+mn-ea"/>
            </a:endParaRPr>
          </a:p>
        </p:txBody>
      </p:sp>
      <p:sp>
        <p:nvSpPr>
          <p:cNvPr id="14" name="TextBox 32"/>
          <p:cNvSpPr txBox="1">
            <a:spLocks noChangeArrowheads="1"/>
          </p:cNvSpPr>
          <p:nvPr/>
        </p:nvSpPr>
        <p:spPr bwMode="auto">
          <a:xfrm>
            <a:off x="4747260" y="4806315"/>
            <a:ext cx="3710305" cy="460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400" b="1" dirty="0" smtClean="0">
                <a:solidFill>
                  <a:schemeClr val="tx1">
                    <a:lumMod val="75000"/>
                    <a:lumOff val="25000"/>
                  </a:schemeClr>
                </a:solidFill>
                <a:latin typeface="仿宋" panose="02010609060101010101" charset="-122"/>
                <a:ea typeface="仿宋" panose="02010609060101010101" charset="-122"/>
                <a:cs typeface="Yuanti SC" charset="-122"/>
                <a:sym typeface="+mn-ea"/>
              </a:rPr>
              <a:t>中国航空网络的链路预测</a:t>
            </a:r>
            <a:endParaRPr lang="zh-CN" altLang="en-US" sz="2400" b="1" dirty="0">
              <a:solidFill>
                <a:schemeClr val="tx1">
                  <a:lumMod val="75000"/>
                  <a:lumOff val="25000"/>
                </a:schemeClr>
              </a:solidFill>
              <a:latin typeface="仿宋" panose="02010609060101010101" charset="-122"/>
              <a:ea typeface="仿宋" panose="02010609060101010101" charset="-122"/>
              <a:cs typeface="Yuanti SC" charset="-122"/>
              <a:sym typeface="+mn-ea"/>
            </a:endParaRPr>
          </a:p>
        </p:txBody>
      </p:sp>
      <p:sp>
        <p:nvSpPr>
          <p:cNvPr id="15" name="TextBox 32"/>
          <p:cNvSpPr txBox="1">
            <a:spLocks noChangeArrowheads="1"/>
          </p:cNvSpPr>
          <p:nvPr/>
        </p:nvSpPr>
        <p:spPr bwMode="auto">
          <a:xfrm>
            <a:off x="3648006" y="4747501"/>
            <a:ext cx="681677" cy="578882"/>
          </a:xfrm>
          <a:prstGeom prst="roundRect">
            <a:avLst/>
          </a:prstGeom>
          <a:solidFill>
            <a:srgbClr val="C0C9BE"/>
          </a:solidFill>
          <a:ln w="28575">
            <a:noFill/>
          </a:ln>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a:solidFill>
                  <a:schemeClr val="bg1"/>
                </a:solidFill>
                <a:latin typeface="Yuanti SC" charset="-122"/>
                <a:ea typeface="Yuanti SC" charset="-122"/>
                <a:cs typeface="Yuanti SC" charset="-122"/>
              </a:rPr>
              <a:t>04</a:t>
            </a:r>
            <a:endParaRPr lang="zh-CN" altLang="en-US" sz="2800" b="1" dirty="0">
              <a:solidFill>
                <a:schemeClr val="bg1"/>
              </a:solidFill>
              <a:latin typeface="Yuanti SC" charset="-122"/>
              <a:ea typeface="Yuanti SC" charset="-122"/>
              <a:cs typeface="Yuanti SC" charset="-122"/>
            </a:endParaRPr>
          </a:p>
        </p:txBody>
      </p:sp>
      <p:sp>
        <p:nvSpPr>
          <p:cNvPr id="16" name="TextBox 32"/>
          <p:cNvSpPr txBox="1">
            <a:spLocks noChangeArrowheads="1"/>
          </p:cNvSpPr>
          <p:nvPr/>
        </p:nvSpPr>
        <p:spPr bwMode="auto">
          <a:xfrm>
            <a:off x="3648006" y="3852225"/>
            <a:ext cx="681677" cy="578882"/>
          </a:xfrm>
          <a:prstGeom prst="roundRect">
            <a:avLst/>
          </a:prstGeom>
          <a:solidFill>
            <a:srgbClr val="90A08D"/>
          </a:solidFill>
          <a:ln w="28575">
            <a:noFill/>
          </a:ln>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a:solidFill>
                  <a:schemeClr val="bg1"/>
                </a:solidFill>
                <a:latin typeface="Yuanti SC" charset="-122"/>
                <a:ea typeface="Yuanti SC" charset="-122"/>
                <a:cs typeface="Yuanti SC" charset="-122"/>
              </a:rPr>
              <a:t>03</a:t>
            </a:r>
            <a:endParaRPr lang="zh-CN" altLang="en-US" sz="2800" b="1" dirty="0">
              <a:solidFill>
                <a:schemeClr val="bg1"/>
              </a:solidFill>
              <a:latin typeface="Yuanti SC" charset="-122"/>
              <a:ea typeface="Yuanti SC" charset="-122"/>
              <a:cs typeface="Yuanti SC" charset="-122"/>
            </a:endParaRPr>
          </a:p>
        </p:txBody>
      </p:sp>
      <p:sp>
        <p:nvSpPr>
          <p:cNvPr id="17" name="TextBox 32"/>
          <p:cNvSpPr txBox="1">
            <a:spLocks noChangeArrowheads="1"/>
          </p:cNvSpPr>
          <p:nvPr/>
        </p:nvSpPr>
        <p:spPr bwMode="auto">
          <a:xfrm>
            <a:off x="4747895" y="1947493"/>
            <a:ext cx="3970220"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400" b="1" dirty="0" smtClean="0">
                <a:solidFill>
                  <a:schemeClr val="tx1">
                    <a:lumMod val="75000"/>
                    <a:lumOff val="25000"/>
                  </a:schemeClr>
                </a:solidFill>
                <a:latin typeface="仿宋" panose="02010609060101010101" charset="-122"/>
                <a:ea typeface="仿宋" panose="02010609060101010101" charset="-122"/>
                <a:cs typeface="Yuanti SC" charset="-122"/>
                <a:sym typeface="+mn-ea"/>
              </a:rPr>
              <a:t>链路预测在网络演化机制上的作用</a:t>
            </a:r>
            <a:endParaRPr lang="zh-CN" altLang="en-US" sz="2400" b="1" dirty="0">
              <a:solidFill>
                <a:schemeClr val="tx1">
                  <a:lumMod val="75000"/>
                  <a:lumOff val="25000"/>
                </a:schemeClr>
              </a:solidFill>
              <a:latin typeface="仿宋" panose="02010609060101010101" charset="-122"/>
              <a:ea typeface="仿宋" panose="02010609060101010101" charset="-122"/>
              <a:cs typeface="Yuanti SC" charset="-122"/>
              <a:sym typeface="+mn-ea"/>
            </a:endParaRPr>
          </a:p>
        </p:txBody>
      </p:sp>
      <p:sp>
        <p:nvSpPr>
          <p:cNvPr id="18" name="TextBox 32"/>
          <p:cNvSpPr txBox="1">
            <a:spLocks noChangeArrowheads="1"/>
          </p:cNvSpPr>
          <p:nvPr/>
        </p:nvSpPr>
        <p:spPr bwMode="auto">
          <a:xfrm>
            <a:off x="3623719" y="1976195"/>
            <a:ext cx="712949" cy="578882"/>
          </a:xfrm>
          <a:prstGeom prst="roundRect">
            <a:avLst/>
          </a:prstGeom>
          <a:solidFill>
            <a:srgbClr val="90A08D"/>
          </a:solidFill>
          <a:ln w="28575">
            <a:noFill/>
          </a:ln>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a:solidFill>
                  <a:schemeClr val="bg1"/>
                </a:solidFill>
                <a:latin typeface="Yuanti SC" charset="-122"/>
                <a:ea typeface="Yuanti SC" charset="-122"/>
                <a:cs typeface="Yuanti SC" charset="-122"/>
              </a:rPr>
              <a:t>01</a:t>
            </a:r>
            <a:endParaRPr lang="zh-CN" altLang="en-US" sz="2800" b="1" dirty="0">
              <a:solidFill>
                <a:schemeClr val="bg1"/>
              </a:solidFill>
              <a:latin typeface="Yuanti SC" charset="-122"/>
              <a:ea typeface="Yuanti SC" charset="-122"/>
              <a:cs typeface="Yuanti SC" charset="-122"/>
            </a:endParaRPr>
          </a:p>
        </p:txBody>
      </p:sp>
      <p:sp>
        <p:nvSpPr>
          <p:cNvPr id="19" name="TextBox 32"/>
          <p:cNvSpPr txBox="1">
            <a:spLocks noChangeArrowheads="1"/>
          </p:cNvSpPr>
          <p:nvPr/>
        </p:nvSpPr>
        <p:spPr bwMode="auto">
          <a:xfrm>
            <a:off x="4747895" y="2937510"/>
            <a:ext cx="4007798"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400" b="1" dirty="0" smtClean="0">
                <a:solidFill>
                  <a:schemeClr val="tx1">
                    <a:lumMod val="75000"/>
                    <a:lumOff val="25000"/>
                  </a:schemeClr>
                </a:solidFill>
                <a:latin typeface="仿宋" panose="02010609060101010101" charset="-122"/>
                <a:ea typeface="仿宋" panose="02010609060101010101" charset="-122"/>
                <a:cs typeface="Yuanti SC" charset="-122"/>
                <a:sym typeface="+mn-ea"/>
              </a:rPr>
              <a:t>链路预测的方法</a:t>
            </a:r>
            <a:endParaRPr lang="zh-CN" altLang="en-US" sz="2400" b="1" dirty="0">
              <a:solidFill>
                <a:schemeClr val="tx1">
                  <a:lumMod val="75000"/>
                  <a:lumOff val="25000"/>
                </a:schemeClr>
              </a:solidFill>
              <a:latin typeface="仿宋" panose="02010609060101010101" charset="-122"/>
              <a:ea typeface="仿宋" panose="02010609060101010101" charset="-122"/>
              <a:cs typeface="Yuanti SC" charset="-122"/>
              <a:sym typeface="+mn-ea"/>
            </a:endParaRPr>
          </a:p>
        </p:txBody>
      </p:sp>
      <p:sp>
        <p:nvSpPr>
          <p:cNvPr id="20" name="TextBox 32"/>
          <p:cNvSpPr txBox="1">
            <a:spLocks noChangeArrowheads="1"/>
          </p:cNvSpPr>
          <p:nvPr/>
        </p:nvSpPr>
        <p:spPr bwMode="auto">
          <a:xfrm>
            <a:off x="3623719" y="2878455"/>
            <a:ext cx="681677" cy="578882"/>
          </a:xfrm>
          <a:prstGeom prst="roundRect">
            <a:avLst/>
          </a:prstGeom>
          <a:solidFill>
            <a:srgbClr val="C0C9BE"/>
          </a:solidFill>
          <a:ln w="28575">
            <a:noFill/>
          </a:ln>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a:solidFill>
                  <a:schemeClr val="bg1"/>
                </a:solidFill>
                <a:latin typeface="Yuanti SC" charset="-122"/>
                <a:ea typeface="Yuanti SC" charset="-122"/>
                <a:cs typeface="Yuanti SC" charset="-122"/>
              </a:rPr>
              <a:t>02</a:t>
            </a:r>
            <a:endParaRPr lang="zh-CN" altLang="en-US" sz="2800" b="1" dirty="0">
              <a:solidFill>
                <a:schemeClr val="bg1"/>
              </a:solidFill>
              <a:latin typeface="Yuanti SC" charset="-122"/>
              <a:ea typeface="Yuanti SC" charset="-122"/>
              <a:cs typeface="Yuanti SC" charset="-122"/>
            </a:endParaRPr>
          </a:p>
        </p:txBody>
      </p:sp>
      <p:sp>
        <p:nvSpPr>
          <p:cNvPr id="5" name="TextBox 32"/>
          <p:cNvSpPr txBox="1">
            <a:spLocks noChangeArrowheads="1"/>
          </p:cNvSpPr>
          <p:nvPr/>
        </p:nvSpPr>
        <p:spPr bwMode="auto">
          <a:xfrm>
            <a:off x="4704715" y="5578475"/>
            <a:ext cx="3752850" cy="460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400" b="1" dirty="0" smtClean="0">
                <a:solidFill>
                  <a:schemeClr val="tx1">
                    <a:lumMod val="75000"/>
                    <a:lumOff val="25000"/>
                  </a:schemeClr>
                </a:solidFill>
                <a:latin typeface="仿宋" panose="02010609060101010101" charset="-122"/>
                <a:ea typeface="仿宋" panose="02010609060101010101" charset="-122"/>
                <a:cs typeface="Yuanti SC" charset="-122"/>
                <a:sym typeface="+mn-ea"/>
              </a:rPr>
              <a:t>结论</a:t>
            </a:r>
            <a:endParaRPr lang="zh-CN" altLang="en-US" sz="2400" b="1" dirty="0">
              <a:solidFill>
                <a:schemeClr val="tx1">
                  <a:lumMod val="75000"/>
                  <a:lumOff val="25000"/>
                </a:schemeClr>
              </a:solidFill>
              <a:latin typeface="仿宋" panose="02010609060101010101" charset="-122"/>
              <a:ea typeface="仿宋" panose="02010609060101010101" charset="-122"/>
              <a:cs typeface="Yuanti SC" charset="-122"/>
              <a:sym typeface="+mn-ea"/>
            </a:endParaRPr>
          </a:p>
        </p:txBody>
      </p:sp>
      <p:sp>
        <p:nvSpPr>
          <p:cNvPr id="7" name="TextBox 32"/>
          <p:cNvSpPr txBox="1">
            <a:spLocks noChangeArrowheads="1"/>
          </p:cNvSpPr>
          <p:nvPr/>
        </p:nvSpPr>
        <p:spPr bwMode="auto">
          <a:xfrm>
            <a:off x="3648006" y="5578716"/>
            <a:ext cx="598806" cy="578486"/>
          </a:xfrm>
          <a:prstGeom prst="roundRect">
            <a:avLst/>
          </a:prstGeom>
          <a:solidFill>
            <a:srgbClr val="90A08D"/>
          </a:solidFill>
          <a:ln w="28575">
            <a:noFill/>
          </a:ln>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800" b="1" dirty="0">
                <a:solidFill>
                  <a:schemeClr val="bg1"/>
                </a:solidFill>
                <a:latin typeface="Yuanti SC" charset="-122"/>
                <a:ea typeface="Yuanti SC" charset="-122"/>
                <a:cs typeface="Yuanti SC" charset="-122"/>
              </a:rPr>
              <a:t>05</a:t>
            </a:r>
            <a:endParaRPr lang="zh-CN" altLang="en-US" sz="2800" b="1" dirty="0">
              <a:solidFill>
                <a:schemeClr val="bg1"/>
              </a:solidFill>
              <a:latin typeface="Yuanti SC" charset="-122"/>
              <a:ea typeface="Yuanti SC" charset="-122"/>
              <a:cs typeface="Yuanti SC" charset="-122"/>
            </a:endParaRPr>
          </a:p>
        </p:txBody>
      </p:sp>
      <p:grpSp>
        <p:nvGrpSpPr>
          <p:cNvPr id="23" name="组合 22"/>
          <p:cNvGrpSpPr/>
          <p:nvPr/>
        </p:nvGrpSpPr>
        <p:grpSpPr>
          <a:xfrm>
            <a:off x="5171440" y="-19685"/>
            <a:ext cx="2487295" cy="2014220"/>
            <a:chOff x="8144" y="-14"/>
            <a:chExt cx="3917" cy="3172"/>
          </a:xfrm>
        </p:grpSpPr>
        <p:sp>
          <p:nvSpPr>
            <p:cNvPr id="4" name="文本框 3"/>
            <p:cNvSpPr txBox="1"/>
            <p:nvPr/>
          </p:nvSpPr>
          <p:spPr>
            <a:xfrm>
              <a:off x="8893" y="734"/>
              <a:ext cx="3169" cy="1598"/>
            </a:xfrm>
            <a:prstGeom prst="rect">
              <a:avLst/>
            </a:prstGeom>
            <a:noFill/>
          </p:spPr>
          <p:txBody>
            <a:bodyPr wrap="square" rtlCol="0">
              <a:spAutoFit/>
            </a:bodyPr>
            <a:lstStyle/>
            <a:p>
              <a:r>
                <a:rPr lang="zh-CN" altLang="en-US" sz="6000">
                  <a:latin typeface="仿宋" panose="02010609060101010101" charset="-122"/>
                  <a:ea typeface="仿宋" panose="02010609060101010101" charset="-122"/>
                </a:rPr>
                <a:t>目录</a:t>
              </a:r>
            </a:p>
          </p:txBody>
        </p:sp>
        <p:grpSp>
          <p:nvGrpSpPr>
            <p:cNvPr id="9" name="组合 8"/>
            <p:cNvGrpSpPr/>
            <p:nvPr/>
          </p:nvGrpSpPr>
          <p:grpSpPr>
            <a:xfrm rot="1380000">
              <a:off x="9936" y="1588"/>
              <a:ext cx="1768" cy="1571"/>
              <a:chOff x="9506" y="1541"/>
              <a:chExt cx="1768" cy="1571"/>
            </a:xfrm>
          </p:grpSpPr>
          <p:cxnSp>
            <p:nvCxnSpPr>
              <p:cNvPr id="13" name="直接连接符 12"/>
              <p:cNvCxnSpPr/>
              <p:nvPr/>
            </p:nvCxnSpPr>
            <p:spPr>
              <a:xfrm flipH="1">
                <a:off x="9652" y="1541"/>
                <a:ext cx="1622" cy="1438"/>
              </a:xfrm>
              <a:prstGeom prst="line">
                <a:avLst/>
              </a:prstGeom>
              <a:ln w="12700">
                <a:solidFill>
                  <a:srgbClr val="3B4746"/>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9506" y="2898"/>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rot="1380000">
              <a:off x="8144" y="-14"/>
              <a:ext cx="1716" cy="1596"/>
              <a:chOff x="9652" y="1383"/>
              <a:chExt cx="1716" cy="1596"/>
            </a:xfrm>
          </p:grpSpPr>
          <p:cxnSp>
            <p:nvCxnSpPr>
              <p:cNvPr id="21" name="直接连接符 20"/>
              <p:cNvCxnSpPr/>
              <p:nvPr/>
            </p:nvCxnSpPr>
            <p:spPr>
              <a:xfrm flipH="1">
                <a:off x="9652" y="1541"/>
                <a:ext cx="1622" cy="1438"/>
              </a:xfrm>
              <a:prstGeom prst="line">
                <a:avLst/>
              </a:prstGeom>
              <a:ln w="12700">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11180" y="1383"/>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1000"/>
                                        <p:tgtEl>
                                          <p:spTgt spid="23"/>
                                        </p:tgtEl>
                                      </p:cBhvr>
                                    </p:animEffect>
                                  </p:childTnLst>
                                </p:cTn>
                              </p:par>
                            </p:childTnLst>
                          </p:cTn>
                        </p:par>
                        <p:par>
                          <p:cTn id="8" fill="hold">
                            <p:stCondLst>
                              <p:cond delay="1000"/>
                            </p:stCondLst>
                            <p:childTnLst>
                              <p:par>
                                <p:cTn id="9" presetID="55"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1000" fill="hold"/>
                                        <p:tgtEl>
                                          <p:spTgt spid="11"/>
                                        </p:tgtEl>
                                        <p:attrNameLst>
                                          <p:attrName>ppt_w</p:attrName>
                                        </p:attrNameLst>
                                      </p:cBhvr>
                                      <p:tavLst>
                                        <p:tav tm="0">
                                          <p:val>
                                            <p:strVal val="#ppt_w*0.70"/>
                                          </p:val>
                                        </p:tav>
                                        <p:tav tm="100000">
                                          <p:val>
                                            <p:strVal val="#ppt_w"/>
                                          </p:val>
                                        </p:tav>
                                      </p:tavLst>
                                    </p:anim>
                                    <p:anim calcmode="lin" valueType="num">
                                      <p:cBhvr>
                                        <p:cTn id="12" dur="1000" fill="hold"/>
                                        <p:tgtEl>
                                          <p:spTgt spid="11"/>
                                        </p:tgtEl>
                                        <p:attrNameLst>
                                          <p:attrName>ppt_h</p:attrName>
                                        </p:attrNameLst>
                                      </p:cBhvr>
                                      <p:tavLst>
                                        <p:tav tm="0">
                                          <p:val>
                                            <p:strVal val="#ppt_h"/>
                                          </p:val>
                                        </p:tav>
                                        <p:tav tm="100000">
                                          <p:val>
                                            <p:strVal val="#ppt_h"/>
                                          </p:val>
                                        </p:tav>
                                      </p:tavLst>
                                    </p:anim>
                                    <p:animEffect transition="in" filter="fade">
                                      <p:cBhvr>
                                        <p:cTn id="13" dur="1000"/>
                                        <p:tgtEl>
                                          <p:spTgt spid="11"/>
                                        </p:tgtEl>
                                      </p:cBhvr>
                                    </p:animEffect>
                                  </p:childTnLst>
                                </p:cTn>
                              </p:par>
                              <p:par>
                                <p:cTn id="14" presetID="55"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1000" fill="hold"/>
                                        <p:tgtEl>
                                          <p:spTgt spid="14"/>
                                        </p:tgtEl>
                                        <p:attrNameLst>
                                          <p:attrName>ppt_w</p:attrName>
                                        </p:attrNameLst>
                                      </p:cBhvr>
                                      <p:tavLst>
                                        <p:tav tm="0">
                                          <p:val>
                                            <p:strVal val="#ppt_w*0.70"/>
                                          </p:val>
                                        </p:tav>
                                        <p:tav tm="100000">
                                          <p:val>
                                            <p:strVal val="#ppt_w"/>
                                          </p:val>
                                        </p:tav>
                                      </p:tavLst>
                                    </p:anim>
                                    <p:anim calcmode="lin" valueType="num">
                                      <p:cBhvr>
                                        <p:cTn id="17" dur="1000" fill="hold"/>
                                        <p:tgtEl>
                                          <p:spTgt spid="14"/>
                                        </p:tgtEl>
                                        <p:attrNameLst>
                                          <p:attrName>ppt_h</p:attrName>
                                        </p:attrNameLst>
                                      </p:cBhvr>
                                      <p:tavLst>
                                        <p:tav tm="0">
                                          <p:val>
                                            <p:strVal val="#ppt_h"/>
                                          </p:val>
                                        </p:tav>
                                        <p:tav tm="100000">
                                          <p:val>
                                            <p:strVal val="#ppt_h"/>
                                          </p:val>
                                        </p:tav>
                                      </p:tavLst>
                                    </p:anim>
                                    <p:animEffect transition="in" filter="fade">
                                      <p:cBhvr>
                                        <p:cTn id="18" dur="1000"/>
                                        <p:tgtEl>
                                          <p:spTgt spid="14"/>
                                        </p:tgtEl>
                                      </p:cBhvr>
                                    </p:animEffect>
                                  </p:childTnLst>
                                </p:cTn>
                              </p:par>
                              <p:par>
                                <p:cTn id="19" presetID="55"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1000" fill="hold"/>
                                        <p:tgtEl>
                                          <p:spTgt spid="15"/>
                                        </p:tgtEl>
                                        <p:attrNameLst>
                                          <p:attrName>ppt_w</p:attrName>
                                        </p:attrNameLst>
                                      </p:cBhvr>
                                      <p:tavLst>
                                        <p:tav tm="0">
                                          <p:val>
                                            <p:strVal val="#ppt_w*0.70"/>
                                          </p:val>
                                        </p:tav>
                                        <p:tav tm="100000">
                                          <p:val>
                                            <p:strVal val="#ppt_w"/>
                                          </p:val>
                                        </p:tav>
                                      </p:tavLst>
                                    </p:anim>
                                    <p:anim calcmode="lin" valueType="num">
                                      <p:cBhvr>
                                        <p:cTn id="22" dur="1000" fill="hold"/>
                                        <p:tgtEl>
                                          <p:spTgt spid="15"/>
                                        </p:tgtEl>
                                        <p:attrNameLst>
                                          <p:attrName>ppt_h</p:attrName>
                                        </p:attrNameLst>
                                      </p:cBhvr>
                                      <p:tavLst>
                                        <p:tav tm="0">
                                          <p:val>
                                            <p:strVal val="#ppt_h"/>
                                          </p:val>
                                        </p:tav>
                                        <p:tav tm="100000">
                                          <p:val>
                                            <p:strVal val="#ppt_h"/>
                                          </p:val>
                                        </p:tav>
                                      </p:tavLst>
                                    </p:anim>
                                    <p:animEffect transition="in" filter="fade">
                                      <p:cBhvr>
                                        <p:cTn id="23" dur="1000"/>
                                        <p:tgtEl>
                                          <p:spTgt spid="15"/>
                                        </p:tgtEl>
                                      </p:cBhvr>
                                    </p:animEffect>
                                  </p:childTnLst>
                                </p:cTn>
                              </p:par>
                              <p:par>
                                <p:cTn id="24" presetID="55"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1000" fill="hold"/>
                                        <p:tgtEl>
                                          <p:spTgt spid="16"/>
                                        </p:tgtEl>
                                        <p:attrNameLst>
                                          <p:attrName>ppt_w</p:attrName>
                                        </p:attrNameLst>
                                      </p:cBhvr>
                                      <p:tavLst>
                                        <p:tav tm="0">
                                          <p:val>
                                            <p:strVal val="#ppt_w*0.70"/>
                                          </p:val>
                                        </p:tav>
                                        <p:tav tm="100000">
                                          <p:val>
                                            <p:strVal val="#ppt_w"/>
                                          </p:val>
                                        </p:tav>
                                      </p:tavLst>
                                    </p:anim>
                                    <p:anim calcmode="lin" valueType="num">
                                      <p:cBhvr>
                                        <p:cTn id="27" dur="1000" fill="hold"/>
                                        <p:tgtEl>
                                          <p:spTgt spid="16"/>
                                        </p:tgtEl>
                                        <p:attrNameLst>
                                          <p:attrName>ppt_h</p:attrName>
                                        </p:attrNameLst>
                                      </p:cBhvr>
                                      <p:tavLst>
                                        <p:tav tm="0">
                                          <p:val>
                                            <p:strVal val="#ppt_h"/>
                                          </p:val>
                                        </p:tav>
                                        <p:tav tm="100000">
                                          <p:val>
                                            <p:strVal val="#ppt_h"/>
                                          </p:val>
                                        </p:tav>
                                      </p:tavLst>
                                    </p:anim>
                                    <p:animEffect transition="in" filter="fade">
                                      <p:cBhvr>
                                        <p:cTn id="28" dur="1000"/>
                                        <p:tgtEl>
                                          <p:spTgt spid="16"/>
                                        </p:tgtEl>
                                      </p:cBhvr>
                                    </p:animEffect>
                                  </p:childTnLst>
                                </p:cTn>
                              </p:par>
                              <p:par>
                                <p:cTn id="29" presetID="55"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1000" fill="hold"/>
                                        <p:tgtEl>
                                          <p:spTgt spid="17"/>
                                        </p:tgtEl>
                                        <p:attrNameLst>
                                          <p:attrName>ppt_w</p:attrName>
                                        </p:attrNameLst>
                                      </p:cBhvr>
                                      <p:tavLst>
                                        <p:tav tm="0">
                                          <p:val>
                                            <p:strVal val="#ppt_w*0.70"/>
                                          </p:val>
                                        </p:tav>
                                        <p:tav tm="100000">
                                          <p:val>
                                            <p:strVal val="#ppt_w"/>
                                          </p:val>
                                        </p:tav>
                                      </p:tavLst>
                                    </p:anim>
                                    <p:anim calcmode="lin" valueType="num">
                                      <p:cBhvr>
                                        <p:cTn id="32" dur="1000" fill="hold"/>
                                        <p:tgtEl>
                                          <p:spTgt spid="17"/>
                                        </p:tgtEl>
                                        <p:attrNameLst>
                                          <p:attrName>ppt_h</p:attrName>
                                        </p:attrNameLst>
                                      </p:cBhvr>
                                      <p:tavLst>
                                        <p:tav tm="0">
                                          <p:val>
                                            <p:strVal val="#ppt_h"/>
                                          </p:val>
                                        </p:tav>
                                        <p:tav tm="100000">
                                          <p:val>
                                            <p:strVal val="#ppt_h"/>
                                          </p:val>
                                        </p:tav>
                                      </p:tavLst>
                                    </p:anim>
                                    <p:animEffect transition="in" filter="fade">
                                      <p:cBhvr>
                                        <p:cTn id="33" dur="1000"/>
                                        <p:tgtEl>
                                          <p:spTgt spid="17"/>
                                        </p:tgtEl>
                                      </p:cBhvr>
                                    </p:animEffect>
                                  </p:childTnLst>
                                </p:cTn>
                              </p:par>
                              <p:par>
                                <p:cTn id="34" presetID="55"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1000" fill="hold"/>
                                        <p:tgtEl>
                                          <p:spTgt spid="18"/>
                                        </p:tgtEl>
                                        <p:attrNameLst>
                                          <p:attrName>ppt_w</p:attrName>
                                        </p:attrNameLst>
                                      </p:cBhvr>
                                      <p:tavLst>
                                        <p:tav tm="0">
                                          <p:val>
                                            <p:strVal val="#ppt_w*0.70"/>
                                          </p:val>
                                        </p:tav>
                                        <p:tav tm="100000">
                                          <p:val>
                                            <p:strVal val="#ppt_w"/>
                                          </p:val>
                                        </p:tav>
                                      </p:tavLst>
                                    </p:anim>
                                    <p:anim calcmode="lin" valueType="num">
                                      <p:cBhvr>
                                        <p:cTn id="37" dur="1000" fill="hold"/>
                                        <p:tgtEl>
                                          <p:spTgt spid="18"/>
                                        </p:tgtEl>
                                        <p:attrNameLst>
                                          <p:attrName>ppt_h</p:attrName>
                                        </p:attrNameLst>
                                      </p:cBhvr>
                                      <p:tavLst>
                                        <p:tav tm="0">
                                          <p:val>
                                            <p:strVal val="#ppt_h"/>
                                          </p:val>
                                        </p:tav>
                                        <p:tav tm="100000">
                                          <p:val>
                                            <p:strVal val="#ppt_h"/>
                                          </p:val>
                                        </p:tav>
                                      </p:tavLst>
                                    </p:anim>
                                    <p:animEffect transition="in" filter="fade">
                                      <p:cBhvr>
                                        <p:cTn id="38" dur="1000"/>
                                        <p:tgtEl>
                                          <p:spTgt spid="18"/>
                                        </p:tgtEl>
                                      </p:cBhvr>
                                    </p:animEffect>
                                  </p:childTnLst>
                                </p:cTn>
                              </p:par>
                              <p:par>
                                <p:cTn id="39" presetID="55"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p:cTn id="41" dur="1000" fill="hold"/>
                                        <p:tgtEl>
                                          <p:spTgt spid="19"/>
                                        </p:tgtEl>
                                        <p:attrNameLst>
                                          <p:attrName>ppt_w</p:attrName>
                                        </p:attrNameLst>
                                      </p:cBhvr>
                                      <p:tavLst>
                                        <p:tav tm="0">
                                          <p:val>
                                            <p:strVal val="#ppt_w*0.70"/>
                                          </p:val>
                                        </p:tav>
                                        <p:tav tm="100000">
                                          <p:val>
                                            <p:strVal val="#ppt_w"/>
                                          </p:val>
                                        </p:tav>
                                      </p:tavLst>
                                    </p:anim>
                                    <p:anim calcmode="lin" valueType="num">
                                      <p:cBhvr>
                                        <p:cTn id="42" dur="1000" fill="hold"/>
                                        <p:tgtEl>
                                          <p:spTgt spid="19"/>
                                        </p:tgtEl>
                                        <p:attrNameLst>
                                          <p:attrName>ppt_h</p:attrName>
                                        </p:attrNameLst>
                                      </p:cBhvr>
                                      <p:tavLst>
                                        <p:tav tm="0">
                                          <p:val>
                                            <p:strVal val="#ppt_h"/>
                                          </p:val>
                                        </p:tav>
                                        <p:tav tm="100000">
                                          <p:val>
                                            <p:strVal val="#ppt_h"/>
                                          </p:val>
                                        </p:tav>
                                      </p:tavLst>
                                    </p:anim>
                                    <p:animEffect transition="in" filter="fade">
                                      <p:cBhvr>
                                        <p:cTn id="43" dur="1000"/>
                                        <p:tgtEl>
                                          <p:spTgt spid="19"/>
                                        </p:tgtEl>
                                      </p:cBhvr>
                                    </p:animEffect>
                                  </p:childTnLst>
                                </p:cTn>
                              </p:par>
                              <p:par>
                                <p:cTn id="44" presetID="55"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p:cTn id="46" dur="1000" fill="hold"/>
                                        <p:tgtEl>
                                          <p:spTgt spid="20"/>
                                        </p:tgtEl>
                                        <p:attrNameLst>
                                          <p:attrName>ppt_w</p:attrName>
                                        </p:attrNameLst>
                                      </p:cBhvr>
                                      <p:tavLst>
                                        <p:tav tm="0">
                                          <p:val>
                                            <p:strVal val="#ppt_w*0.70"/>
                                          </p:val>
                                        </p:tav>
                                        <p:tav tm="100000">
                                          <p:val>
                                            <p:strVal val="#ppt_w"/>
                                          </p:val>
                                        </p:tav>
                                      </p:tavLst>
                                    </p:anim>
                                    <p:anim calcmode="lin" valueType="num">
                                      <p:cBhvr>
                                        <p:cTn id="47" dur="1000" fill="hold"/>
                                        <p:tgtEl>
                                          <p:spTgt spid="20"/>
                                        </p:tgtEl>
                                        <p:attrNameLst>
                                          <p:attrName>ppt_h</p:attrName>
                                        </p:attrNameLst>
                                      </p:cBhvr>
                                      <p:tavLst>
                                        <p:tav tm="0">
                                          <p:val>
                                            <p:strVal val="#ppt_h"/>
                                          </p:val>
                                        </p:tav>
                                        <p:tav tm="100000">
                                          <p:val>
                                            <p:strVal val="#ppt_h"/>
                                          </p:val>
                                        </p:tav>
                                      </p:tavLst>
                                    </p:anim>
                                    <p:animEffect transition="in" filter="fade">
                                      <p:cBhvr>
                                        <p:cTn id="48" dur="1000"/>
                                        <p:tgtEl>
                                          <p:spTgt spid="20"/>
                                        </p:tgtEl>
                                      </p:cBhvr>
                                    </p:animEffect>
                                  </p:childTnLst>
                                </p:cTn>
                              </p:par>
                              <p:par>
                                <p:cTn id="49" presetID="55" presetClass="entr" presetSubtype="0" fill="hold" nodeType="with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1000" fill="hold"/>
                                        <p:tgtEl>
                                          <p:spTgt spid="5"/>
                                        </p:tgtEl>
                                        <p:attrNameLst>
                                          <p:attrName>ppt_w</p:attrName>
                                        </p:attrNameLst>
                                      </p:cBhvr>
                                      <p:tavLst>
                                        <p:tav tm="0">
                                          <p:val>
                                            <p:strVal val="#ppt_w*0.70"/>
                                          </p:val>
                                        </p:tav>
                                        <p:tav tm="100000">
                                          <p:val>
                                            <p:strVal val="#ppt_w"/>
                                          </p:val>
                                        </p:tav>
                                      </p:tavLst>
                                    </p:anim>
                                    <p:anim calcmode="lin" valueType="num">
                                      <p:cBhvr>
                                        <p:cTn id="52" dur="1000" fill="hold"/>
                                        <p:tgtEl>
                                          <p:spTgt spid="5"/>
                                        </p:tgtEl>
                                        <p:attrNameLst>
                                          <p:attrName>ppt_h</p:attrName>
                                        </p:attrNameLst>
                                      </p:cBhvr>
                                      <p:tavLst>
                                        <p:tav tm="0">
                                          <p:val>
                                            <p:strVal val="#ppt_h"/>
                                          </p:val>
                                        </p:tav>
                                        <p:tav tm="100000">
                                          <p:val>
                                            <p:strVal val="#ppt_h"/>
                                          </p:val>
                                        </p:tav>
                                      </p:tavLst>
                                    </p:anim>
                                    <p:animEffect transition="in" filter="fade">
                                      <p:cBhvr>
                                        <p:cTn id="53" dur="1000"/>
                                        <p:tgtEl>
                                          <p:spTgt spid="5"/>
                                        </p:tgtEl>
                                      </p:cBhvr>
                                    </p:animEffect>
                                  </p:childTnLst>
                                </p:cTn>
                              </p:par>
                              <p:par>
                                <p:cTn id="54" presetID="55" presetClass="entr" presetSubtype="0" fill="hold" nodeType="with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1000" fill="hold"/>
                                        <p:tgtEl>
                                          <p:spTgt spid="7"/>
                                        </p:tgtEl>
                                        <p:attrNameLst>
                                          <p:attrName>ppt_w</p:attrName>
                                        </p:attrNameLst>
                                      </p:cBhvr>
                                      <p:tavLst>
                                        <p:tav tm="0">
                                          <p:val>
                                            <p:strVal val="#ppt_w*0.70"/>
                                          </p:val>
                                        </p:tav>
                                        <p:tav tm="100000">
                                          <p:val>
                                            <p:strVal val="#ppt_w"/>
                                          </p:val>
                                        </p:tav>
                                      </p:tavLst>
                                    </p:anim>
                                    <p:anim calcmode="lin" valueType="num">
                                      <p:cBhvr>
                                        <p:cTn id="57" dur="1000" fill="hold"/>
                                        <p:tgtEl>
                                          <p:spTgt spid="7"/>
                                        </p:tgtEl>
                                        <p:attrNameLst>
                                          <p:attrName>ppt_h</p:attrName>
                                        </p:attrNameLst>
                                      </p:cBhvr>
                                      <p:tavLst>
                                        <p:tav tm="0">
                                          <p:val>
                                            <p:strVal val="#ppt_h"/>
                                          </p:val>
                                        </p:tav>
                                        <p:tav tm="100000">
                                          <p:val>
                                            <p:strVal val="#ppt_h"/>
                                          </p:val>
                                        </p:tav>
                                      </p:tavLst>
                                    </p:anim>
                                    <p:animEffect transition="in" filter="fade">
                                      <p:cBhvr>
                                        <p:cTn id="58"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flipH="1">
            <a:off x="0" y="0"/>
            <a:ext cx="12233275" cy="6881495"/>
          </a:xfrm>
          <a:prstGeom prst="rect">
            <a:avLst/>
          </a:prstGeom>
        </p:spPr>
      </p:pic>
      <p:sp>
        <p:nvSpPr>
          <p:cNvPr id="4" name="矩形 3"/>
          <p:cNvSpPr/>
          <p:nvPr/>
        </p:nvSpPr>
        <p:spPr bwMode="auto">
          <a:xfrm>
            <a:off x="3113021" y="3264535"/>
            <a:ext cx="6795066" cy="1323439"/>
          </a:xfrm>
          <a:prstGeom prst="rect">
            <a:avLst/>
          </a:prstGeom>
        </p:spPr>
        <p:txBody>
          <a:bodyPr wrap="square">
            <a:spAutoFit/>
          </a:bodyPr>
          <a:lstStyle/>
          <a:p>
            <a:r>
              <a:rPr lang="zh-CN" altLang="en-US" sz="4000" b="1" dirty="0" smtClean="0">
                <a:solidFill>
                  <a:schemeClr val="tx1">
                    <a:lumMod val="75000"/>
                    <a:lumOff val="25000"/>
                  </a:schemeClr>
                </a:solidFill>
                <a:latin typeface="仿宋" panose="02010609060101010101" charset="-122"/>
                <a:ea typeface="仿宋" panose="02010609060101010101" charset="-122"/>
                <a:cs typeface="Yuanti SC" charset="-122"/>
                <a:sym typeface="+mn-ea"/>
              </a:rPr>
              <a:t>链路预测在网络演化机制上的作用</a:t>
            </a:r>
            <a:endParaRPr lang="zh-CN" altLang="en-US" sz="4000" b="1" dirty="0">
              <a:solidFill>
                <a:schemeClr val="tx1">
                  <a:lumMod val="75000"/>
                  <a:lumOff val="25000"/>
                </a:schemeClr>
              </a:solidFill>
              <a:latin typeface="仿宋" panose="02010609060101010101" charset="-122"/>
              <a:ea typeface="仿宋" panose="02010609060101010101" charset="-122"/>
              <a:cs typeface="Yuanti SC" charset="-122"/>
              <a:sym typeface="+mn-ea"/>
            </a:endParaRPr>
          </a:p>
        </p:txBody>
      </p:sp>
      <p:grpSp>
        <p:nvGrpSpPr>
          <p:cNvPr id="10" name="组合 9"/>
          <p:cNvGrpSpPr/>
          <p:nvPr/>
        </p:nvGrpSpPr>
        <p:grpSpPr>
          <a:xfrm>
            <a:off x="2800663" y="296164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4291494" y="4630732"/>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5278147" y="1707402"/>
            <a:ext cx="1856740" cy="1198880"/>
          </a:xfrm>
          <a:prstGeom prst="rect">
            <a:avLst/>
          </a:prstGeom>
          <a:noFill/>
        </p:spPr>
        <p:txBody>
          <a:bodyPr wrap="square" rtlCol="0" anchor="t">
            <a:spAutoFit/>
          </a:bodyPr>
          <a:lstStyle/>
          <a:p>
            <a:pPr eaLnBrk="1" hangingPunct="1"/>
            <a:r>
              <a:rPr lang="en-US" altLang="zh-CN" sz="7200" b="1" dirty="0">
                <a:solidFill>
                  <a:srgbClr val="5A6C6A"/>
                </a:solidFill>
                <a:latin typeface="Yuanti SC" charset="-122"/>
                <a:ea typeface="Yuanti SC" charset="-122"/>
                <a:cs typeface="Yuanti SC" charset="-122"/>
                <a:sym typeface="+mn-ea"/>
              </a:rPr>
              <a:t>01</a:t>
            </a:r>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1000"/>
                                        <p:tgtEl>
                                          <p:spTgt spid="4"/>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10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trips(downLeft)">
                                      <p:cBhvr>
                                        <p:cTn id="13" dur="1000"/>
                                        <p:tgtEl>
                                          <p:spTgt spid="7"/>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trips(downLeft)">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cstate="screen">
            <a:extLst>
              <a:ext uri="{28A0092B-C50C-407E-A947-70E740481C1C}">
                <a14:useLocalDpi xmlns="" xmlns:a14="http://schemas.microsoft.com/office/drawing/2010/main"/>
              </a:ext>
            </a:extLst>
          </a:blip>
          <a:stretch>
            <a:fillRect/>
          </a:stretch>
        </p:blipFill>
        <p:spPr>
          <a:xfrm>
            <a:off x="1407790" y="1388823"/>
            <a:ext cx="3954156" cy="5143500"/>
          </a:xfrm>
          <a:prstGeom prst="rect">
            <a:avLst/>
          </a:prstGeom>
        </p:spPr>
      </p:pic>
      <p:sp>
        <p:nvSpPr>
          <p:cNvPr id="24" name="TextBox 23"/>
          <p:cNvSpPr txBox="1"/>
          <p:nvPr/>
        </p:nvSpPr>
        <p:spPr>
          <a:xfrm>
            <a:off x="5887233" y="1703540"/>
            <a:ext cx="5674291" cy="3139321"/>
          </a:xfrm>
          <a:prstGeom prst="rect">
            <a:avLst/>
          </a:prstGeom>
          <a:noFill/>
        </p:spPr>
        <p:txBody>
          <a:bodyPr wrap="square" rtlCol="0">
            <a:spAutoFit/>
          </a:bodyPr>
          <a:lstStyle/>
          <a:p>
            <a:r>
              <a:rPr lang="zh-CN" altLang="en-US" dirty="0" smtClean="0"/>
              <a:t>链路预测就是在网络中根据节点的属性或已经存在的边</a:t>
            </a:r>
            <a:r>
              <a:rPr lang="en-US" altLang="zh-CN" dirty="0" smtClean="0"/>
              <a:t>(</a:t>
            </a:r>
            <a:r>
              <a:rPr lang="zh-CN" altLang="en-US" dirty="0" smtClean="0"/>
              <a:t>结构特征</a:t>
            </a:r>
            <a:r>
              <a:rPr lang="en-US" altLang="zh-CN" dirty="0" smtClean="0"/>
              <a:t>), </a:t>
            </a:r>
            <a:r>
              <a:rPr lang="zh-CN" altLang="en-US" dirty="0" smtClean="0"/>
              <a:t>选取某一因素或混合因素作为基础</a:t>
            </a:r>
            <a:r>
              <a:rPr lang="en-US" altLang="zh-CN" dirty="0" smtClean="0"/>
              <a:t>, </a:t>
            </a:r>
            <a:r>
              <a:rPr lang="zh-CN" altLang="en-US" dirty="0" smtClean="0"/>
              <a:t>通过计算各种预测方法的准确性</a:t>
            </a:r>
            <a:r>
              <a:rPr lang="en-US" altLang="zh-CN" dirty="0" smtClean="0"/>
              <a:t>, </a:t>
            </a:r>
            <a:r>
              <a:rPr lang="zh-CN" altLang="en-US" dirty="0" smtClean="0"/>
              <a:t>找到适合某一网络的最佳预测方法</a:t>
            </a:r>
            <a:r>
              <a:rPr lang="en-US" altLang="zh-CN" dirty="0" smtClean="0"/>
              <a:t>, </a:t>
            </a:r>
            <a:r>
              <a:rPr lang="zh-CN" altLang="en-US" dirty="0" smtClean="0"/>
              <a:t>从而预测网络</a:t>
            </a:r>
            <a:r>
              <a:rPr lang="zh-CN" altLang="en-US" dirty="0" smtClean="0"/>
              <a:t>中未来</a:t>
            </a:r>
            <a:r>
              <a:rPr lang="zh-CN" altLang="en-US" dirty="0" smtClean="0"/>
              <a:t>可能产生的边</a:t>
            </a:r>
            <a:r>
              <a:rPr lang="en-US" altLang="zh-CN" dirty="0" smtClean="0"/>
              <a:t>. </a:t>
            </a:r>
            <a:r>
              <a:rPr lang="zh-CN" altLang="en-US" dirty="0" smtClean="0"/>
              <a:t>事实上</a:t>
            </a:r>
            <a:r>
              <a:rPr lang="en-US" altLang="zh-CN" dirty="0" smtClean="0"/>
              <a:t>, </a:t>
            </a:r>
            <a:r>
              <a:rPr lang="zh-CN" altLang="en-US" dirty="0" smtClean="0"/>
              <a:t>这种方法为挖掘演化模型重要驱动因素和公平评价模型优劣 提供了可能性。</a:t>
            </a:r>
            <a:endParaRPr lang="en-US" altLang="zh-CN" dirty="0" smtClean="0"/>
          </a:p>
          <a:p>
            <a:endParaRPr lang="en-US" altLang="zh-CN" dirty="0" smtClean="0"/>
          </a:p>
          <a:p>
            <a:r>
              <a:rPr lang="zh-CN" altLang="en-US" dirty="0" smtClean="0"/>
              <a:t>与直接通过建立演化模型找到影响网络演化的因素相比</a:t>
            </a:r>
            <a:r>
              <a:rPr lang="en-US" altLang="zh-CN" dirty="0" smtClean="0"/>
              <a:t>, </a:t>
            </a:r>
            <a:r>
              <a:rPr lang="zh-CN" altLang="en-US" dirty="0" smtClean="0"/>
              <a:t>由于链路预测能够量化预测方法的准确度</a:t>
            </a:r>
            <a:r>
              <a:rPr lang="en-US" altLang="zh-CN" dirty="0" smtClean="0"/>
              <a:t>, </a:t>
            </a:r>
            <a:r>
              <a:rPr lang="zh-CN" altLang="en-US" dirty="0" smtClean="0"/>
              <a:t>可以更加清晰直观地对各种因素进行细致辨别</a:t>
            </a:r>
            <a:r>
              <a:rPr lang="en-US" altLang="zh-CN" dirty="0" smtClean="0"/>
              <a:t>, </a:t>
            </a:r>
            <a:r>
              <a:rPr lang="zh-CN" altLang="en-US" dirty="0" smtClean="0"/>
              <a:t>因此</a:t>
            </a:r>
            <a:r>
              <a:rPr lang="en-US" altLang="zh-CN" dirty="0" smtClean="0"/>
              <a:t>, </a:t>
            </a:r>
            <a:r>
              <a:rPr lang="zh-CN" altLang="en-US" dirty="0" smtClean="0"/>
              <a:t>链路预测在分析网络演化机制上提供了更好的可比较的量化方法</a:t>
            </a:r>
            <a:endParaRPr lang="zh-CN" altLang="en-US" dirty="0"/>
          </a:p>
        </p:txBody>
      </p:sp>
    </p:spTree>
    <p:custDataLst>
      <p:tags r:id="rId1"/>
    </p:custDataLst>
  </p:cSld>
  <p:clrMapOvr>
    <a:masterClrMapping/>
  </p:clrMapOvr>
  <p:transition spd="slow">
    <p:random/>
  </p:transition>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flipH="1">
            <a:off x="0" y="0"/>
            <a:ext cx="12233275" cy="6881495"/>
          </a:xfrm>
          <a:prstGeom prst="rect">
            <a:avLst/>
          </a:prstGeom>
        </p:spPr>
      </p:pic>
      <p:sp>
        <p:nvSpPr>
          <p:cNvPr id="4" name="矩形 3"/>
          <p:cNvSpPr/>
          <p:nvPr/>
        </p:nvSpPr>
        <p:spPr bwMode="auto">
          <a:xfrm>
            <a:off x="3451225" y="3264535"/>
            <a:ext cx="5621020" cy="706755"/>
          </a:xfrm>
          <a:prstGeom prst="rect">
            <a:avLst/>
          </a:prstGeom>
        </p:spPr>
        <p:txBody>
          <a:bodyPr wrap="square">
            <a:spAutoFit/>
          </a:bodyPr>
          <a:lstStyle/>
          <a:p>
            <a:r>
              <a:rPr lang="zh-CN" altLang="en-US" sz="4000" b="1" kern="100" spc="600" dirty="0" smtClean="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rPr>
              <a:t>链路预测的方法</a:t>
            </a:r>
            <a:endParaRPr lang="zh-CN" altLang="en-US" sz="4000" b="1" kern="100" spc="600" dirty="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endParaRPr>
          </a:p>
        </p:txBody>
      </p:sp>
      <p:grpSp>
        <p:nvGrpSpPr>
          <p:cNvPr id="10" name="组合 9"/>
          <p:cNvGrpSpPr/>
          <p:nvPr/>
        </p:nvGrpSpPr>
        <p:grpSpPr>
          <a:xfrm>
            <a:off x="3188970" y="296164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5080635" y="4104640"/>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5691505" y="1744980"/>
            <a:ext cx="1856740" cy="1198880"/>
          </a:xfrm>
          <a:prstGeom prst="rect">
            <a:avLst/>
          </a:prstGeom>
          <a:noFill/>
        </p:spPr>
        <p:txBody>
          <a:bodyPr wrap="square" rtlCol="0" anchor="t">
            <a:spAutoFit/>
          </a:bodyPr>
          <a:lstStyle/>
          <a:p>
            <a:pPr eaLnBrk="1" hangingPunct="1"/>
            <a:r>
              <a:rPr lang="en-US" altLang="zh-CN" sz="7200" b="1" dirty="0">
                <a:solidFill>
                  <a:srgbClr val="5A6C6A"/>
                </a:solidFill>
                <a:latin typeface="Yuanti SC" charset="-122"/>
                <a:ea typeface="Yuanti SC" charset="-122"/>
                <a:cs typeface="Yuanti SC" charset="-122"/>
                <a:sym typeface="+mn-ea"/>
              </a:rPr>
              <a:t>02</a:t>
            </a:r>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1000"/>
                                        <p:tgtEl>
                                          <p:spTgt spid="4"/>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10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trips(downLeft)">
                                      <p:cBhvr>
                                        <p:cTn id="13" dur="1000"/>
                                        <p:tgtEl>
                                          <p:spTgt spid="7"/>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trips(downLeft)">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cstate="screen">
            <a:extLst>
              <a:ext uri="{28A0092B-C50C-407E-A947-70E740481C1C}">
                <a14:useLocalDpi xmlns="" xmlns:a14="http://schemas.microsoft.com/office/drawing/2010/main"/>
              </a:ext>
            </a:extLst>
          </a:blip>
          <a:srcRect/>
          <a:stretch>
            <a:fillRect/>
          </a:stretch>
        </p:blipFill>
        <p:spPr>
          <a:xfrm>
            <a:off x="1691848" y="2026346"/>
            <a:ext cx="3323590" cy="3323590"/>
          </a:xfrm>
          <a:prstGeom prst="ellipse">
            <a:avLst/>
          </a:prstGeom>
        </p:spPr>
      </p:pic>
      <p:sp>
        <p:nvSpPr>
          <p:cNvPr id="33" name="TextBox 32"/>
          <p:cNvSpPr txBox="1"/>
          <p:nvPr/>
        </p:nvSpPr>
        <p:spPr>
          <a:xfrm>
            <a:off x="6037545" y="2342367"/>
            <a:ext cx="4847572" cy="2031325"/>
          </a:xfrm>
          <a:prstGeom prst="rect">
            <a:avLst/>
          </a:prstGeom>
          <a:noFill/>
        </p:spPr>
        <p:txBody>
          <a:bodyPr wrap="square" rtlCol="0">
            <a:spAutoFit/>
          </a:bodyPr>
          <a:lstStyle/>
          <a:p>
            <a:r>
              <a:rPr lang="zh-CN" altLang="en-US" dirty="0" smtClean="0"/>
              <a:t>对于无向连接图，不考虑多重边和自连边</a:t>
            </a:r>
            <a:r>
              <a:rPr lang="zh-CN" altLang="en-US" dirty="0" smtClean="0"/>
              <a:t>，对</a:t>
            </a:r>
            <a:r>
              <a:rPr lang="zh-CN" altLang="en-US" dirty="0" smtClean="0"/>
              <a:t>每一对没有连边的节点对</a:t>
            </a:r>
            <a:r>
              <a:rPr lang="en-US" altLang="zh-CN" dirty="0" smtClean="0"/>
              <a:t>x</a:t>
            </a:r>
            <a:r>
              <a:rPr lang="zh-CN" altLang="en-US" dirty="0" smtClean="0"/>
              <a:t>，</a:t>
            </a:r>
            <a:r>
              <a:rPr lang="en-US" altLang="zh-CN" dirty="0" smtClean="0"/>
              <a:t>y</a:t>
            </a:r>
            <a:r>
              <a:rPr lang="zh-CN" altLang="en-US" dirty="0" smtClean="0"/>
              <a:t>定于一个相似度度量指标，</a:t>
            </a:r>
            <a:r>
              <a:rPr lang="en-US" altLang="zh-CN" dirty="0" err="1" smtClean="0"/>
              <a:t>Sxy</a:t>
            </a:r>
            <a:r>
              <a:rPr lang="en-US" altLang="zh-CN" dirty="0" smtClean="0"/>
              <a:t> </a:t>
            </a:r>
            <a:r>
              <a:rPr lang="zh-CN" altLang="en-US" dirty="0" smtClean="0"/>
              <a:t>。由于</a:t>
            </a:r>
            <a:r>
              <a:rPr lang="en-US" altLang="zh-CN" dirty="0" smtClean="0"/>
              <a:t>G</a:t>
            </a:r>
            <a:r>
              <a:rPr lang="zh-CN" altLang="en-US" dirty="0" smtClean="0"/>
              <a:t>无向，因此，</a:t>
            </a:r>
            <a:r>
              <a:rPr lang="en-US" altLang="zh-CN" dirty="0" smtClean="0"/>
              <a:t>S</a:t>
            </a:r>
            <a:r>
              <a:rPr lang="zh-CN" altLang="en-US" dirty="0" smtClean="0"/>
              <a:t>值是对称的。</a:t>
            </a:r>
            <a:endParaRPr lang="en-US" altLang="zh-CN" dirty="0" smtClean="0"/>
          </a:p>
          <a:p>
            <a:r>
              <a:rPr lang="zh-CN" altLang="en-US" dirty="0" smtClean="0"/>
              <a:t>然后将所有未连接的</a:t>
            </a:r>
            <a:r>
              <a:rPr lang="zh-CN" altLang="en-US" dirty="0" smtClean="0"/>
              <a:t>节点对按照</a:t>
            </a:r>
            <a:r>
              <a:rPr lang="zh-CN" altLang="en-US" dirty="0" smtClean="0"/>
              <a:t>该</a:t>
            </a:r>
            <a:r>
              <a:rPr lang="en-US" altLang="zh-CN" dirty="0" smtClean="0"/>
              <a:t>S</a:t>
            </a:r>
            <a:r>
              <a:rPr lang="zh-CN" altLang="en-US" dirty="0" smtClean="0"/>
              <a:t>值的</a:t>
            </a:r>
            <a:r>
              <a:rPr lang="zh-CN" altLang="en-US" dirty="0" smtClean="0"/>
              <a:t>大小，由</a:t>
            </a:r>
            <a:r>
              <a:rPr lang="zh-CN" altLang="en-US" dirty="0" smtClean="0"/>
              <a:t>大到小排序，排在最前面的节点对就是算法所认为的出现连边概率最大的节点对。</a:t>
            </a:r>
            <a:endParaRPr lang="zh-CN" altLang="en-US" dirty="0"/>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flipH="1">
            <a:off x="0" y="0"/>
            <a:ext cx="12233275" cy="6881495"/>
          </a:xfrm>
          <a:prstGeom prst="rect">
            <a:avLst/>
          </a:prstGeom>
        </p:spPr>
      </p:pic>
      <p:sp>
        <p:nvSpPr>
          <p:cNvPr id="4" name="矩形 3"/>
          <p:cNvSpPr/>
          <p:nvPr/>
        </p:nvSpPr>
        <p:spPr bwMode="auto">
          <a:xfrm>
            <a:off x="3451225" y="3264535"/>
            <a:ext cx="5621020" cy="1323439"/>
          </a:xfrm>
          <a:prstGeom prst="rect">
            <a:avLst/>
          </a:prstGeom>
        </p:spPr>
        <p:txBody>
          <a:bodyPr wrap="square">
            <a:spAutoFit/>
          </a:bodyPr>
          <a:lstStyle/>
          <a:p>
            <a:pPr algn="dist"/>
            <a:r>
              <a:rPr lang="zh-CN" altLang="en-US" sz="4000" b="1" dirty="0" smtClean="0">
                <a:solidFill>
                  <a:schemeClr val="tx1">
                    <a:lumMod val="75000"/>
                    <a:lumOff val="25000"/>
                  </a:schemeClr>
                </a:solidFill>
                <a:latin typeface="仿宋" panose="02010609060101010101" charset="-122"/>
                <a:ea typeface="仿宋" panose="02010609060101010101" charset="-122"/>
                <a:cs typeface="Yuanti SC" charset="-122"/>
                <a:sym typeface="+mn-ea"/>
              </a:rPr>
              <a:t>链路预测的评价指标</a:t>
            </a:r>
          </a:p>
          <a:p>
            <a:endParaRPr lang="zh-CN" altLang="en-US" sz="4000" b="1" kern="100" spc="600" dirty="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endParaRPr>
          </a:p>
        </p:txBody>
      </p:sp>
      <p:grpSp>
        <p:nvGrpSpPr>
          <p:cNvPr id="10" name="组合 9"/>
          <p:cNvGrpSpPr/>
          <p:nvPr/>
        </p:nvGrpSpPr>
        <p:grpSpPr>
          <a:xfrm>
            <a:off x="3188970" y="296164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5080635" y="4104640"/>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5691505" y="1744980"/>
            <a:ext cx="1856740" cy="1198880"/>
          </a:xfrm>
          <a:prstGeom prst="rect">
            <a:avLst/>
          </a:prstGeom>
          <a:noFill/>
        </p:spPr>
        <p:txBody>
          <a:bodyPr wrap="square" rtlCol="0" anchor="t">
            <a:spAutoFit/>
          </a:bodyPr>
          <a:lstStyle/>
          <a:p>
            <a:pPr eaLnBrk="1" hangingPunct="1"/>
            <a:r>
              <a:rPr lang="en-US" altLang="zh-CN" sz="7200" b="1" dirty="0">
                <a:solidFill>
                  <a:srgbClr val="5A6C6A"/>
                </a:solidFill>
                <a:latin typeface="Yuanti SC" charset="-122"/>
                <a:ea typeface="Yuanti SC" charset="-122"/>
                <a:cs typeface="Yuanti SC" charset="-122"/>
                <a:sym typeface="+mn-ea"/>
              </a:rPr>
              <a:t>03</a:t>
            </a:r>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1000"/>
                                        <p:tgtEl>
                                          <p:spTgt spid="4"/>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10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trips(downLeft)">
                                      <p:cBhvr>
                                        <p:cTn id="13" dur="1000"/>
                                        <p:tgtEl>
                                          <p:spTgt spid="7"/>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trips(downLeft)">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2808239" y="3042101"/>
            <a:ext cx="6373338" cy="2156199"/>
            <a:chOff x="5389" y="4554"/>
            <a:chExt cx="7013" cy="2510"/>
          </a:xfrm>
        </p:grpSpPr>
        <p:sp>
          <p:nvSpPr>
            <p:cNvPr id="21" name="椭圆 20"/>
            <p:cNvSpPr/>
            <p:nvPr/>
          </p:nvSpPr>
          <p:spPr>
            <a:xfrm>
              <a:off x="5389" y="4554"/>
              <a:ext cx="2510" cy="2510"/>
            </a:xfrm>
            <a:prstGeom prst="ellipse">
              <a:avLst/>
            </a:prstGeom>
            <a:solidFill>
              <a:srgbClr val="3B4746"/>
            </a:solidFill>
            <a:ln>
              <a:solidFill>
                <a:srgbClr val="EBEBE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 name="椭圆 1"/>
            <p:cNvSpPr/>
            <p:nvPr/>
          </p:nvSpPr>
          <p:spPr>
            <a:xfrm>
              <a:off x="7641" y="4554"/>
              <a:ext cx="2510" cy="2510"/>
            </a:xfrm>
            <a:prstGeom prst="ellipse">
              <a:avLst/>
            </a:prstGeom>
            <a:solidFill>
              <a:srgbClr val="5A6C6A"/>
            </a:solidFill>
            <a:ln>
              <a:solidFill>
                <a:srgbClr val="EBEBE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3" name="椭圆 22"/>
            <p:cNvSpPr/>
            <p:nvPr/>
          </p:nvSpPr>
          <p:spPr>
            <a:xfrm>
              <a:off x="9892" y="4554"/>
              <a:ext cx="2510" cy="2510"/>
            </a:xfrm>
            <a:prstGeom prst="ellipse">
              <a:avLst/>
            </a:prstGeom>
            <a:solidFill>
              <a:srgbClr val="3B4746"/>
            </a:solidFill>
            <a:ln>
              <a:solidFill>
                <a:srgbClr val="EBEBE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35" name="TextBox 34"/>
          <p:cNvSpPr txBox="1"/>
          <p:nvPr/>
        </p:nvSpPr>
        <p:spPr>
          <a:xfrm>
            <a:off x="3344450" y="3770334"/>
            <a:ext cx="1540701" cy="584775"/>
          </a:xfrm>
          <a:prstGeom prst="rect">
            <a:avLst/>
          </a:prstGeom>
          <a:noFill/>
        </p:spPr>
        <p:txBody>
          <a:bodyPr wrap="square" rtlCol="0">
            <a:spAutoFit/>
          </a:bodyPr>
          <a:lstStyle/>
          <a:p>
            <a:r>
              <a:rPr lang="en-US" altLang="zh-CN" sz="3200" dirty="0" smtClean="0">
                <a:solidFill>
                  <a:schemeClr val="bg1"/>
                </a:solidFill>
              </a:rPr>
              <a:t>AUC</a:t>
            </a:r>
            <a:endParaRPr lang="zh-CN" altLang="en-US" sz="3200" dirty="0">
              <a:solidFill>
                <a:schemeClr val="bg1"/>
              </a:solidFill>
            </a:endParaRPr>
          </a:p>
        </p:txBody>
      </p:sp>
      <p:sp>
        <p:nvSpPr>
          <p:cNvPr id="36" name="TextBox 35"/>
          <p:cNvSpPr txBox="1"/>
          <p:nvPr/>
        </p:nvSpPr>
        <p:spPr>
          <a:xfrm>
            <a:off x="5123146" y="3807912"/>
            <a:ext cx="1866378" cy="523220"/>
          </a:xfrm>
          <a:prstGeom prst="rect">
            <a:avLst/>
          </a:prstGeom>
          <a:noFill/>
        </p:spPr>
        <p:txBody>
          <a:bodyPr wrap="square" rtlCol="0">
            <a:spAutoFit/>
          </a:bodyPr>
          <a:lstStyle/>
          <a:p>
            <a:r>
              <a:rPr lang="en-US" altLang="zh-CN" sz="2800" dirty="0" smtClean="0">
                <a:solidFill>
                  <a:schemeClr val="bg1"/>
                </a:solidFill>
              </a:rPr>
              <a:t>Precision</a:t>
            </a:r>
            <a:endParaRPr lang="zh-CN" altLang="en-US" sz="2800" dirty="0">
              <a:solidFill>
                <a:schemeClr val="bg1"/>
              </a:solidFill>
            </a:endParaRPr>
          </a:p>
        </p:txBody>
      </p:sp>
      <p:sp>
        <p:nvSpPr>
          <p:cNvPr id="37" name="TextBox 36"/>
          <p:cNvSpPr txBox="1"/>
          <p:nvPr/>
        </p:nvSpPr>
        <p:spPr>
          <a:xfrm>
            <a:off x="6964471" y="3883068"/>
            <a:ext cx="2217107" cy="461665"/>
          </a:xfrm>
          <a:prstGeom prst="rect">
            <a:avLst/>
          </a:prstGeom>
          <a:noFill/>
        </p:spPr>
        <p:txBody>
          <a:bodyPr wrap="square" rtlCol="0">
            <a:spAutoFit/>
          </a:bodyPr>
          <a:lstStyle/>
          <a:p>
            <a:r>
              <a:rPr lang="en-US" altLang="zh-CN" sz="2400" dirty="0" smtClean="0">
                <a:solidFill>
                  <a:schemeClr val="bg1"/>
                </a:solidFill>
              </a:rPr>
              <a:t>Ranking Score</a:t>
            </a:r>
            <a:endParaRPr lang="zh-CN" altLang="en-US" sz="2400" dirty="0">
              <a:solidFill>
                <a:schemeClr val="bg1"/>
              </a:solidFill>
            </a:endParaRPr>
          </a:p>
        </p:txBody>
      </p:sp>
      <p:sp>
        <p:nvSpPr>
          <p:cNvPr id="38" name="TextBox 37"/>
          <p:cNvSpPr txBox="1"/>
          <p:nvPr/>
        </p:nvSpPr>
        <p:spPr>
          <a:xfrm>
            <a:off x="2442575" y="914400"/>
            <a:ext cx="7440460" cy="1477328"/>
          </a:xfrm>
          <a:prstGeom prst="rect">
            <a:avLst/>
          </a:prstGeom>
          <a:noFill/>
        </p:spPr>
        <p:txBody>
          <a:bodyPr wrap="square" rtlCol="0">
            <a:spAutoFit/>
          </a:bodyPr>
          <a:lstStyle/>
          <a:p>
            <a:r>
              <a:rPr lang="zh-CN" altLang="en-US" dirty="0" smtClean="0"/>
              <a:t>为了检测算法的准确性</a:t>
            </a:r>
            <a:r>
              <a:rPr lang="en-US" altLang="zh-CN" dirty="0" smtClean="0"/>
              <a:t>,</a:t>
            </a:r>
            <a:r>
              <a:rPr lang="zh-CN" altLang="en-US" dirty="0" smtClean="0"/>
              <a:t> 把已知边的集合</a:t>
            </a:r>
            <a:r>
              <a:rPr lang="en-US" altLang="zh-CN" dirty="0" smtClean="0"/>
              <a:t>E</a:t>
            </a:r>
            <a:r>
              <a:rPr lang="zh-CN" altLang="en-US" dirty="0" smtClean="0"/>
              <a:t>随机地分为两部分</a:t>
            </a:r>
            <a:r>
              <a:rPr lang="en-US" altLang="zh-CN" dirty="0" smtClean="0"/>
              <a:t>: </a:t>
            </a:r>
            <a:r>
              <a:rPr lang="zh-CN" altLang="en-US" dirty="0" smtClean="0"/>
              <a:t>一部分是训练集</a:t>
            </a:r>
            <a:r>
              <a:rPr lang="en-US" altLang="zh-CN" dirty="0" smtClean="0"/>
              <a:t>, </a:t>
            </a:r>
            <a:r>
              <a:rPr lang="zh-CN" altLang="en-US" dirty="0" smtClean="0"/>
              <a:t>作为已知信息用来计算</a:t>
            </a:r>
            <a:r>
              <a:rPr lang="en-US" altLang="zh-CN" dirty="0" smtClean="0"/>
              <a:t>S; </a:t>
            </a:r>
            <a:r>
              <a:rPr lang="zh-CN" altLang="en-US" dirty="0" smtClean="0"/>
              <a:t>另一部分是测试集，用来进行测试。</a:t>
            </a:r>
            <a:r>
              <a:rPr lang="en-US" altLang="zh-CN" dirty="0" smtClean="0"/>
              <a:t> </a:t>
            </a:r>
          </a:p>
          <a:p>
            <a:endParaRPr lang="en-US" altLang="zh-CN" dirty="0" smtClean="0"/>
          </a:p>
          <a:p>
            <a:r>
              <a:rPr lang="zh-CN" altLang="en-US" dirty="0" smtClean="0"/>
              <a:t>例如</a:t>
            </a:r>
            <a:r>
              <a:rPr lang="en-US" altLang="zh-CN" dirty="0" smtClean="0"/>
              <a:t>, </a:t>
            </a:r>
            <a:r>
              <a:rPr lang="zh-CN" altLang="en-US" dirty="0" smtClean="0"/>
              <a:t>将网络所有连边的</a:t>
            </a:r>
            <a:r>
              <a:rPr lang="en-US" altLang="zh-CN" dirty="0" smtClean="0"/>
              <a:t>10%</a:t>
            </a:r>
            <a:r>
              <a:rPr lang="zh-CN" altLang="en-US" dirty="0" smtClean="0"/>
              <a:t>作为测试边从网络中删除</a:t>
            </a:r>
            <a:r>
              <a:rPr lang="en-US" altLang="zh-CN" dirty="0" smtClean="0"/>
              <a:t>, </a:t>
            </a:r>
            <a:r>
              <a:rPr lang="zh-CN" altLang="en-US" dirty="0" smtClean="0"/>
              <a:t>从而根据剩下 </a:t>
            </a:r>
            <a:r>
              <a:rPr lang="en-US" altLang="zh-CN" dirty="0" smtClean="0"/>
              <a:t>90%</a:t>
            </a:r>
            <a:r>
              <a:rPr lang="zh-CN" altLang="en-US" dirty="0" smtClean="0"/>
              <a:t>边的信息预测那些被删除的连边和和未知边存在的可能性。</a:t>
            </a:r>
            <a:endParaRPr lang="zh-CN" altLang="en-US" dirty="0"/>
          </a:p>
        </p:txBody>
      </p:sp>
    </p:spTree>
    <p:custDataLst>
      <p:tags r:id="rId1"/>
    </p:custDataLst>
  </p:cSld>
  <p:clrMapOvr>
    <a:masterClrMapping/>
  </p:clrMapOvr>
  <p:transition spd="slow">
    <p:random/>
  </p:transition>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5830065" y="460610"/>
            <a:ext cx="3974465" cy="769441"/>
          </a:xfrm>
          <a:prstGeom prst="rect">
            <a:avLst/>
          </a:prstGeom>
        </p:spPr>
        <p:txBody>
          <a:bodyPr wrap="square">
            <a:spAutoFit/>
          </a:bodyPr>
          <a:lstStyle/>
          <a:p>
            <a:r>
              <a:rPr lang="en-US" altLang="zh-CN" sz="4400" b="1" dirty="0" smtClean="0">
                <a:solidFill>
                  <a:schemeClr val="tx1">
                    <a:lumMod val="75000"/>
                    <a:lumOff val="25000"/>
                  </a:schemeClr>
                </a:solidFill>
                <a:latin typeface="仿宋" panose="02010609060101010101" charset="-122"/>
                <a:ea typeface="仿宋" panose="02010609060101010101" charset="-122"/>
                <a:sym typeface="+mn-ea"/>
              </a:rPr>
              <a:t>AUC</a:t>
            </a:r>
            <a:endParaRPr lang="zh-CN" altLang="en-US" sz="4400" b="1" kern="100" spc="600" dirty="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endParaRPr>
          </a:p>
        </p:txBody>
      </p:sp>
      <p:grpSp>
        <p:nvGrpSpPr>
          <p:cNvPr id="10" name="组合 9"/>
          <p:cNvGrpSpPr/>
          <p:nvPr/>
        </p:nvGrpSpPr>
        <p:grpSpPr>
          <a:xfrm>
            <a:off x="4471718" y="357044"/>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4572573" y="1288859"/>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占位符 10"/>
          <p:cNvPicPr>
            <a:picLocks noGrp="1" noChangeAspect="1"/>
          </p:cNvPicPr>
          <p:nvPr/>
        </p:nvPicPr>
        <p:blipFill>
          <a:blip r:embed="rId3" cstate="screen">
            <a:extLst>
              <a:ext uri="{28A0092B-C50C-407E-A947-70E740481C1C}">
                <a14:useLocalDpi xmlns="" xmlns:a14="http://schemas.microsoft.com/office/drawing/2010/main"/>
              </a:ext>
            </a:extLst>
          </a:blip>
          <a:srcRect/>
          <a:stretch>
            <a:fillRect/>
          </a:stretch>
        </p:blipFill>
        <p:spPr>
          <a:xfrm>
            <a:off x="810913" y="2446090"/>
            <a:ext cx="3033976" cy="1575608"/>
          </a:xfrm>
          <a:prstGeom prst="rect">
            <a:avLst/>
          </a:prstGeom>
          <a:noFill/>
          <a:ln>
            <a:solidFill>
              <a:srgbClr val="F2F2F2"/>
            </a:solidFill>
          </a:ln>
          <a:effectLst/>
        </p:spPr>
      </p:pic>
      <p:pic>
        <p:nvPicPr>
          <p:cNvPr id="1026" name="Picture 2"/>
          <p:cNvPicPr>
            <a:picLocks noChangeAspect="1" noChangeArrowheads="1"/>
          </p:cNvPicPr>
          <p:nvPr/>
        </p:nvPicPr>
        <p:blipFill>
          <a:blip r:embed="rId4" cstate="print"/>
          <a:srcRect/>
          <a:stretch>
            <a:fillRect/>
          </a:stretch>
        </p:blipFill>
        <p:spPr bwMode="auto">
          <a:xfrm>
            <a:off x="3909230" y="1537114"/>
            <a:ext cx="6379144" cy="1343873"/>
          </a:xfrm>
          <a:prstGeom prst="rect">
            <a:avLst/>
          </a:prstGeom>
          <a:noFill/>
          <a:ln w="9525">
            <a:noFill/>
            <a:miter lim="800000"/>
            <a:headEnd/>
            <a:tailEnd/>
          </a:ln>
        </p:spPr>
      </p:pic>
      <p:sp>
        <p:nvSpPr>
          <p:cNvPr id="16" name="TextBox 15"/>
          <p:cNvSpPr txBox="1"/>
          <p:nvPr/>
        </p:nvSpPr>
        <p:spPr>
          <a:xfrm>
            <a:off x="3895595" y="3181611"/>
            <a:ext cx="6313118" cy="2031325"/>
          </a:xfrm>
          <a:prstGeom prst="rect">
            <a:avLst/>
          </a:prstGeom>
          <a:noFill/>
        </p:spPr>
        <p:txBody>
          <a:bodyPr wrap="square" rtlCol="0">
            <a:spAutoFit/>
          </a:bodyPr>
          <a:lstStyle/>
          <a:p>
            <a:r>
              <a:rPr lang="zh-CN" altLang="en-US" dirty="0" smtClean="0"/>
              <a:t>随机选择一条测试集的边，其</a:t>
            </a:r>
            <a:r>
              <a:rPr lang="en-US" altLang="zh-CN" dirty="0" smtClean="0"/>
              <a:t>S</a:t>
            </a:r>
            <a:r>
              <a:rPr lang="zh-CN" altLang="en-US" dirty="0" smtClean="0"/>
              <a:t>值比从未知边随机选择的一条边的</a:t>
            </a:r>
            <a:r>
              <a:rPr lang="en-US" altLang="zh-CN" dirty="0" smtClean="0"/>
              <a:t>S</a:t>
            </a:r>
            <a:r>
              <a:rPr lang="zh-CN" altLang="en-US" dirty="0" smtClean="0"/>
              <a:t>值大的概率。</a:t>
            </a:r>
            <a:endParaRPr lang="en-US" altLang="zh-CN" dirty="0" smtClean="0"/>
          </a:p>
          <a:p>
            <a:endParaRPr lang="en-US" altLang="zh-CN" dirty="0" smtClean="0"/>
          </a:p>
          <a:p>
            <a:r>
              <a:rPr lang="zh-CN" altLang="en-US" dirty="0" smtClean="0"/>
              <a:t>在</a:t>
            </a:r>
            <a:r>
              <a:rPr lang="en-US" altLang="zh-CN" dirty="0" smtClean="0"/>
              <a:t>n</a:t>
            </a:r>
            <a:r>
              <a:rPr lang="zh-CN" altLang="en-US" dirty="0" smtClean="0"/>
              <a:t>的随机抽样中，从测试集中随机选择的边的</a:t>
            </a:r>
            <a:r>
              <a:rPr lang="en-US" altLang="zh-CN" dirty="0" smtClean="0"/>
              <a:t>S</a:t>
            </a:r>
            <a:r>
              <a:rPr lang="zh-CN" altLang="en-US" dirty="0" smtClean="0"/>
              <a:t>值大于未知边的</a:t>
            </a:r>
            <a:r>
              <a:rPr lang="en-US" altLang="zh-CN" dirty="0" smtClean="0"/>
              <a:t>S</a:t>
            </a:r>
            <a:r>
              <a:rPr lang="zh-CN" altLang="en-US" dirty="0" smtClean="0"/>
              <a:t>值，给</a:t>
            </a:r>
            <a:r>
              <a:rPr lang="en-US" altLang="zh-CN" dirty="0" smtClean="0"/>
              <a:t>1</a:t>
            </a:r>
            <a:r>
              <a:rPr lang="zh-CN" altLang="en-US" dirty="0" smtClean="0"/>
              <a:t>分，共</a:t>
            </a:r>
            <a:r>
              <a:rPr lang="en-US" altLang="zh-CN" dirty="0" smtClean="0"/>
              <a:t>n’</a:t>
            </a:r>
            <a:r>
              <a:rPr lang="zh-CN" altLang="en-US" dirty="0" smtClean="0"/>
              <a:t>次；从测试集中随机选择的边的</a:t>
            </a:r>
            <a:r>
              <a:rPr lang="en-US" altLang="zh-CN" dirty="0" smtClean="0"/>
              <a:t>S</a:t>
            </a:r>
            <a:r>
              <a:rPr lang="zh-CN" altLang="en-US" dirty="0" smtClean="0"/>
              <a:t>值等于未知边的</a:t>
            </a:r>
            <a:r>
              <a:rPr lang="en-US" altLang="zh-CN" dirty="0" smtClean="0"/>
              <a:t>S</a:t>
            </a:r>
            <a:r>
              <a:rPr lang="zh-CN" altLang="en-US" dirty="0" smtClean="0"/>
              <a:t>值，给</a:t>
            </a:r>
            <a:r>
              <a:rPr lang="en-US" altLang="zh-CN" dirty="0" smtClean="0"/>
              <a:t>0.5</a:t>
            </a:r>
            <a:r>
              <a:rPr lang="zh-CN" altLang="en-US" dirty="0" smtClean="0"/>
              <a:t>分，共</a:t>
            </a:r>
            <a:r>
              <a:rPr lang="en-US" altLang="zh-CN" dirty="0" smtClean="0"/>
              <a:t>n’’</a:t>
            </a:r>
            <a:r>
              <a:rPr lang="zh-CN" altLang="en-US" dirty="0" smtClean="0"/>
              <a:t>次；从测试集中随机选择的边的</a:t>
            </a:r>
            <a:r>
              <a:rPr lang="en-US" altLang="zh-CN" dirty="0" smtClean="0"/>
              <a:t>S</a:t>
            </a:r>
            <a:r>
              <a:rPr lang="zh-CN" altLang="en-US" dirty="0" smtClean="0"/>
              <a:t>值小于未知边的</a:t>
            </a:r>
            <a:r>
              <a:rPr lang="en-US" altLang="zh-CN" dirty="0" smtClean="0"/>
              <a:t>S</a:t>
            </a:r>
            <a:r>
              <a:rPr lang="zh-CN" altLang="en-US" dirty="0" smtClean="0"/>
              <a:t>值，不计分。</a:t>
            </a:r>
            <a:endParaRPr lang="zh-CN" altLang="en-US" dirty="0"/>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1000"/>
                                        <p:tgtEl>
                                          <p:spTgt spid="6"/>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10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trips(downLeft)">
                                      <p:cBhvr>
                                        <p:cTn id="13" dur="1000"/>
                                        <p:tgtEl>
                                          <p:spTgt spid="7"/>
                                        </p:tgtEl>
                                      </p:cBhvr>
                                    </p:animEffect>
                                  </p:childTnLst>
                                </p:cTn>
                              </p:par>
                              <p:par>
                                <p:cTn id="14" presetID="5" presetClass="entr" presetSubtype="1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checkerboard(across)">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5329022" y="523240"/>
            <a:ext cx="3974465" cy="584775"/>
          </a:xfrm>
          <a:prstGeom prst="rect">
            <a:avLst/>
          </a:prstGeom>
        </p:spPr>
        <p:txBody>
          <a:bodyPr wrap="square">
            <a:spAutoFit/>
          </a:bodyPr>
          <a:lstStyle/>
          <a:p>
            <a:r>
              <a:rPr lang="en-US" altLang="zh-CN" sz="3200" b="1" dirty="0" smtClean="0">
                <a:solidFill>
                  <a:schemeClr val="tx1">
                    <a:lumMod val="75000"/>
                    <a:lumOff val="25000"/>
                  </a:schemeClr>
                </a:solidFill>
                <a:latin typeface="仿宋" panose="02010609060101010101" charset="-122"/>
                <a:ea typeface="仿宋" panose="02010609060101010101" charset="-122"/>
                <a:sym typeface="+mn-ea"/>
              </a:rPr>
              <a:t>Precision</a:t>
            </a:r>
            <a:endParaRPr lang="zh-CN" altLang="en-US" sz="3200" b="1" kern="100" spc="600" dirty="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endParaRPr>
          </a:p>
        </p:txBody>
      </p:sp>
      <p:grpSp>
        <p:nvGrpSpPr>
          <p:cNvPr id="3" name="组合 9"/>
          <p:cNvGrpSpPr/>
          <p:nvPr/>
        </p:nvGrpSpPr>
        <p:grpSpPr>
          <a:xfrm>
            <a:off x="3857943" y="36957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6"/>
          <p:cNvGrpSpPr/>
          <p:nvPr/>
        </p:nvGrpSpPr>
        <p:grpSpPr>
          <a:xfrm>
            <a:off x="5436870" y="1075916"/>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占位符 10"/>
          <p:cNvPicPr>
            <a:picLocks noGrp="1" noChangeAspect="1"/>
          </p:cNvPicPr>
          <p:nvPr/>
        </p:nvPicPr>
        <p:blipFill>
          <a:blip r:embed="rId3" cstate="screen">
            <a:extLst>
              <a:ext uri="{28A0092B-C50C-407E-A947-70E740481C1C}">
                <a14:useLocalDpi xmlns="" xmlns:a14="http://schemas.microsoft.com/office/drawing/2010/main"/>
              </a:ext>
            </a:extLst>
          </a:blip>
          <a:srcRect/>
          <a:stretch>
            <a:fillRect/>
          </a:stretch>
        </p:blipFill>
        <p:spPr>
          <a:xfrm>
            <a:off x="810913" y="2446090"/>
            <a:ext cx="3033976" cy="1575608"/>
          </a:xfrm>
          <a:prstGeom prst="rect">
            <a:avLst/>
          </a:prstGeom>
          <a:noFill/>
          <a:ln>
            <a:solidFill>
              <a:srgbClr val="F2F2F2"/>
            </a:solidFill>
          </a:ln>
          <a:effectLst/>
        </p:spPr>
      </p:pic>
      <p:pic>
        <p:nvPicPr>
          <p:cNvPr id="1026" name="Picture 2"/>
          <p:cNvPicPr>
            <a:picLocks noChangeAspect="1" noChangeArrowheads="1"/>
          </p:cNvPicPr>
          <p:nvPr/>
        </p:nvPicPr>
        <p:blipFill>
          <a:blip r:embed="rId4" cstate="print"/>
          <a:srcRect/>
          <a:stretch>
            <a:fillRect/>
          </a:stretch>
        </p:blipFill>
        <p:spPr bwMode="auto">
          <a:xfrm>
            <a:off x="3837270" y="1353278"/>
            <a:ext cx="5482093" cy="1143251"/>
          </a:xfrm>
          <a:prstGeom prst="rect">
            <a:avLst/>
          </a:prstGeom>
          <a:noFill/>
          <a:ln w="9525">
            <a:noFill/>
            <a:miter lim="800000"/>
            <a:headEnd/>
            <a:tailEnd/>
          </a:ln>
        </p:spPr>
      </p:pic>
      <p:sp>
        <p:nvSpPr>
          <p:cNvPr id="13" name="TextBox 12"/>
          <p:cNvSpPr txBox="1"/>
          <p:nvPr/>
        </p:nvSpPr>
        <p:spPr>
          <a:xfrm>
            <a:off x="3845490" y="2805830"/>
            <a:ext cx="5486400" cy="1200329"/>
          </a:xfrm>
          <a:prstGeom prst="rect">
            <a:avLst/>
          </a:prstGeom>
          <a:noFill/>
        </p:spPr>
        <p:txBody>
          <a:bodyPr wrap="square" rtlCol="0">
            <a:spAutoFit/>
          </a:bodyPr>
          <a:lstStyle/>
          <a:p>
            <a:r>
              <a:rPr lang="en-US" altLang="zh-CN" dirty="0" smtClean="0"/>
              <a:t>Precision </a:t>
            </a:r>
            <a:r>
              <a:rPr lang="zh-CN" altLang="en-US" dirty="0" smtClean="0"/>
              <a:t>定义为分数值排在前 </a:t>
            </a:r>
            <a:r>
              <a:rPr lang="en-US" altLang="zh-CN" dirty="0" smtClean="0"/>
              <a:t>L </a:t>
            </a:r>
            <a:r>
              <a:rPr lang="zh-CN" altLang="en-US" dirty="0" smtClean="0"/>
              <a:t>位的</a:t>
            </a:r>
            <a:r>
              <a:rPr lang="zh-CN" altLang="en-US" dirty="0" smtClean="0"/>
              <a:t>边中</a:t>
            </a:r>
            <a:r>
              <a:rPr lang="zh-CN" altLang="en-US" dirty="0" smtClean="0"/>
              <a:t>预测准确的</a:t>
            </a:r>
            <a:r>
              <a:rPr lang="zh-CN" altLang="en-US" dirty="0" smtClean="0"/>
              <a:t>比例</a:t>
            </a:r>
            <a:r>
              <a:rPr lang="en-US" altLang="zh-CN" dirty="0" smtClean="0"/>
              <a:t>(</a:t>
            </a:r>
            <a:r>
              <a:rPr lang="zh-CN" altLang="en-US" dirty="0" smtClean="0"/>
              <a:t>即，前</a:t>
            </a:r>
            <a:r>
              <a:rPr lang="en-US" altLang="zh-CN" dirty="0" smtClean="0"/>
              <a:t>L</a:t>
            </a:r>
            <a:r>
              <a:rPr lang="zh-CN" altLang="en-US" dirty="0" smtClean="0"/>
              <a:t>位的边中，测试集所占的比例</a:t>
            </a:r>
            <a:r>
              <a:rPr lang="en-US" altLang="zh-CN" dirty="0" smtClean="0"/>
              <a:t>)</a:t>
            </a:r>
            <a:r>
              <a:rPr lang="zh-CN" altLang="en-US" dirty="0" smtClean="0"/>
              <a:t>。</a:t>
            </a:r>
            <a:endParaRPr lang="en-US" altLang="zh-CN" dirty="0" smtClean="0"/>
          </a:p>
          <a:p>
            <a:endParaRPr lang="en-US" altLang="zh-CN" dirty="0" smtClean="0"/>
          </a:p>
          <a:p>
            <a:r>
              <a:rPr lang="en-US" altLang="zh-CN" dirty="0" smtClean="0"/>
              <a:t>m</a:t>
            </a:r>
            <a:r>
              <a:rPr lang="zh-CN" altLang="en-US" dirty="0" smtClean="0"/>
              <a:t>为前</a:t>
            </a:r>
            <a:r>
              <a:rPr lang="en-US" altLang="zh-CN" dirty="0" smtClean="0"/>
              <a:t>L</a:t>
            </a:r>
            <a:r>
              <a:rPr lang="zh-CN" altLang="en-US" dirty="0" smtClean="0"/>
              <a:t>位的边中，测试集的变数。</a:t>
            </a:r>
            <a:endParaRPr lang="zh-CN" altLang="en-US" dirty="0"/>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1000"/>
                                        <p:tgtEl>
                                          <p:spTgt spid="6"/>
                                        </p:tgtEl>
                                      </p:cBhvr>
                                    </p:animEffect>
                                  </p:childTnLst>
                                </p:cTn>
                              </p:par>
                              <p:par>
                                <p:cTn id="8" presetID="18" presetClass="entr" presetSubtype="1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strips(downLeft)">
                                      <p:cBhvr>
                                        <p:cTn id="10" dur="1000"/>
                                        <p:tgtEl>
                                          <p:spTgt spid="3"/>
                                        </p:tgtEl>
                                      </p:cBhvr>
                                    </p:animEffect>
                                  </p:childTnLst>
                                </p:cTn>
                              </p:par>
                              <p:par>
                                <p:cTn id="11" presetID="18" presetClass="entr" presetSubtype="12"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trips(downLeft)">
                                      <p:cBhvr>
                                        <p:cTn id="13" dur="1000"/>
                                        <p:tgtEl>
                                          <p:spTgt spid="4"/>
                                        </p:tgtEl>
                                      </p:cBhvr>
                                    </p:animEffect>
                                  </p:childTnLst>
                                </p:cTn>
                              </p:par>
                              <p:par>
                                <p:cTn id="14" presetID="5" presetClass="entr" presetSubtype="1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checkerboard(across)">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5429230" y="523240"/>
            <a:ext cx="3974465" cy="584775"/>
          </a:xfrm>
          <a:prstGeom prst="rect">
            <a:avLst/>
          </a:prstGeom>
        </p:spPr>
        <p:txBody>
          <a:bodyPr wrap="square">
            <a:spAutoFit/>
          </a:bodyPr>
          <a:lstStyle/>
          <a:p>
            <a:r>
              <a:rPr lang="en-US" altLang="zh-CN" sz="3200" b="1" dirty="0" smtClean="0">
                <a:solidFill>
                  <a:schemeClr val="tx1">
                    <a:lumMod val="75000"/>
                    <a:lumOff val="25000"/>
                  </a:schemeClr>
                </a:solidFill>
                <a:latin typeface="仿宋" panose="02010609060101010101" charset="-122"/>
                <a:ea typeface="仿宋" panose="02010609060101010101" charset="-122"/>
                <a:sym typeface="+mn-ea"/>
              </a:rPr>
              <a:t>Ranking Score</a:t>
            </a:r>
            <a:endParaRPr lang="zh-CN" altLang="en-US" sz="3200" b="1" kern="100" spc="600" dirty="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endParaRPr>
          </a:p>
        </p:txBody>
      </p:sp>
      <p:grpSp>
        <p:nvGrpSpPr>
          <p:cNvPr id="3" name="组合 9"/>
          <p:cNvGrpSpPr/>
          <p:nvPr/>
        </p:nvGrpSpPr>
        <p:grpSpPr>
          <a:xfrm>
            <a:off x="3857943" y="36957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6"/>
          <p:cNvGrpSpPr/>
          <p:nvPr/>
        </p:nvGrpSpPr>
        <p:grpSpPr>
          <a:xfrm>
            <a:off x="5436870" y="1163598"/>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占位符 10"/>
          <p:cNvPicPr>
            <a:picLocks noGrp="1" noChangeAspect="1"/>
          </p:cNvPicPr>
          <p:nvPr/>
        </p:nvPicPr>
        <p:blipFill>
          <a:blip r:embed="rId3" cstate="screen">
            <a:extLst>
              <a:ext uri="{28A0092B-C50C-407E-A947-70E740481C1C}">
                <a14:useLocalDpi xmlns="" xmlns:a14="http://schemas.microsoft.com/office/drawing/2010/main"/>
              </a:ext>
            </a:extLst>
          </a:blip>
          <a:srcRect/>
          <a:stretch>
            <a:fillRect/>
          </a:stretch>
        </p:blipFill>
        <p:spPr>
          <a:xfrm>
            <a:off x="810913" y="2446090"/>
            <a:ext cx="3033976" cy="1575608"/>
          </a:xfrm>
          <a:prstGeom prst="rect">
            <a:avLst/>
          </a:prstGeom>
          <a:noFill/>
          <a:ln>
            <a:solidFill>
              <a:srgbClr val="F2F2F2"/>
            </a:solidFill>
          </a:ln>
          <a:effectLst/>
        </p:spPr>
      </p:pic>
      <p:pic>
        <p:nvPicPr>
          <p:cNvPr id="2050" name="Picture 2"/>
          <p:cNvPicPr>
            <a:picLocks noChangeAspect="1" noChangeArrowheads="1"/>
          </p:cNvPicPr>
          <p:nvPr/>
        </p:nvPicPr>
        <p:blipFill>
          <a:blip r:embed="rId4" cstate="print"/>
          <a:srcRect/>
          <a:stretch>
            <a:fillRect/>
          </a:stretch>
        </p:blipFill>
        <p:spPr bwMode="auto">
          <a:xfrm>
            <a:off x="3841642" y="1417856"/>
            <a:ext cx="5590457" cy="1307065"/>
          </a:xfrm>
          <a:prstGeom prst="rect">
            <a:avLst/>
          </a:prstGeom>
          <a:noFill/>
          <a:ln w="9525">
            <a:noFill/>
            <a:miter lim="800000"/>
            <a:headEnd/>
            <a:tailEnd/>
          </a:ln>
        </p:spPr>
      </p:pic>
      <p:sp>
        <p:nvSpPr>
          <p:cNvPr id="12" name="TextBox 11"/>
          <p:cNvSpPr txBox="1"/>
          <p:nvPr/>
        </p:nvSpPr>
        <p:spPr>
          <a:xfrm>
            <a:off x="3845490" y="3707703"/>
            <a:ext cx="5624187" cy="923330"/>
          </a:xfrm>
          <a:prstGeom prst="rect">
            <a:avLst/>
          </a:prstGeom>
          <a:noFill/>
        </p:spPr>
        <p:txBody>
          <a:bodyPr wrap="square" rtlCol="0">
            <a:spAutoFit/>
          </a:bodyPr>
          <a:lstStyle/>
          <a:p>
            <a:r>
              <a:rPr lang="en-US" altLang="zh-CN" dirty="0" err="1" smtClean="0"/>
              <a:t>RankS</a:t>
            </a:r>
            <a:r>
              <a:rPr lang="en-US" altLang="zh-CN" dirty="0" smtClean="0"/>
              <a:t> </a:t>
            </a:r>
            <a:r>
              <a:rPr lang="zh-CN" altLang="en-US" dirty="0" smtClean="0"/>
              <a:t>值越小表示测试集中的边排在越前面</a:t>
            </a:r>
            <a:r>
              <a:rPr lang="zh-CN" altLang="en-US" dirty="0" smtClean="0"/>
              <a:t>的位置</a:t>
            </a:r>
            <a:r>
              <a:rPr lang="en-US" altLang="zh-CN" dirty="0" smtClean="0"/>
              <a:t>, </a:t>
            </a:r>
            <a:r>
              <a:rPr lang="zh-CN" altLang="en-US" dirty="0" smtClean="0"/>
              <a:t>也就意味着被成功预测的概率越大</a:t>
            </a:r>
            <a:r>
              <a:rPr lang="en-US" altLang="zh-CN" dirty="0" smtClean="0"/>
              <a:t>, </a:t>
            </a:r>
            <a:r>
              <a:rPr lang="zh-CN" altLang="en-US" dirty="0" smtClean="0"/>
              <a:t>因此</a:t>
            </a:r>
            <a:r>
              <a:rPr lang="zh-CN" altLang="en-US" dirty="0" smtClean="0"/>
              <a:t>算法精确度</a:t>
            </a:r>
            <a:r>
              <a:rPr lang="zh-CN" altLang="en-US" dirty="0" smtClean="0"/>
              <a:t>越高</a:t>
            </a:r>
            <a:endParaRPr lang="zh-CN" altLang="en-US" dirty="0"/>
          </a:p>
        </p:txBody>
      </p:sp>
      <p:pic>
        <p:nvPicPr>
          <p:cNvPr id="2051" name="Picture 3"/>
          <p:cNvPicPr>
            <a:picLocks noChangeAspect="1" noChangeArrowheads="1"/>
          </p:cNvPicPr>
          <p:nvPr/>
        </p:nvPicPr>
        <p:blipFill>
          <a:blip r:embed="rId5" cstate="print"/>
          <a:srcRect/>
          <a:stretch>
            <a:fillRect/>
          </a:stretch>
        </p:blipFill>
        <p:spPr bwMode="auto">
          <a:xfrm>
            <a:off x="6785843" y="2916543"/>
            <a:ext cx="491777" cy="795522"/>
          </a:xfrm>
          <a:prstGeom prst="rect">
            <a:avLst/>
          </a:prstGeom>
          <a:noFill/>
          <a:ln w="9525">
            <a:noFill/>
            <a:miter lim="800000"/>
            <a:headEnd/>
            <a:tailEnd/>
          </a:ln>
        </p:spPr>
      </p:pic>
      <p:pic>
        <p:nvPicPr>
          <p:cNvPr id="2052" name="Picture 4"/>
          <p:cNvPicPr>
            <a:picLocks noChangeAspect="1" noChangeArrowheads="1"/>
          </p:cNvPicPr>
          <p:nvPr/>
        </p:nvPicPr>
        <p:blipFill>
          <a:blip r:embed="rId6" cstate="print"/>
          <a:srcRect/>
          <a:stretch>
            <a:fillRect/>
          </a:stretch>
        </p:blipFill>
        <p:spPr bwMode="auto">
          <a:xfrm>
            <a:off x="3857756" y="2927634"/>
            <a:ext cx="877082" cy="706538"/>
          </a:xfrm>
          <a:prstGeom prst="rect">
            <a:avLst/>
          </a:prstGeom>
          <a:noFill/>
          <a:ln w="9525">
            <a:noFill/>
            <a:miter lim="800000"/>
            <a:headEnd/>
            <a:tailEnd/>
          </a:ln>
        </p:spPr>
      </p:pic>
      <p:sp>
        <p:nvSpPr>
          <p:cNvPr id="14" name="TextBox 13"/>
          <p:cNvSpPr txBox="1"/>
          <p:nvPr/>
        </p:nvSpPr>
        <p:spPr>
          <a:xfrm>
            <a:off x="4835047" y="3043824"/>
            <a:ext cx="2167002" cy="369332"/>
          </a:xfrm>
          <a:prstGeom prst="rect">
            <a:avLst/>
          </a:prstGeom>
          <a:noFill/>
        </p:spPr>
        <p:txBody>
          <a:bodyPr wrap="square" rtlCol="0">
            <a:spAutoFit/>
          </a:bodyPr>
          <a:lstStyle/>
          <a:p>
            <a:r>
              <a:rPr lang="zh-CN" altLang="en-US" dirty="0" smtClean="0"/>
              <a:t>测试集的边数</a:t>
            </a:r>
            <a:endParaRPr lang="zh-CN" altLang="en-US" dirty="0"/>
          </a:p>
        </p:txBody>
      </p:sp>
      <p:sp>
        <p:nvSpPr>
          <p:cNvPr id="15" name="TextBox 14"/>
          <p:cNvSpPr txBox="1"/>
          <p:nvPr/>
        </p:nvSpPr>
        <p:spPr>
          <a:xfrm>
            <a:off x="7490564" y="2855934"/>
            <a:ext cx="2217107" cy="923330"/>
          </a:xfrm>
          <a:prstGeom prst="rect">
            <a:avLst/>
          </a:prstGeom>
          <a:noFill/>
        </p:spPr>
        <p:txBody>
          <a:bodyPr wrap="square" rtlCol="0">
            <a:spAutoFit/>
          </a:bodyPr>
          <a:lstStyle/>
          <a:p>
            <a:r>
              <a:rPr lang="zh-CN" altLang="en-US" dirty="0" smtClean="0"/>
              <a:t>边</a:t>
            </a:r>
            <a:r>
              <a:rPr lang="en-US" altLang="zh-CN" dirty="0" err="1" smtClean="0"/>
              <a:t>i</a:t>
            </a:r>
            <a:r>
              <a:rPr lang="zh-CN" altLang="en-US" dirty="0" smtClean="0"/>
              <a:t>在</a:t>
            </a:r>
            <a:r>
              <a:rPr lang="en-US" altLang="zh-CN" dirty="0" smtClean="0"/>
              <a:t>S</a:t>
            </a:r>
            <a:r>
              <a:rPr lang="zh-CN" altLang="en-US" dirty="0" smtClean="0"/>
              <a:t>的排名，在总排名中位居前几分之几</a:t>
            </a:r>
            <a:endParaRPr lang="zh-CN" altLang="en-US" dirty="0"/>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1000"/>
                                        <p:tgtEl>
                                          <p:spTgt spid="6"/>
                                        </p:tgtEl>
                                      </p:cBhvr>
                                    </p:animEffect>
                                  </p:childTnLst>
                                </p:cTn>
                              </p:par>
                              <p:par>
                                <p:cTn id="8" presetID="18" presetClass="entr" presetSubtype="1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strips(downLeft)">
                                      <p:cBhvr>
                                        <p:cTn id="10" dur="1000"/>
                                        <p:tgtEl>
                                          <p:spTgt spid="3"/>
                                        </p:tgtEl>
                                      </p:cBhvr>
                                    </p:animEffect>
                                  </p:childTnLst>
                                </p:cTn>
                              </p:par>
                              <p:par>
                                <p:cTn id="11" presetID="18" presetClass="entr" presetSubtype="12"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trips(downLeft)">
                                      <p:cBhvr>
                                        <p:cTn id="13" dur="1000"/>
                                        <p:tgtEl>
                                          <p:spTgt spid="4"/>
                                        </p:tgtEl>
                                      </p:cBhvr>
                                    </p:animEffect>
                                  </p:childTnLst>
                                </p:cTn>
                              </p:par>
                              <p:par>
                                <p:cTn id="14" presetID="5" presetClass="entr" presetSubtype="1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checkerboard(across)">
                                      <p:cBhvr>
                                        <p:cTn id="1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flipH="1">
            <a:off x="0" y="0"/>
            <a:ext cx="12233275" cy="6881495"/>
          </a:xfrm>
          <a:prstGeom prst="rect">
            <a:avLst/>
          </a:prstGeom>
        </p:spPr>
      </p:pic>
      <p:sp>
        <p:nvSpPr>
          <p:cNvPr id="4" name="矩形 3"/>
          <p:cNvSpPr/>
          <p:nvPr/>
        </p:nvSpPr>
        <p:spPr bwMode="auto">
          <a:xfrm>
            <a:off x="3451225" y="3264535"/>
            <a:ext cx="6081082" cy="707886"/>
          </a:xfrm>
          <a:prstGeom prst="rect">
            <a:avLst/>
          </a:prstGeom>
        </p:spPr>
        <p:txBody>
          <a:bodyPr wrap="square">
            <a:spAutoFit/>
          </a:bodyPr>
          <a:lstStyle/>
          <a:p>
            <a:r>
              <a:rPr lang="zh-CN" altLang="en-US" sz="4000" b="1" dirty="0" smtClean="0">
                <a:solidFill>
                  <a:schemeClr val="tx1">
                    <a:lumMod val="75000"/>
                    <a:lumOff val="25000"/>
                  </a:schemeClr>
                </a:solidFill>
                <a:latin typeface="仿宋" panose="02010609060101010101" charset="-122"/>
                <a:ea typeface="仿宋" panose="02010609060101010101" charset="-122"/>
                <a:cs typeface="Yuanti SC" charset="-122"/>
                <a:sym typeface="+mn-ea"/>
              </a:rPr>
              <a:t>中国航空网络的链路预测</a:t>
            </a:r>
            <a:endParaRPr lang="zh-CN" altLang="en-US" sz="4000" b="1" dirty="0">
              <a:solidFill>
                <a:schemeClr val="tx1">
                  <a:lumMod val="75000"/>
                  <a:lumOff val="25000"/>
                </a:schemeClr>
              </a:solidFill>
              <a:latin typeface="仿宋" panose="02010609060101010101" charset="-122"/>
              <a:ea typeface="仿宋" panose="02010609060101010101" charset="-122"/>
              <a:cs typeface="Yuanti SC" charset="-122"/>
              <a:sym typeface="+mn-ea"/>
            </a:endParaRPr>
          </a:p>
        </p:txBody>
      </p:sp>
      <p:grpSp>
        <p:nvGrpSpPr>
          <p:cNvPr id="10" name="组合 9"/>
          <p:cNvGrpSpPr/>
          <p:nvPr/>
        </p:nvGrpSpPr>
        <p:grpSpPr>
          <a:xfrm>
            <a:off x="3188970" y="296164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5080635" y="4179796"/>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5691505" y="1744980"/>
            <a:ext cx="1856740" cy="1198880"/>
          </a:xfrm>
          <a:prstGeom prst="rect">
            <a:avLst/>
          </a:prstGeom>
          <a:noFill/>
        </p:spPr>
        <p:txBody>
          <a:bodyPr wrap="square" rtlCol="0" anchor="t">
            <a:spAutoFit/>
          </a:bodyPr>
          <a:lstStyle/>
          <a:p>
            <a:pPr eaLnBrk="1" hangingPunct="1"/>
            <a:r>
              <a:rPr lang="en-US" altLang="zh-CN" sz="7200" b="1" dirty="0">
                <a:solidFill>
                  <a:srgbClr val="5A6C6A"/>
                </a:solidFill>
                <a:latin typeface="Yuanti SC" charset="-122"/>
                <a:ea typeface="Yuanti SC" charset="-122"/>
                <a:cs typeface="Yuanti SC" charset="-122"/>
                <a:sym typeface="+mn-ea"/>
              </a:rPr>
              <a:t>04</a:t>
            </a:r>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1000"/>
                                        <p:tgtEl>
                                          <p:spTgt spid="4"/>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10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trips(downLeft)">
                                      <p:cBhvr>
                                        <p:cTn id="13" dur="1000"/>
                                        <p:tgtEl>
                                          <p:spTgt spid="7"/>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trips(downLeft)">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4239260" y="548292"/>
            <a:ext cx="4842110" cy="461665"/>
          </a:xfrm>
          <a:prstGeom prst="rect">
            <a:avLst/>
          </a:prstGeom>
        </p:spPr>
        <p:txBody>
          <a:bodyPr wrap="square">
            <a:spAutoFit/>
          </a:bodyPr>
          <a:lstStyle/>
          <a:p>
            <a:r>
              <a:rPr lang="zh-CN" altLang="en-US" sz="2400" b="1" kern="100" spc="600" dirty="0" smtClean="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rPr>
              <a:t>航空网络节点相似性的定义</a:t>
            </a:r>
            <a:endParaRPr lang="zh-CN" altLang="en-US" sz="2400" b="1" kern="100" spc="600" dirty="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endParaRPr>
          </a:p>
        </p:txBody>
      </p:sp>
      <p:grpSp>
        <p:nvGrpSpPr>
          <p:cNvPr id="10" name="组合 9"/>
          <p:cNvGrpSpPr/>
          <p:nvPr/>
        </p:nvGrpSpPr>
        <p:grpSpPr>
          <a:xfrm>
            <a:off x="3857943" y="36957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5436870" y="1075916"/>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正五边形 29"/>
          <p:cNvSpPr/>
          <p:nvPr/>
        </p:nvSpPr>
        <p:spPr>
          <a:xfrm>
            <a:off x="2699247" y="2179527"/>
            <a:ext cx="3231715" cy="3006247"/>
          </a:xfrm>
          <a:prstGeom prst="pentagon">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1" name="矩形 30"/>
          <p:cNvSpPr/>
          <p:nvPr/>
        </p:nvSpPr>
        <p:spPr>
          <a:xfrm>
            <a:off x="3313023" y="3026890"/>
            <a:ext cx="1991639" cy="1446550"/>
          </a:xfrm>
          <a:prstGeom prst="rect">
            <a:avLst/>
          </a:prstGeom>
          <a:noFill/>
          <a:ln>
            <a:solidFill>
              <a:schemeClr val="accent4">
                <a:lumMod val="20000"/>
                <a:lumOff val="80000"/>
              </a:schemeClr>
            </a:solidFill>
          </a:ln>
        </p:spPr>
        <p:txBody>
          <a:bodyPr wrap="square" lIns="91440" tIns="45720" rIns="91440" bIns="45720">
            <a:spAutoFit/>
            <a:scene3d>
              <a:camera prst="orthographicFront"/>
              <a:lightRig rig="flat" dir="tl"/>
            </a:scene3d>
            <a:sp3d contourW="19050" prstMaterial="clear">
              <a:bevelT w="50800" h="50800"/>
              <a:contourClr>
                <a:schemeClr val="accent5">
                  <a:tint val="70000"/>
                  <a:satMod val="180000"/>
                  <a:alpha val="70000"/>
                </a:schemeClr>
              </a:contourClr>
            </a:sp3d>
          </a:bodyPr>
          <a:lstStyle/>
          <a:p>
            <a:pPr algn="ctr"/>
            <a:r>
              <a:rPr lang="en-US" altLang="zh-CN" sz="8800" b="1" cap="none" spc="0" dirty="0" smtClean="0">
                <a:ln/>
                <a:solidFill>
                  <a:srgbClr val="F4F4F4"/>
                </a:solidFill>
                <a:effectLst/>
              </a:rPr>
              <a:t>S</a:t>
            </a:r>
            <a:endParaRPr lang="zh-CN" altLang="en-US" sz="8800" b="1" cap="none" spc="0" dirty="0">
              <a:ln/>
              <a:solidFill>
                <a:srgbClr val="F4F4F4"/>
              </a:solidFill>
              <a:effectLst/>
            </a:endParaRPr>
          </a:p>
        </p:txBody>
      </p:sp>
      <p:pic>
        <p:nvPicPr>
          <p:cNvPr id="3074" name="Picture 2"/>
          <p:cNvPicPr>
            <a:picLocks noChangeAspect="1" noChangeArrowheads="1"/>
          </p:cNvPicPr>
          <p:nvPr/>
        </p:nvPicPr>
        <p:blipFill>
          <a:blip r:embed="rId3" cstate="print"/>
          <a:srcRect/>
          <a:stretch>
            <a:fillRect/>
          </a:stretch>
        </p:blipFill>
        <p:spPr bwMode="auto">
          <a:xfrm>
            <a:off x="3320981" y="1570778"/>
            <a:ext cx="2036159" cy="583699"/>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5953013" y="2957122"/>
            <a:ext cx="1686873" cy="763109"/>
          </a:xfrm>
          <a:prstGeom prst="rect">
            <a:avLst/>
          </a:prstGeom>
          <a:noFill/>
          <a:ln w="9525">
            <a:noFill/>
            <a:miter lim="800000"/>
            <a:headEnd/>
            <a:tailEnd/>
          </a:ln>
        </p:spPr>
      </p:pic>
      <p:pic>
        <p:nvPicPr>
          <p:cNvPr id="3076" name="Picture 4"/>
          <p:cNvPicPr>
            <a:picLocks noChangeAspect="1" noChangeArrowheads="1"/>
          </p:cNvPicPr>
          <p:nvPr/>
        </p:nvPicPr>
        <p:blipFill>
          <a:blip r:embed="rId5" cstate="print"/>
          <a:srcRect/>
          <a:stretch>
            <a:fillRect/>
          </a:stretch>
        </p:blipFill>
        <p:spPr bwMode="auto">
          <a:xfrm>
            <a:off x="5320187" y="5187799"/>
            <a:ext cx="2019135" cy="636804"/>
          </a:xfrm>
          <a:prstGeom prst="rect">
            <a:avLst/>
          </a:prstGeom>
          <a:noFill/>
          <a:ln w="9525">
            <a:noFill/>
            <a:miter lim="800000"/>
            <a:headEnd/>
            <a:tailEnd/>
          </a:ln>
        </p:spPr>
      </p:pic>
      <p:pic>
        <p:nvPicPr>
          <p:cNvPr id="3077" name="Picture 5"/>
          <p:cNvPicPr>
            <a:picLocks noChangeAspect="1" noChangeArrowheads="1"/>
          </p:cNvPicPr>
          <p:nvPr/>
        </p:nvPicPr>
        <p:blipFill>
          <a:blip r:embed="rId6" cstate="print"/>
          <a:srcRect/>
          <a:stretch>
            <a:fillRect/>
          </a:stretch>
        </p:blipFill>
        <p:spPr bwMode="auto">
          <a:xfrm>
            <a:off x="650443" y="5197324"/>
            <a:ext cx="2663885" cy="577175"/>
          </a:xfrm>
          <a:prstGeom prst="rect">
            <a:avLst/>
          </a:prstGeom>
          <a:noFill/>
          <a:ln w="9525">
            <a:noFill/>
            <a:miter lim="800000"/>
            <a:headEnd/>
            <a:tailEnd/>
          </a:ln>
        </p:spPr>
      </p:pic>
      <p:pic>
        <p:nvPicPr>
          <p:cNvPr id="3078" name="Picture 6"/>
          <p:cNvPicPr>
            <a:picLocks noChangeAspect="1" noChangeArrowheads="1"/>
          </p:cNvPicPr>
          <p:nvPr/>
        </p:nvPicPr>
        <p:blipFill>
          <a:blip r:embed="rId7" cstate="print"/>
          <a:srcRect/>
          <a:stretch>
            <a:fillRect/>
          </a:stretch>
        </p:blipFill>
        <p:spPr bwMode="auto">
          <a:xfrm>
            <a:off x="607401" y="3050609"/>
            <a:ext cx="2055443" cy="632444"/>
          </a:xfrm>
          <a:prstGeom prst="rect">
            <a:avLst/>
          </a:prstGeom>
          <a:noFill/>
          <a:ln w="9525">
            <a:noFill/>
            <a:miter lim="800000"/>
            <a:headEnd/>
            <a:tailEnd/>
          </a:ln>
        </p:spPr>
      </p:pic>
      <p:pic>
        <p:nvPicPr>
          <p:cNvPr id="3080" name="Picture 8"/>
          <p:cNvPicPr>
            <a:picLocks noChangeAspect="1" noChangeArrowheads="1"/>
          </p:cNvPicPr>
          <p:nvPr/>
        </p:nvPicPr>
        <p:blipFill>
          <a:blip r:embed="rId8" cstate="print"/>
          <a:srcRect/>
          <a:stretch>
            <a:fillRect/>
          </a:stretch>
        </p:blipFill>
        <p:spPr bwMode="auto">
          <a:xfrm>
            <a:off x="7934487" y="4019345"/>
            <a:ext cx="3942637" cy="843223"/>
          </a:xfrm>
          <a:prstGeom prst="rect">
            <a:avLst/>
          </a:prstGeom>
          <a:noFill/>
          <a:ln w="9525">
            <a:noFill/>
            <a:miter lim="800000"/>
            <a:headEnd/>
            <a:tailEnd/>
          </a:ln>
        </p:spPr>
      </p:pic>
      <p:pic>
        <p:nvPicPr>
          <p:cNvPr id="35" name="Picture 2"/>
          <p:cNvPicPr>
            <a:picLocks noChangeAspect="1" noChangeArrowheads="1"/>
          </p:cNvPicPr>
          <p:nvPr/>
        </p:nvPicPr>
        <p:blipFill>
          <a:blip r:embed="rId9" cstate="print"/>
          <a:srcRect/>
          <a:stretch>
            <a:fillRect/>
          </a:stretch>
        </p:blipFill>
        <p:spPr bwMode="auto">
          <a:xfrm>
            <a:off x="7948638" y="1811895"/>
            <a:ext cx="3857625" cy="1714500"/>
          </a:xfrm>
          <a:prstGeom prst="rect">
            <a:avLst/>
          </a:prstGeom>
          <a:noFill/>
          <a:ln w="9525">
            <a:noFill/>
            <a:miter lim="800000"/>
            <a:headEnd/>
            <a:tailEnd/>
          </a:ln>
        </p:spPr>
      </p:pic>
    </p:spTree>
    <p:custDataLst>
      <p:tags r:id="rId1"/>
    </p:custDataLst>
  </p:cSld>
  <p:clrMapOvr>
    <a:masterClrMapping/>
  </p:clrMapOvr>
  <p:transition spd="slow">
    <p:random/>
  </p:transition>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1000"/>
                                        <p:tgtEl>
                                          <p:spTgt spid="6"/>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10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trips(downLeft)">
                                      <p:cBhvr>
                                        <p:cTn id="13" dur="10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wipe(down)">
                                      <p:cBhvr>
                                        <p:cTn id="18" dur="500"/>
                                        <p:tgtEl>
                                          <p:spTgt spid="307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075"/>
                                        </p:tgtEl>
                                        <p:attrNameLst>
                                          <p:attrName>style.visibility</p:attrName>
                                        </p:attrNameLst>
                                      </p:cBhvr>
                                      <p:to>
                                        <p:strVal val="visible"/>
                                      </p:to>
                                    </p:set>
                                    <p:animEffect transition="in" filter="wipe(down)">
                                      <p:cBhvr>
                                        <p:cTn id="23" dur="500"/>
                                        <p:tgtEl>
                                          <p:spTgt spid="307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076"/>
                                        </p:tgtEl>
                                        <p:attrNameLst>
                                          <p:attrName>style.visibility</p:attrName>
                                        </p:attrNameLst>
                                      </p:cBhvr>
                                      <p:to>
                                        <p:strVal val="visible"/>
                                      </p:to>
                                    </p:set>
                                    <p:animEffect transition="in" filter="wipe(down)">
                                      <p:cBhvr>
                                        <p:cTn id="28" dur="500"/>
                                        <p:tgtEl>
                                          <p:spTgt spid="307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077"/>
                                        </p:tgtEl>
                                        <p:attrNameLst>
                                          <p:attrName>style.visibility</p:attrName>
                                        </p:attrNameLst>
                                      </p:cBhvr>
                                      <p:to>
                                        <p:strVal val="visible"/>
                                      </p:to>
                                    </p:set>
                                    <p:animEffect transition="in" filter="wipe(down)">
                                      <p:cBhvr>
                                        <p:cTn id="33" dur="500"/>
                                        <p:tgtEl>
                                          <p:spTgt spid="307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3078"/>
                                        </p:tgtEl>
                                        <p:attrNameLst>
                                          <p:attrName>style.visibility</p:attrName>
                                        </p:attrNameLst>
                                      </p:cBhvr>
                                      <p:to>
                                        <p:strVal val="visible"/>
                                      </p:to>
                                    </p:set>
                                    <p:animEffect transition="in" filter="wipe(down)">
                                      <p:cBhvr>
                                        <p:cTn id="38" dur="500"/>
                                        <p:tgtEl>
                                          <p:spTgt spid="307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down)">
                                      <p:cBhvr>
                                        <p:cTn id="43" dur="5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3080"/>
                                        </p:tgtEl>
                                        <p:attrNameLst>
                                          <p:attrName>style.visibility</p:attrName>
                                        </p:attrNameLst>
                                      </p:cBhvr>
                                      <p:to>
                                        <p:strVal val="visible"/>
                                      </p:to>
                                    </p:set>
                                    <p:animEffect transition="in" filter="wipe(down)">
                                      <p:cBhvr>
                                        <p:cTn id="48" dur="5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5429230" y="523240"/>
            <a:ext cx="3974465" cy="646331"/>
          </a:xfrm>
          <a:prstGeom prst="rect">
            <a:avLst/>
          </a:prstGeom>
        </p:spPr>
        <p:txBody>
          <a:bodyPr wrap="square">
            <a:spAutoFit/>
          </a:bodyPr>
          <a:lstStyle/>
          <a:p>
            <a:r>
              <a:rPr lang="zh-CN" altLang="en-US" sz="3600" b="1" kern="100" spc="600" dirty="0" smtClean="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rPr>
              <a:t>结果</a:t>
            </a:r>
            <a:endParaRPr lang="zh-CN" altLang="en-US" sz="3600" b="1" kern="100" spc="600" dirty="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endParaRPr>
          </a:p>
        </p:txBody>
      </p:sp>
      <p:grpSp>
        <p:nvGrpSpPr>
          <p:cNvPr id="10" name="组合 9"/>
          <p:cNvGrpSpPr/>
          <p:nvPr/>
        </p:nvGrpSpPr>
        <p:grpSpPr>
          <a:xfrm>
            <a:off x="3857943" y="36957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5436870" y="1226228"/>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99" name="Picture 3"/>
          <p:cNvPicPr>
            <a:picLocks noChangeAspect="1" noChangeArrowheads="1"/>
          </p:cNvPicPr>
          <p:nvPr/>
        </p:nvPicPr>
        <p:blipFill>
          <a:blip r:embed="rId3" cstate="print"/>
          <a:srcRect/>
          <a:stretch>
            <a:fillRect/>
          </a:stretch>
        </p:blipFill>
        <p:spPr bwMode="auto">
          <a:xfrm>
            <a:off x="2458169" y="1327042"/>
            <a:ext cx="7400925" cy="4905375"/>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1234533" y="2496921"/>
            <a:ext cx="9891060" cy="1837085"/>
          </a:xfrm>
          <a:prstGeom prst="rect">
            <a:avLst/>
          </a:prstGeom>
          <a:noFill/>
          <a:ln w="9525">
            <a:noFill/>
            <a:miter lim="800000"/>
            <a:headEnd/>
            <a:tailEnd/>
          </a:ln>
        </p:spPr>
      </p:pic>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1000"/>
                                        <p:tgtEl>
                                          <p:spTgt spid="6"/>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10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trips(downLeft)">
                                      <p:cBhvr>
                                        <p:cTn id="13" dur="10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099"/>
                                        </p:tgtEl>
                                        <p:attrNameLst>
                                          <p:attrName>style.visibility</p:attrName>
                                        </p:attrNameLst>
                                      </p:cBhvr>
                                      <p:to>
                                        <p:strVal val="visible"/>
                                      </p:to>
                                    </p:set>
                                    <p:animEffect transition="in" filter="wipe(down)">
                                      <p:cBhvr>
                                        <p:cTn id="18" dur="500"/>
                                        <p:tgtEl>
                                          <p:spTgt spid="409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100"/>
                                        </p:tgtEl>
                                        <p:attrNameLst>
                                          <p:attrName>style.visibility</p:attrName>
                                        </p:attrNameLst>
                                      </p:cBhvr>
                                      <p:to>
                                        <p:strVal val="visible"/>
                                      </p:to>
                                    </p:set>
                                    <p:animEffect transition="in" filter="wipe(down)">
                                      <p:cBhvr>
                                        <p:cTn id="23"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cstate="print">
            <a:extLst>
              <a:ext uri="{28A0092B-C50C-407E-A947-70E740481C1C}">
                <a14:useLocalDpi xmlns="" xmlns:a14="http://schemas.microsoft.com/office/drawing/2010/main"/>
              </a:ext>
            </a:extLst>
          </a:blip>
          <a:stretch>
            <a:fillRect/>
          </a:stretch>
        </p:blipFill>
        <p:spPr>
          <a:xfrm flipH="1">
            <a:off x="-41275" y="0"/>
            <a:ext cx="12233275" cy="6881495"/>
          </a:xfrm>
          <a:prstGeom prst="rect">
            <a:avLst/>
          </a:prstGeom>
        </p:spPr>
      </p:pic>
      <p:sp>
        <p:nvSpPr>
          <p:cNvPr id="4" name="矩形 3"/>
          <p:cNvSpPr/>
          <p:nvPr/>
        </p:nvSpPr>
        <p:spPr bwMode="auto">
          <a:xfrm>
            <a:off x="5204865" y="3264535"/>
            <a:ext cx="5621020" cy="706755"/>
          </a:xfrm>
          <a:prstGeom prst="rect">
            <a:avLst/>
          </a:prstGeom>
        </p:spPr>
        <p:txBody>
          <a:bodyPr wrap="square">
            <a:spAutoFit/>
          </a:bodyPr>
          <a:lstStyle/>
          <a:p>
            <a:r>
              <a:rPr lang="zh-CN" altLang="en-US" sz="4000" b="1" dirty="0" smtClean="0">
                <a:solidFill>
                  <a:schemeClr val="tx1">
                    <a:lumMod val="75000"/>
                    <a:lumOff val="25000"/>
                  </a:schemeClr>
                </a:solidFill>
                <a:latin typeface="仿宋" panose="02010609060101010101" charset="-122"/>
                <a:ea typeface="仿宋" panose="02010609060101010101" charset="-122"/>
                <a:sym typeface="+mn-ea"/>
              </a:rPr>
              <a:t>结论</a:t>
            </a:r>
            <a:endParaRPr lang="zh-CN" altLang="en-US" sz="4000" b="1" kern="100" spc="600" dirty="0">
              <a:solidFill>
                <a:schemeClr val="tx1">
                  <a:lumMod val="75000"/>
                  <a:lumOff val="25000"/>
                </a:schemeClr>
              </a:solidFill>
              <a:latin typeface="仿宋" panose="02010609060101010101" charset="-122"/>
              <a:ea typeface="仿宋" panose="02010609060101010101" charset="-122"/>
              <a:cs typeface="Times New Roman" panose="02020603050405020304" pitchFamily="18" charset="0"/>
              <a:sym typeface="+mn-ea"/>
            </a:endParaRPr>
          </a:p>
        </p:txBody>
      </p:sp>
      <p:grpSp>
        <p:nvGrpSpPr>
          <p:cNvPr id="10" name="组合 9"/>
          <p:cNvGrpSpPr/>
          <p:nvPr/>
        </p:nvGrpSpPr>
        <p:grpSpPr>
          <a:xfrm>
            <a:off x="3188970" y="2961640"/>
            <a:ext cx="4096385" cy="135890"/>
            <a:chOff x="5470" y="4664"/>
            <a:chExt cx="6451" cy="214"/>
          </a:xfrm>
        </p:grpSpPr>
        <p:cxnSp>
          <p:nvCxnSpPr>
            <p:cNvPr id="9" name="直接连接符 8"/>
            <p:cNvCxnSpPr/>
            <p:nvPr/>
          </p:nvCxnSpPr>
          <p:spPr>
            <a:xfrm>
              <a:off x="5635" y="4771"/>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rot="1380000">
              <a:off x="5470" y="4664"/>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5080635" y="4104640"/>
            <a:ext cx="4097020" cy="135890"/>
            <a:chOff x="5692" y="6516"/>
            <a:chExt cx="6452" cy="214"/>
          </a:xfrm>
        </p:grpSpPr>
        <p:cxnSp>
          <p:nvCxnSpPr>
            <p:cNvPr id="8" name="直接连接符 7"/>
            <p:cNvCxnSpPr/>
            <p:nvPr/>
          </p:nvCxnSpPr>
          <p:spPr>
            <a:xfrm>
              <a:off x="5692" y="6623"/>
              <a:ext cx="6286" cy="0"/>
            </a:xfrm>
            <a:prstGeom prst="line">
              <a:avLst/>
            </a:prstGeom>
            <a:ln>
              <a:solidFill>
                <a:srgbClr val="3B4746"/>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rot="1380000">
              <a:off x="11956" y="6516"/>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5127835" y="1744980"/>
            <a:ext cx="1856740" cy="1198880"/>
          </a:xfrm>
          <a:prstGeom prst="rect">
            <a:avLst/>
          </a:prstGeom>
          <a:noFill/>
        </p:spPr>
        <p:txBody>
          <a:bodyPr wrap="square" rtlCol="0" anchor="t">
            <a:spAutoFit/>
          </a:bodyPr>
          <a:lstStyle/>
          <a:p>
            <a:pPr eaLnBrk="1" hangingPunct="1"/>
            <a:r>
              <a:rPr lang="en-US" altLang="zh-CN" sz="7200" b="1" dirty="0">
                <a:solidFill>
                  <a:srgbClr val="5A6C6A"/>
                </a:solidFill>
                <a:latin typeface="Yuanti SC" charset="-122"/>
                <a:ea typeface="Yuanti SC" charset="-122"/>
                <a:cs typeface="Yuanti SC" charset="-122"/>
                <a:sym typeface="+mn-ea"/>
              </a:rPr>
              <a:t>05</a:t>
            </a:r>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1000"/>
                                        <p:tgtEl>
                                          <p:spTgt spid="4"/>
                                        </p:tgtEl>
                                      </p:cBhvr>
                                    </p:animEffect>
                                  </p:childTnLst>
                                </p:cTn>
                              </p:par>
                              <p:par>
                                <p:cTn id="8" presetID="18" presetClass="entr" presetSubtype="1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trips(downLeft)">
                                      <p:cBhvr>
                                        <p:cTn id="10" dur="1000"/>
                                        <p:tgtEl>
                                          <p:spTgt spid="10"/>
                                        </p:tgtEl>
                                      </p:cBhvr>
                                    </p:animEffect>
                                  </p:childTnLst>
                                </p:cTn>
                              </p:par>
                              <p:par>
                                <p:cTn id="11" presetID="18" presetClass="entr" presetSubtype="1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trips(downLeft)">
                                      <p:cBhvr>
                                        <p:cTn id="13" dur="1000"/>
                                        <p:tgtEl>
                                          <p:spTgt spid="7"/>
                                        </p:tgtEl>
                                      </p:cBhvr>
                                    </p:animEffect>
                                  </p:childTnLst>
                                </p:cTn>
                              </p:par>
                              <p:par>
                                <p:cTn id="14" presetID="18" presetClass="entr" presetSubtype="1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trips(downLeft)">
                                      <p:cBhvr>
                                        <p:cTn id="1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6310335" y="2327270"/>
            <a:ext cx="0" cy="3078694"/>
          </a:xfrm>
          <a:prstGeom prst="line">
            <a:avLst/>
          </a:prstGeom>
          <a:ln w="28575">
            <a:solidFill>
              <a:srgbClr val="5B5A58"/>
            </a:solidFill>
          </a:ln>
        </p:spPr>
        <p:style>
          <a:lnRef idx="1">
            <a:schemeClr val="accent1"/>
          </a:lnRef>
          <a:fillRef idx="0">
            <a:schemeClr val="accent1"/>
          </a:fillRef>
          <a:effectRef idx="0">
            <a:schemeClr val="accent1"/>
          </a:effectRef>
          <a:fontRef idx="minor">
            <a:schemeClr val="tx1"/>
          </a:fontRef>
        </p:style>
      </p:cxnSp>
      <p:sp>
        <p:nvSpPr>
          <p:cNvPr id="5" name="Freeform"/>
          <p:cNvSpPr/>
          <p:nvPr/>
        </p:nvSpPr>
        <p:spPr>
          <a:xfrm>
            <a:off x="1163791" y="2035243"/>
            <a:ext cx="4347662" cy="3476209"/>
          </a:xfrm>
          <a:prstGeom prst="rect">
            <a:avLst/>
          </a:prstGeom>
          <a:blipFill dpi="0" rotWithShape="1">
            <a:blip r:embed="rId3" cstate="screen">
              <a:extLst>
                <a:ext uri="{28A0092B-C50C-407E-A947-70E740481C1C}">
                  <a14:useLocalDpi xmlns=""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TextBox 13"/>
          <p:cNvSpPr txBox="1"/>
          <p:nvPr/>
        </p:nvSpPr>
        <p:spPr>
          <a:xfrm>
            <a:off x="6901841" y="2379944"/>
            <a:ext cx="4684734" cy="1754326"/>
          </a:xfrm>
          <a:prstGeom prst="rect">
            <a:avLst/>
          </a:prstGeom>
          <a:noFill/>
        </p:spPr>
        <p:txBody>
          <a:bodyPr wrap="square" rtlCol="0">
            <a:spAutoFit/>
          </a:bodyPr>
          <a:lstStyle/>
          <a:p>
            <a:r>
              <a:rPr lang="zh-CN" altLang="en-US" dirty="0" smtClean="0"/>
              <a:t>链路预测能够计算预测方法的</a:t>
            </a:r>
            <a:r>
              <a:rPr lang="zh-CN" altLang="en-US" dirty="0" smtClean="0"/>
              <a:t>准确度</a:t>
            </a:r>
            <a:r>
              <a:rPr lang="en-US" altLang="zh-CN" dirty="0" smtClean="0"/>
              <a:t>, </a:t>
            </a:r>
            <a:r>
              <a:rPr lang="zh-CN" altLang="en-US" dirty="0" smtClean="0"/>
              <a:t>能够清晰直观地利用量化结果对各种因素</a:t>
            </a:r>
            <a:r>
              <a:rPr lang="zh-CN" altLang="en-US" dirty="0" smtClean="0"/>
              <a:t>进行辨别</a:t>
            </a:r>
            <a:r>
              <a:rPr lang="en-US" altLang="zh-CN" dirty="0" smtClean="0"/>
              <a:t>, </a:t>
            </a:r>
            <a:r>
              <a:rPr lang="zh-CN" altLang="en-US" dirty="0" smtClean="0"/>
              <a:t>因此</a:t>
            </a:r>
            <a:r>
              <a:rPr lang="en-US" altLang="zh-CN" dirty="0" smtClean="0"/>
              <a:t>, </a:t>
            </a:r>
            <a:r>
              <a:rPr lang="zh-CN" altLang="en-US" dirty="0" smtClean="0"/>
              <a:t>链路预测在分析网络演化机制上比传统 方法更为有效</a:t>
            </a:r>
            <a:r>
              <a:rPr lang="zh-CN" altLang="en-US" dirty="0" smtClean="0"/>
              <a:t>，其量化</a:t>
            </a:r>
            <a:r>
              <a:rPr lang="zh-CN" altLang="en-US" dirty="0" smtClean="0"/>
              <a:t>比较各种不同机制对于真实生长</a:t>
            </a:r>
            <a:r>
              <a:rPr lang="zh-CN" altLang="en-US" dirty="0" smtClean="0"/>
              <a:t>行为的</a:t>
            </a:r>
            <a:r>
              <a:rPr lang="zh-CN" altLang="en-US" dirty="0" smtClean="0"/>
              <a:t>预测能力</a:t>
            </a:r>
            <a:r>
              <a:rPr lang="en-US" altLang="zh-CN" dirty="0" smtClean="0"/>
              <a:t>, </a:t>
            </a:r>
            <a:r>
              <a:rPr lang="zh-CN" altLang="en-US" dirty="0" smtClean="0"/>
              <a:t>从而推动复杂网络演化模型的理论研究</a:t>
            </a:r>
            <a:endParaRPr lang="zh-CN" altLang="en-US" dirty="0"/>
          </a:p>
        </p:txBody>
      </p:sp>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par>
                                <p:cTn id="8" presetID="42"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038975" y="742841"/>
            <a:ext cx="2621280" cy="829945"/>
          </a:xfrm>
          <a:prstGeom prst="rect">
            <a:avLst/>
          </a:prstGeom>
          <a:noFill/>
        </p:spPr>
        <p:txBody>
          <a:bodyPr wrap="none" rtlCol="0">
            <a:spAutoFit/>
          </a:bodyPr>
          <a:lstStyle/>
          <a:p>
            <a:pPr algn="dist"/>
            <a:r>
              <a:rPr lang="zh-CN" altLang="en-US" sz="4800">
                <a:solidFill>
                  <a:schemeClr val="tx1">
                    <a:lumMod val="65000"/>
                    <a:lumOff val="35000"/>
                  </a:schemeClr>
                </a:solidFill>
                <a:latin typeface="宋体" panose="02010600030101010101" pitchFamily="2" charset="-122"/>
                <a:ea typeface="宋体" panose="02010600030101010101" pitchFamily="2" charset="-122"/>
                <a:cs typeface="Aharoni" panose="02010803020104030203" pitchFamily="2" charset="-79"/>
                <a:sym typeface="+mn-ea"/>
              </a:rPr>
              <a:t>论文总结</a:t>
            </a:r>
          </a:p>
        </p:txBody>
      </p:sp>
      <p:cxnSp>
        <p:nvCxnSpPr>
          <p:cNvPr id="2" name="直接连接符 1"/>
          <p:cNvCxnSpPr/>
          <p:nvPr/>
        </p:nvCxnSpPr>
        <p:spPr>
          <a:xfrm>
            <a:off x="6192520" y="1750685"/>
            <a:ext cx="4762500" cy="0"/>
          </a:xfrm>
          <a:prstGeom prst="line">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6563640" y="2059065"/>
            <a:ext cx="4070958" cy="3416320"/>
          </a:xfrm>
          <a:prstGeom prst="rect">
            <a:avLst/>
          </a:prstGeom>
          <a:noFill/>
        </p:spPr>
        <p:txBody>
          <a:bodyPr wrap="square" rtlCol="0">
            <a:spAutoFit/>
          </a:bodyPr>
          <a:lstStyle/>
          <a:p>
            <a:r>
              <a:rPr lang="zh-CN" altLang="en-US" dirty="0" smtClean="0"/>
              <a:t>       这篇论文将拓扑结构和基于节点属性双方面的因素综合起来作为相似度的度量指标，获得了比单因素更优秀的结果，更加贴近真实的网络。</a:t>
            </a:r>
            <a:endParaRPr lang="en-US" altLang="zh-CN" dirty="0" smtClean="0"/>
          </a:p>
          <a:p>
            <a:endParaRPr lang="en-US" altLang="zh-CN" dirty="0" smtClean="0"/>
          </a:p>
          <a:p>
            <a:r>
              <a:rPr lang="en-US" altLang="zh-CN" dirty="0" smtClean="0"/>
              <a:t>       </a:t>
            </a:r>
            <a:r>
              <a:rPr lang="zh-CN" altLang="en-US" dirty="0" smtClean="0"/>
              <a:t>链路</a:t>
            </a:r>
            <a:r>
              <a:rPr lang="zh-CN" altLang="en-US" dirty="0" smtClean="0"/>
              <a:t>预测能够计算预测方法的准确度</a:t>
            </a:r>
            <a:r>
              <a:rPr lang="en-US" altLang="zh-CN" dirty="0" smtClean="0"/>
              <a:t>, </a:t>
            </a:r>
            <a:r>
              <a:rPr lang="zh-CN" altLang="en-US" dirty="0" smtClean="0"/>
              <a:t>能够清晰直观地利用量化结果对各种因素进行辨别</a:t>
            </a:r>
            <a:r>
              <a:rPr lang="en-US" altLang="zh-CN" dirty="0" smtClean="0"/>
              <a:t>, </a:t>
            </a:r>
            <a:r>
              <a:rPr lang="zh-CN" altLang="en-US" dirty="0" smtClean="0"/>
              <a:t>因此</a:t>
            </a:r>
            <a:r>
              <a:rPr lang="en-US" altLang="zh-CN" dirty="0" smtClean="0"/>
              <a:t>, </a:t>
            </a:r>
            <a:r>
              <a:rPr lang="zh-CN" altLang="en-US" dirty="0" smtClean="0"/>
              <a:t>链路预测在分析网络演化机制上比</a:t>
            </a:r>
            <a:r>
              <a:rPr lang="zh-CN" altLang="en-US" dirty="0" smtClean="0"/>
              <a:t>传统方法</a:t>
            </a:r>
            <a:r>
              <a:rPr lang="zh-CN" altLang="en-US" dirty="0" smtClean="0"/>
              <a:t>更为有效，其量化比较各种不同机制对于真实生长行为的预测能力</a:t>
            </a:r>
            <a:r>
              <a:rPr lang="en-US" altLang="zh-CN" dirty="0" smtClean="0"/>
              <a:t>, </a:t>
            </a:r>
            <a:r>
              <a:rPr lang="zh-CN" altLang="en-US" dirty="0" smtClean="0"/>
              <a:t>从而推动复杂网络演化模型的理论研究</a:t>
            </a:r>
            <a:endParaRPr lang="zh-CN" altLang="en-US" dirty="0"/>
          </a:p>
        </p:txBody>
      </p:sp>
      <p:grpSp>
        <p:nvGrpSpPr>
          <p:cNvPr id="5" name="组合 4"/>
          <p:cNvGrpSpPr/>
          <p:nvPr/>
        </p:nvGrpSpPr>
        <p:grpSpPr>
          <a:xfrm>
            <a:off x="1760220" y="1880235"/>
            <a:ext cx="3676650" cy="3362960"/>
            <a:chOff x="7949" y="4084"/>
            <a:chExt cx="3442" cy="3420"/>
          </a:xfrm>
        </p:grpSpPr>
        <p:sp>
          <p:nvSpPr>
            <p:cNvPr id="12" name="矩形 11"/>
            <p:cNvSpPr/>
            <p:nvPr/>
          </p:nvSpPr>
          <p:spPr>
            <a:xfrm>
              <a:off x="7949" y="4084"/>
              <a:ext cx="1664" cy="1664"/>
            </a:xfrm>
            <a:prstGeom prst="rect">
              <a:avLst/>
            </a:prstGeom>
            <a:solidFill>
              <a:srgbClr val="3B4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9727" y="4084"/>
              <a:ext cx="1664" cy="1664"/>
            </a:xfrm>
            <a:prstGeom prst="rect">
              <a:avLst/>
            </a:prstGeom>
            <a:solidFill>
              <a:srgbClr val="5A6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7949" y="5840"/>
              <a:ext cx="1664" cy="1664"/>
            </a:xfrm>
            <a:prstGeom prst="rect">
              <a:avLst/>
            </a:prstGeom>
            <a:solidFill>
              <a:srgbClr val="5A6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27" y="5840"/>
              <a:ext cx="1664" cy="1664"/>
            </a:xfrm>
            <a:prstGeom prst="rect">
              <a:avLst/>
            </a:prstGeom>
            <a:solidFill>
              <a:srgbClr val="3B4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AutoShape 112"/>
            <p:cNvSpPr/>
            <p:nvPr/>
          </p:nvSpPr>
          <p:spPr bwMode="auto">
            <a:xfrm>
              <a:off x="10275" y="4682"/>
              <a:ext cx="568" cy="56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55" name="组合 54"/>
            <p:cNvGrpSpPr/>
            <p:nvPr/>
          </p:nvGrpSpPr>
          <p:grpSpPr>
            <a:xfrm>
              <a:off x="10362" y="6387"/>
              <a:ext cx="389" cy="567"/>
              <a:chOff x="2528974" y="2863357"/>
              <a:chExt cx="246811" cy="359779"/>
            </a:xfrm>
            <a:solidFill>
              <a:schemeClr val="bg1"/>
            </a:solidFill>
          </p:grpSpPr>
          <p:sp>
            <p:nvSpPr>
              <p:cNvPr id="56"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7"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58" name="Group 124"/>
            <p:cNvGrpSpPr/>
            <p:nvPr/>
          </p:nvGrpSpPr>
          <p:grpSpPr>
            <a:xfrm>
              <a:off x="8498" y="4678"/>
              <a:ext cx="567" cy="477"/>
              <a:chOff x="5368132" y="2625725"/>
              <a:chExt cx="465138" cy="391319"/>
            </a:xfrm>
            <a:solidFill>
              <a:schemeClr val="bg1"/>
            </a:solidFill>
          </p:grpSpPr>
          <p:sp>
            <p:nvSpPr>
              <p:cNvPr id="59"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0"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1"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62" name="组合 61"/>
            <p:cNvGrpSpPr/>
            <p:nvPr/>
          </p:nvGrpSpPr>
          <p:grpSpPr>
            <a:xfrm flipH="1">
              <a:off x="8498" y="6389"/>
              <a:ext cx="566" cy="566"/>
              <a:chOff x="2473104" y="2145028"/>
              <a:chExt cx="359165" cy="359165"/>
            </a:xfrm>
            <a:solidFill>
              <a:schemeClr val="bg1"/>
            </a:solidFill>
          </p:grpSpPr>
          <p:sp>
            <p:nvSpPr>
              <p:cNvPr id="63"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4"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spTree>
    <p:custDataLst>
      <p:tags r:id="rId1"/>
    </p:custDataLst>
  </p:cSld>
  <p:clrMapOvr>
    <a:masterClrMapping/>
  </p:clrMapOvr>
  <p:transition spd="slow">
    <p:random/>
  </p:transition>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par>
                                <p:cTn id="10" presetID="55"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strVal val="#ppt_w*0.70"/>
                                          </p:val>
                                        </p:tav>
                                        <p:tav tm="100000">
                                          <p:val>
                                            <p:strVal val="#ppt_w"/>
                                          </p:val>
                                        </p:tav>
                                      </p:tavLst>
                                    </p:anim>
                                    <p:anim calcmode="lin" valueType="num">
                                      <p:cBhvr>
                                        <p:cTn id="18" dur="1000" fill="hold"/>
                                        <p:tgtEl>
                                          <p:spTgt spid="3"/>
                                        </p:tgtEl>
                                        <p:attrNameLst>
                                          <p:attrName>ppt_h</p:attrName>
                                        </p:attrNameLst>
                                      </p:cBhvr>
                                      <p:tavLst>
                                        <p:tav tm="0">
                                          <p:val>
                                            <p:strVal val="#ppt_h"/>
                                          </p:val>
                                        </p:tav>
                                        <p:tav tm="100000">
                                          <p:val>
                                            <p:strVal val="#ppt_h"/>
                                          </p:val>
                                        </p:tav>
                                      </p:tavLst>
                                    </p:anim>
                                    <p:animEffect transition="in" filter="fade">
                                      <p:cBhvr>
                                        <p:cTn id="19" dur="1000"/>
                                        <p:tgtEl>
                                          <p:spTgt spid="3"/>
                                        </p:tgtEl>
                                      </p:cBhvr>
                                    </p:animEffect>
                                  </p:childTnLst>
                                </p:cTn>
                              </p:par>
                            </p:childTnLst>
                          </p:cTn>
                        </p:par>
                        <p:par>
                          <p:cTn id="20" fill="hold">
                            <p:stCondLst>
                              <p:cond delay="1000"/>
                            </p:stCondLst>
                            <p:childTnLst>
                              <p:par>
                                <p:cTn id="21" presetID="3" presetClass="entr" presetSubtype="1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4" cstate="print">
            <a:extLst>
              <a:ext uri="{28A0092B-C50C-407E-A947-70E740481C1C}">
                <a14:useLocalDpi xmlns="" xmlns:a14="http://schemas.microsoft.com/office/drawing/2010/main"/>
              </a:ext>
            </a:extLst>
          </a:blip>
          <a:stretch>
            <a:fillRect/>
          </a:stretch>
        </p:blipFill>
        <p:spPr>
          <a:xfrm flipH="1">
            <a:off x="0" y="0"/>
            <a:ext cx="12233275" cy="6881495"/>
          </a:xfrm>
          <a:prstGeom prst="rect">
            <a:avLst/>
          </a:prstGeom>
        </p:spPr>
      </p:pic>
      <p:grpSp>
        <p:nvGrpSpPr>
          <p:cNvPr id="11" name="组合 10"/>
          <p:cNvGrpSpPr/>
          <p:nvPr/>
        </p:nvGrpSpPr>
        <p:grpSpPr>
          <a:xfrm>
            <a:off x="4352290" y="519430"/>
            <a:ext cx="3513455" cy="5244465"/>
            <a:chOff x="6854" y="818"/>
            <a:chExt cx="5533" cy="8259"/>
          </a:xfrm>
        </p:grpSpPr>
        <p:grpSp>
          <p:nvGrpSpPr>
            <p:cNvPr id="28" name="组合 27"/>
            <p:cNvGrpSpPr/>
            <p:nvPr/>
          </p:nvGrpSpPr>
          <p:grpSpPr>
            <a:xfrm>
              <a:off x="6854" y="971"/>
              <a:ext cx="5533" cy="7998"/>
              <a:chOff x="4562351" y="826142"/>
              <a:chExt cx="3192664" cy="5078713"/>
            </a:xfrm>
          </p:grpSpPr>
          <p:sp>
            <p:nvSpPr>
              <p:cNvPr id="29" name="文本框 28"/>
              <p:cNvSpPr txBox="1"/>
              <p:nvPr/>
            </p:nvSpPr>
            <p:spPr>
              <a:xfrm>
                <a:off x="4615281" y="1152660"/>
                <a:ext cx="1293255" cy="1861179"/>
              </a:xfrm>
              <a:prstGeom prst="rect">
                <a:avLst/>
              </a:prstGeom>
              <a:noFill/>
            </p:spPr>
            <p:txBody>
              <a:bodyPr wrap="square" rtlCol="0">
                <a:spAutoFit/>
              </a:bodyPr>
              <a:lstStyle/>
              <a:p>
                <a:r>
                  <a:rPr lang="zh-CN" altLang="en-US" sz="11500" dirty="0">
                    <a:solidFill>
                      <a:srgbClr val="161317"/>
                    </a:solidFill>
                    <a:latin typeface="仿宋" panose="02010609060101010101" charset="-122"/>
                    <a:ea typeface="仿宋" panose="02010609060101010101" charset="-122"/>
                  </a:rPr>
                  <a:t>感</a:t>
                </a:r>
              </a:p>
            </p:txBody>
          </p:sp>
          <p:sp>
            <p:nvSpPr>
              <p:cNvPr id="30" name="文本框 29"/>
              <p:cNvSpPr txBox="1"/>
              <p:nvPr/>
            </p:nvSpPr>
            <p:spPr>
              <a:xfrm>
                <a:off x="6461760" y="2270848"/>
                <a:ext cx="1293255" cy="1445255"/>
              </a:xfrm>
              <a:prstGeom prst="rect">
                <a:avLst/>
              </a:prstGeom>
              <a:noFill/>
            </p:spPr>
            <p:txBody>
              <a:bodyPr wrap="square" rtlCol="0">
                <a:spAutoFit/>
              </a:bodyPr>
              <a:lstStyle/>
              <a:p>
                <a:r>
                  <a:rPr lang="zh-CN" altLang="en-US" sz="8800" dirty="0">
                    <a:solidFill>
                      <a:srgbClr val="161317"/>
                    </a:solidFill>
                    <a:latin typeface="仿宋" panose="02010609060101010101" charset="-122"/>
                    <a:ea typeface="仿宋" panose="02010609060101010101" charset="-122"/>
                  </a:rPr>
                  <a:t>谢</a:t>
                </a:r>
              </a:p>
            </p:txBody>
          </p:sp>
          <p:cxnSp>
            <p:nvCxnSpPr>
              <p:cNvPr id="31" name="直接连接符 30"/>
              <p:cNvCxnSpPr/>
              <p:nvPr/>
            </p:nvCxnSpPr>
            <p:spPr>
              <a:xfrm flipH="1">
                <a:off x="5908467" y="826142"/>
                <a:ext cx="665307" cy="616959"/>
              </a:xfrm>
              <a:prstGeom prst="line">
                <a:avLst/>
              </a:prstGeom>
              <a:ln w="12700">
                <a:solidFill>
                  <a:srgbClr val="3B4746"/>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4562351" y="1483328"/>
                <a:ext cx="3012706" cy="2893859"/>
              </a:xfrm>
              <a:prstGeom prst="line">
                <a:avLst/>
              </a:prstGeom>
              <a:ln w="12700">
                <a:solidFill>
                  <a:srgbClr val="3B4746"/>
                </a:solidFill>
              </a:ln>
            </p:spPr>
            <p:style>
              <a:lnRef idx="1">
                <a:schemeClr val="accent1"/>
              </a:lnRef>
              <a:fillRef idx="0">
                <a:schemeClr val="accent1"/>
              </a:fillRef>
              <a:effectRef idx="0">
                <a:schemeClr val="accent1"/>
              </a:effectRef>
              <a:fontRef idx="minor">
                <a:schemeClr val="tx1"/>
              </a:fontRef>
            </p:style>
          </p:cxnSp>
          <p:sp>
            <p:nvSpPr>
              <p:cNvPr id="34" name="流程图: 接点 33"/>
              <p:cNvSpPr/>
              <p:nvPr/>
            </p:nvSpPr>
            <p:spPr>
              <a:xfrm>
                <a:off x="5622966" y="3501729"/>
                <a:ext cx="901020" cy="901020"/>
              </a:xfrm>
              <a:prstGeom prst="flowChartConnector">
                <a:avLst/>
              </a:prstGeom>
              <a:solidFill>
                <a:srgbClr val="3B4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1317"/>
                  </a:solidFill>
                </a:endParaRPr>
              </a:p>
            </p:txBody>
          </p:sp>
          <p:sp>
            <p:nvSpPr>
              <p:cNvPr id="35" name="流程图: 接点 34"/>
              <p:cNvSpPr/>
              <p:nvPr/>
            </p:nvSpPr>
            <p:spPr>
              <a:xfrm>
                <a:off x="5622966" y="4572444"/>
                <a:ext cx="901020" cy="901020"/>
              </a:xfrm>
              <a:prstGeom prst="flowChartConnector">
                <a:avLst/>
              </a:prstGeom>
              <a:solidFill>
                <a:srgbClr val="3B4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1317"/>
                  </a:solidFill>
                </a:endParaRPr>
              </a:p>
            </p:txBody>
          </p:sp>
          <p:sp>
            <p:nvSpPr>
              <p:cNvPr id="36" name="文本框 35"/>
              <p:cNvSpPr txBox="1"/>
              <p:nvPr/>
            </p:nvSpPr>
            <p:spPr>
              <a:xfrm>
                <a:off x="5706769" y="3502114"/>
                <a:ext cx="866821" cy="923327"/>
              </a:xfrm>
              <a:prstGeom prst="rect">
                <a:avLst/>
              </a:prstGeom>
              <a:noFill/>
            </p:spPr>
            <p:txBody>
              <a:bodyPr wrap="square" rtlCol="0">
                <a:spAutoFit/>
              </a:bodyPr>
              <a:lstStyle/>
              <a:p>
                <a:r>
                  <a:rPr lang="zh-CN" altLang="en-US" sz="5400" dirty="0" smtClean="0">
                    <a:solidFill>
                      <a:schemeClr val="bg1"/>
                    </a:solidFill>
                    <a:latin typeface="仿宋" panose="02010609060101010101" charset="-122"/>
                    <a:ea typeface="仿宋" panose="02010609060101010101" charset="-122"/>
                  </a:rPr>
                  <a:t>聆</a:t>
                </a:r>
                <a:endParaRPr lang="zh-CN" altLang="en-US" sz="5400" dirty="0">
                  <a:solidFill>
                    <a:schemeClr val="bg1"/>
                  </a:solidFill>
                  <a:latin typeface="仿宋" panose="02010609060101010101" charset="-122"/>
                  <a:ea typeface="仿宋" panose="02010609060101010101" charset="-122"/>
                </a:endParaRPr>
              </a:p>
            </p:txBody>
          </p:sp>
          <p:sp>
            <p:nvSpPr>
              <p:cNvPr id="37" name="文本框 36"/>
              <p:cNvSpPr txBox="1"/>
              <p:nvPr/>
            </p:nvSpPr>
            <p:spPr>
              <a:xfrm>
                <a:off x="5721195" y="4638233"/>
                <a:ext cx="866821" cy="922017"/>
              </a:xfrm>
              <a:prstGeom prst="rect">
                <a:avLst/>
              </a:prstGeom>
              <a:noFill/>
            </p:spPr>
            <p:txBody>
              <a:bodyPr wrap="square" rtlCol="0">
                <a:spAutoFit/>
              </a:bodyPr>
              <a:lstStyle/>
              <a:p>
                <a:r>
                  <a:rPr lang="zh-CN" altLang="en-US" sz="5400" dirty="0">
                    <a:solidFill>
                      <a:schemeClr val="bg1"/>
                    </a:solidFill>
                    <a:latin typeface="仿宋" panose="02010609060101010101" charset="-122"/>
                    <a:ea typeface="仿宋" panose="02010609060101010101" charset="-122"/>
                  </a:rPr>
                  <a:t>听</a:t>
                </a:r>
              </a:p>
            </p:txBody>
          </p:sp>
          <p:cxnSp>
            <p:nvCxnSpPr>
              <p:cNvPr id="39" name="直接连接符 38"/>
              <p:cNvCxnSpPr/>
              <p:nvPr/>
            </p:nvCxnSpPr>
            <p:spPr>
              <a:xfrm flipH="1">
                <a:off x="6191333" y="5287896"/>
                <a:ext cx="665307" cy="616959"/>
              </a:xfrm>
              <a:prstGeom prst="line">
                <a:avLst/>
              </a:prstGeom>
              <a:ln w="12700">
                <a:solidFill>
                  <a:srgbClr val="3B4746"/>
                </a:solidFill>
              </a:ln>
            </p:spPr>
            <p:style>
              <a:lnRef idx="1">
                <a:schemeClr val="accent1"/>
              </a:lnRef>
              <a:fillRef idx="0">
                <a:schemeClr val="accent1"/>
              </a:fillRef>
              <a:effectRef idx="0">
                <a:schemeClr val="accent1"/>
              </a:effectRef>
              <a:fontRef idx="minor">
                <a:schemeClr val="tx1"/>
              </a:fontRef>
            </p:style>
          </p:cxnSp>
        </p:grpSp>
        <p:sp>
          <p:nvSpPr>
            <p:cNvPr id="6" name="椭圆 5"/>
            <p:cNvSpPr/>
            <p:nvPr/>
          </p:nvSpPr>
          <p:spPr>
            <a:xfrm>
              <a:off x="10249" y="818"/>
              <a:ext cx="188" cy="214"/>
            </a:xfrm>
            <a:prstGeom prst="ellipse">
              <a:avLst/>
            </a:prstGeom>
            <a:solidFill>
              <a:srgbClr val="3B4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1979" y="1943"/>
              <a:ext cx="188" cy="214"/>
            </a:xfrm>
            <a:prstGeom prst="ellipse">
              <a:avLst/>
            </a:prstGeom>
            <a:solidFill>
              <a:srgbClr val="3B4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9539" y="8863"/>
              <a:ext cx="188" cy="2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p:cNvCxnSpPr/>
          <p:nvPr/>
        </p:nvCxnSpPr>
        <p:spPr>
          <a:xfrm flipH="1">
            <a:off x="4043680" y="2139315"/>
            <a:ext cx="2199005" cy="1911985"/>
          </a:xfrm>
          <a:prstGeom prst="line">
            <a:avLst/>
          </a:prstGeom>
          <a:ln w="12700">
            <a:solidFill>
              <a:srgbClr val="3B4746"/>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3956050" y="3983990"/>
            <a:ext cx="119380" cy="13589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5" cstate="print">
            <a:extLst>
              <a:ext uri="{28A0092B-C50C-407E-A947-70E740481C1C}">
                <a14:useLocalDpi xmlns="" xmlns:a14="http://schemas.microsoft.com/office/drawing/2010/main"/>
              </a:ext>
            </a:extLst>
          </a:blip>
          <a:stretch>
            <a:fillRect/>
          </a:stretch>
        </p:blipFill>
        <p:spPr>
          <a:xfrm>
            <a:off x="433705" y="3608656"/>
            <a:ext cx="3392805" cy="3106517"/>
          </a:xfrm>
          <a:prstGeom prst="rect">
            <a:avLst/>
          </a:prstGeom>
        </p:spPr>
      </p:pic>
    </p:spTree>
    <p:custDataLst>
      <p:tags r:id="rId1"/>
    </p:custData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ags/tag2.xml><?xml version="1.0" encoding="utf-8"?>
<p:tagLst xmlns:a="http://schemas.openxmlformats.org/drawingml/2006/main" xmlns:r="http://schemas.openxmlformats.org/officeDocument/2006/relationships" xmlns:p="http://schemas.openxmlformats.org/presentationml/2006/main">
  <p:tag name="KSO_WM_SLIDE_SUBTYPE" val="pureTxt"/>
  <p:tag name="KSO_WM_TEMPLATE_TOPIC_DEFAULT" val="1"/>
  <p:tag name="KSO_WM_TEMPLATE_JOB_ID" val="2"/>
  <p:tag name="KSO_WM_TEMPLATE_SCENE_ID" val="1"/>
  <p:tag name="KSO_WM_TEMPLATE_OUTLINE_ID" val="15"/>
  <p:tag name="KSO_WM_TEMPLATE_TOPIC_ID" val="2869567"/>
  <p:tag name="KSO_WM_SLIDE_SIZE" val="828*343"/>
  <p:tag name="KSO_WM_SLIDE_POSITION" val="66*144"/>
  <p:tag name="KSO_WM_BEAUTIFY_FLAG" val="#wm#"/>
  <p:tag name="KSO_WM_SLIDE_TYPE" val="title"/>
  <p:tag name="KSO_WM_SLIDE_LAYOUT_CNT" val="1_1"/>
  <p:tag name="KSO_WM_SLIDE_LAYOUT" val="a_b"/>
  <p:tag name="KSO_WM_SLIDE_ITEM_CNT" val="2"/>
  <p:tag name="KSO_WM_SLIDE_INDEX" val="1"/>
  <p:tag name="KSO_WM_SLIDE_ID" val="custom20184553_1"/>
  <p:tag name="KSO_WM_TAG_VERSION" val="1.0"/>
  <p:tag name="KSO_WM_TEMPLATE_INDEX" val="20184553"/>
  <p:tag name="KSO_WM_TEMPLATE_CATEGORY" val="custom"/>
  <p:tag name="KSO_WM_TEMPLATE_THUMBS_INDEX" val="1、6、10、14、20、26、27、28、29、3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9.xml><?xml version="1.0" encoding="utf-8"?>
<p:tagLst xmlns:a="http://schemas.openxmlformats.org/drawingml/2006/main" xmlns:r="http://schemas.openxmlformats.org/officeDocument/2006/relationships" xmlns:p="http://schemas.openxmlformats.org/presentationml/2006/main">
  <p:tag name="KSO_WM_SLIDE_SUBTYPE" val="pureTxt"/>
  <p:tag name="KSO_WM_TEMPLATE_TOPIC_DEFAULT" val="1"/>
  <p:tag name="KSO_WM_TEMPLATE_JOB_ID" val="2"/>
  <p:tag name="KSO_WM_TEMPLATE_SCENE_ID" val="1"/>
  <p:tag name="KSO_WM_TEMPLATE_OUTLINE_ID" val="15"/>
  <p:tag name="KSO_WM_TEMPLATE_TOPIC_ID" val="2869567"/>
  <p:tag name="KSO_WM_SLIDE_SIZE" val="828*343"/>
  <p:tag name="KSO_WM_SLIDE_POSITION" val="66*144"/>
  <p:tag name="KSO_WM_BEAUTIFY_FLAG" val="#wm#"/>
  <p:tag name="KSO_WM_SLIDE_TYPE" val="title"/>
  <p:tag name="KSO_WM_SLIDE_LAYOUT_CNT" val="1_1"/>
  <p:tag name="KSO_WM_SLIDE_LAYOUT" val="a_b"/>
  <p:tag name="KSO_WM_SLIDE_ITEM_CNT" val="2"/>
  <p:tag name="KSO_WM_SLIDE_INDEX" val="1"/>
  <p:tag name="KSO_WM_SLIDE_ID" val="custom20184553_1"/>
  <p:tag name="KSO_WM_TAG_VERSION" val="1.0"/>
  <p:tag name="KSO_WM_TEMPLATE_INDEX" val="20184553"/>
  <p:tag name="KSO_WM_TEMPLATE_CATEGORY" val="custom"/>
  <p:tag name="KSO_WM_TEMPLATE_THUMBS_INDEX" val="1、6、10、14、20、26、27、28、29、31"/>
</p:tagLst>
</file>

<file path=ppt/theme/theme1.xml><?xml version="1.0" encoding="utf-8"?>
<a:theme xmlns:a="http://schemas.openxmlformats.org/drawingml/2006/main" name="第一PPT，www.1ppt.com">
  <a:themeElements>
    <a:clrScheme name="自定义 21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769</Words>
  <Application>Microsoft Office PowerPoint</Application>
  <PresentationFormat>自定义</PresentationFormat>
  <Paragraphs>63</Paragraphs>
  <Slides>18</Slides>
  <Notes>2</Notes>
  <HiddenSlides>0</HiddenSlides>
  <MMClips>0</MMClips>
  <ScaleCrop>false</ScaleCrop>
  <HeadingPairs>
    <vt:vector size="4" baseType="variant">
      <vt:variant>
        <vt:lpstr>主题</vt:lpstr>
      </vt:variant>
      <vt:variant>
        <vt:i4>1</vt:i4>
      </vt:variant>
      <vt:variant>
        <vt:lpstr>幻灯片标题</vt:lpstr>
      </vt:variant>
      <vt:variant>
        <vt:i4>18</vt:i4>
      </vt:variant>
    </vt:vector>
  </HeadingPairs>
  <TitlesOfParts>
    <vt:vector size="19" baseType="lpstr">
      <vt:lpstr>第一PPT，www.1ppt.com</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vector>
  </TitlesOfParts>
  <Manager/>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小清新</dc:title>
  <dc:creator/>
  <cp:keywords>www.1ppt.com</cp:keywords>
  <dc:description>www.1ppt.com</dc:description>
  <cp:lastModifiedBy/>
  <cp:revision>7</cp:revision>
  <dcterms:created xsi:type="dcterms:W3CDTF">2018-03-01T02:03:00Z</dcterms:created>
  <dcterms:modified xsi:type="dcterms:W3CDTF">2018-11-16T16:28:28Z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y fmtid="{D5CDD505-2E9C-101B-9397-08002B2CF9AE}" pid="3" name="KSORubyTemplateID">
    <vt:lpwstr>8</vt:lpwstr>
  </property>
</Properties>
</file>